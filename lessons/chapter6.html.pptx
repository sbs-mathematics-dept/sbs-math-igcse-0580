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notesSlide+xml" PartName="/ppt/notesSlides/notesSlide43.xml"/>
  <Override ContentType="application/vnd.openxmlformats-officedocument.presentationml.notesSlide+xml" PartName="/ppt/notesSlides/notesSlide4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47.xml"/>
  <Override ContentType="application/vnd.openxmlformats-officedocument.presentationml.notesSlide+xml" PartName="/ppt/notesSlides/notesSlide48.xml"/>
  <Override ContentType="application/vnd.openxmlformats-officedocument.presentationml.notesSlide+xml" PartName="/ppt/notesSlides/notesSlide4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5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Lst>
  <p:sldSz cx="18288000" cy="10287000"/>
  <p:notesSz cx="6858000" cy="9144000"/>
  <p:embeddedFontLst>
    <p:embeddedFont>
      <p:font typeface="Arimo Bold" charset="1" panose="020B0704020202020204"/>
      <p:regular r:id="rId5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00" Target="notesSlides/notesSlide43.xml" Type="http://schemas.openxmlformats.org/officeDocument/2006/relationships/notesSlide"/><Relationship Id="rId101" Target="notesSlides/notesSlide44.xml" Type="http://schemas.openxmlformats.org/officeDocument/2006/relationships/notesSlide"/><Relationship Id="rId102" Target="notesSlides/notesSlide45.xml" Type="http://schemas.openxmlformats.org/officeDocument/2006/relationships/notesSlide"/><Relationship Id="rId103" Target="notesSlides/notesSlide46.xml" Type="http://schemas.openxmlformats.org/officeDocument/2006/relationships/notesSlide"/><Relationship Id="rId104" Target="notesSlides/notesSlide47.xml" Type="http://schemas.openxmlformats.org/officeDocument/2006/relationships/notesSlide"/><Relationship Id="rId105" Target="notesSlides/notesSlide48.xml" Type="http://schemas.openxmlformats.org/officeDocument/2006/relationships/notesSlide"/><Relationship Id="rId106" Target="notesSlides/notesSlide49.xml" Type="http://schemas.openxmlformats.org/officeDocument/2006/relationships/note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notesMasters/notesMaster1.xml" Type="http://schemas.openxmlformats.org/officeDocument/2006/relationships/notesMaster"/><Relationship Id="rId56" Target="theme/theme2.xml" Type="http://schemas.openxmlformats.org/officeDocument/2006/relationships/theme"/><Relationship Id="rId57" Target="notesSlides/notesSlide1.xml" Type="http://schemas.openxmlformats.org/officeDocument/2006/relationships/notesSlide"/><Relationship Id="rId58" Target="fonts/font58.fntdata" Type="http://schemas.openxmlformats.org/officeDocument/2006/relationships/font"/><Relationship Id="rId59" Target="notesSlides/notesSlide2.xml" Type="http://schemas.openxmlformats.org/officeDocument/2006/relationships/notesSlide"/><Relationship Id="rId6" Target="slides/slide1.xml" Type="http://schemas.openxmlformats.org/officeDocument/2006/relationships/slide"/><Relationship Id="rId60" Target="notesSlides/notesSlide3.xml" Type="http://schemas.openxmlformats.org/officeDocument/2006/relationships/notesSlide"/><Relationship Id="rId61" Target="notesSlides/notesSlide4.xml" Type="http://schemas.openxmlformats.org/officeDocument/2006/relationships/notesSlide"/><Relationship Id="rId62" Target="notesSlides/notesSlide5.xml" Type="http://schemas.openxmlformats.org/officeDocument/2006/relationships/notesSlide"/><Relationship Id="rId63" Target="notesSlides/notesSlide6.xml" Type="http://schemas.openxmlformats.org/officeDocument/2006/relationships/notesSlide"/><Relationship Id="rId64" Target="notesSlides/notesSlide7.xml" Type="http://schemas.openxmlformats.org/officeDocument/2006/relationships/notesSlide"/><Relationship Id="rId65" Target="notesSlides/notesSlide8.xml" Type="http://schemas.openxmlformats.org/officeDocument/2006/relationships/notesSlide"/><Relationship Id="rId66" Target="notesSlides/notesSlide9.xml" Type="http://schemas.openxmlformats.org/officeDocument/2006/relationships/notesSlide"/><Relationship Id="rId67" Target="notesSlides/notesSlide10.xml" Type="http://schemas.openxmlformats.org/officeDocument/2006/relationships/notesSlide"/><Relationship Id="rId68" Target="notesSlides/notesSlide11.xml" Type="http://schemas.openxmlformats.org/officeDocument/2006/relationships/notesSlide"/><Relationship Id="rId69" Target="notesSlides/notesSlide12.xml" Type="http://schemas.openxmlformats.org/officeDocument/2006/relationships/notesSlide"/><Relationship Id="rId7" Target="slides/slide2.xml" Type="http://schemas.openxmlformats.org/officeDocument/2006/relationships/slide"/><Relationship Id="rId70" Target="notesSlides/notesSlide13.xml" Type="http://schemas.openxmlformats.org/officeDocument/2006/relationships/notesSlide"/><Relationship Id="rId71" Target="notesSlides/notesSlide14.xml" Type="http://schemas.openxmlformats.org/officeDocument/2006/relationships/notesSlide"/><Relationship Id="rId72" Target="notesSlides/notesSlide15.xml" Type="http://schemas.openxmlformats.org/officeDocument/2006/relationships/notesSlide"/><Relationship Id="rId73" Target="notesSlides/notesSlide16.xml" Type="http://schemas.openxmlformats.org/officeDocument/2006/relationships/notesSlide"/><Relationship Id="rId74" Target="notesSlides/notesSlide17.xml" Type="http://schemas.openxmlformats.org/officeDocument/2006/relationships/notesSlide"/><Relationship Id="rId75" Target="notesSlides/notesSlide18.xml" Type="http://schemas.openxmlformats.org/officeDocument/2006/relationships/notesSlide"/><Relationship Id="rId76" Target="notesSlides/notesSlide19.xml" Type="http://schemas.openxmlformats.org/officeDocument/2006/relationships/notesSlide"/><Relationship Id="rId77" Target="notesSlides/notesSlide20.xml" Type="http://schemas.openxmlformats.org/officeDocument/2006/relationships/notesSlide"/><Relationship Id="rId78" Target="notesSlides/notesSlide21.xml" Type="http://schemas.openxmlformats.org/officeDocument/2006/relationships/notesSlide"/><Relationship Id="rId79" Target="notesSlides/notesSlide22.xml" Type="http://schemas.openxmlformats.org/officeDocument/2006/relationships/notesSlide"/><Relationship Id="rId8" Target="slides/slide3.xml" Type="http://schemas.openxmlformats.org/officeDocument/2006/relationships/slide"/><Relationship Id="rId80" Target="notesSlides/notesSlide23.xml" Type="http://schemas.openxmlformats.org/officeDocument/2006/relationships/notesSlide"/><Relationship Id="rId81" Target="notesSlides/notesSlide24.xml" Type="http://schemas.openxmlformats.org/officeDocument/2006/relationships/notesSlide"/><Relationship Id="rId82" Target="notesSlides/notesSlide25.xml" Type="http://schemas.openxmlformats.org/officeDocument/2006/relationships/notesSlide"/><Relationship Id="rId83" Target="notesSlides/notesSlide26.xml" Type="http://schemas.openxmlformats.org/officeDocument/2006/relationships/notesSlide"/><Relationship Id="rId84" Target="notesSlides/notesSlide27.xml" Type="http://schemas.openxmlformats.org/officeDocument/2006/relationships/notesSlide"/><Relationship Id="rId85" Target="notesSlides/notesSlide28.xml" Type="http://schemas.openxmlformats.org/officeDocument/2006/relationships/notesSlide"/><Relationship Id="rId86" Target="notesSlides/notesSlide29.xml" Type="http://schemas.openxmlformats.org/officeDocument/2006/relationships/notesSlide"/><Relationship Id="rId87" Target="notesSlides/notesSlide30.xml" Type="http://schemas.openxmlformats.org/officeDocument/2006/relationships/notesSlide"/><Relationship Id="rId88" Target="notesSlides/notesSlide31.xml" Type="http://schemas.openxmlformats.org/officeDocument/2006/relationships/notesSlide"/><Relationship Id="rId89" Target="notesSlides/notesSlide32.xml" Type="http://schemas.openxmlformats.org/officeDocument/2006/relationships/notesSlide"/><Relationship Id="rId9" Target="slides/slide4.xml" Type="http://schemas.openxmlformats.org/officeDocument/2006/relationships/slide"/><Relationship Id="rId90" Target="notesSlides/notesSlide33.xml" Type="http://schemas.openxmlformats.org/officeDocument/2006/relationships/notesSlide"/><Relationship Id="rId91" Target="notesSlides/notesSlide34.xml" Type="http://schemas.openxmlformats.org/officeDocument/2006/relationships/notesSlide"/><Relationship Id="rId92" Target="notesSlides/notesSlide35.xml" Type="http://schemas.openxmlformats.org/officeDocument/2006/relationships/notesSlide"/><Relationship Id="rId93" Target="notesSlides/notesSlide36.xml" Type="http://schemas.openxmlformats.org/officeDocument/2006/relationships/notesSlide"/><Relationship Id="rId94" Target="notesSlides/notesSlide37.xml" Type="http://schemas.openxmlformats.org/officeDocument/2006/relationships/notesSlide"/><Relationship Id="rId95" Target="notesSlides/notesSlide38.xml" Type="http://schemas.openxmlformats.org/officeDocument/2006/relationships/notesSlide"/><Relationship Id="rId96" Target="notesSlides/notesSlide39.xml" Type="http://schemas.openxmlformats.org/officeDocument/2006/relationships/notesSlide"/><Relationship Id="rId97" Target="notesSlides/notesSlide40.xml" Type="http://schemas.openxmlformats.org/officeDocument/2006/relationships/notesSlide"/><Relationship Id="rId98" Target="notesSlides/notesSlide41.xml" Type="http://schemas.openxmlformats.org/officeDocument/2006/relationships/notesSlide"/><Relationship Id="rId99" Target="notesSlides/notesSlide42.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4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_rels/notesSlide4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4.xml" Type="http://schemas.openxmlformats.org/officeDocument/2006/relationships/slide"/></Relationships>
</file>

<file path=ppt/notesSlides/_rels/notesSlide4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5.xml" Type="http://schemas.openxmlformats.org/officeDocument/2006/relationships/slide"/></Relationships>
</file>

<file path=ppt/notesSlides/_rels/notesSlide4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6.xml" Type="http://schemas.openxmlformats.org/officeDocument/2006/relationships/slide"/></Relationships>
</file>

<file path=ppt/notesSlides/_rels/notesSlide4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7.xml" Type="http://schemas.openxmlformats.org/officeDocument/2006/relationships/slide"/></Relationships>
</file>

<file path=ppt/notesSlides/_rels/notesSlide4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8.xml" Type="http://schemas.openxmlformats.org/officeDocument/2006/relationships/slide"/></Relationships>
</file>

<file path=ppt/notesSlides/_rels/notesSlide4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Chapter 6 of Cambridge IGCSE 0580: Equations, factors and formulae. We start with the lesson objectives and prior knowledge, then work through lessons 6.1 to 6.3 in book order and finish with the practice questions. Every diagram builds step by step.</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These are the aims from the start of the chapter, grouped by the lesson where each is taught, plus the key words.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Check these skills from earlier chapters before starting: inverse operations, collecting like terms, expanding brackets, the highest common factor, the laws of indices and adding fractions.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Quick check. Type an answer and press Check or Enter. Separate several answers with commas.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Getting started. The number in each square is the sum of the two circles next to it. Use the numbers you are given to fill in the gaps. Triangle 1 needs one subtraction. Triangle 2 gives only the squares: the three squares add to twice the sum of the circles.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Getting started triangles 3 and 4 use algebra instead of numbers. Exactly the same reasoning works: subtract to find a missing circle, add two circles to find a square.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Lesson 6.1. An equation says two expressions are equal. Solving it means finding the value of the unknown that makes it true.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 think of a number, multiply it by 3 and add 1. The answer is 13. A function machine shows the operations in order. To find the number, undo each operation in reverse order.</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 equation is like a balanced pair of scales. Whatever you do to one side you must do to the other, so it stays balanced. The value that makes the equation true is its solution.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Worked example 1a: 5x − 2 = 3x + 6. Collect the x terms on the side with the larger coefficient, so subtract 3x from both sides. Then add 2, then divide by 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Worked example 1b: 5x + 12 = 20 − 11x. Here the x term on the right is negative, so add 11x to both sides. The answer is a fraction.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Worked example 1c has brackets: expand first, then collect like terms. 1d has a fraction coefficient: multiply both sides by the denominator first. Leave answers as fractions rather than rounded decimals.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Worked example 1e has the unknown in the denominators. The lowest common denominator is 6x. Multiplying every term by 6x clears all the fractions, leaving a linear equation.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Interactive. Choose the operation to apply to both sides. Remove the x term from the right, then the number from the left, then divide. The scales wobble each time you change both sides. Press New equation for another one.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Some equations have the unknown in the power. Write both sides as powers of the same base. Once the bases match, the powers must be equal, and you have a linear equation.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Worked examples 2b and 2c. Write both sides with the same base, use the index law (a to the m) to the n equals a to the mn, then equate the powers.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hardest parts of Exercise 6.1 question 4. Expand carefully: a minus sign in front of a bracket changes the sign of every term inside.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Exercise 6.1 questions 5 and 6. Multiply every term by the lowest common denominator. Question 6d is a trap: the working gives x = 0, which makes the denominators zero, so there is no valid solution.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Exercise 6.1 question 7. Anything to the power 0 is 1, which is the key to part c. Parts e and f need a common base: 4 and 2 are powers of 2, 9 and 27 are powers of 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Quick check. Type an answer and press Check or Enter. Separate several answers with commas.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Lesson 6.2. Factorising is the reverse of expanding brackets. You find the highest common factor of all the terms and write it outside a bracket.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Expanding 4 times (3x − 1) gives 12x − 4. Factorising goes the other way. Picture the expression as the area of a rectangle: the HCF is the height, and the bracket is the width.</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Worked examples 3a and 3b. Find the HCF of the numbers and of the letters separately. In 3b, m appears in both terms but n does not, so the HCF is 6m.</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Worked examples 3c and 3d. Take out every common factor, including powers of letters. In 3d the whole bracket (x − 2) is a common factor, along with 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Worked example 3e: factorising by grouping. There is no factor common to all four terms, so factorise in pairs. 5c − 2b is the negative of 2b − 5c, which creates a common bracket.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Worked example 3f. Group ax with atx and by with bty. Each pair has the factor (1 + t), so the answer is (ax + by)(1 + 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Interactive. Pick the highest common factor of every term. A correct choice builds the area model and shows the factorised answer. A wrong choice tells you why.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Exercise 6.2 question 4. Decide whether each expression is fully factorised. If not, finish the job. Look for a number or letter that is still common to everything inside the bracket.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Exercise 6.2 question 5, the hardest factorising in the chapter. Collect like terms first if you can, as in part a. Otherwise group in pairs. Part e uses the difference of two squares.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Exercise 6.2 questions 6 to 8. Write the expression first, then factorise it. In question 8 the factorised answer is not in standard form because 9003 is not between 1 and 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Investigation. Add any three consecutive whole numbers and the answer is always a multiple of 3. With n, n + 1 and n + 2 the sum is 3n + 3 = 3(n + 1). Moving one block from the tallest column to the shortest shows why.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Quick check. Type an answer and press Check or Enter. Separate several answers with commas.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Lesson 6.3. A formula connects variables. Rearranging it makes a different variable the subject, using the same balancing rules as solving equations.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 v = u + at, v is the subject. To make a the subject, think about how a was built: multiply by t, then add u. Undo those in reverse order: subtract u, then divide by 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Worked example 4. Treat each formula like an equation: do the same to both sides. In part b the subject starts with a minus sign, so move it to the other side to make it positive. In part c undo the square root by squaring.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Interactive. Pick which letter to make the subject of v = u + at. The machine shows how that letter was built into the formula, then undoes it in reverse order.</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Exercise 6.3 questions 3 and 4. When the subject is under a square root, isolate the root, then square both sides. When the subject is in a denominator, multiply it up first.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Exercise 6.3 questions 5 and 6. Rearrange first, then substitute. This is quicker when you need to use the formula many times, as the pilot does.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Exercise 6.3 question 7. The period of a pendulum is T = 2π√(l/g). Build T from l: divide by g, square root, multiply by 2π. Undo in reverse: divide by 2π, square, multiply by 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Quick check. Type an answer and press Check or Enter. Separate several answers with commas.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end-of-chapter practice questions, in book order. Each slide reveals full working.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Practice questions 1 to 3. Question 2 is a model: the temperature drops 1 degree for every 200 m climbed. In part c the model changes and you solve for q.</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Practice questions 4 to 7. In question 5, 80% is 0.8 and 60% is 0.6, and twice as large means multiply the whole right side by 2. Consecutive odd numbers go up in 2s.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Practice question 8. Rearrange T = 5/9(F − 32) to make F the subject. In part c, Fahrenheit and Celsius are equal, so set F = T and solve.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Practice question 9. EF is the bottom length minus GH. FG is the right side minus DE. The shape DEFGHI has the same perimeter as its bounding rectangle. Set the two perimeters equal to find x.</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Practice question 10. Opposite sides of a rectangle are equal, so 4(x + 1) = 3 + 2(x + 1). Then the rectangle is 3.5 by 6 cm with area 21 cm squared. Divide by 1.15 to get the square, then square root.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Practice questions 11 to 13, the hardest in the chapter. Question 11: isolate the root before squaring. Question 12: take out 2 first, then group. Question 13: write 4 as 2 squared so both sides have base 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summary from the end of the chapter. Use the self-assessment questions: list three things you did well, what you could improve, and which earlier skills you used.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Closing slide. You can now solve linear and exponential equations, factorise expressions, and change the subject of a formula.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5.xml" Type="http://schemas.openxmlformats.org/officeDocument/2006/relationships/notesSlid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6.xml" Type="http://schemas.openxmlformats.org/officeDocument/2006/relationships/notesSlid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7.xml" Type="http://schemas.openxmlformats.org/officeDocument/2006/relationships/notesSlid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8.xml" Type="http://schemas.openxmlformats.org/officeDocument/2006/relationships/notesSlid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9.xml" Type="http://schemas.openxmlformats.org/officeDocument/2006/relationships/notesSlid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0.xml" Type="http://schemas.openxmlformats.org/officeDocument/2006/relationships/notesSlid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1.xml" Type="http://schemas.openxmlformats.org/officeDocument/2006/relationships/notesSlid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2.xml" Type="http://schemas.openxmlformats.org/officeDocument/2006/relationships/notesSlid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3.xml" Type="http://schemas.openxmlformats.org/officeDocument/2006/relationships/notesSlid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4.xml" Type="http://schemas.openxmlformats.org/officeDocument/2006/relationships/notesSlid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5.xml" Type="http://schemas.openxmlformats.org/officeDocument/2006/relationships/notesSlid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6.xml" Type="http://schemas.openxmlformats.org/officeDocument/2006/relationships/notesSlid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7.xml" Type="http://schemas.openxmlformats.org/officeDocument/2006/relationships/notesSlid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8.xml" Type="http://schemas.openxmlformats.org/officeDocument/2006/relationships/notesSlid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9.xml" Type="http://schemas.openxmlformats.org/officeDocument/2006/relationships/notesSlide"/></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239500" y="-1905000"/>
            <a:ext cx="8572500" cy="8572500"/>
            <a:chOff x="0" y="0"/>
            <a:chExt cx="11430000" cy="11430000"/>
          </a:xfrm>
        </p:grpSpPr>
        <p:sp>
          <p:nvSpPr>
            <p:cNvPr name="Freeform 4" id="4"/>
            <p:cNvSpPr/>
            <p:nvPr/>
          </p:nvSpPr>
          <p:spPr>
            <a:xfrm flipH="false" flipV="false" rot="0">
              <a:off x="0" y="0"/>
              <a:ext cx="11430000" cy="11430000"/>
            </a:xfrm>
            <a:custGeom>
              <a:avLst/>
              <a:gdLst/>
              <a:ahLst/>
              <a:cxnLst/>
              <a:rect r="r" b="b" t="t" l="l"/>
              <a:pathLst>
                <a:path h="11430000" w="11430000">
                  <a:moveTo>
                    <a:pt x="5715000" y="0"/>
                  </a:moveTo>
                  <a:cubicBezTo>
                    <a:pt x="8871331" y="0"/>
                    <a:pt x="11430000" y="2558669"/>
                    <a:pt x="11430000" y="5715000"/>
                  </a:cubicBezTo>
                  <a:cubicBezTo>
                    <a:pt x="11430000" y="8871331"/>
                    <a:pt x="8871331" y="11430000"/>
                    <a:pt x="5715000" y="11430000"/>
                  </a:cubicBezTo>
                  <a:cubicBezTo>
                    <a:pt x="2558669" y="11430000"/>
                    <a:pt x="0" y="8871331"/>
                    <a:pt x="0" y="5715000"/>
                  </a:cubicBezTo>
                  <a:cubicBezTo>
                    <a:pt x="0" y="2558669"/>
                    <a:pt x="2558669" y="0"/>
                    <a:pt x="5715000" y="0"/>
                  </a:cubicBezTo>
                  <a:close/>
                </a:path>
              </a:pathLst>
            </a:custGeom>
            <a:solidFill>
              <a:srgbClr val="FFE1D0"/>
            </a:solidFill>
          </p:spPr>
        </p:sp>
      </p:grpSp>
      <p:grpSp>
        <p:nvGrpSpPr>
          <p:cNvPr name="Group 5" id="5"/>
          <p:cNvGrpSpPr/>
          <p:nvPr/>
        </p:nvGrpSpPr>
        <p:grpSpPr>
          <a:xfrm rot="0">
            <a:off x="9525000" y="7239000"/>
            <a:ext cx="5524500" cy="5524500"/>
            <a:chOff x="0" y="0"/>
            <a:chExt cx="7366000" cy="7366000"/>
          </a:xfrm>
        </p:grpSpPr>
        <p:sp>
          <p:nvSpPr>
            <p:cNvPr name="Freeform 6" id="6"/>
            <p:cNvSpPr/>
            <p:nvPr/>
          </p:nvSpPr>
          <p:spPr>
            <a:xfrm flipH="false" flipV="false" rot="0">
              <a:off x="0" y="0"/>
              <a:ext cx="7366000" cy="7366000"/>
            </a:xfrm>
            <a:custGeom>
              <a:avLst/>
              <a:gdLst/>
              <a:ahLst/>
              <a:cxnLst/>
              <a:rect r="r" b="b" t="t" l="l"/>
              <a:pathLst>
                <a:path h="7366000" w="7366000">
                  <a:moveTo>
                    <a:pt x="3683000" y="0"/>
                  </a:moveTo>
                  <a:cubicBezTo>
                    <a:pt x="5717032" y="0"/>
                    <a:pt x="7366000" y="1648968"/>
                    <a:pt x="7366000" y="3683000"/>
                  </a:cubicBezTo>
                  <a:cubicBezTo>
                    <a:pt x="7366000" y="5717032"/>
                    <a:pt x="5717032" y="7366000"/>
                    <a:pt x="3683000" y="7366000"/>
                  </a:cubicBezTo>
                  <a:cubicBezTo>
                    <a:pt x="1648968" y="7366000"/>
                    <a:pt x="0" y="5717032"/>
                    <a:pt x="0" y="3683000"/>
                  </a:cubicBezTo>
                  <a:cubicBezTo>
                    <a:pt x="0" y="1648968"/>
                    <a:pt x="1648968" y="0"/>
                    <a:pt x="3683000" y="0"/>
                  </a:cubicBezTo>
                  <a:close/>
                </a:path>
              </a:pathLst>
            </a:custGeom>
            <a:solidFill>
              <a:srgbClr val="E1EECC"/>
            </a:solidFill>
          </p:spPr>
        </p:sp>
      </p:grpSp>
      <p:grpSp>
        <p:nvGrpSpPr>
          <p:cNvPr name="Group 7" id="7"/>
          <p:cNvGrpSpPr/>
          <p:nvPr/>
        </p:nvGrpSpPr>
        <p:grpSpPr>
          <a:xfrm rot="0">
            <a:off x="15335250" y="7239000"/>
            <a:ext cx="1905000" cy="1905000"/>
            <a:chOff x="0" y="0"/>
            <a:chExt cx="2540000" cy="2540000"/>
          </a:xfrm>
        </p:grpSpPr>
        <p:sp>
          <p:nvSpPr>
            <p:cNvPr name="Freeform 8" id="8"/>
            <p:cNvSpPr/>
            <p:nvPr/>
          </p:nvSpPr>
          <p:spPr>
            <a:xfrm flipH="false" flipV="false" rot="0">
              <a:off x="0" y="0"/>
              <a:ext cx="2540000" cy="2540000"/>
            </a:xfrm>
            <a:custGeom>
              <a:avLst/>
              <a:gdLst/>
              <a:ahLst/>
              <a:cxnLst/>
              <a:rect r="r" b="b" t="t" l="l"/>
              <a:pathLst>
                <a:path h="2540000" w="2540000">
                  <a:moveTo>
                    <a:pt x="1270000" y="0"/>
                  </a:moveTo>
                  <a:cubicBezTo>
                    <a:pt x="1971421" y="0"/>
                    <a:pt x="2540000" y="568579"/>
                    <a:pt x="2540000" y="1270000"/>
                  </a:cubicBezTo>
                  <a:cubicBezTo>
                    <a:pt x="2540000" y="1971421"/>
                    <a:pt x="1971421" y="2540000"/>
                    <a:pt x="1270000" y="2540000"/>
                  </a:cubicBezTo>
                  <a:cubicBezTo>
                    <a:pt x="568579" y="2540000"/>
                    <a:pt x="0" y="1971421"/>
                    <a:pt x="0" y="1270000"/>
                  </a:cubicBezTo>
                  <a:cubicBezTo>
                    <a:pt x="0" y="568579"/>
                    <a:pt x="568579" y="0"/>
                    <a:pt x="1270000" y="0"/>
                  </a:cubicBezTo>
                  <a:close/>
                </a:path>
              </a:pathLst>
            </a:custGeom>
            <a:solidFill>
              <a:srgbClr val="8FA073"/>
            </a:solidFill>
          </p:spPr>
        </p:sp>
      </p:grpSp>
      <p:grpSp>
        <p:nvGrpSpPr>
          <p:cNvPr name="Group 9" id="9"/>
          <p:cNvGrpSpPr/>
          <p:nvPr/>
        </p:nvGrpSpPr>
        <p:grpSpPr>
          <a:xfrm rot="-240239">
            <a:off x="14311312" y="1809083"/>
            <a:ext cx="2549366" cy="926211"/>
            <a:chOff x="0" y="0"/>
            <a:chExt cx="3399155" cy="1234948"/>
          </a:xfrm>
        </p:grpSpPr>
        <p:sp>
          <p:nvSpPr>
            <p:cNvPr name="Freeform 10" id="10"/>
            <p:cNvSpPr/>
            <p:nvPr/>
          </p:nvSpPr>
          <p:spPr>
            <a:xfrm flipH="false" flipV="false" rot="0">
              <a:off x="0" y="0"/>
              <a:ext cx="3399155" cy="1234948"/>
            </a:xfrm>
            <a:custGeom>
              <a:avLst/>
              <a:gdLst/>
              <a:ahLst/>
              <a:cxnLst/>
              <a:rect r="r" b="b" t="t" l="l"/>
              <a:pathLst>
                <a:path h="1234948" w="3399155">
                  <a:moveTo>
                    <a:pt x="617474" y="0"/>
                  </a:moveTo>
                  <a:lnTo>
                    <a:pt x="2781681" y="0"/>
                  </a:lnTo>
                  <a:cubicBezTo>
                    <a:pt x="3122676" y="0"/>
                    <a:pt x="3399155" y="276479"/>
                    <a:pt x="3399155" y="617474"/>
                  </a:cubicBezTo>
                  <a:cubicBezTo>
                    <a:pt x="3399155" y="958469"/>
                    <a:pt x="3122676" y="1234948"/>
                    <a:pt x="2781681" y="1234948"/>
                  </a:cubicBezTo>
                  <a:lnTo>
                    <a:pt x="617474" y="1234948"/>
                  </a:lnTo>
                  <a:cubicBezTo>
                    <a:pt x="276479" y="1234948"/>
                    <a:pt x="0" y="958469"/>
                    <a:pt x="0" y="617474"/>
                  </a:cubicBezTo>
                  <a:cubicBezTo>
                    <a:pt x="0" y="276479"/>
                    <a:pt x="276479" y="0"/>
                    <a:pt x="617474" y="0"/>
                  </a:cubicBezTo>
                  <a:close/>
                </a:path>
              </a:pathLst>
            </a:custGeom>
            <a:solidFill>
              <a:srgbClr val="8C491A"/>
            </a:solidFill>
          </p:spPr>
        </p:sp>
        <p:sp>
          <p:nvSpPr>
            <p:cNvPr name="TextBox 11" id="11"/>
            <p:cNvSpPr txBox="true"/>
            <p:nvPr/>
          </p:nvSpPr>
          <p:spPr>
            <a:xfrm>
              <a:off x="0" y="-123825"/>
              <a:ext cx="3399155" cy="1358773"/>
            </a:xfrm>
            <a:prstGeom prst="rect">
              <a:avLst/>
            </a:prstGeom>
          </p:spPr>
          <p:txBody>
            <a:bodyPr anchor="ctr" rtlCol="false" tIns="206121" lIns="206121" bIns="206121" rIns="206121"/>
            <a:lstStyle/>
            <a:p>
              <a:pPr algn="l">
                <a:lnSpc>
                  <a:spcPts val="4882"/>
                </a:lnSpc>
              </a:pPr>
              <a:r>
                <a:rPr lang="en-US" b="true" sz="3150">
                  <a:solidFill>
                    <a:srgbClr val="F5EAD8"/>
                  </a:solidFill>
                  <a:latin typeface="Arimo Bold"/>
                  <a:ea typeface="Arimo Bold"/>
                  <a:cs typeface="Arimo Bold"/>
                  <a:sym typeface="Arimo Bold"/>
                </a:rPr>
                <a:t>3x + 1 = 13</a:t>
              </a:r>
            </a:p>
          </p:txBody>
        </p:sp>
      </p:grpSp>
      <p:grpSp>
        <p:nvGrpSpPr>
          <p:cNvPr name="Group 12" id="12"/>
          <p:cNvGrpSpPr/>
          <p:nvPr/>
        </p:nvGrpSpPr>
        <p:grpSpPr>
          <a:xfrm rot="171720">
            <a:off x="12806362" y="2943987"/>
            <a:ext cx="4053173" cy="925068"/>
            <a:chOff x="0" y="0"/>
            <a:chExt cx="5404231" cy="1233424"/>
          </a:xfrm>
        </p:grpSpPr>
        <p:sp>
          <p:nvSpPr>
            <p:cNvPr name="Freeform 13" id="13"/>
            <p:cNvSpPr/>
            <p:nvPr/>
          </p:nvSpPr>
          <p:spPr>
            <a:xfrm flipH="false" flipV="false" rot="0">
              <a:off x="0" y="0"/>
              <a:ext cx="5404231" cy="1233424"/>
            </a:xfrm>
            <a:custGeom>
              <a:avLst/>
              <a:gdLst/>
              <a:ahLst/>
              <a:cxnLst/>
              <a:rect r="r" b="b" t="t" l="l"/>
              <a:pathLst>
                <a:path h="1233424" w="5404231">
                  <a:moveTo>
                    <a:pt x="616712" y="0"/>
                  </a:moveTo>
                  <a:lnTo>
                    <a:pt x="4787519" y="0"/>
                  </a:lnTo>
                  <a:cubicBezTo>
                    <a:pt x="5128133" y="0"/>
                    <a:pt x="5404231" y="276098"/>
                    <a:pt x="5404231" y="616712"/>
                  </a:cubicBezTo>
                  <a:cubicBezTo>
                    <a:pt x="5404231" y="957326"/>
                    <a:pt x="5128133" y="1233424"/>
                    <a:pt x="4787519" y="1233424"/>
                  </a:cubicBezTo>
                  <a:lnTo>
                    <a:pt x="616712" y="1233424"/>
                  </a:lnTo>
                  <a:cubicBezTo>
                    <a:pt x="276098" y="1233424"/>
                    <a:pt x="0" y="957326"/>
                    <a:pt x="0" y="616712"/>
                  </a:cubicBezTo>
                  <a:cubicBezTo>
                    <a:pt x="0" y="276098"/>
                    <a:pt x="276098" y="0"/>
                    <a:pt x="616712" y="0"/>
                  </a:cubicBezTo>
                  <a:close/>
                </a:path>
              </a:pathLst>
            </a:custGeom>
            <a:solidFill>
              <a:srgbClr val="56633F"/>
            </a:solidFill>
          </p:spPr>
        </p:sp>
        <p:sp>
          <p:nvSpPr>
            <p:cNvPr name="TextBox 14" id="14"/>
            <p:cNvSpPr txBox="true"/>
            <p:nvPr/>
          </p:nvSpPr>
          <p:spPr>
            <a:xfrm>
              <a:off x="0" y="-123825"/>
              <a:ext cx="5404231" cy="1357249"/>
            </a:xfrm>
            <a:prstGeom prst="rect">
              <a:avLst/>
            </a:prstGeom>
          </p:spPr>
          <p:txBody>
            <a:bodyPr anchor="ctr" rtlCol="false" tIns="174498" lIns="174498" bIns="174498" rIns="174498"/>
            <a:lstStyle/>
            <a:p>
              <a:pPr algn="l">
                <a:lnSpc>
                  <a:spcPts val="4882"/>
                </a:lnSpc>
              </a:pPr>
              <a:r>
                <a:rPr lang="en-US" b="true" sz="3150">
                  <a:solidFill>
                    <a:srgbClr val="F5EAD8"/>
                  </a:solidFill>
                  <a:latin typeface="Arimo Bold"/>
                  <a:ea typeface="Arimo Bold"/>
                  <a:cs typeface="Arimo Bold"/>
                  <a:sym typeface="Arimo Bold"/>
                </a:rPr>
                <a:t>12x − 4 = 4(3x − 1)</a:t>
              </a:r>
            </a:p>
          </p:txBody>
        </p:sp>
      </p:grpSp>
      <p:grpSp>
        <p:nvGrpSpPr>
          <p:cNvPr name="Group 15" id="15"/>
          <p:cNvGrpSpPr/>
          <p:nvPr/>
        </p:nvGrpSpPr>
        <p:grpSpPr>
          <a:xfrm rot="-103080">
            <a:off x="13726858" y="4078700"/>
            <a:ext cx="3135154" cy="924306"/>
            <a:chOff x="0" y="0"/>
            <a:chExt cx="4180205" cy="1232408"/>
          </a:xfrm>
        </p:grpSpPr>
        <p:sp>
          <p:nvSpPr>
            <p:cNvPr name="Freeform 16" id="16"/>
            <p:cNvSpPr/>
            <p:nvPr/>
          </p:nvSpPr>
          <p:spPr>
            <a:xfrm flipH="false" flipV="false" rot="0">
              <a:off x="0" y="0"/>
              <a:ext cx="4180205" cy="1232408"/>
            </a:xfrm>
            <a:custGeom>
              <a:avLst/>
              <a:gdLst/>
              <a:ahLst/>
              <a:cxnLst/>
              <a:rect r="r" b="b" t="t" l="l"/>
              <a:pathLst>
                <a:path h="1232408" w="4180205">
                  <a:moveTo>
                    <a:pt x="616204" y="0"/>
                  </a:moveTo>
                  <a:lnTo>
                    <a:pt x="3564001" y="0"/>
                  </a:lnTo>
                  <a:cubicBezTo>
                    <a:pt x="3904361" y="0"/>
                    <a:pt x="4180205" y="275844"/>
                    <a:pt x="4180205" y="616204"/>
                  </a:cubicBezTo>
                  <a:cubicBezTo>
                    <a:pt x="4180205" y="956564"/>
                    <a:pt x="3904361" y="1232408"/>
                    <a:pt x="3564001" y="1232408"/>
                  </a:cubicBezTo>
                  <a:lnTo>
                    <a:pt x="616204" y="1232408"/>
                  </a:lnTo>
                  <a:cubicBezTo>
                    <a:pt x="275844" y="1232408"/>
                    <a:pt x="0" y="956564"/>
                    <a:pt x="0" y="616204"/>
                  </a:cubicBezTo>
                  <a:cubicBezTo>
                    <a:pt x="0" y="275844"/>
                    <a:pt x="275844" y="0"/>
                    <a:pt x="616204" y="0"/>
                  </a:cubicBezTo>
                  <a:close/>
                </a:path>
              </a:pathLst>
            </a:custGeom>
            <a:solidFill>
              <a:srgbClr val="8C491A"/>
            </a:solidFill>
          </p:spPr>
        </p:sp>
        <p:sp>
          <p:nvSpPr>
            <p:cNvPr name="TextBox 17" id="17"/>
            <p:cNvSpPr txBox="true"/>
            <p:nvPr/>
          </p:nvSpPr>
          <p:spPr>
            <a:xfrm>
              <a:off x="0" y="-123825"/>
              <a:ext cx="4180205" cy="1356233"/>
            </a:xfrm>
            <a:prstGeom prst="rect">
              <a:avLst/>
            </a:prstGeom>
          </p:spPr>
          <p:txBody>
            <a:bodyPr anchor="ctr" rtlCol="false" tIns="234823" lIns="234823" bIns="234823" rIns="234823"/>
            <a:lstStyle/>
            <a:p>
              <a:pPr algn="l">
                <a:lnSpc>
                  <a:spcPts val="4882"/>
                </a:lnSpc>
              </a:pPr>
              <a:r>
                <a:rPr lang="en-US" b="true" sz="3150">
                  <a:solidFill>
                    <a:srgbClr val="F5EAD8"/>
                  </a:solidFill>
                  <a:latin typeface="Arimo Bold"/>
                  <a:ea typeface="Arimo Bold"/>
                  <a:cs typeface="Arimo Bold"/>
                  <a:sym typeface="Arimo Bold"/>
                </a:rPr>
                <a:t>a = (v − u) ÷ t</a:t>
              </a:r>
            </a:p>
          </p:txBody>
        </p:sp>
      </p:grpSp>
      <p:sp>
        <p:nvSpPr>
          <p:cNvPr name="TextBox 18" id="18"/>
          <p:cNvSpPr txBox="true"/>
          <p:nvPr/>
        </p:nvSpPr>
        <p:spPr>
          <a:xfrm rot="0">
            <a:off x="1143000" y="864394"/>
            <a:ext cx="16002000" cy="533400"/>
          </a:xfrm>
          <a:prstGeom prst="rect">
            <a:avLst/>
          </a:prstGeom>
        </p:spPr>
        <p:txBody>
          <a:bodyPr anchor="t" rtlCol="false" tIns="0" lIns="0" bIns="0" rIns="0">
            <a:spAutoFit/>
          </a:bodyPr>
          <a:lstStyle/>
          <a:p>
            <a:pPr algn="l">
              <a:lnSpc>
                <a:spcPts val="3487"/>
              </a:lnSpc>
            </a:pPr>
            <a:r>
              <a:rPr lang="en-US" b="true" sz="2250" spc="225">
                <a:solidFill>
                  <a:srgbClr val="3D472B"/>
                </a:solidFill>
                <a:latin typeface="Arimo Bold"/>
                <a:ea typeface="Arimo Bold"/>
                <a:cs typeface="Arimo Bold"/>
                <a:sym typeface="Arimo Bold"/>
              </a:rPr>
              <a:t>CAMBRIDGE IGCSE™ · MATHEMATICS 0580</a:t>
            </a:r>
          </a:p>
        </p:txBody>
      </p:sp>
      <p:sp>
        <p:nvSpPr>
          <p:cNvPr name="TextBox 19" id="19"/>
          <p:cNvSpPr txBox="true"/>
          <p:nvPr/>
        </p:nvSpPr>
        <p:spPr>
          <a:xfrm rot="0">
            <a:off x="1143000" y="2116741"/>
            <a:ext cx="10001250" cy="704850"/>
          </a:xfrm>
          <a:prstGeom prst="rect">
            <a:avLst/>
          </a:prstGeom>
        </p:spPr>
        <p:txBody>
          <a:bodyPr anchor="t" rtlCol="false" tIns="0" lIns="0" bIns="0" rIns="0">
            <a:spAutoFit/>
          </a:bodyPr>
          <a:lstStyle/>
          <a:p>
            <a:pPr algn="l">
              <a:lnSpc>
                <a:spcPts val="4650"/>
              </a:lnSpc>
            </a:pPr>
            <a:r>
              <a:rPr lang="en-US" b="true" sz="3000">
                <a:solidFill>
                  <a:srgbClr val="8C491A"/>
                </a:solidFill>
                <a:latin typeface="Arimo Bold"/>
                <a:ea typeface="Arimo Bold"/>
                <a:cs typeface="Arimo Bold"/>
                <a:sym typeface="Arimo Bold"/>
              </a:rPr>
              <a:t>Chapter 6</a:t>
            </a:r>
          </a:p>
        </p:txBody>
      </p:sp>
      <p:sp>
        <p:nvSpPr>
          <p:cNvPr name="TextBox 20" id="20"/>
          <p:cNvSpPr txBox="true"/>
          <p:nvPr/>
        </p:nvSpPr>
        <p:spPr>
          <a:xfrm rot="0">
            <a:off x="1143000" y="3222498"/>
            <a:ext cx="10001250" cy="3629025"/>
          </a:xfrm>
          <a:prstGeom prst="rect">
            <a:avLst/>
          </a:prstGeom>
        </p:spPr>
        <p:txBody>
          <a:bodyPr anchor="t" rtlCol="false" tIns="0" lIns="0" bIns="0" rIns="0">
            <a:spAutoFit/>
          </a:bodyPr>
          <a:lstStyle/>
          <a:p>
            <a:pPr algn="l">
              <a:lnSpc>
                <a:spcPts val="10080"/>
              </a:lnSpc>
            </a:pPr>
            <a:r>
              <a:rPr lang="en-US" b="true" sz="10500" spc="-210">
                <a:solidFill>
                  <a:srgbClr val="201E1D"/>
                </a:solidFill>
                <a:latin typeface="Arimo Bold"/>
                <a:ea typeface="Arimo Bold"/>
                <a:cs typeface="Arimo Bold"/>
                <a:sym typeface="Arimo Bold"/>
              </a:rPr>
              <a:t>Equations, factors &amp; formulae</a:t>
            </a:r>
          </a:p>
        </p:txBody>
      </p:sp>
      <p:sp>
        <p:nvSpPr>
          <p:cNvPr name="TextBox 21" id="21"/>
          <p:cNvSpPr txBox="true"/>
          <p:nvPr/>
        </p:nvSpPr>
        <p:spPr>
          <a:xfrm rot="0">
            <a:off x="1143000" y="6977920"/>
            <a:ext cx="8572500" cy="1076325"/>
          </a:xfrm>
          <a:prstGeom prst="rect">
            <a:avLst/>
          </a:prstGeom>
        </p:spPr>
        <p:txBody>
          <a:bodyPr anchor="t" rtlCol="false" tIns="0" lIns="0" bIns="0" rIns="0">
            <a:spAutoFit/>
          </a:bodyPr>
          <a:lstStyle/>
          <a:p>
            <a:pPr algn="l">
              <a:lnSpc>
                <a:spcPts val="3990"/>
              </a:lnSpc>
            </a:pPr>
            <a:r>
              <a:rPr lang="en-US" b="true" sz="2850">
                <a:solidFill>
                  <a:srgbClr val="201E1D"/>
                </a:solidFill>
                <a:latin typeface="Arimo Bold"/>
                <a:ea typeface="Arimo Bold"/>
                <a:cs typeface="Arimo Bold"/>
                <a:sym typeface="Arimo Bold"/>
              </a:rPr>
              <a:t>Solving linear and exponential equations, factorising, and changing the subject of a formula.</a:t>
            </a:r>
          </a:p>
        </p:txBody>
      </p:sp>
      <p:sp>
        <p:nvSpPr>
          <p:cNvPr name="TextBox 22" id="22"/>
          <p:cNvSpPr txBox="true"/>
          <p:nvPr/>
        </p:nvSpPr>
        <p:spPr>
          <a:xfrm rot="0">
            <a:off x="1143000" y="8803481"/>
            <a:ext cx="16002000" cy="533400"/>
          </a:xfrm>
          <a:prstGeom prst="rect">
            <a:avLst/>
          </a:prstGeom>
        </p:spPr>
        <p:txBody>
          <a:bodyPr anchor="t" rtlCol="false" tIns="0" lIns="0" bIns="0" rIns="0">
            <a:spAutoFit/>
          </a:bodyPr>
          <a:lstStyle/>
          <a:p>
            <a:pPr algn="l">
              <a:lnSpc>
                <a:spcPts val="3487"/>
              </a:lnSpc>
            </a:pPr>
            <a:r>
              <a:rPr lang="en-US" b="true" sz="2250">
                <a:solidFill>
                  <a:srgbClr val="474238"/>
                </a:solidFill>
                <a:latin typeface="Arimo Bold"/>
                <a:ea typeface="Arimo Bold"/>
                <a:cs typeface="Arimo Bold"/>
                <a:sym typeface="Arimo Bold"/>
              </a:rPr>
              <a:t>Use the arrows to move · press Next step to build each diagram · type into the quiz boxes and press Check</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FFE1D0"/>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CCDBB2"/>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FFC6A5"/>
            </a:solidFill>
          </p:spPr>
        </p:sp>
      </p:grpSp>
      <p:grpSp>
        <p:nvGrpSpPr>
          <p:cNvPr name="Group 9" id="9"/>
          <p:cNvGrpSpPr/>
          <p:nvPr/>
        </p:nvGrpSpPr>
        <p:grpSpPr>
          <a:xfrm rot="0">
            <a:off x="988314" y="611505"/>
            <a:ext cx="3505200" cy="600075"/>
            <a:chOff x="0" y="0"/>
            <a:chExt cx="4673600" cy="800100"/>
          </a:xfrm>
        </p:grpSpPr>
        <p:sp>
          <p:nvSpPr>
            <p:cNvPr name="Freeform 10" id="10"/>
            <p:cNvSpPr/>
            <p:nvPr/>
          </p:nvSpPr>
          <p:spPr>
            <a:xfrm flipH="false" flipV="false" rot="0">
              <a:off x="0" y="0"/>
              <a:ext cx="4673600" cy="800100"/>
            </a:xfrm>
            <a:custGeom>
              <a:avLst/>
              <a:gdLst/>
              <a:ahLst/>
              <a:cxnLst/>
              <a:rect r="r" b="b" t="t" l="l"/>
              <a:pathLst>
                <a:path h="800100" w="4673600">
                  <a:moveTo>
                    <a:pt x="400050" y="0"/>
                  </a:moveTo>
                  <a:lnTo>
                    <a:pt x="4273550" y="0"/>
                  </a:lnTo>
                  <a:cubicBezTo>
                    <a:pt x="4494530" y="0"/>
                    <a:pt x="4673600" y="179070"/>
                    <a:pt x="4673600" y="400050"/>
                  </a:cubicBezTo>
                  <a:cubicBezTo>
                    <a:pt x="4673600" y="621030"/>
                    <a:pt x="4494530" y="800100"/>
                    <a:pt x="4273550" y="800100"/>
                  </a:cubicBezTo>
                  <a:lnTo>
                    <a:pt x="400050" y="800100"/>
                  </a:lnTo>
                  <a:cubicBezTo>
                    <a:pt x="179070" y="800100"/>
                    <a:pt x="0" y="621030"/>
                    <a:pt x="0" y="400050"/>
                  </a:cubicBezTo>
                  <a:cubicBezTo>
                    <a:pt x="0" y="179070"/>
                    <a:pt x="179070" y="0"/>
                    <a:pt x="400050" y="0"/>
                  </a:cubicBezTo>
                  <a:close/>
                </a:path>
              </a:pathLst>
            </a:custGeom>
            <a:solidFill>
              <a:srgbClr val="8C491A"/>
            </a:solidFill>
          </p:spPr>
        </p:sp>
        <p:sp>
          <p:nvSpPr>
            <p:cNvPr name="TextBox 11" id="11"/>
            <p:cNvSpPr txBox="true"/>
            <p:nvPr/>
          </p:nvSpPr>
          <p:spPr>
            <a:xfrm>
              <a:off x="0" y="-76200"/>
              <a:ext cx="46736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LESSON OBJECTIVES</a:t>
              </a:r>
            </a:p>
          </p:txBody>
        </p:sp>
      </p:grpSp>
      <p:sp>
        <p:nvSpPr>
          <p:cNvPr name="TextBox 12" id="12"/>
          <p:cNvSpPr txBox="true"/>
          <p:nvPr/>
        </p:nvSpPr>
        <p:spPr>
          <a:xfrm rot="0">
            <a:off x="990600" y="1506855"/>
            <a:ext cx="16306800" cy="609600"/>
          </a:xfrm>
          <a:prstGeom prst="rect">
            <a:avLst/>
          </a:prstGeom>
        </p:spPr>
        <p:txBody>
          <a:bodyPr anchor="t" rtlCol="false" tIns="0" lIns="0" bIns="0" rIns="0">
            <a:spAutoFit/>
          </a:bodyPr>
          <a:lstStyle/>
          <a:p>
            <a:pPr algn="l">
              <a:lnSpc>
                <a:spcPts val="5148"/>
              </a:lnSpc>
            </a:pPr>
            <a:r>
              <a:rPr lang="en-US" b="true" sz="4950" spc="-99">
                <a:solidFill>
                  <a:srgbClr val="201E1D"/>
                </a:solidFill>
                <a:latin typeface="Arimo Bold"/>
                <a:ea typeface="Arimo Bold"/>
                <a:cs typeface="Arimo Bold"/>
                <a:sym typeface="Arimo Bold"/>
              </a:rPr>
              <a:t>In this chapter you will…</a:t>
            </a:r>
          </a:p>
        </p:txBody>
      </p:sp>
      <p:grpSp>
        <p:nvGrpSpPr>
          <p:cNvPr name="Group 13" id="13"/>
          <p:cNvGrpSpPr/>
          <p:nvPr/>
        </p:nvGrpSpPr>
        <p:grpSpPr>
          <a:xfrm rot="0">
            <a:off x="990600" y="2362867"/>
            <a:ext cx="8029575" cy="2228850"/>
            <a:chOff x="0" y="0"/>
            <a:chExt cx="10706100" cy="2971800"/>
          </a:xfrm>
        </p:grpSpPr>
        <p:sp>
          <p:nvSpPr>
            <p:cNvPr name="Freeform 14" id="14"/>
            <p:cNvSpPr/>
            <p:nvPr/>
          </p:nvSpPr>
          <p:spPr>
            <a:xfrm flipH="false" flipV="false" rot="0">
              <a:off x="0" y="0"/>
              <a:ext cx="10706100" cy="2971800"/>
            </a:xfrm>
            <a:custGeom>
              <a:avLst/>
              <a:gdLst/>
              <a:ahLst/>
              <a:cxnLst/>
              <a:rect r="r" b="b" t="t" l="l"/>
              <a:pathLst>
                <a:path h="2971800" w="10706100">
                  <a:moveTo>
                    <a:pt x="355600" y="0"/>
                  </a:moveTo>
                  <a:lnTo>
                    <a:pt x="10350500" y="0"/>
                  </a:lnTo>
                  <a:cubicBezTo>
                    <a:pt x="10546842" y="0"/>
                    <a:pt x="10706100" y="159258"/>
                    <a:pt x="10706100" y="355600"/>
                  </a:cubicBezTo>
                  <a:lnTo>
                    <a:pt x="10706100" y="2616200"/>
                  </a:lnTo>
                  <a:cubicBezTo>
                    <a:pt x="10706100" y="2812542"/>
                    <a:pt x="10546842" y="2971800"/>
                    <a:pt x="10350500" y="2971800"/>
                  </a:cubicBezTo>
                  <a:lnTo>
                    <a:pt x="355600" y="2971800"/>
                  </a:lnTo>
                  <a:cubicBezTo>
                    <a:pt x="159258" y="2971800"/>
                    <a:pt x="0" y="2812542"/>
                    <a:pt x="0" y="2616200"/>
                  </a:cubicBezTo>
                  <a:lnTo>
                    <a:pt x="0" y="355600"/>
                  </a:lnTo>
                  <a:cubicBezTo>
                    <a:pt x="0" y="159258"/>
                    <a:pt x="159258" y="0"/>
                    <a:pt x="355600" y="0"/>
                  </a:cubicBezTo>
                  <a:close/>
                </a:path>
              </a:pathLst>
            </a:custGeom>
            <a:solidFill>
              <a:srgbClr val="FFF2EB"/>
            </a:solidFill>
          </p:spPr>
        </p:sp>
        <p:sp>
          <p:nvSpPr>
            <p:cNvPr name="Freeform 15" id="15"/>
            <p:cNvSpPr/>
            <p:nvPr/>
          </p:nvSpPr>
          <p:spPr>
            <a:xfrm flipH="false" flipV="false" rot="0">
              <a:off x="0" y="0"/>
              <a:ext cx="10706100" cy="2971800"/>
            </a:xfrm>
            <a:custGeom>
              <a:avLst/>
              <a:gdLst/>
              <a:ahLst/>
              <a:cxnLst/>
              <a:rect r="r" b="b" t="t" l="l"/>
              <a:pathLst>
                <a:path h="2971800" w="10706100">
                  <a:moveTo>
                    <a:pt x="355600" y="0"/>
                  </a:moveTo>
                  <a:lnTo>
                    <a:pt x="10350500" y="0"/>
                  </a:lnTo>
                  <a:cubicBezTo>
                    <a:pt x="10546842" y="0"/>
                    <a:pt x="10706100" y="159258"/>
                    <a:pt x="10706100" y="355600"/>
                  </a:cubicBezTo>
                  <a:lnTo>
                    <a:pt x="10706100" y="2616200"/>
                  </a:lnTo>
                  <a:cubicBezTo>
                    <a:pt x="10706100" y="2812542"/>
                    <a:pt x="10546842" y="2971800"/>
                    <a:pt x="10350500" y="2971800"/>
                  </a:cubicBezTo>
                  <a:lnTo>
                    <a:pt x="355600" y="2971800"/>
                  </a:lnTo>
                  <a:cubicBezTo>
                    <a:pt x="159258" y="2971800"/>
                    <a:pt x="0" y="2812542"/>
                    <a:pt x="0" y="2616200"/>
                  </a:cubicBezTo>
                  <a:lnTo>
                    <a:pt x="0" y="355600"/>
                  </a:lnTo>
                  <a:cubicBezTo>
                    <a:pt x="0" y="159258"/>
                    <a:pt x="159258" y="0"/>
                    <a:pt x="355600" y="0"/>
                  </a:cubicBezTo>
                  <a:close/>
                </a:path>
              </a:pathLst>
            </a:custGeom>
            <a:solidFill>
              <a:srgbClr val="000000">
                <a:alpha val="0"/>
              </a:srgbClr>
            </a:solidFill>
            <a:ln w="28575" cap="sq">
              <a:solidFill>
                <a:srgbClr val="FFC6A5"/>
              </a:solidFill>
              <a:prstDash val="solid"/>
              <a:miter/>
            </a:ln>
          </p:spPr>
        </p:sp>
      </p:grpSp>
      <p:grpSp>
        <p:nvGrpSpPr>
          <p:cNvPr name="Group 16" id="16"/>
          <p:cNvGrpSpPr/>
          <p:nvPr/>
        </p:nvGrpSpPr>
        <p:grpSpPr>
          <a:xfrm rot="0">
            <a:off x="1323975" y="2858072"/>
            <a:ext cx="1238250" cy="1238250"/>
            <a:chOff x="0" y="0"/>
            <a:chExt cx="1651000" cy="1651000"/>
          </a:xfrm>
        </p:grpSpPr>
        <p:sp>
          <p:nvSpPr>
            <p:cNvPr name="Freeform 17" id="17"/>
            <p:cNvSpPr/>
            <p:nvPr/>
          </p:nvSpPr>
          <p:spPr>
            <a:xfrm flipH="false" flipV="false" rot="0">
              <a:off x="0" y="0"/>
              <a:ext cx="1651000" cy="1651000"/>
            </a:xfrm>
            <a:custGeom>
              <a:avLst/>
              <a:gdLst/>
              <a:ahLst/>
              <a:cxnLst/>
              <a:rect r="r" b="b" t="t" l="l"/>
              <a:pathLst>
                <a:path h="1651000" w="1651000">
                  <a:moveTo>
                    <a:pt x="825500" y="0"/>
                  </a:moveTo>
                  <a:cubicBezTo>
                    <a:pt x="1281430" y="0"/>
                    <a:pt x="1651000" y="369570"/>
                    <a:pt x="1651000" y="825500"/>
                  </a:cubicBezTo>
                  <a:cubicBezTo>
                    <a:pt x="1651000" y="1281430"/>
                    <a:pt x="1281430" y="1651000"/>
                    <a:pt x="825500" y="1651000"/>
                  </a:cubicBezTo>
                  <a:cubicBezTo>
                    <a:pt x="369570" y="1651000"/>
                    <a:pt x="0" y="1281430"/>
                    <a:pt x="0" y="825500"/>
                  </a:cubicBezTo>
                  <a:cubicBezTo>
                    <a:pt x="0" y="369570"/>
                    <a:pt x="369570" y="0"/>
                    <a:pt x="825500" y="0"/>
                  </a:cubicBezTo>
                  <a:close/>
                </a:path>
              </a:pathLst>
            </a:custGeom>
            <a:solidFill>
              <a:srgbClr val="8C491A"/>
            </a:solidFill>
          </p:spPr>
        </p:sp>
        <p:sp>
          <p:nvSpPr>
            <p:cNvPr name="TextBox 18" id="18"/>
            <p:cNvSpPr txBox="true"/>
            <p:nvPr/>
          </p:nvSpPr>
          <p:spPr>
            <a:xfrm>
              <a:off x="0" y="-161925"/>
              <a:ext cx="1651000" cy="1812925"/>
            </a:xfrm>
            <a:prstGeom prst="rect">
              <a:avLst/>
            </a:prstGeom>
          </p:spPr>
          <p:txBody>
            <a:bodyPr anchor="ctr" rtlCol="false" tIns="438150" lIns="438150" bIns="438150" rIns="438150"/>
            <a:lstStyle/>
            <a:p>
              <a:pPr algn="l">
                <a:lnSpc>
                  <a:spcPts val="5812"/>
                </a:lnSpc>
              </a:pPr>
              <a:r>
                <a:rPr lang="en-US" b="true" sz="3750" spc="-75">
                  <a:solidFill>
                    <a:srgbClr val="F5EAD8"/>
                  </a:solidFill>
                  <a:latin typeface="Arimo Bold"/>
                  <a:ea typeface="Arimo Bold"/>
                  <a:cs typeface="Arimo Bold"/>
                  <a:sym typeface="Arimo Bold"/>
                </a:rPr>
                <a:t>6.1</a:t>
              </a:r>
            </a:p>
          </p:txBody>
        </p:sp>
      </p:grpSp>
      <p:sp>
        <p:nvSpPr>
          <p:cNvPr name="TextBox 19" id="19"/>
          <p:cNvSpPr txBox="true"/>
          <p:nvPr/>
        </p:nvSpPr>
        <p:spPr>
          <a:xfrm rot="0">
            <a:off x="2828925" y="2583275"/>
            <a:ext cx="5857875" cy="485775"/>
          </a:xfrm>
          <a:prstGeom prst="rect">
            <a:avLst/>
          </a:prstGeom>
        </p:spPr>
        <p:txBody>
          <a:bodyPr anchor="t" rtlCol="false" tIns="0" lIns="0" bIns="0" rIns="0">
            <a:spAutoFit/>
          </a:bodyPr>
          <a:lstStyle/>
          <a:p>
            <a:pPr algn="l">
              <a:lnSpc>
                <a:spcPts val="3255"/>
              </a:lnSpc>
            </a:pPr>
            <a:r>
              <a:rPr lang="en-US" b="true" sz="2100" spc="105">
                <a:solidFill>
                  <a:srgbClr val="643312"/>
                </a:solidFill>
                <a:latin typeface="Arimo Bold"/>
                <a:ea typeface="Arimo Bold"/>
                <a:cs typeface="Arimo Bold"/>
                <a:sym typeface="Arimo Bold"/>
              </a:rPr>
              <a:t>SOLVING EQUATIONS</a:t>
            </a:r>
          </a:p>
        </p:txBody>
      </p:sp>
      <p:sp>
        <p:nvSpPr>
          <p:cNvPr name="TextBox 20" id="20"/>
          <p:cNvSpPr txBox="true"/>
          <p:nvPr/>
        </p:nvSpPr>
        <p:spPr>
          <a:xfrm rot="0">
            <a:off x="2828925" y="3088672"/>
            <a:ext cx="5857875" cy="1209675"/>
          </a:xfrm>
          <a:prstGeom prst="rect">
            <a:avLst/>
          </a:prstGeom>
        </p:spPr>
        <p:txBody>
          <a:bodyPr anchor="t" rtlCol="false" tIns="0" lIns="0" bIns="0" rIns="0">
            <a:spAutoFit/>
          </a:bodyPr>
          <a:lstStyle/>
          <a:p>
            <a:pPr algn="l">
              <a:lnSpc>
                <a:spcPts val="3069"/>
              </a:lnSpc>
            </a:pPr>
            <a:r>
              <a:rPr lang="en-US" b="true" sz="2325">
                <a:solidFill>
                  <a:srgbClr val="201E1D"/>
                </a:solidFill>
                <a:latin typeface="Arimo Bold"/>
                <a:ea typeface="Arimo Bold"/>
                <a:cs typeface="Arimo Bold"/>
                <a:sym typeface="Arimo Bold"/>
              </a:rPr>
              <a:t>Solve a linear equation, including equations with brackets and fractions; solve equations where the unknown is a power</a:t>
            </a:r>
          </a:p>
        </p:txBody>
      </p:sp>
      <p:grpSp>
        <p:nvGrpSpPr>
          <p:cNvPr name="Group 21" id="21"/>
          <p:cNvGrpSpPr/>
          <p:nvPr/>
        </p:nvGrpSpPr>
        <p:grpSpPr>
          <a:xfrm rot="0">
            <a:off x="9267825" y="2362867"/>
            <a:ext cx="8029575" cy="2228850"/>
            <a:chOff x="0" y="0"/>
            <a:chExt cx="10706100" cy="2971800"/>
          </a:xfrm>
        </p:grpSpPr>
        <p:sp>
          <p:nvSpPr>
            <p:cNvPr name="Freeform 22" id="22"/>
            <p:cNvSpPr/>
            <p:nvPr/>
          </p:nvSpPr>
          <p:spPr>
            <a:xfrm flipH="false" flipV="false" rot="0">
              <a:off x="0" y="0"/>
              <a:ext cx="10706100" cy="2971800"/>
            </a:xfrm>
            <a:custGeom>
              <a:avLst/>
              <a:gdLst/>
              <a:ahLst/>
              <a:cxnLst/>
              <a:rect r="r" b="b" t="t" l="l"/>
              <a:pathLst>
                <a:path h="2971800" w="10706100">
                  <a:moveTo>
                    <a:pt x="355600" y="0"/>
                  </a:moveTo>
                  <a:lnTo>
                    <a:pt x="10350500" y="0"/>
                  </a:lnTo>
                  <a:cubicBezTo>
                    <a:pt x="10546842" y="0"/>
                    <a:pt x="10706100" y="159258"/>
                    <a:pt x="10706100" y="355600"/>
                  </a:cubicBezTo>
                  <a:lnTo>
                    <a:pt x="10706100" y="2616200"/>
                  </a:lnTo>
                  <a:cubicBezTo>
                    <a:pt x="10706100" y="2812542"/>
                    <a:pt x="10546842" y="2971800"/>
                    <a:pt x="10350500" y="2971800"/>
                  </a:cubicBezTo>
                  <a:lnTo>
                    <a:pt x="355600" y="2971800"/>
                  </a:lnTo>
                  <a:cubicBezTo>
                    <a:pt x="159258" y="2971800"/>
                    <a:pt x="0" y="2812542"/>
                    <a:pt x="0" y="2616200"/>
                  </a:cubicBezTo>
                  <a:lnTo>
                    <a:pt x="0" y="355600"/>
                  </a:lnTo>
                  <a:cubicBezTo>
                    <a:pt x="0" y="159258"/>
                    <a:pt x="159258" y="0"/>
                    <a:pt x="355600" y="0"/>
                  </a:cubicBezTo>
                  <a:close/>
                </a:path>
              </a:pathLst>
            </a:custGeom>
            <a:solidFill>
              <a:srgbClr val="F0FAE1"/>
            </a:solidFill>
          </p:spPr>
        </p:sp>
        <p:sp>
          <p:nvSpPr>
            <p:cNvPr name="Freeform 23" id="23"/>
            <p:cNvSpPr/>
            <p:nvPr/>
          </p:nvSpPr>
          <p:spPr>
            <a:xfrm flipH="false" flipV="false" rot="0">
              <a:off x="0" y="0"/>
              <a:ext cx="10706100" cy="2971800"/>
            </a:xfrm>
            <a:custGeom>
              <a:avLst/>
              <a:gdLst/>
              <a:ahLst/>
              <a:cxnLst/>
              <a:rect r="r" b="b" t="t" l="l"/>
              <a:pathLst>
                <a:path h="2971800" w="10706100">
                  <a:moveTo>
                    <a:pt x="355600" y="0"/>
                  </a:moveTo>
                  <a:lnTo>
                    <a:pt x="10350500" y="0"/>
                  </a:lnTo>
                  <a:cubicBezTo>
                    <a:pt x="10546842" y="0"/>
                    <a:pt x="10706100" y="159258"/>
                    <a:pt x="10706100" y="355600"/>
                  </a:cubicBezTo>
                  <a:lnTo>
                    <a:pt x="10706100" y="2616200"/>
                  </a:lnTo>
                  <a:cubicBezTo>
                    <a:pt x="10706100" y="2812542"/>
                    <a:pt x="10546842" y="2971800"/>
                    <a:pt x="10350500" y="2971800"/>
                  </a:cubicBezTo>
                  <a:lnTo>
                    <a:pt x="355600" y="2971800"/>
                  </a:lnTo>
                  <a:cubicBezTo>
                    <a:pt x="159258" y="2971800"/>
                    <a:pt x="0" y="2812542"/>
                    <a:pt x="0" y="2616200"/>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grpSp>
        <p:nvGrpSpPr>
          <p:cNvPr name="Group 24" id="24"/>
          <p:cNvGrpSpPr/>
          <p:nvPr/>
        </p:nvGrpSpPr>
        <p:grpSpPr>
          <a:xfrm rot="0">
            <a:off x="9601200" y="2858072"/>
            <a:ext cx="1238250" cy="1238250"/>
            <a:chOff x="0" y="0"/>
            <a:chExt cx="1651000" cy="1651000"/>
          </a:xfrm>
        </p:grpSpPr>
        <p:sp>
          <p:nvSpPr>
            <p:cNvPr name="Freeform 25" id="25"/>
            <p:cNvSpPr/>
            <p:nvPr/>
          </p:nvSpPr>
          <p:spPr>
            <a:xfrm flipH="false" flipV="false" rot="0">
              <a:off x="0" y="0"/>
              <a:ext cx="1651000" cy="1651000"/>
            </a:xfrm>
            <a:custGeom>
              <a:avLst/>
              <a:gdLst/>
              <a:ahLst/>
              <a:cxnLst/>
              <a:rect r="r" b="b" t="t" l="l"/>
              <a:pathLst>
                <a:path h="1651000" w="1651000">
                  <a:moveTo>
                    <a:pt x="825500" y="0"/>
                  </a:moveTo>
                  <a:cubicBezTo>
                    <a:pt x="1281430" y="0"/>
                    <a:pt x="1651000" y="369570"/>
                    <a:pt x="1651000" y="825500"/>
                  </a:cubicBezTo>
                  <a:cubicBezTo>
                    <a:pt x="1651000" y="1281430"/>
                    <a:pt x="1281430" y="1651000"/>
                    <a:pt x="825500" y="1651000"/>
                  </a:cubicBezTo>
                  <a:cubicBezTo>
                    <a:pt x="369570" y="1651000"/>
                    <a:pt x="0" y="1281430"/>
                    <a:pt x="0" y="825500"/>
                  </a:cubicBezTo>
                  <a:cubicBezTo>
                    <a:pt x="0" y="369570"/>
                    <a:pt x="369570" y="0"/>
                    <a:pt x="825500" y="0"/>
                  </a:cubicBezTo>
                  <a:close/>
                </a:path>
              </a:pathLst>
            </a:custGeom>
            <a:solidFill>
              <a:srgbClr val="56633F"/>
            </a:solidFill>
          </p:spPr>
        </p:sp>
        <p:sp>
          <p:nvSpPr>
            <p:cNvPr name="TextBox 26" id="26"/>
            <p:cNvSpPr txBox="true"/>
            <p:nvPr/>
          </p:nvSpPr>
          <p:spPr>
            <a:xfrm>
              <a:off x="0" y="-161925"/>
              <a:ext cx="1651000" cy="1812925"/>
            </a:xfrm>
            <a:prstGeom prst="rect">
              <a:avLst/>
            </a:prstGeom>
          </p:spPr>
          <p:txBody>
            <a:bodyPr anchor="ctr" rtlCol="false" tIns="438150" lIns="438150" bIns="438150" rIns="438150"/>
            <a:lstStyle/>
            <a:p>
              <a:pPr algn="l">
                <a:lnSpc>
                  <a:spcPts val="5812"/>
                </a:lnSpc>
              </a:pPr>
              <a:r>
                <a:rPr lang="en-US" b="true" sz="3750" spc="-75">
                  <a:solidFill>
                    <a:srgbClr val="F5EAD8"/>
                  </a:solidFill>
                  <a:latin typeface="Arimo Bold"/>
                  <a:ea typeface="Arimo Bold"/>
                  <a:cs typeface="Arimo Bold"/>
                  <a:sym typeface="Arimo Bold"/>
                </a:rPr>
                <a:t>6.2</a:t>
              </a:r>
            </a:p>
          </p:txBody>
        </p:sp>
      </p:grpSp>
      <p:sp>
        <p:nvSpPr>
          <p:cNvPr name="TextBox 27" id="27"/>
          <p:cNvSpPr txBox="true"/>
          <p:nvPr/>
        </p:nvSpPr>
        <p:spPr>
          <a:xfrm rot="0">
            <a:off x="11106150" y="2778062"/>
            <a:ext cx="5857875" cy="485775"/>
          </a:xfrm>
          <a:prstGeom prst="rect">
            <a:avLst/>
          </a:prstGeom>
        </p:spPr>
        <p:txBody>
          <a:bodyPr anchor="t" rtlCol="false" tIns="0" lIns="0" bIns="0" rIns="0">
            <a:spAutoFit/>
          </a:bodyPr>
          <a:lstStyle/>
          <a:p>
            <a:pPr algn="l">
              <a:lnSpc>
                <a:spcPts val="3255"/>
              </a:lnSpc>
            </a:pPr>
            <a:r>
              <a:rPr lang="en-US" b="true" sz="2100" spc="105">
                <a:solidFill>
                  <a:srgbClr val="3D472B"/>
                </a:solidFill>
                <a:latin typeface="Arimo Bold"/>
                <a:ea typeface="Arimo Bold"/>
                <a:cs typeface="Arimo Bold"/>
                <a:sym typeface="Arimo Bold"/>
              </a:rPr>
              <a:t>FACTORISING</a:t>
            </a:r>
          </a:p>
        </p:txBody>
      </p:sp>
      <p:sp>
        <p:nvSpPr>
          <p:cNvPr name="TextBox 28" id="28"/>
          <p:cNvSpPr txBox="true"/>
          <p:nvPr/>
        </p:nvSpPr>
        <p:spPr>
          <a:xfrm rot="0">
            <a:off x="11106150" y="3283934"/>
            <a:ext cx="5857875" cy="819150"/>
          </a:xfrm>
          <a:prstGeom prst="rect">
            <a:avLst/>
          </a:prstGeom>
        </p:spPr>
        <p:txBody>
          <a:bodyPr anchor="t" rtlCol="false" tIns="0" lIns="0" bIns="0" rIns="0">
            <a:spAutoFit/>
          </a:bodyPr>
          <a:lstStyle/>
          <a:p>
            <a:pPr algn="l">
              <a:lnSpc>
                <a:spcPts val="3069"/>
              </a:lnSpc>
            </a:pPr>
            <a:r>
              <a:rPr lang="en-US" b="true" sz="2325">
                <a:solidFill>
                  <a:srgbClr val="201E1D"/>
                </a:solidFill>
                <a:latin typeface="Arimo Bold"/>
                <a:ea typeface="Arimo Bold"/>
                <a:cs typeface="Arimo Bold"/>
                <a:sym typeface="Arimo Bold"/>
              </a:rPr>
              <a:t>Factorise algebraic expressions by taking out common factors, including by grouping</a:t>
            </a:r>
          </a:p>
        </p:txBody>
      </p:sp>
      <p:grpSp>
        <p:nvGrpSpPr>
          <p:cNvPr name="Group 29" id="29"/>
          <p:cNvGrpSpPr/>
          <p:nvPr/>
        </p:nvGrpSpPr>
        <p:grpSpPr>
          <a:xfrm rot="0">
            <a:off x="990600" y="4840891"/>
            <a:ext cx="8029575" cy="1838325"/>
            <a:chOff x="0" y="0"/>
            <a:chExt cx="10706100" cy="2451100"/>
          </a:xfrm>
        </p:grpSpPr>
        <p:sp>
          <p:nvSpPr>
            <p:cNvPr name="Freeform 30" id="30"/>
            <p:cNvSpPr/>
            <p:nvPr/>
          </p:nvSpPr>
          <p:spPr>
            <a:xfrm flipH="false" flipV="false" rot="0">
              <a:off x="0" y="0"/>
              <a:ext cx="10706100" cy="2451100"/>
            </a:xfrm>
            <a:custGeom>
              <a:avLst/>
              <a:gdLst/>
              <a:ahLst/>
              <a:cxnLst/>
              <a:rect r="r" b="b" t="t" l="l"/>
              <a:pathLst>
                <a:path h="2451100" w="10706100">
                  <a:moveTo>
                    <a:pt x="355600" y="0"/>
                  </a:moveTo>
                  <a:lnTo>
                    <a:pt x="10350500" y="0"/>
                  </a:lnTo>
                  <a:cubicBezTo>
                    <a:pt x="10546842" y="0"/>
                    <a:pt x="10706100" y="159258"/>
                    <a:pt x="10706100" y="355600"/>
                  </a:cubicBezTo>
                  <a:lnTo>
                    <a:pt x="10706100" y="2095500"/>
                  </a:lnTo>
                  <a:cubicBezTo>
                    <a:pt x="10706100" y="2291842"/>
                    <a:pt x="10546842" y="2451100"/>
                    <a:pt x="10350500" y="2451100"/>
                  </a:cubicBezTo>
                  <a:lnTo>
                    <a:pt x="355600" y="2451100"/>
                  </a:lnTo>
                  <a:cubicBezTo>
                    <a:pt x="159258" y="2451100"/>
                    <a:pt x="0" y="2291842"/>
                    <a:pt x="0" y="2095500"/>
                  </a:cubicBezTo>
                  <a:lnTo>
                    <a:pt x="0" y="355600"/>
                  </a:lnTo>
                  <a:cubicBezTo>
                    <a:pt x="0" y="159258"/>
                    <a:pt x="159258" y="0"/>
                    <a:pt x="355600" y="0"/>
                  </a:cubicBezTo>
                  <a:close/>
                </a:path>
              </a:pathLst>
            </a:custGeom>
            <a:solidFill>
              <a:srgbClr val="FFF2EB"/>
            </a:solidFill>
          </p:spPr>
        </p:sp>
        <p:sp>
          <p:nvSpPr>
            <p:cNvPr name="Freeform 31" id="31"/>
            <p:cNvSpPr/>
            <p:nvPr/>
          </p:nvSpPr>
          <p:spPr>
            <a:xfrm flipH="false" flipV="false" rot="0">
              <a:off x="0" y="0"/>
              <a:ext cx="10706100" cy="2451100"/>
            </a:xfrm>
            <a:custGeom>
              <a:avLst/>
              <a:gdLst/>
              <a:ahLst/>
              <a:cxnLst/>
              <a:rect r="r" b="b" t="t" l="l"/>
              <a:pathLst>
                <a:path h="2451100" w="10706100">
                  <a:moveTo>
                    <a:pt x="355600" y="0"/>
                  </a:moveTo>
                  <a:lnTo>
                    <a:pt x="10350500" y="0"/>
                  </a:lnTo>
                  <a:cubicBezTo>
                    <a:pt x="10546842" y="0"/>
                    <a:pt x="10706100" y="159258"/>
                    <a:pt x="10706100" y="355600"/>
                  </a:cubicBezTo>
                  <a:lnTo>
                    <a:pt x="10706100" y="2095500"/>
                  </a:lnTo>
                  <a:cubicBezTo>
                    <a:pt x="10706100" y="2291842"/>
                    <a:pt x="10546842" y="2451100"/>
                    <a:pt x="10350500" y="2451100"/>
                  </a:cubicBezTo>
                  <a:lnTo>
                    <a:pt x="355600" y="2451100"/>
                  </a:lnTo>
                  <a:cubicBezTo>
                    <a:pt x="159258" y="2451100"/>
                    <a:pt x="0" y="2291842"/>
                    <a:pt x="0" y="2095500"/>
                  </a:cubicBezTo>
                  <a:lnTo>
                    <a:pt x="0" y="355600"/>
                  </a:lnTo>
                  <a:cubicBezTo>
                    <a:pt x="0" y="159258"/>
                    <a:pt x="159258" y="0"/>
                    <a:pt x="355600" y="0"/>
                  </a:cubicBezTo>
                  <a:close/>
                </a:path>
              </a:pathLst>
            </a:custGeom>
            <a:solidFill>
              <a:srgbClr val="000000">
                <a:alpha val="0"/>
              </a:srgbClr>
            </a:solidFill>
            <a:ln w="28575" cap="sq">
              <a:solidFill>
                <a:srgbClr val="FFC6A5"/>
              </a:solidFill>
              <a:prstDash val="solid"/>
              <a:miter/>
            </a:ln>
          </p:spPr>
        </p:sp>
      </p:grpSp>
      <p:grpSp>
        <p:nvGrpSpPr>
          <p:cNvPr name="Group 32" id="32"/>
          <p:cNvGrpSpPr/>
          <p:nvPr/>
        </p:nvGrpSpPr>
        <p:grpSpPr>
          <a:xfrm rot="0">
            <a:off x="1323975" y="5140833"/>
            <a:ext cx="1238250" cy="1238250"/>
            <a:chOff x="0" y="0"/>
            <a:chExt cx="1651000" cy="1651000"/>
          </a:xfrm>
        </p:grpSpPr>
        <p:sp>
          <p:nvSpPr>
            <p:cNvPr name="Freeform 33" id="33"/>
            <p:cNvSpPr/>
            <p:nvPr/>
          </p:nvSpPr>
          <p:spPr>
            <a:xfrm flipH="false" flipV="false" rot="0">
              <a:off x="0" y="0"/>
              <a:ext cx="1651000" cy="1651000"/>
            </a:xfrm>
            <a:custGeom>
              <a:avLst/>
              <a:gdLst/>
              <a:ahLst/>
              <a:cxnLst/>
              <a:rect r="r" b="b" t="t" l="l"/>
              <a:pathLst>
                <a:path h="1651000" w="1651000">
                  <a:moveTo>
                    <a:pt x="825500" y="0"/>
                  </a:moveTo>
                  <a:cubicBezTo>
                    <a:pt x="1281430" y="0"/>
                    <a:pt x="1651000" y="369570"/>
                    <a:pt x="1651000" y="825500"/>
                  </a:cubicBezTo>
                  <a:cubicBezTo>
                    <a:pt x="1651000" y="1281430"/>
                    <a:pt x="1281430" y="1651000"/>
                    <a:pt x="825500" y="1651000"/>
                  </a:cubicBezTo>
                  <a:cubicBezTo>
                    <a:pt x="369570" y="1651000"/>
                    <a:pt x="0" y="1281430"/>
                    <a:pt x="0" y="825500"/>
                  </a:cubicBezTo>
                  <a:cubicBezTo>
                    <a:pt x="0" y="369570"/>
                    <a:pt x="369570" y="0"/>
                    <a:pt x="825500" y="0"/>
                  </a:cubicBezTo>
                  <a:close/>
                </a:path>
              </a:pathLst>
            </a:custGeom>
            <a:solidFill>
              <a:srgbClr val="8C491A"/>
            </a:solidFill>
          </p:spPr>
        </p:sp>
        <p:sp>
          <p:nvSpPr>
            <p:cNvPr name="TextBox 34" id="34"/>
            <p:cNvSpPr txBox="true"/>
            <p:nvPr/>
          </p:nvSpPr>
          <p:spPr>
            <a:xfrm>
              <a:off x="0" y="-161925"/>
              <a:ext cx="1651000" cy="1812925"/>
            </a:xfrm>
            <a:prstGeom prst="rect">
              <a:avLst/>
            </a:prstGeom>
          </p:spPr>
          <p:txBody>
            <a:bodyPr anchor="ctr" rtlCol="false" tIns="438150" lIns="438150" bIns="438150" rIns="438150"/>
            <a:lstStyle/>
            <a:p>
              <a:pPr algn="l">
                <a:lnSpc>
                  <a:spcPts val="5812"/>
                </a:lnSpc>
              </a:pPr>
              <a:r>
                <a:rPr lang="en-US" b="true" sz="3750" spc="-75">
                  <a:solidFill>
                    <a:srgbClr val="F5EAD8"/>
                  </a:solidFill>
                  <a:latin typeface="Arimo Bold"/>
                  <a:ea typeface="Arimo Bold"/>
                  <a:cs typeface="Arimo Bold"/>
                  <a:sym typeface="Arimo Bold"/>
                </a:rPr>
                <a:t>6.3</a:t>
              </a:r>
            </a:p>
          </p:txBody>
        </p:sp>
      </p:grpSp>
      <p:sp>
        <p:nvSpPr>
          <p:cNvPr name="TextBox 35" id="35"/>
          <p:cNvSpPr txBox="true"/>
          <p:nvPr/>
        </p:nvSpPr>
        <p:spPr>
          <a:xfrm rot="0">
            <a:off x="2830163" y="5255609"/>
            <a:ext cx="5715000" cy="485775"/>
          </a:xfrm>
          <a:prstGeom prst="rect">
            <a:avLst/>
          </a:prstGeom>
        </p:spPr>
        <p:txBody>
          <a:bodyPr anchor="t" rtlCol="false" tIns="0" lIns="0" bIns="0" rIns="0">
            <a:spAutoFit/>
          </a:bodyPr>
          <a:lstStyle/>
          <a:p>
            <a:pPr algn="l">
              <a:lnSpc>
                <a:spcPts val="3255"/>
              </a:lnSpc>
            </a:pPr>
            <a:r>
              <a:rPr lang="en-US" b="true" sz="2100" spc="105">
                <a:solidFill>
                  <a:srgbClr val="643312"/>
                </a:solidFill>
                <a:latin typeface="Arimo Bold"/>
                <a:ea typeface="Arimo Bold"/>
                <a:cs typeface="Arimo Bold"/>
                <a:sym typeface="Arimo Bold"/>
              </a:rPr>
              <a:t>REARRANGING FORMULAE</a:t>
            </a:r>
          </a:p>
        </p:txBody>
      </p:sp>
      <p:sp>
        <p:nvSpPr>
          <p:cNvPr name="TextBox 36" id="36"/>
          <p:cNvSpPr txBox="true"/>
          <p:nvPr/>
        </p:nvSpPr>
        <p:spPr>
          <a:xfrm rot="0">
            <a:off x="2830163" y="5761863"/>
            <a:ext cx="5715000" cy="428625"/>
          </a:xfrm>
          <a:prstGeom prst="rect">
            <a:avLst/>
          </a:prstGeom>
        </p:spPr>
        <p:txBody>
          <a:bodyPr anchor="t" rtlCol="false" tIns="0" lIns="0" bIns="0" rIns="0">
            <a:spAutoFit/>
          </a:bodyPr>
          <a:lstStyle/>
          <a:p>
            <a:pPr algn="l">
              <a:lnSpc>
                <a:spcPts val="3069"/>
              </a:lnSpc>
            </a:pPr>
            <a:r>
              <a:rPr lang="en-US" b="true" sz="2325">
                <a:solidFill>
                  <a:srgbClr val="201E1D"/>
                </a:solidFill>
                <a:latin typeface="Arimo Bold"/>
                <a:ea typeface="Arimo Bold"/>
                <a:cs typeface="Arimo Bold"/>
                <a:sym typeface="Arimo Bold"/>
              </a:rPr>
              <a:t>Rearrange a formula to change the subject</a:t>
            </a:r>
          </a:p>
        </p:txBody>
      </p:sp>
      <p:grpSp>
        <p:nvGrpSpPr>
          <p:cNvPr name="Group 37" id="37"/>
          <p:cNvGrpSpPr/>
          <p:nvPr/>
        </p:nvGrpSpPr>
        <p:grpSpPr>
          <a:xfrm rot="0">
            <a:off x="9267825" y="4840891"/>
            <a:ext cx="8029575" cy="1838325"/>
            <a:chOff x="0" y="0"/>
            <a:chExt cx="10706100" cy="2451100"/>
          </a:xfrm>
        </p:grpSpPr>
        <p:sp>
          <p:nvSpPr>
            <p:cNvPr name="Freeform 38" id="38"/>
            <p:cNvSpPr/>
            <p:nvPr/>
          </p:nvSpPr>
          <p:spPr>
            <a:xfrm flipH="false" flipV="false" rot="0">
              <a:off x="0" y="0"/>
              <a:ext cx="10706100" cy="2451100"/>
            </a:xfrm>
            <a:custGeom>
              <a:avLst/>
              <a:gdLst/>
              <a:ahLst/>
              <a:cxnLst/>
              <a:rect r="r" b="b" t="t" l="l"/>
              <a:pathLst>
                <a:path h="2451100" w="10706100">
                  <a:moveTo>
                    <a:pt x="355600" y="0"/>
                  </a:moveTo>
                  <a:lnTo>
                    <a:pt x="10350500" y="0"/>
                  </a:lnTo>
                  <a:cubicBezTo>
                    <a:pt x="10546842" y="0"/>
                    <a:pt x="10706100" y="159258"/>
                    <a:pt x="10706100" y="355600"/>
                  </a:cubicBezTo>
                  <a:lnTo>
                    <a:pt x="10706100" y="2095500"/>
                  </a:lnTo>
                  <a:cubicBezTo>
                    <a:pt x="10706100" y="2291842"/>
                    <a:pt x="10546842" y="2451100"/>
                    <a:pt x="10350500" y="2451100"/>
                  </a:cubicBezTo>
                  <a:lnTo>
                    <a:pt x="355600" y="2451100"/>
                  </a:lnTo>
                  <a:cubicBezTo>
                    <a:pt x="159258" y="2451100"/>
                    <a:pt x="0" y="2291842"/>
                    <a:pt x="0" y="2095500"/>
                  </a:cubicBezTo>
                  <a:lnTo>
                    <a:pt x="0" y="355600"/>
                  </a:lnTo>
                  <a:cubicBezTo>
                    <a:pt x="0" y="159258"/>
                    <a:pt x="159258" y="0"/>
                    <a:pt x="355600" y="0"/>
                  </a:cubicBezTo>
                  <a:close/>
                </a:path>
              </a:pathLst>
            </a:custGeom>
            <a:solidFill>
              <a:srgbClr val="F0FAE1"/>
            </a:solidFill>
          </p:spPr>
        </p:sp>
        <p:sp>
          <p:nvSpPr>
            <p:cNvPr name="Freeform 39" id="39"/>
            <p:cNvSpPr/>
            <p:nvPr/>
          </p:nvSpPr>
          <p:spPr>
            <a:xfrm flipH="false" flipV="false" rot="0">
              <a:off x="0" y="0"/>
              <a:ext cx="10706100" cy="2451100"/>
            </a:xfrm>
            <a:custGeom>
              <a:avLst/>
              <a:gdLst/>
              <a:ahLst/>
              <a:cxnLst/>
              <a:rect r="r" b="b" t="t" l="l"/>
              <a:pathLst>
                <a:path h="2451100" w="10706100">
                  <a:moveTo>
                    <a:pt x="355600" y="0"/>
                  </a:moveTo>
                  <a:lnTo>
                    <a:pt x="10350500" y="0"/>
                  </a:lnTo>
                  <a:cubicBezTo>
                    <a:pt x="10546842" y="0"/>
                    <a:pt x="10706100" y="159258"/>
                    <a:pt x="10706100" y="355600"/>
                  </a:cubicBezTo>
                  <a:lnTo>
                    <a:pt x="10706100" y="2095500"/>
                  </a:lnTo>
                  <a:cubicBezTo>
                    <a:pt x="10706100" y="2291842"/>
                    <a:pt x="10546842" y="2451100"/>
                    <a:pt x="10350500" y="2451100"/>
                  </a:cubicBezTo>
                  <a:lnTo>
                    <a:pt x="355600" y="2451100"/>
                  </a:lnTo>
                  <a:cubicBezTo>
                    <a:pt x="159258" y="2451100"/>
                    <a:pt x="0" y="2291842"/>
                    <a:pt x="0" y="2095500"/>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grpSp>
        <p:nvGrpSpPr>
          <p:cNvPr name="Group 40" id="40"/>
          <p:cNvGrpSpPr/>
          <p:nvPr/>
        </p:nvGrpSpPr>
        <p:grpSpPr>
          <a:xfrm rot="0">
            <a:off x="9601200" y="5140833"/>
            <a:ext cx="1238250" cy="1238250"/>
            <a:chOff x="0" y="0"/>
            <a:chExt cx="1651000" cy="1651000"/>
          </a:xfrm>
        </p:grpSpPr>
        <p:sp>
          <p:nvSpPr>
            <p:cNvPr name="Freeform 41" id="41"/>
            <p:cNvSpPr/>
            <p:nvPr/>
          </p:nvSpPr>
          <p:spPr>
            <a:xfrm flipH="false" flipV="false" rot="0">
              <a:off x="0" y="0"/>
              <a:ext cx="1651000" cy="1651000"/>
            </a:xfrm>
            <a:custGeom>
              <a:avLst/>
              <a:gdLst/>
              <a:ahLst/>
              <a:cxnLst/>
              <a:rect r="r" b="b" t="t" l="l"/>
              <a:pathLst>
                <a:path h="1651000" w="1651000">
                  <a:moveTo>
                    <a:pt x="825500" y="0"/>
                  </a:moveTo>
                  <a:cubicBezTo>
                    <a:pt x="1281430" y="0"/>
                    <a:pt x="1651000" y="369570"/>
                    <a:pt x="1651000" y="825500"/>
                  </a:cubicBezTo>
                  <a:cubicBezTo>
                    <a:pt x="1651000" y="1281430"/>
                    <a:pt x="1281430" y="1651000"/>
                    <a:pt x="825500" y="1651000"/>
                  </a:cubicBezTo>
                  <a:cubicBezTo>
                    <a:pt x="369570" y="1651000"/>
                    <a:pt x="0" y="1281430"/>
                    <a:pt x="0" y="825500"/>
                  </a:cubicBezTo>
                  <a:cubicBezTo>
                    <a:pt x="0" y="369570"/>
                    <a:pt x="369570" y="0"/>
                    <a:pt x="825500" y="0"/>
                  </a:cubicBezTo>
                  <a:close/>
                </a:path>
              </a:pathLst>
            </a:custGeom>
            <a:solidFill>
              <a:srgbClr val="56633F"/>
            </a:solidFill>
          </p:spPr>
        </p:sp>
        <p:sp>
          <p:nvSpPr>
            <p:cNvPr name="TextBox 42" id="42"/>
            <p:cNvSpPr txBox="true"/>
            <p:nvPr/>
          </p:nvSpPr>
          <p:spPr>
            <a:xfrm>
              <a:off x="0" y="-104775"/>
              <a:ext cx="1651000" cy="1755775"/>
            </a:xfrm>
            <a:prstGeom prst="rect">
              <a:avLst/>
            </a:prstGeom>
          </p:spPr>
          <p:txBody>
            <a:bodyPr anchor="t" rtlCol="false" tIns="547243" lIns="547243" bIns="547243" rIns="547243"/>
            <a:lstStyle/>
            <a:p>
              <a:pPr algn="l">
                <a:lnSpc>
                  <a:spcPts val="4185"/>
                </a:lnSpc>
              </a:pPr>
              <a:r>
                <a:rPr lang="en-US" b="true" sz="2700" spc="-54">
                  <a:solidFill>
                    <a:srgbClr val="F5EAD8"/>
                  </a:solidFill>
                  <a:latin typeface="Arimo Bold"/>
                  <a:ea typeface="Arimo Bold"/>
                  <a:cs typeface="Arimo Bold"/>
                  <a:sym typeface="Arimo Bold"/>
                </a:rPr>
                <a:t>Words</a:t>
              </a:r>
            </a:p>
          </p:txBody>
        </p:sp>
      </p:grpSp>
      <p:sp>
        <p:nvSpPr>
          <p:cNvPr name="TextBox 43" id="43"/>
          <p:cNvSpPr txBox="true"/>
          <p:nvPr/>
        </p:nvSpPr>
        <p:spPr>
          <a:xfrm rot="0">
            <a:off x="11106150" y="5060823"/>
            <a:ext cx="5857875" cy="485775"/>
          </a:xfrm>
          <a:prstGeom prst="rect">
            <a:avLst/>
          </a:prstGeom>
        </p:spPr>
        <p:txBody>
          <a:bodyPr anchor="t" rtlCol="false" tIns="0" lIns="0" bIns="0" rIns="0">
            <a:spAutoFit/>
          </a:bodyPr>
          <a:lstStyle/>
          <a:p>
            <a:pPr algn="l">
              <a:lnSpc>
                <a:spcPts val="3255"/>
              </a:lnSpc>
            </a:pPr>
            <a:r>
              <a:rPr lang="en-US" b="true" sz="2100" spc="105">
                <a:solidFill>
                  <a:srgbClr val="3D472B"/>
                </a:solidFill>
                <a:latin typeface="Arimo Bold"/>
                <a:ea typeface="Arimo Bold"/>
                <a:cs typeface="Arimo Bold"/>
                <a:sym typeface="Arimo Bold"/>
              </a:rPr>
              <a:t>KEY WORDS</a:t>
            </a:r>
          </a:p>
        </p:txBody>
      </p:sp>
      <p:sp>
        <p:nvSpPr>
          <p:cNvPr name="TextBox 44" id="44"/>
          <p:cNvSpPr txBox="true"/>
          <p:nvPr/>
        </p:nvSpPr>
        <p:spPr>
          <a:xfrm rot="0">
            <a:off x="11106150" y="5566600"/>
            <a:ext cx="5857875" cy="819150"/>
          </a:xfrm>
          <a:prstGeom prst="rect">
            <a:avLst/>
          </a:prstGeom>
        </p:spPr>
        <p:txBody>
          <a:bodyPr anchor="t" rtlCol="false" tIns="0" lIns="0" bIns="0" rIns="0">
            <a:spAutoFit/>
          </a:bodyPr>
          <a:lstStyle/>
          <a:p>
            <a:pPr algn="l">
              <a:lnSpc>
                <a:spcPts val="3069"/>
              </a:lnSpc>
            </a:pPr>
            <a:r>
              <a:rPr lang="en-US" b="true" sz="2325">
                <a:solidFill>
                  <a:srgbClr val="201E1D"/>
                </a:solidFill>
                <a:latin typeface="Arimo Bold"/>
                <a:ea typeface="Arimo Bold"/>
                <a:cs typeface="Arimo Bold"/>
                <a:sym typeface="Arimo Bold"/>
              </a:rPr>
              <a:t>factorisation · linear equation · solution · subject</a:t>
            </a:r>
          </a:p>
        </p:txBody>
      </p:sp>
      <p:sp>
        <p:nvSpPr>
          <p:cNvPr name="TextBox 45" id="45"/>
          <p:cNvSpPr txBox="true"/>
          <p:nvPr/>
        </p:nvSpPr>
        <p:spPr>
          <a:xfrm rot="0">
            <a:off x="990600" y="6869620"/>
            <a:ext cx="14287500" cy="885825"/>
          </a:xfrm>
          <a:prstGeom prst="rect">
            <a:avLst/>
          </a:prstGeom>
        </p:spPr>
        <p:txBody>
          <a:bodyPr anchor="t" rtlCol="false" tIns="0" lIns="0" bIns="0" rIns="0">
            <a:spAutoFit/>
          </a:bodyPr>
          <a:lstStyle/>
          <a:p>
            <a:pPr algn="l">
              <a:lnSpc>
                <a:spcPts val="3254"/>
              </a:lnSpc>
            </a:pPr>
            <a:r>
              <a:rPr lang="en-US" b="true" sz="2325">
                <a:solidFill>
                  <a:srgbClr val="474238"/>
                </a:solidFill>
                <a:latin typeface="Arimo Bold"/>
                <a:ea typeface="Arimo Bold"/>
                <a:cs typeface="Arimo Bold"/>
                <a:sym typeface="Arimo Bold"/>
              </a:rPr>
              <a:t>Equations and formulae let you record a problem quickly and work with it. They are used to find areas and volumes, cooking times, car performance and the cost of insulating a house.</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FFE1D0"/>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CCDBB2"/>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FFC6A5"/>
            </a:solidFill>
          </p:spPr>
        </p:sp>
      </p:grpSp>
      <p:grpSp>
        <p:nvGrpSpPr>
          <p:cNvPr name="Group 9" id="9"/>
          <p:cNvGrpSpPr/>
          <p:nvPr/>
        </p:nvGrpSpPr>
        <p:grpSpPr>
          <a:xfrm rot="0">
            <a:off x="990124" y="611505"/>
            <a:ext cx="3305175" cy="600075"/>
            <a:chOff x="0" y="0"/>
            <a:chExt cx="4406900" cy="800100"/>
          </a:xfrm>
        </p:grpSpPr>
        <p:sp>
          <p:nvSpPr>
            <p:cNvPr name="Freeform 10" id="10"/>
            <p:cNvSpPr/>
            <p:nvPr/>
          </p:nvSpPr>
          <p:spPr>
            <a:xfrm flipH="false" flipV="false" rot="0">
              <a:off x="0" y="0"/>
              <a:ext cx="4406900" cy="800100"/>
            </a:xfrm>
            <a:custGeom>
              <a:avLst/>
              <a:gdLst/>
              <a:ahLst/>
              <a:cxnLst/>
              <a:rect r="r" b="b" t="t" l="l"/>
              <a:pathLst>
                <a:path h="800100" w="4406900">
                  <a:moveTo>
                    <a:pt x="400050" y="0"/>
                  </a:moveTo>
                  <a:lnTo>
                    <a:pt x="4006850" y="0"/>
                  </a:lnTo>
                  <a:cubicBezTo>
                    <a:pt x="4227830" y="0"/>
                    <a:pt x="4406900" y="179070"/>
                    <a:pt x="4406900" y="400050"/>
                  </a:cubicBezTo>
                  <a:cubicBezTo>
                    <a:pt x="4406900" y="621030"/>
                    <a:pt x="4227830" y="800100"/>
                    <a:pt x="4006850" y="800100"/>
                  </a:cubicBezTo>
                  <a:lnTo>
                    <a:pt x="400050" y="800100"/>
                  </a:lnTo>
                  <a:cubicBezTo>
                    <a:pt x="179070" y="800100"/>
                    <a:pt x="0" y="621030"/>
                    <a:pt x="0" y="400050"/>
                  </a:cubicBezTo>
                  <a:cubicBezTo>
                    <a:pt x="0" y="179070"/>
                    <a:pt x="179070" y="0"/>
                    <a:pt x="400050" y="0"/>
                  </a:cubicBezTo>
                  <a:close/>
                </a:path>
              </a:pathLst>
            </a:custGeom>
            <a:solidFill>
              <a:srgbClr val="8C491A"/>
            </a:solidFill>
          </p:spPr>
        </p:sp>
        <p:sp>
          <p:nvSpPr>
            <p:cNvPr name="TextBox 11" id="11"/>
            <p:cNvSpPr txBox="true"/>
            <p:nvPr/>
          </p:nvSpPr>
          <p:spPr>
            <a:xfrm>
              <a:off x="0" y="-76200"/>
              <a:ext cx="44069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PRIOR KNOWLEDGE</a:t>
              </a:r>
            </a:p>
          </p:txBody>
        </p:sp>
      </p:grpSp>
      <p:sp>
        <p:nvSpPr>
          <p:cNvPr name="TextBox 12" id="12"/>
          <p:cNvSpPr txBox="true"/>
          <p:nvPr/>
        </p:nvSpPr>
        <p:spPr>
          <a:xfrm rot="0">
            <a:off x="4484084" y="630555"/>
            <a:ext cx="1981200" cy="485775"/>
          </a:xfrm>
          <a:prstGeom prst="rect">
            <a:avLst/>
          </a:prstGeom>
        </p:spPr>
        <p:txBody>
          <a:bodyPr anchor="t" rtlCol="false" tIns="0" lIns="0" bIns="0" rIns="0">
            <a:spAutoFit/>
          </a:bodyPr>
          <a:lstStyle/>
          <a:p>
            <a:pPr algn="l">
              <a:lnSpc>
                <a:spcPts val="3255"/>
              </a:lnSpc>
            </a:pPr>
            <a:r>
              <a:rPr lang="en-US" b="true" sz="2100">
                <a:solidFill>
                  <a:srgbClr val="3D472B"/>
                </a:solidFill>
                <a:latin typeface="Arimo Bold"/>
                <a:ea typeface="Arimo Bold"/>
                <a:cs typeface="Arimo Bold"/>
                <a:sym typeface="Arimo Bold"/>
              </a:rPr>
              <a:t>Before you start</a:t>
            </a:r>
          </a:p>
        </p:txBody>
      </p:sp>
      <p:sp>
        <p:nvSpPr>
          <p:cNvPr name="TextBox 13" id="13"/>
          <p:cNvSpPr txBox="true"/>
          <p:nvPr/>
        </p:nvSpPr>
        <p:spPr>
          <a:xfrm rot="0">
            <a:off x="990600" y="1506855"/>
            <a:ext cx="16306800" cy="609600"/>
          </a:xfrm>
          <a:prstGeom prst="rect">
            <a:avLst/>
          </a:prstGeom>
        </p:spPr>
        <p:txBody>
          <a:bodyPr anchor="t" rtlCol="false" tIns="0" lIns="0" bIns="0" rIns="0">
            <a:spAutoFit/>
          </a:bodyPr>
          <a:lstStyle/>
          <a:p>
            <a:pPr algn="l">
              <a:lnSpc>
                <a:spcPts val="5148"/>
              </a:lnSpc>
            </a:pPr>
            <a:r>
              <a:rPr lang="en-US" b="true" sz="4950" spc="-99">
                <a:solidFill>
                  <a:srgbClr val="201E1D"/>
                </a:solidFill>
                <a:latin typeface="Arimo Bold"/>
                <a:ea typeface="Arimo Bold"/>
                <a:cs typeface="Arimo Bold"/>
                <a:sym typeface="Arimo Bold"/>
              </a:rPr>
              <a:t>What you need to remember</a:t>
            </a:r>
          </a:p>
        </p:txBody>
      </p:sp>
      <p:grpSp>
        <p:nvGrpSpPr>
          <p:cNvPr name="Group 14" id="14"/>
          <p:cNvGrpSpPr/>
          <p:nvPr/>
        </p:nvGrpSpPr>
        <p:grpSpPr>
          <a:xfrm rot="0">
            <a:off x="988981" y="2363438"/>
            <a:ext cx="5286375" cy="1866900"/>
            <a:chOff x="0" y="0"/>
            <a:chExt cx="7048500" cy="2489200"/>
          </a:xfrm>
        </p:grpSpPr>
        <p:sp>
          <p:nvSpPr>
            <p:cNvPr name="Freeform 15" id="15"/>
            <p:cNvSpPr/>
            <p:nvPr/>
          </p:nvSpPr>
          <p:spPr>
            <a:xfrm flipH="false" flipV="false" rot="0">
              <a:off x="0" y="0"/>
              <a:ext cx="7048500" cy="2489200"/>
            </a:xfrm>
            <a:custGeom>
              <a:avLst/>
              <a:gdLst/>
              <a:ahLst/>
              <a:cxnLst/>
              <a:rect r="r" b="b" t="t" l="l"/>
              <a:pathLst>
                <a:path h="2489200" w="7048500">
                  <a:moveTo>
                    <a:pt x="355600" y="0"/>
                  </a:moveTo>
                  <a:lnTo>
                    <a:pt x="6692900" y="0"/>
                  </a:lnTo>
                  <a:cubicBezTo>
                    <a:pt x="6889242" y="0"/>
                    <a:pt x="7048500" y="159258"/>
                    <a:pt x="7048500" y="355600"/>
                  </a:cubicBezTo>
                  <a:lnTo>
                    <a:pt x="7048500" y="2133600"/>
                  </a:lnTo>
                  <a:cubicBezTo>
                    <a:pt x="7048500" y="2329942"/>
                    <a:pt x="6889242" y="2489200"/>
                    <a:pt x="6692900" y="2489200"/>
                  </a:cubicBezTo>
                  <a:lnTo>
                    <a:pt x="355600" y="2489200"/>
                  </a:lnTo>
                  <a:cubicBezTo>
                    <a:pt x="159258" y="2489200"/>
                    <a:pt x="0" y="2329942"/>
                    <a:pt x="0" y="2133600"/>
                  </a:cubicBezTo>
                  <a:lnTo>
                    <a:pt x="0" y="355600"/>
                  </a:lnTo>
                  <a:cubicBezTo>
                    <a:pt x="0" y="159258"/>
                    <a:pt x="159258" y="0"/>
                    <a:pt x="355600" y="0"/>
                  </a:cubicBezTo>
                  <a:close/>
                </a:path>
              </a:pathLst>
            </a:custGeom>
            <a:solidFill>
              <a:srgbClr val="FFF2EB"/>
            </a:solidFill>
          </p:spPr>
        </p:sp>
        <p:sp>
          <p:nvSpPr>
            <p:cNvPr name="Freeform 16" id="16"/>
            <p:cNvSpPr/>
            <p:nvPr/>
          </p:nvSpPr>
          <p:spPr>
            <a:xfrm flipH="false" flipV="false" rot="0">
              <a:off x="0" y="0"/>
              <a:ext cx="7048500" cy="2489200"/>
            </a:xfrm>
            <a:custGeom>
              <a:avLst/>
              <a:gdLst/>
              <a:ahLst/>
              <a:cxnLst/>
              <a:rect r="r" b="b" t="t" l="l"/>
              <a:pathLst>
                <a:path h="2489200" w="7048500">
                  <a:moveTo>
                    <a:pt x="355600" y="0"/>
                  </a:moveTo>
                  <a:lnTo>
                    <a:pt x="6692900" y="0"/>
                  </a:lnTo>
                  <a:cubicBezTo>
                    <a:pt x="6889242" y="0"/>
                    <a:pt x="7048500" y="159258"/>
                    <a:pt x="7048500" y="355600"/>
                  </a:cubicBezTo>
                  <a:lnTo>
                    <a:pt x="7048500" y="2133600"/>
                  </a:lnTo>
                  <a:cubicBezTo>
                    <a:pt x="7048500" y="2329942"/>
                    <a:pt x="6889242" y="2489200"/>
                    <a:pt x="6692900" y="2489200"/>
                  </a:cubicBezTo>
                  <a:lnTo>
                    <a:pt x="355600" y="2489200"/>
                  </a:lnTo>
                  <a:cubicBezTo>
                    <a:pt x="159258" y="2489200"/>
                    <a:pt x="0" y="2329942"/>
                    <a:pt x="0" y="2133600"/>
                  </a:cubicBezTo>
                  <a:lnTo>
                    <a:pt x="0" y="355600"/>
                  </a:lnTo>
                  <a:cubicBezTo>
                    <a:pt x="0" y="159258"/>
                    <a:pt x="159258" y="0"/>
                    <a:pt x="355600" y="0"/>
                  </a:cubicBezTo>
                  <a:close/>
                </a:path>
              </a:pathLst>
            </a:custGeom>
            <a:solidFill>
              <a:srgbClr val="000000">
                <a:alpha val="0"/>
              </a:srgbClr>
            </a:solidFill>
            <a:ln w="28575" cap="sq">
              <a:solidFill>
                <a:srgbClr val="FFC6A5"/>
              </a:solidFill>
              <a:prstDash val="solid"/>
              <a:miter/>
            </a:ln>
          </p:spPr>
        </p:sp>
      </p:grpSp>
      <p:sp>
        <p:nvSpPr>
          <p:cNvPr name="TextBox 17" id="17"/>
          <p:cNvSpPr txBox="true"/>
          <p:nvPr/>
        </p:nvSpPr>
        <p:spPr>
          <a:xfrm rot="0">
            <a:off x="1284256" y="2503742"/>
            <a:ext cx="4695825" cy="600075"/>
          </a:xfrm>
          <a:prstGeom prst="rect">
            <a:avLst/>
          </a:prstGeom>
        </p:spPr>
        <p:txBody>
          <a:bodyPr anchor="t" rtlCol="false" tIns="0" lIns="0" bIns="0" rIns="0">
            <a:spAutoFit/>
          </a:bodyPr>
          <a:lstStyle/>
          <a:p>
            <a:pPr algn="l">
              <a:lnSpc>
                <a:spcPts val="3952"/>
              </a:lnSpc>
            </a:pPr>
            <a:r>
              <a:rPr lang="en-US" b="true" sz="2550" spc="-51">
                <a:solidFill>
                  <a:srgbClr val="643312"/>
                </a:solidFill>
                <a:latin typeface="Arimo Bold"/>
                <a:ea typeface="Arimo Bold"/>
                <a:cs typeface="Arimo Bold"/>
                <a:sym typeface="Arimo Bold"/>
              </a:rPr>
              <a:t>Inverse operations</a:t>
            </a:r>
          </a:p>
        </p:txBody>
      </p:sp>
      <p:sp>
        <p:nvSpPr>
          <p:cNvPr name="TextBox 18" id="18"/>
          <p:cNvSpPr txBox="true"/>
          <p:nvPr/>
        </p:nvSpPr>
        <p:spPr>
          <a:xfrm rot="0">
            <a:off x="1284256" y="3119152"/>
            <a:ext cx="4695825" cy="876300"/>
          </a:xfrm>
          <a:prstGeom prst="rect">
            <a:avLst/>
          </a:prstGeom>
        </p:spPr>
        <p:txBody>
          <a:bodyPr anchor="t" rtlCol="false" tIns="0" lIns="0" bIns="0" rIns="0">
            <a:spAutoFit/>
          </a:bodyPr>
          <a:lstStyle/>
          <a:p>
            <a:pPr algn="l">
              <a:lnSpc>
                <a:spcPts val="3208"/>
              </a:lnSpc>
            </a:pPr>
            <a:r>
              <a:rPr lang="en-US" b="true" sz="2325">
                <a:solidFill>
                  <a:srgbClr val="201E1D"/>
                </a:solidFill>
                <a:latin typeface="Arimo Bold"/>
                <a:ea typeface="Arimo Bold"/>
                <a:cs typeface="Arimo Bold"/>
                <a:sym typeface="Arimo Bold"/>
              </a:rPr>
              <a:t>+ undoes −, × undoes ÷, squaring undoes a square root.</a:t>
            </a:r>
          </a:p>
        </p:txBody>
      </p:sp>
      <p:grpSp>
        <p:nvGrpSpPr>
          <p:cNvPr name="Group 19" id="19"/>
          <p:cNvGrpSpPr/>
          <p:nvPr/>
        </p:nvGrpSpPr>
        <p:grpSpPr>
          <a:xfrm rot="0">
            <a:off x="6500717" y="2363438"/>
            <a:ext cx="5286375" cy="1866900"/>
            <a:chOff x="0" y="0"/>
            <a:chExt cx="7048500" cy="2489200"/>
          </a:xfrm>
        </p:grpSpPr>
        <p:sp>
          <p:nvSpPr>
            <p:cNvPr name="Freeform 20" id="20"/>
            <p:cNvSpPr/>
            <p:nvPr/>
          </p:nvSpPr>
          <p:spPr>
            <a:xfrm flipH="false" flipV="false" rot="0">
              <a:off x="0" y="0"/>
              <a:ext cx="7048500" cy="2489200"/>
            </a:xfrm>
            <a:custGeom>
              <a:avLst/>
              <a:gdLst/>
              <a:ahLst/>
              <a:cxnLst/>
              <a:rect r="r" b="b" t="t" l="l"/>
              <a:pathLst>
                <a:path h="2489200" w="7048500">
                  <a:moveTo>
                    <a:pt x="355600" y="0"/>
                  </a:moveTo>
                  <a:lnTo>
                    <a:pt x="6692900" y="0"/>
                  </a:lnTo>
                  <a:cubicBezTo>
                    <a:pt x="6889242" y="0"/>
                    <a:pt x="7048500" y="159258"/>
                    <a:pt x="7048500" y="355600"/>
                  </a:cubicBezTo>
                  <a:lnTo>
                    <a:pt x="7048500" y="2133600"/>
                  </a:lnTo>
                  <a:cubicBezTo>
                    <a:pt x="7048500" y="2329942"/>
                    <a:pt x="6889242" y="2489200"/>
                    <a:pt x="6692900" y="2489200"/>
                  </a:cubicBezTo>
                  <a:lnTo>
                    <a:pt x="355600" y="2489200"/>
                  </a:lnTo>
                  <a:cubicBezTo>
                    <a:pt x="159258" y="2489200"/>
                    <a:pt x="0" y="2329942"/>
                    <a:pt x="0" y="2133600"/>
                  </a:cubicBezTo>
                  <a:lnTo>
                    <a:pt x="0" y="355600"/>
                  </a:lnTo>
                  <a:cubicBezTo>
                    <a:pt x="0" y="159258"/>
                    <a:pt x="159258" y="0"/>
                    <a:pt x="355600" y="0"/>
                  </a:cubicBezTo>
                  <a:close/>
                </a:path>
              </a:pathLst>
            </a:custGeom>
            <a:solidFill>
              <a:srgbClr val="F0FAE1"/>
            </a:solidFill>
          </p:spPr>
        </p:sp>
        <p:sp>
          <p:nvSpPr>
            <p:cNvPr name="Freeform 21" id="21"/>
            <p:cNvSpPr/>
            <p:nvPr/>
          </p:nvSpPr>
          <p:spPr>
            <a:xfrm flipH="false" flipV="false" rot="0">
              <a:off x="0" y="0"/>
              <a:ext cx="7048500" cy="2489200"/>
            </a:xfrm>
            <a:custGeom>
              <a:avLst/>
              <a:gdLst/>
              <a:ahLst/>
              <a:cxnLst/>
              <a:rect r="r" b="b" t="t" l="l"/>
              <a:pathLst>
                <a:path h="2489200" w="7048500">
                  <a:moveTo>
                    <a:pt x="355600" y="0"/>
                  </a:moveTo>
                  <a:lnTo>
                    <a:pt x="6692900" y="0"/>
                  </a:lnTo>
                  <a:cubicBezTo>
                    <a:pt x="6889242" y="0"/>
                    <a:pt x="7048500" y="159258"/>
                    <a:pt x="7048500" y="355600"/>
                  </a:cubicBezTo>
                  <a:lnTo>
                    <a:pt x="7048500" y="2133600"/>
                  </a:lnTo>
                  <a:cubicBezTo>
                    <a:pt x="7048500" y="2329942"/>
                    <a:pt x="6889242" y="2489200"/>
                    <a:pt x="6692900" y="2489200"/>
                  </a:cubicBezTo>
                  <a:lnTo>
                    <a:pt x="355600" y="2489200"/>
                  </a:lnTo>
                  <a:cubicBezTo>
                    <a:pt x="159258" y="2489200"/>
                    <a:pt x="0" y="2329942"/>
                    <a:pt x="0" y="2133600"/>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22" id="22"/>
          <p:cNvSpPr txBox="true"/>
          <p:nvPr/>
        </p:nvSpPr>
        <p:spPr>
          <a:xfrm rot="0">
            <a:off x="6795992" y="2503742"/>
            <a:ext cx="4695825" cy="600075"/>
          </a:xfrm>
          <a:prstGeom prst="rect">
            <a:avLst/>
          </a:prstGeom>
        </p:spPr>
        <p:txBody>
          <a:bodyPr anchor="t" rtlCol="false" tIns="0" lIns="0" bIns="0" rIns="0">
            <a:spAutoFit/>
          </a:bodyPr>
          <a:lstStyle/>
          <a:p>
            <a:pPr algn="l">
              <a:lnSpc>
                <a:spcPts val="3952"/>
              </a:lnSpc>
            </a:pPr>
            <a:r>
              <a:rPr lang="en-US" b="true" sz="2550" spc="-51">
                <a:solidFill>
                  <a:srgbClr val="3D472B"/>
                </a:solidFill>
                <a:latin typeface="Arimo Bold"/>
                <a:ea typeface="Arimo Bold"/>
                <a:cs typeface="Arimo Bold"/>
                <a:sym typeface="Arimo Bold"/>
              </a:rPr>
              <a:t>Like terms (Ch 2)</a:t>
            </a:r>
          </a:p>
        </p:txBody>
      </p:sp>
      <p:sp>
        <p:nvSpPr>
          <p:cNvPr name="TextBox 23" id="23"/>
          <p:cNvSpPr txBox="true"/>
          <p:nvPr/>
        </p:nvSpPr>
        <p:spPr>
          <a:xfrm rot="0">
            <a:off x="6795992" y="3119152"/>
            <a:ext cx="4695825" cy="876300"/>
          </a:xfrm>
          <a:prstGeom prst="rect">
            <a:avLst/>
          </a:prstGeom>
        </p:spPr>
        <p:txBody>
          <a:bodyPr anchor="t" rtlCol="false" tIns="0" lIns="0" bIns="0" rIns="0">
            <a:spAutoFit/>
          </a:bodyPr>
          <a:lstStyle/>
          <a:p>
            <a:pPr algn="l">
              <a:lnSpc>
                <a:spcPts val="3208"/>
              </a:lnSpc>
            </a:pPr>
            <a:r>
              <a:rPr lang="en-US" b="true" sz="2325">
                <a:solidFill>
                  <a:srgbClr val="201E1D"/>
                </a:solidFill>
                <a:latin typeface="Arimo Bold"/>
                <a:ea typeface="Arimo Bold"/>
                <a:cs typeface="Arimo Bold"/>
                <a:sym typeface="Arimo Bold"/>
              </a:rPr>
              <a:t>5x + 3x − 2x = 6x. Only terms with the same letters combine.</a:t>
            </a:r>
          </a:p>
        </p:txBody>
      </p:sp>
      <p:grpSp>
        <p:nvGrpSpPr>
          <p:cNvPr name="Group 24" id="24"/>
          <p:cNvGrpSpPr/>
          <p:nvPr/>
        </p:nvGrpSpPr>
        <p:grpSpPr>
          <a:xfrm rot="0">
            <a:off x="12012549" y="2363438"/>
            <a:ext cx="5286375" cy="1866900"/>
            <a:chOff x="0" y="0"/>
            <a:chExt cx="7048500" cy="2489200"/>
          </a:xfrm>
        </p:grpSpPr>
        <p:sp>
          <p:nvSpPr>
            <p:cNvPr name="Freeform 25" id="25"/>
            <p:cNvSpPr/>
            <p:nvPr/>
          </p:nvSpPr>
          <p:spPr>
            <a:xfrm flipH="false" flipV="false" rot="0">
              <a:off x="0" y="0"/>
              <a:ext cx="7048500" cy="2489200"/>
            </a:xfrm>
            <a:custGeom>
              <a:avLst/>
              <a:gdLst/>
              <a:ahLst/>
              <a:cxnLst/>
              <a:rect r="r" b="b" t="t" l="l"/>
              <a:pathLst>
                <a:path h="2489200" w="7048500">
                  <a:moveTo>
                    <a:pt x="355600" y="0"/>
                  </a:moveTo>
                  <a:lnTo>
                    <a:pt x="6692900" y="0"/>
                  </a:lnTo>
                  <a:cubicBezTo>
                    <a:pt x="6889242" y="0"/>
                    <a:pt x="7048500" y="159258"/>
                    <a:pt x="7048500" y="355600"/>
                  </a:cubicBezTo>
                  <a:lnTo>
                    <a:pt x="7048500" y="2133600"/>
                  </a:lnTo>
                  <a:cubicBezTo>
                    <a:pt x="7048500" y="2329942"/>
                    <a:pt x="6889242" y="2489200"/>
                    <a:pt x="6692900" y="2489200"/>
                  </a:cubicBezTo>
                  <a:lnTo>
                    <a:pt x="355600" y="2489200"/>
                  </a:lnTo>
                  <a:cubicBezTo>
                    <a:pt x="159258" y="2489200"/>
                    <a:pt x="0" y="2329942"/>
                    <a:pt x="0" y="2133600"/>
                  </a:cubicBezTo>
                  <a:lnTo>
                    <a:pt x="0" y="355600"/>
                  </a:lnTo>
                  <a:cubicBezTo>
                    <a:pt x="0" y="159258"/>
                    <a:pt x="159258" y="0"/>
                    <a:pt x="355600" y="0"/>
                  </a:cubicBezTo>
                  <a:close/>
                </a:path>
              </a:pathLst>
            </a:custGeom>
            <a:solidFill>
              <a:srgbClr val="FFF2EB"/>
            </a:solidFill>
          </p:spPr>
        </p:sp>
        <p:sp>
          <p:nvSpPr>
            <p:cNvPr name="Freeform 26" id="26"/>
            <p:cNvSpPr/>
            <p:nvPr/>
          </p:nvSpPr>
          <p:spPr>
            <a:xfrm flipH="false" flipV="false" rot="0">
              <a:off x="0" y="0"/>
              <a:ext cx="7048500" cy="2489200"/>
            </a:xfrm>
            <a:custGeom>
              <a:avLst/>
              <a:gdLst/>
              <a:ahLst/>
              <a:cxnLst/>
              <a:rect r="r" b="b" t="t" l="l"/>
              <a:pathLst>
                <a:path h="2489200" w="7048500">
                  <a:moveTo>
                    <a:pt x="355600" y="0"/>
                  </a:moveTo>
                  <a:lnTo>
                    <a:pt x="6692900" y="0"/>
                  </a:lnTo>
                  <a:cubicBezTo>
                    <a:pt x="6889242" y="0"/>
                    <a:pt x="7048500" y="159258"/>
                    <a:pt x="7048500" y="355600"/>
                  </a:cubicBezTo>
                  <a:lnTo>
                    <a:pt x="7048500" y="2133600"/>
                  </a:lnTo>
                  <a:cubicBezTo>
                    <a:pt x="7048500" y="2329942"/>
                    <a:pt x="6889242" y="2489200"/>
                    <a:pt x="6692900" y="2489200"/>
                  </a:cubicBezTo>
                  <a:lnTo>
                    <a:pt x="355600" y="2489200"/>
                  </a:lnTo>
                  <a:cubicBezTo>
                    <a:pt x="159258" y="2489200"/>
                    <a:pt x="0" y="2329942"/>
                    <a:pt x="0" y="2133600"/>
                  </a:cubicBezTo>
                  <a:lnTo>
                    <a:pt x="0" y="355600"/>
                  </a:lnTo>
                  <a:cubicBezTo>
                    <a:pt x="0" y="159258"/>
                    <a:pt x="159258" y="0"/>
                    <a:pt x="355600" y="0"/>
                  </a:cubicBezTo>
                  <a:close/>
                </a:path>
              </a:pathLst>
            </a:custGeom>
            <a:solidFill>
              <a:srgbClr val="000000">
                <a:alpha val="0"/>
              </a:srgbClr>
            </a:solidFill>
            <a:ln w="28575" cap="sq">
              <a:solidFill>
                <a:srgbClr val="FFC6A5"/>
              </a:solidFill>
              <a:prstDash val="solid"/>
              <a:miter/>
            </a:ln>
          </p:spPr>
        </p:sp>
      </p:grpSp>
      <p:sp>
        <p:nvSpPr>
          <p:cNvPr name="TextBox 27" id="27"/>
          <p:cNvSpPr txBox="true"/>
          <p:nvPr/>
        </p:nvSpPr>
        <p:spPr>
          <a:xfrm rot="0">
            <a:off x="12307824" y="2503742"/>
            <a:ext cx="4695825" cy="600075"/>
          </a:xfrm>
          <a:prstGeom prst="rect">
            <a:avLst/>
          </a:prstGeom>
        </p:spPr>
        <p:txBody>
          <a:bodyPr anchor="t" rtlCol="false" tIns="0" lIns="0" bIns="0" rIns="0">
            <a:spAutoFit/>
          </a:bodyPr>
          <a:lstStyle/>
          <a:p>
            <a:pPr algn="l">
              <a:lnSpc>
                <a:spcPts val="3952"/>
              </a:lnSpc>
            </a:pPr>
            <a:r>
              <a:rPr lang="en-US" b="true" sz="2550" spc="-51">
                <a:solidFill>
                  <a:srgbClr val="643312"/>
                </a:solidFill>
                <a:latin typeface="Arimo Bold"/>
                <a:ea typeface="Arimo Bold"/>
                <a:cs typeface="Arimo Bold"/>
                <a:sym typeface="Arimo Bold"/>
              </a:rPr>
              <a:t>Expanding (Ch 2)</a:t>
            </a:r>
          </a:p>
        </p:txBody>
      </p:sp>
      <p:sp>
        <p:nvSpPr>
          <p:cNvPr name="TextBox 28" id="28"/>
          <p:cNvSpPr txBox="true"/>
          <p:nvPr/>
        </p:nvSpPr>
        <p:spPr>
          <a:xfrm rot="0">
            <a:off x="12307824" y="3119152"/>
            <a:ext cx="4695825" cy="876300"/>
          </a:xfrm>
          <a:prstGeom prst="rect">
            <a:avLst/>
          </a:prstGeom>
        </p:spPr>
        <p:txBody>
          <a:bodyPr anchor="t" rtlCol="false" tIns="0" lIns="0" bIns="0" rIns="0">
            <a:spAutoFit/>
          </a:bodyPr>
          <a:lstStyle/>
          <a:p>
            <a:pPr algn="l">
              <a:lnSpc>
                <a:spcPts val="3208"/>
              </a:lnSpc>
            </a:pPr>
            <a:r>
              <a:rPr lang="en-US" b="true" sz="2325">
                <a:solidFill>
                  <a:srgbClr val="201E1D"/>
                </a:solidFill>
                <a:latin typeface="Arimo Bold"/>
                <a:ea typeface="Arimo Bold"/>
                <a:cs typeface="Arimo Bold"/>
                <a:sym typeface="Arimo Bold"/>
              </a:rPr>
              <a:t>4(3x − 1) = 12x − 4 and −2(5 − x) = −10 + 2x.</a:t>
            </a:r>
          </a:p>
        </p:txBody>
      </p:sp>
      <p:grpSp>
        <p:nvGrpSpPr>
          <p:cNvPr name="Group 29" id="29"/>
          <p:cNvGrpSpPr/>
          <p:nvPr/>
        </p:nvGrpSpPr>
        <p:grpSpPr>
          <a:xfrm rot="0">
            <a:off x="988981" y="4460938"/>
            <a:ext cx="5286375" cy="1866900"/>
            <a:chOff x="0" y="0"/>
            <a:chExt cx="7048500" cy="2489200"/>
          </a:xfrm>
        </p:grpSpPr>
        <p:sp>
          <p:nvSpPr>
            <p:cNvPr name="Freeform 30" id="30"/>
            <p:cNvSpPr/>
            <p:nvPr/>
          </p:nvSpPr>
          <p:spPr>
            <a:xfrm flipH="false" flipV="false" rot="0">
              <a:off x="0" y="0"/>
              <a:ext cx="7048500" cy="2489200"/>
            </a:xfrm>
            <a:custGeom>
              <a:avLst/>
              <a:gdLst/>
              <a:ahLst/>
              <a:cxnLst/>
              <a:rect r="r" b="b" t="t" l="l"/>
              <a:pathLst>
                <a:path h="2489200" w="7048500">
                  <a:moveTo>
                    <a:pt x="355600" y="0"/>
                  </a:moveTo>
                  <a:lnTo>
                    <a:pt x="6692900" y="0"/>
                  </a:lnTo>
                  <a:cubicBezTo>
                    <a:pt x="6889242" y="0"/>
                    <a:pt x="7048500" y="159258"/>
                    <a:pt x="7048500" y="355600"/>
                  </a:cubicBezTo>
                  <a:lnTo>
                    <a:pt x="7048500" y="2133600"/>
                  </a:lnTo>
                  <a:cubicBezTo>
                    <a:pt x="7048500" y="2329942"/>
                    <a:pt x="6889242" y="2489200"/>
                    <a:pt x="6692900" y="2489200"/>
                  </a:cubicBezTo>
                  <a:lnTo>
                    <a:pt x="355600" y="2489200"/>
                  </a:lnTo>
                  <a:cubicBezTo>
                    <a:pt x="159258" y="2489200"/>
                    <a:pt x="0" y="2329942"/>
                    <a:pt x="0" y="2133600"/>
                  </a:cubicBezTo>
                  <a:lnTo>
                    <a:pt x="0" y="355600"/>
                  </a:lnTo>
                  <a:cubicBezTo>
                    <a:pt x="0" y="159258"/>
                    <a:pt x="159258" y="0"/>
                    <a:pt x="355600" y="0"/>
                  </a:cubicBezTo>
                  <a:close/>
                </a:path>
              </a:pathLst>
            </a:custGeom>
            <a:solidFill>
              <a:srgbClr val="F0FAE1"/>
            </a:solidFill>
          </p:spPr>
        </p:sp>
        <p:sp>
          <p:nvSpPr>
            <p:cNvPr name="Freeform 31" id="31"/>
            <p:cNvSpPr/>
            <p:nvPr/>
          </p:nvSpPr>
          <p:spPr>
            <a:xfrm flipH="false" flipV="false" rot="0">
              <a:off x="0" y="0"/>
              <a:ext cx="7048500" cy="2489200"/>
            </a:xfrm>
            <a:custGeom>
              <a:avLst/>
              <a:gdLst/>
              <a:ahLst/>
              <a:cxnLst/>
              <a:rect r="r" b="b" t="t" l="l"/>
              <a:pathLst>
                <a:path h="2489200" w="7048500">
                  <a:moveTo>
                    <a:pt x="355600" y="0"/>
                  </a:moveTo>
                  <a:lnTo>
                    <a:pt x="6692900" y="0"/>
                  </a:lnTo>
                  <a:cubicBezTo>
                    <a:pt x="6889242" y="0"/>
                    <a:pt x="7048500" y="159258"/>
                    <a:pt x="7048500" y="355600"/>
                  </a:cubicBezTo>
                  <a:lnTo>
                    <a:pt x="7048500" y="2133600"/>
                  </a:lnTo>
                  <a:cubicBezTo>
                    <a:pt x="7048500" y="2329942"/>
                    <a:pt x="6889242" y="2489200"/>
                    <a:pt x="6692900" y="2489200"/>
                  </a:cubicBezTo>
                  <a:lnTo>
                    <a:pt x="355600" y="2489200"/>
                  </a:lnTo>
                  <a:cubicBezTo>
                    <a:pt x="159258" y="2489200"/>
                    <a:pt x="0" y="2329942"/>
                    <a:pt x="0" y="2133600"/>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32" id="32"/>
          <p:cNvSpPr txBox="true"/>
          <p:nvPr/>
        </p:nvSpPr>
        <p:spPr>
          <a:xfrm rot="0">
            <a:off x="1284256" y="4601337"/>
            <a:ext cx="4695825" cy="600075"/>
          </a:xfrm>
          <a:prstGeom prst="rect">
            <a:avLst/>
          </a:prstGeom>
        </p:spPr>
        <p:txBody>
          <a:bodyPr anchor="t" rtlCol="false" tIns="0" lIns="0" bIns="0" rIns="0">
            <a:spAutoFit/>
          </a:bodyPr>
          <a:lstStyle/>
          <a:p>
            <a:pPr algn="l">
              <a:lnSpc>
                <a:spcPts val="3952"/>
              </a:lnSpc>
            </a:pPr>
            <a:r>
              <a:rPr lang="en-US" b="true" sz="2550" spc="-51">
                <a:solidFill>
                  <a:srgbClr val="3D472B"/>
                </a:solidFill>
                <a:latin typeface="Arimo Bold"/>
                <a:ea typeface="Arimo Bold"/>
                <a:cs typeface="Arimo Bold"/>
                <a:sym typeface="Arimo Bold"/>
              </a:rPr>
              <a:t>HCF (Ch 1)</a:t>
            </a:r>
          </a:p>
        </p:txBody>
      </p:sp>
      <p:sp>
        <p:nvSpPr>
          <p:cNvPr name="TextBox 33" id="33"/>
          <p:cNvSpPr txBox="true"/>
          <p:nvPr/>
        </p:nvSpPr>
        <p:spPr>
          <a:xfrm rot="0">
            <a:off x="1284256" y="5216747"/>
            <a:ext cx="4695825" cy="876300"/>
          </a:xfrm>
          <a:prstGeom prst="rect">
            <a:avLst/>
          </a:prstGeom>
        </p:spPr>
        <p:txBody>
          <a:bodyPr anchor="t" rtlCol="false" tIns="0" lIns="0" bIns="0" rIns="0">
            <a:spAutoFit/>
          </a:bodyPr>
          <a:lstStyle/>
          <a:p>
            <a:pPr algn="l">
              <a:lnSpc>
                <a:spcPts val="3208"/>
              </a:lnSpc>
            </a:pPr>
            <a:r>
              <a:rPr lang="en-US" b="true" sz="2325">
                <a:solidFill>
                  <a:srgbClr val="201E1D"/>
                </a:solidFill>
                <a:latin typeface="Arimo Bold"/>
                <a:ea typeface="Arimo Bold"/>
                <a:cs typeface="Arimo Bold"/>
                <a:sym typeface="Arimo Bold"/>
              </a:rPr>
              <a:t>The highest common factor of 36 and 24 is 12.</a:t>
            </a:r>
          </a:p>
        </p:txBody>
      </p:sp>
      <p:grpSp>
        <p:nvGrpSpPr>
          <p:cNvPr name="Group 34" id="34"/>
          <p:cNvGrpSpPr/>
          <p:nvPr/>
        </p:nvGrpSpPr>
        <p:grpSpPr>
          <a:xfrm rot="0">
            <a:off x="6500717" y="4460938"/>
            <a:ext cx="5286375" cy="1866900"/>
            <a:chOff x="0" y="0"/>
            <a:chExt cx="7048500" cy="2489200"/>
          </a:xfrm>
        </p:grpSpPr>
        <p:sp>
          <p:nvSpPr>
            <p:cNvPr name="Freeform 35" id="35"/>
            <p:cNvSpPr/>
            <p:nvPr/>
          </p:nvSpPr>
          <p:spPr>
            <a:xfrm flipH="false" flipV="false" rot="0">
              <a:off x="0" y="0"/>
              <a:ext cx="7048500" cy="2489200"/>
            </a:xfrm>
            <a:custGeom>
              <a:avLst/>
              <a:gdLst/>
              <a:ahLst/>
              <a:cxnLst/>
              <a:rect r="r" b="b" t="t" l="l"/>
              <a:pathLst>
                <a:path h="2489200" w="7048500">
                  <a:moveTo>
                    <a:pt x="355600" y="0"/>
                  </a:moveTo>
                  <a:lnTo>
                    <a:pt x="6692900" y="0"/>
                  </a:lnTo>
                  <a:cubicBezTo>
                    <a:pt x="6889242" y="0"/>
                    <a:pt x="7048500" y="159258"/>
                    <a:pt x="7048500" y="355600"/>
                  </a:cubicBezTo>
                  <a:lnTo>
                    <a:pt x="7048500" y="2133600"/>
                  </a:lnTo>
                  <a:cubicBezTo>
                    <a:pt x="7048500" y="2329942"/>
                    <a:pt x="6889242" y="2489200"/>
                    <a:pt x="6692900" y="2489200"/>
                  </a:cubicBezTo>
                  <a:lnTo>
                    <a:pt x="355600" y="2489200"/>
                  </a:lnTo>
                  <a:cubicBezTo>
                    <a:pt x="159258" y="2489200"/>
                    <a:pt x="0" y="2329942"/>
                    <a:pt x="0" y="2133600"/>
                  </a:cubicBezTo>
                  <a:lnTo>
                    <a:pt x="0" y="355600"/>
                  </a:lnTo>
                  <a:cubicBezTo>
                    <a:pt x="0" y="159258"/>
                    <a:pt x="159258" y="0"/>
                    <a:pt x="355600" y="0"/>
                  </a:cubicBezTo>
                  <a:close/>
                </a:path>
              </a:pathLst>
            </a:custGeom>
            <a:solidFill>
              <a:srgbClr val="FFF2EB"/>
            </a:solidFill>
          </p:spPr>
        </p:sp>
        <p:sp>
          <p:nvSpPr>
            <p:cNvPr name="Freeform 36" id="36"/>
            <p:cNvSpPr/>
            <p:nvPr/>
          </p:nvSpPr>
          <p:spPr>
            <a:xfrm flipH="false" flipV="false" rot="0">
              <a:off x="0" y="0"/>
              <a:ext cx="7048500" cy="2489200"/>
            </a:xfrm>
            <a:custGeom>
              <a:avLst/>
              <a:gdLst/>
              <a:ahLst/>
              <a:cxnLst/>
              <a:rect r="r" b="b" t="t" l="l"/>
              <a:pathLst>
                <a:path h="2489200" w="7048500">
                  <a:moveTo>
                    <a:pt x="355600" y="0"/>
                  </a:moveTo>
                  <a:lnTo>
                    <a:pt x="6692900" y="0"/>
                  </a:lnTo>
                  <a:cubicBezTo>
                    <a:pt x="6889242" y="0"/>
                    <a:pt x="7048500" y="159258"/>
                    <a:pt x="7048500" y="355600"/>
                  </a:cubicBezTo>
                  <a:lnTo>
                    <a:pt x="7048500" y="2133600"/>
                  </a:lnTo>
                  <a:cubicBezTo>
                    <a:pt x="7048500" y="2329942"/>
                    <a:pt x="6889242" y="2489200"/>
                    <a:pt x="6692900" y="2489200"/>
                  </a:cubicBezTo>
                  <a:lnTo>
                    <a:pt x="355600" y="2489200"/>
                  </a:lnTo>
                  <a:cubicBezTo>
                    <a:pt x="159258" y="2489200"/>
                    <a:pt x="0" y="2329942"/>
                    <a:pt x="0" y="2133600"/>
                  </a:cubicBezTo>
                  <a:lnTo>
                    <a:pt x="0" y="355600"/>
                  </a:lnTo>
                  <a:cubicBezTo>
                    <a:pt x="0" y="159258"/>
                    <a:pt x="159258" y="0"/>
                    <a:pt x="355600" y="0"/>
                  </a:cubicBezTo>
                  <a:close/>
                </a:path>
              </a:pathLst>
            </a:custGeom>
            <a:solidFill>
              <a:srgbClr val="000000">
                <a:alpha val="0"/>
              </a:srgbClr>
            </a:solidFill>
            <a:ln w="28575" cap="sq">
              <a:solidFill>
                <a:srgbClr val="FFC6A5"/>
              </a:solidFill>
              <a:prstDash val="solid"/>
              <a:miter/>
            </a:ln>
          </p:spPr>
        </p:sp>
      </p:grpSp>
      <p:sp>
        <p:nvSpPr>
          <p:cNvPr name="TextBox 37" id="37"/>
          <p:cNvSpPr txBox="true"/>
          <p:nvPr/>
        </p:nvSpPr>
        <p:spPr>
          <a:xfrm rot="0">
            <a:off x="6795992" y="4601337"/>
            <a:ext cx="4695825" cy="600075"/>
          </a:xfrm>
          <a:prstGeom prst="rect">
            <a:avLst/>
          </a:prstGeom>
        </p:spPr>
        <p:txBody>
          <a:bodyPr anchor="t" rtlCol="false" tIns="0" lIns="0" bIns="0" rIns="0">
            <a:spAutoFit/>
          </a:bodyPr>
          <a:lstStyle/>
          <a:p>
            <a:pPr algn="l">
              <a:lnSpc>
                <a:spcPts val="3952"/>
              </a:lnSpc>
            </a:pPr>
            <a:r>
              <a:rPr lang="en-US" b="true" sz="2550" spc="-51">
                <a:solidFill>
                  <a:srgbClr val="643312"/>
                </a:solidFill>
                <a:latin typeface="Arimo Bold"/>
                <a:ea typeface="Arimo Bold"/>
                <a:cs typeface="Arimo Bold"/>
                <a:sym typeface="Arimo Bold"/>
              </a:rPr>
              <a:t>Laws of indices (Ch 2)</a:t>
            </a:r>
          </a:p>
        </p:txBody>
      </p:sp>
      <p:sp>
        <p:nvSpPr>
          <p:cNvPr name="TextBox 38" id="38"/>
          <p:cNvSpPr txBox="true"/>
          <p:nvPr/>
        </p:nvSpPr>
        <p:spPr>
          <a:xfrm rot="0">
            <a:off x="6795992" y="5217795"/>
            <a:ext cx="4695825" cy="466725"/>
          </a:xfrm>
          <a:prstGeom prst="rect">
            <a:avLst/>
          </a:prstGeom>
        </p:spPr>
        <p:txBody>
          <a:bodyPr anchor="t" rtlCol="false" tIns="0" lIns="0" bIns="0" rIns="0">
            <a:spAutoFit/>
          </a:bodyPr>
          <a:lstStyle/>
          <a:p>
            <a:pPr algn="l">
              <a:lnSpc>
                <a:spcPts val="3208"/>
              </a:lnSpc>
            </a:pPr>
            <a:r>
              <a:rPr lang="en-US" b="true" sz="2325">
                <a:solidFill>
                  <a:srgbClr val="201E1D"/>
                </a:solidFill>
                <a:latin typeface="Arimo Bold"/>
                <a:ea typeface="Arimo Bold"/>
                <a:cs typeface="Arimo Bold"/>
                <a:sym typeface="Arimo Bold"/>
              </a:rPr>
              <a:t>(3²)ˣ = 3²ˣ and 81 = 3⁴, 32 = 2⁵.</a:t>
            </a:r>
          </a:p>
        </p:txBody>
      </p:sp>
      <p:grpSp>
        <p:nvGrpSpPr>
          <p:cNvPr name="Group 39" id="39"/>
          <p:cNvGrpSpPr/>
          <p:nvPr/>
        </p:nvGrpSpPr>
        <p:grpSpPr>
          <a:xfrm rot="0">
            <a:off x="12012549" y="4460938"/>
            <a:ext cx="5286375" cy="1866900"/>
            <a:chOff x="0" y="0"/>
            <a:chExt cx="7048500" cy="2489200"/>
          </a:xfrm>
        </p:grpSpPr>
        <p:sp>
          <p:nvSpPr>
            <p:cNvPr name="Freeform 40" id="40"/>
            <p:cNvSpPr/>
            <p:nvPr/>
          </p:nvSpPr>
          <p:spPr>
            <a:xfrm flipH="false" flipV="false" rot="0">
              <a:off x="0" y="0"/>
              <a:ext cx="7048500" cy="2489200"/>
            </a:xfrm>
            <a:custGeom>
              <a:avLst/>
              <a:gdLst/>
              <a:ahLst/>
              <a:cxnLst/>
              <a:rect r="r" b="b" t="t" l="l"/>
              <a:pathLst>
                <a:path h="2489200" w="7048500">
                  <a:moveTo>
                    <a:pt x="355600" y="0"/>
                  </a:moveTo>
                  <a:lnTo>
                    <a:pt x="6692900" y="0"/>
                  </a:lnTo>
                  <a:cubicBezTo>
                    <a:pt x="6889242" y="0"/>
                    <a:pt x="7048500" y="159258"/>
                    <a:pt x="7048500" y="355600"/>
                  </a:cubicBezTo>
                  <a:lnTo>
                    <a:pt x="7048500" y="2133600"/>
                  </a:lnTo>
                  <a:cubicBezTo>
                    <a:pt x="7048500" y="2329942"/>
                    <a:pt x="6889242" y="2489200"/>
                    <a:pt x="6692900" y="2489200"/>
                  </a:cubicBezTo>
                  <a:lnTo>
                    <a:pt x="355600" y="2489200"/>
                  </a:lnTo>
                  <a:cubicBezTo>
                    <a:pt x="159258" y="2489200"/>
                    <a:pt x="0" y="2329942"/>
                    <a:pt x="0" y="2133600"/>
                  </a:cubicBezTo>
                  <a:lnTo>
                    <a:pt x="0" y="355600"/>
                  </a:lnTo>
                  <a:cubicBezTo>
                    <a:pt x="0" y="159258"/>
                    <a:pt x="159258" y="0"/>
                    <a:pt x="355600" y="0"/>
                  </a:cubicBezTo>
                  <a:close/>
                </a:path>
              </a:pathLst>
            </a:custGeom>
            <a:solidFill>
              <a:srgbClr val="F0FAE1"/>
            </a:solidFill>
          </p:spPr>
        </p:sp>
        <p:sp>
          <p:nvSpPr>
            <p:cNvPr name="Freeform 41" id="41"/>
            <p:cNvSpPr/>
            <p:nvPr/>
          </p:nvSpPr>
          <p:spPr>
            <a:xfrm flipH="false" flipV="false" rot="0">
              <a:off x="0" y="0"/>
              <a:ext cx="7048500" cy="2489200"/>
            </a:xfrm>
            <a:custGeom>
              <a:avLst/>
              <a:gdLst/>
              <a:ahLst/>
              <a:cxnLst/>
              <a:rect r="r" b="b" t="t" l="l"/>
              <a:pathLst>
                <a:path h="2489200" w="7048500">
                  <a:moveTo>
                    <a:pt x="355600" y="0"/>
                  </a:moveTo>
                  <a:lnTo>
                    <a:pt x="6692900" y="0"/>
                  </a:lnTo>
                  <a:cubicBezTo>
                    <a:pt x="6889242" y="0"/>
                    <a:pt x="7048500" y="159258"/>
                    <a:pt x="7048500" y="355600"/>
                  </a:cubicBezTo>
                  <a:lnTo>
                    <a:pt x="7048500" y="2133600"/>
                  </a:lnTo>
                  <a:cubicBezTo>
                    <a:pt x="7048500" y="2329942"/>
                    <a:pt x="6889242" y="2489200"/>
                    <a:pt x="6692900" y="2489200"/>
                  </a:cubicBezTo>
                  <a:lnTo>
                    <a:pt x="355600" y="2489200"/>
                  </a:lnTo>
                  <a:cubicBezTo>
                    <a:pt x="159258" y="2489200"/>
                    <a:pt x="0" y="2329942"/>
                    <a:pt x="0" y="2133600"/>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42" id="42"/>
          <p:cNvSpPr txBox="true"/>
          <p:nvPr/>
        </p:nvSpPr>
        <p:spPr>
          <a:xfrm rot="0">
            <a:off x="12307824" y="4601337"/>
            <a:ext cx="4695825" cy="600075"/>
          </a:xfrm>
          <a:prstGeom prst="rect">
            <a:avLst/>
          </a:prstGeom>
        </p:spPr>
        <p:txBody>
          <a:bodyPr anchor="t" rtlCol="false" tIns="0" lIns="0" bIns="0" rIns="0">
            <a:spAutoFit/>
          </a:bodyPr>
          <a:lstStyle/>
          <a:p>
            <a:pPr algn="l">
              <a:lnSpc>
                <a:spcPts val="3952"/>
              </a:lnSpc>
            </a:pPr>
            <a:r>
              <a:rPr lang="en-US" b="true" sz="2550" spc="-51">
                <a:solidFill>
                  <a:srgbClr val="3D472B"/>
                </a:solidFill>
                <a:latin typeface="Arimo Bold"/>
                <a:ea typeface="Arimo Bold"/>
                <a:cs typeface="Arimo Bold"/>
                <a:sym typeface="Arimo Bold"/>
              </a:rPr>
              <a:t>Fractions (Ch 5)</a:t>
            </a:r>
          </a:p>
        </p:txBody>
      </p:sp>
      <p:sp>
        <p:nvSpPr>
          <p:cNvPr name="TextBox 43" id="43"/>
          <p:cNvSpPr txBox="true"/>
          <p:nvPr/>
        </p:nvSpPr>
        <p:spPr>
          <a:xfrm rot="0">
            <a:off x="12307824" y="5216747"/>
            <a:ext cx="4695825" cy="876300"/>
          </a:xfrm>
          <a:prstGeom prst="rect">
            <a:avLst/>
          </a:prstGeom>
        </p:spPr>
        <p:txBody>
          <a:bodyPr anchor="t" rtlCol="false" tIns="0" lIns="0" bIns="0" rIns="0">
            <a:spAutoFit/>
          </a:bodyPr>
          <a:lstStyle/>
          <a:p>
            <a:pPr algn="l">
              <a:lnSpc>
                <a:spcPts val="3208"/>
              </a:lnSpc>
            </a:pPr>
            <a:r>
              <a:rPr lang="en-US" b="true" sz="2325">
                <a:solidFill>
                  <a:srgbClr val="201E1D"/>
                </a:solidFill>
                <a:latin typeface="Arimo Bold"/>
                <a:ea typeface="Arimo Bold"/>
                <a:cs typeface="Arimo Bold"/>
                <a:sym typeface="Arimo Bold"/>
              </a:rPr>
              <a:t>To add ⅔ + ⅙, use the lowest common denominator 6.</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FFE1D0"/>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CCDBB2"/>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FFC6A5"/>
            </a:solidFill>
          </p:spPr>
        </p:sp>
      </p:grpSp>
      <p:grpSp>
        <p:nvGrpSpPr>
          <p:cNvPr name="Group 9" id="9"/>
          <p:cNvGrpSpPr/>
          <p:nvPr/>
        </p:nvGrpSpPr>
        <p:grpSpPr>
          <a:xfrm rot="0">
            <a:off x="992695" y="611505"/>
            <a:ext cx="2514600" cy="600075"/>
            <a:chOff x="0" y="0"/>
            <a:chExt cx="3352800" cy="800100"/>
          </a:xfrm>
        </p:grpSpPr>
        <p:sp>
          <p:nvSpPr>
            <p:cNvPr name="Freeform 10" id="10"/>
            <p:cNvSpPr/>
            <p:nvPr/>
          </p:nvSpPr>
          <p:spPr>
            <a:xfrm flipH="false" flipV="false" rot="0">
              <a:off x="0" y="0"/>
              <a:ext cx="3352800" cy="800100"/>
            </a:xfrm>
            <a:custGeom>
              <a:avLst/>
              <a:gdLst/>
              <a:ahLst/>
              <a:cxnLst/>
              <a:rect r="r" b="b" t="t" l="l"/>
              <a:pathLst>
                <a:path h="800100" w="3352800">
                  <a:moveTo>
                    <a:pt x="400050" y="0"/>
                  </a:moveTo>
                  <a:lnTo>
                    <a:pt x="2952750" y="0"/>
                  </a:lnTo>
                  <a:cubicBezTo>
                    <a:pt x="3173730" y="0"/>
                    <a:pt x="3352800" y="179070"/>
                    <a:pt x="3352800" y="400050"/>
                  </a:cubicBezTo>
                  <a:cubicBezTo>
                    <a:pt x="3352800" y="621030"/>
                    <a:pt x="3173730" y="800100"/>
                    <a:pt x="2952750" y="800100"/>
                  </a:cubicBezTo>
                  <a:lnTo>
                    <a:pt x="400050" y="800100"/>
                  </a:lnTo>
                  <a:cubicBezTo>
                    <a:pt x="179070" y="800100"/>
                    <a:pt x="0" y="621030"/>
                    <a:pt x="0" y="400050"/>
                  </a:cubicBezTo>
                  <a:cubicBezTo>
                    <a:pt x="0" y="179070"/>
                    <a:pt x="179070" y="0"/>
                    <a:pt x="400050" y="0"/>
                  </a:cubicBezTo>
                  <a:close/>
                </a:path>
              </a:pathLst>
            </a:custGeom>
            <a:solidFill>
              <a:srgbClr val="8C491A"/>
            </a:solidFill>
          </p:spPr>
        </p:sp>
        <p:sp>
          <p:nvSpPr>
            <p:cNvPr name="TextBox 11" id="11"/>
            <p:cNvSpPr txBox="true"/>
            <p:nvPr/>
          </p:nvSpPr>
          <p:spPr>
            <a:xfrm>
              <a:off x="0" y="-76200"/>
              <a:ext cx="33528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QUICK CHECK</a:t>
              </a:r>
            </a:p>
          </p:txBody>
        </p:sp>
      </p:grpSp>
      <p:sp>
        <p:nvSpPr>
          <p:cNvPr name="TextBox 12" id="12"/>
          <p:cNvSpPr txBox="true"/>
          <p:nvPr/>
        </p:nvSpPr>
        <p:spPr>
          <a:xfrm rot="0">
            <a:off x="3698558" y="630555"/>
            <a:ext cx="2000250" cy="485775"/>
          </a:xfrm>
          <a:prstGeom prst="rect">
            <a:avLst/>
          </a:prstGeom>
        </p:spPr>
        <p:txBody>
          <a:bodyPr anchor="t" rtlCol="false" tIns="0" lIns="0" bIns="0" rIns="0">
            <a:spAutoFit/>
          </a:bodyPr>
          <a:lstStyle/>
          <a:p>
            <a:pPr algn="l">
              <a:lnSpc>
                <a:spcPts val="3255"/>
              </a:lnSpc>
            </a:pPr>
            <a:r>
              <a:rPr lang="en-US" b="true" sz="2100">
                <a:solidFill>
                  <a:srgbClr val="3D472B"/>
                </a:solidFill>
                <a:latin typeface="Arimo Bold"/>
                <a:ea typeface="Arimo Bold"/>
                <a:cs typeface="Arimo Bold"/>
                <a:sym typeface="Arimo Bold"/>
              </a:rPr>
              <a:t>Prior knowledge</a:t>
            </a:r>
          </a:p>
        </p:txBody>
      </p:sp>
      <p:sp>
        <p:nvSpPr>
          <p:cNvPr name="TextBox 13" id="13"/>
          <p:cNvSpPr txBox="true"/>
          <p:nvPr/>
        </p:nvSpPr>
        <p:spPr>
          <a:xfrm rot="0">
            <a:off x="990600" y="1510570"/>
            <a:ext cx="16306800" cy="542925"/>
          </a:xfrm>
          <a:prstGeom prst="rect">
            <a:avLst/>
          </a:prstGeom>
        </p:spPr>
        <p:txBody>
          <a:bodyPr anchor="t" rtlCol="false" tIns="0" lIns="0" bIns="0" rIns="0">
            <a:spAutoFit/>
          </a:bodyPr>
          <a:lstStyle/>
          <a:p>
            <a:pPr algn="l">
              <a:lnSpc>
                <a:spcPts val="4680"/>
              </a:lnSpc>
            </a:pPr>
            <a:r>
              <a:rPr lang="en-US" b="true" sz="4500" spc="-89">
                <a:solidFill>
                  <a:srgbClr val="201E1D"/>
                </a:solidFill>
                <a:latin typeface="Arimo Bold"/>
                <a:ea typeface="Arimo Bold"/>
                <a:cs typeface="Arimo Bold"/>
                <a:sym typeface="Arimo Bold"/>
              </a:rPr>
              <a:t>Check your understanding</a:t>
            </a:r>
          </a:p>
        </p:txBody>
      </p:sp>
      <p:grpSp>
        <p:nvGrpSpPr>
          <p:cNvPr name="Group 14" id="14"/>
          <p:cNvGrpSpPr/>
          <p:nvPr/>
        </p:nvGrpSpPr>
        <p:grpSpPr>
          <a:xfrm rot="0">
            <a:off x="990600" y="2303240"/>
            <a:ext cx="8048625" cy="2066925"/>
            <a:chOff x="0" y="0"/>
            <a:chExt cx="10731500" cy="2755900"/>
          </a:xfrm>
        </p:grpSpPr>
        <p:sp>
          <p:nvSpPr>
            <p:cNvPr name="Freeform 15" id="15"/>
            <p:cNvSpPr/>
            <p:nvPr/>
          </p:nvSpPr>
          <p:spPr>
            <a:xfrm flipH="false" flipV="false" rot="0">
              <a:off x="0" y="0"/>
              <a:ext cx="10731500" cy="2755900"/>
            </a:xfrm>
            <a:custGeom>
              <a:avLst/>
              <a:gdLst/>
              <a:ahLst/>
              <a:cxnLst/>
              <a:rect r="r" b="b" t="t" l="l"/>
              <a:pathLst>
                <a:path h="2755900" w="10731500">
                  <a:moveTo>
                    <a:pt x="355600" y="0"/>
                  </a:moveTo>
                  <a:lnTo>
                    <a:pt x="10375900" y="0"/>
                  </a:lnTo>
                  <a:cubicBezTo>
                    <a:pt x="10572242" y="0"/>
                    <a:pt x="10731500" y="159258"/>
                    <a:pt x="10731500" y="355600"/>
                  </a:cubicBezTo>
                  <a:lnTo>
                    <a:pt x="10731500" y="2400300"/>
                  </a:lnTo>
                  <a:cubicBezTo>
                    <a:pt x="10731500" y="2596642"/>
                    <a:pt x="10572242" y="2755900"/>
                    <a:pt x="10375900" y="2755900"/>
                  </a:cubicBezTo>
                  <a:lnTo>
                    <a:pt x="355600" y="2755900"/>
                  </a:lnTo>
                  <a:cubicBezTo>
                    <a:pt x="159258" y="2755900"/>
                    <a:pt x="0" y="2596642"/>
                    <a:pt x="0" y="2400300"/>
                  </a:cubicBezTo>
                  <a:lnTo>
                    <a:pt x="0" y="355600"/>
                  </a:lnTo>
                  <a:cubicBezTo>
                    <a:pt x="0" y="159258"/>
                    <a:pt x="159258" y="0"/>
                    <a:pt x="355600" y="0"/>
                  </a:cubicBezTo>
                  <a:close/>
                </a:path>
              </a:pathLst>
            </a:custGeom>
            <a:solidFill>
              <a:srgbClr val="EBDDC5"/>
            </a:solidFill>
          </p:spPr>
        </p:sp>
      </p:grpSp>
      <p:sp>
        <p:nvSpPr>
          <p:cNvPr name="TextBox 16" id="16"/>
          <p:cNvSpPr txBox="true"/>
          <p:nvPr/>
        </p:nvSpPr>
        <p:spPr>
          <a:xfrm rot="0">
            <a:off x="1276350" y="2437257"/>
            <a:ext cx="7477125" cy="428625"/>
          </a:xfrm>
          <a:prstGeom prst="rect">
            <a:avLst/>
          </a:prstGeom>
        </p:spPr>
        <p:txBody>
          <a:bodyPr anchor="t" rtlCol="false" tIns="0" lIns="0" bIns="0" rIns="0">
            <a:spAutoFit/>
          </a:bodyPr>
          <a:lstStyle/>
          <a:p>
            <a:pPr algn="l">
              <a:lnSpc>
                <a:spcPts val="2790"/>
              </a:lnSpc>
            </a:pPr>
            <a:r>
              <a:rPr lang="en-US" b="true" sz="1800" spc="144">
                <a:solidFill>
                  <a:srgbClr val="8C491A"/>
                </a:solidFill>
                <a:latin typeface="Arimo Bold"/>
                <a:ea typeface="Arimo Bold"/>
                <a:cs typeface="Arimo Bold"/>
                <a:sym typeface="Arimo Bold"/>
              </a:rPr>
              <a:t>QUESTION 1</a:t>
            </a:r>
          </a:p>
        </p:txBody>
      </p:sp>
      <p:sp>
        <p:nvSpPr>
          <p:cNvPr name="TextBox 17" id="17"/>
          <p:cNvSpPr txBox="true"/>
          <p:nvPr/>
        </p:nvSpPr>
        <p:spPr>
          <a:xfrm rot="0">
            <a:off x="1276350" y="2932843"/>
            <a:ext cx="7477125" cy="476250"/>
          </a:xfrm>
          <a:prstGeom prst="rect">
            <a:avLst/>
          </a:prstGeom>
        </p:spPr>
        <p:txBody>
          <a:bodyPr anchor="t" rtlCol="false" tIns="0" lIns="0" bIns="0" rIns="0">
            <a:spAutoFit/>
          </a:bodyPr>
          <a:lstStyle/>
          <a:p>
            <a:pPr algn="l">
              <a:lnSpc>
                <a:spcPts val="3366"/>
              </a:lnSpc>
            </a:pPr>
            <a:r>
              <a:rPr lang="en-US" b="true" sz="2475">
                <a:solidFill>
                  <a:srgbClr val="201E1D"/>
                </a:solidFill>
                <a:latin typeface="Arimo Bold"/>
                <a:ea typeface="Arimo Bold"/>
                <a:cs typeface="Arimo Bold"/>
                <a:sym typeface="Arimo Bold"/>
              </a:rPr>
              <a:t>Expand 4(3x − 1). What is the number term?</a:t>
            </a:r>
          </a:p>
        </p:txBody>
      </p:sp>
      <p:grpSp>
        <p:nvGrpSpPr>
          <p:cNvPr name="Group 18" id="18"/>
          <p:cNvGrpSpPr/>
          <p:nvPr/>
        </p:nvGrpSpPr>
        <p:grpSpPr>
          <a:xfrm rot="0">
            <a:off x="3884009" y="3565588"/>
            <a:ext cx="1333500" cy="552450"/>
            <a:chOff x="0" y="0"/>
            <a:chExt cx="1778000" cy="736600"/>
          </a:xfrm>
        </p:grpSpPr>
        <p:sp>
          <p:nvSpPr>
            <p:cNvPr name="Freeform 19" id="19"/>
            <p:cNvSpPr/>
            <p:nvPr/>
          </p:nvSpPr>
          <p:spPr>
            <a:xfrm flipH="false" flipV="false" rot="0">
              <a:off x="0" y="0"/>
              <a:ext cx="1778000" cy="736600"/>
            </a:xfrm>
            <a:custGeom>
              <a:avLst/>
              <a:gdLst/>
              <a:ahLst/>
              <a:cxnLst/>
              <a:rect r="r" b="b" t="t" l="l"/>
              <a:pathLst>
                <a:path h="736600" w="1778000">
                  <a:moveTo>
                    <a:pt x="368300" y="0"/>
                  </a:moveTo>
                  <a:lnTo>
                    <a:pt x="1409700" y="0"/>
                  </a:lnTo>
                  <a:cubicBezTo>
                    <a:pt x="1613154" y="0"/>
                    <a:pt x="1778000" y="164846"/>
                    <a:pt x="1778000" y="368300"/>
                  </a:cubicBezTo>
                  <a:cubicBezTo>
                    <a:pt x="1778000" y="571754"/>
                    <a:pt x="1613154" y="736600"/>
                    <a:pt x="1409700" y="736600"/>
                  </a:cubicBezTo>
                  <a:lnTo>
                    <a:pt x="368300" y="736600"/>
                  </a:lnTo>
                  <a:cubicBezTo>
                    <a:pt x="164846" y="736600"/>
                    <a:pt x="0" y="571754"/>
                    <a:pt x="0" y="368300"/>
                  </a:cubicBezTo>
                  <a:cubicBezTo>
                    <a:pt x="0" y="164846"/>
                    <a:pt x="164846" y="0"/>
                    <a:pt x="368300" y="0"/>
                  </a:cubicBezTo>
                  <a:close/>
                </a:path>
              </a:pathLst>
            </a:custGeom>
            <a:solidFill>
              <a:srgbClr val="C67139"/>
            </a:solidFill>
          </p:spPr>
        </p:sp>
        <p:sp>
          <p:nvSpPr>
            <p:cNvPr name="TextBox 20" id="20"/>
            <p:cNvSpPr txBox="true"/>
            <p:nvPr/>
          </p:nvSpPr>
          <p:spPr>
            <a:xfrm>
              <a:off x="0" y="-9525"/>
              <a:ext cx="1778000" cy="746125"/>
            </a:xfrm>
            <a:prstGeom prst="rect">
              <a:avLst/>
            </a:prstGeom>
          </p:spPr>
          <p:txBody>
            <a:bodyPr anchor="t" rtlCol="false" tIns="149860" lIns="149860" bIns="149860" rIns="149860"/>
            <a:lstStyle/>
            <a:p>
              <a:pPr algn="ctr">
                <a:lnSpc>
                  <a:spcPts val="2430"/>
                </a:lnSpc>
              </a:pPr>
              <a:r>
                <a:rPr lang="en-US" b="true" sz="2025" spc="-40">
                  <a:solidFill>
                    <a:srgbClr val="F5EAD8"/>
                  </a:solidFill>
                  <a:latin typeface="Arimo Bold"/>
                  <a:ea typeface="Arimo Bold"/>
                  <a:cs typeface="Arimo Bold"/>
                  <a:sym typeface="Arimo Bold"/>
                </a:rPr>
                <a:t>Check</a:t>
              </a:r>
            </a:p>
          </p:txBody>
        </p:sp>
      </p:grpSp>
      <p:sp>
        <p:nvSpPr>
          <p:cNvPr name="TextBox 21" id="21"/>
          <p:cNvSpPr txBox="true"/>
          <p:nvPr/>
        </p:nvSpPr>
        <p:spPr>
          <a:xfrm rot="0">
            <a:off x="5348478" y="3556063"/>
            <a:ext cx="1981200" cy="561975"/>
          </a:xfrm>
          <a:prstGeom prst="rect">
            <a:avLst/>
          </a:prstGeom>
        </p:spPr>
        <p:txBody>
          <a:bodyPr anchor="t" rtlCol="false" tIns="0" lIns="0" bIns="0" rIns="0">
            <a:spAutoFit/>
          </a:bodyPr>
          <a:lstStyle/>
          <a:p>
            <a:pPr algn="ctr">
              <a:lnSpc>
                <a:spcPts val="2430"/>
              </a:lnSpc>
            </a:pPr>
            <a:r>
              <a:rPr lang="en-US" b="true" sz="2025" spc="-40">
                <a:solidFill>
                  <a:srgbClr val="C67139"/>
                </a:solidFill>
                <a:latin typeface="Arimo Bold"/>
                <a:ea typeface="Arimo Bold"/>
                <a:cs typeface="Arimo Bold"/>
                <a:sym typeface="Arimo Bold"/>
              </a:rPr>
              <a:t>Show answer</a:t>
            </a:r>
          </a:p>
        </p:txBody>
      </p:sp>
      <p:grpSp>
        <p:nvGrpSpPr>
          <p:cNvPr name="Group 22" id="22"/>
          <p:cNvGrpSpPr/>
          <p:nvPr/>
        </p:nvGrpSpPr>
        <p:grpSpPr>
          <a:xfrm rot="0">
            <a:off x="9248775" y="2303240"/>
            <a:ext cx="8048625" cy="2066925"/>
            <a:chOff x="0" y="0"/>
            <a:chExt cx="10731500" cy="2755900"/>
          </a:xfrm>
        </p:grpSpPr>
        <p:sp>
          <p:nvSpPr>
            <p:cNvPr name="Freeform 23" id="23"/>
            <p:cNvSpPr/>
            <p:nvPr/>
          </p:nvSpPr>
          <p:spPr>
            <a:xfrm flipH="false" flipV="false" rot="0">
              <a:off x="0" y="0"/>
              <a:ext cx="10731500" cy="2755900"/>
            </a:xfrm>
            <a:custGeom>
              <a:avLst/>
              <a:gdLst/>
              <a:ahLst/>
              <a:cxnLst/>
              <a:rect r="r" b="b" t="t" l="l"/>
              <a:pathLst>
                <a:path h="2755900" w="10731500">
                  <a:moveTo>
                    <a:pt x="355600" y="0"/>
                  </a:moveTo>
                  <a:lnTo>
                    <a:pt x="10375900" y="0"/>
                  </a:lnTo>
                  <a:cubicBezTo>
                    <a:pt x="10572242" y="0"/>
                    <a:pt x="10731500" y="159258"/>
                    <a:pt x="10731500" y="355600"/>
                  </a:cubicBezTo>
                  <a:lnTo>
                    <a:pt x="10731500" y="2400300"/>
                  </a:lnTo>
                  <a:cubicBezTo>
                    <a:pt x="10731500" y="2596642"/>
                    <a:pt x="10572242" y="2755900"/>
                    <a:pt x="10375900" y="2755900"/>
                  </a:cubicBezTo>
                  <a:lnTo>
                    <a:pt x="355600" y="2755900"/>
                  </a:lnTo>
                  <a:cubicBezTo>
                    <a:pt x="159258" y="2755900"/>
                    <a:pt x="0" y="2596642"/>
                    <a:pt x="0" y="2400300"/>
                  </a:cubicBezTo>
                  <a:lnTo>
                    <a:pt x="0" y="355600"/>
                  </a:lnTo>
                  <a:cubicBezTo>
                    <a:pt x="0" y="159258"/>
                    <a:pt x="159258" y="0"/>
                    <a:pt x="355600" y="0"/>
                  </a:cubicBezTo>
                  <a:close/>
                </a:path>
              </a:pathLst>
            </a:custGeom>
            <a:solidFill>
              <a:srgbClr val="EBDDC5"/>
            </a:solidFill>
          </p:spPr>
        </p:sp>
      </p:grpSp>
      <p:sp>
        <p:nvSpPr>
          <p:cNvPr name="TextBox 24" id="24"/>
          <p:cNvSpPr txBox="true"/>
          <p:nvPr/>
        </p:nvSpPr>
        <p:spPr>
          <a:xfrm rot="0">
            <a:off x="9534525" y="2437257"/>
            <a:ext cx="7477125" cy="428625"/>
          </a:xfrm>
          <a:prstGeom prst="rect">
            <a:avLst/>
          </a:prstGeom>
        </p:spPr>
        <p:txBody>
          <a:bodyPr anchor="t" rtlCol="false" tIns="0" lIns="0" bIns="0" rIns="0">
            <a:spAutoFit/>
          </a:bodyPr>
          <a:lstStyle/>
          <a:p>
            <a:pPr algn="l">
              <a:lnSpc>
                <a:spcPts val="2790"/>
              </a:lnSpc>
            </a:pPr>
            <a:r>
              <a:rPr lang="en-US" b="true" sz="1800" spc="144">
                <a:solidFill>
                  <a:srgbClr val="56633F"/>
                </a:solidFill>
                <a:latin typeface="Arimo Bold"/>
                <a:ea typeface="Arimo Bold"/>
                <a:cs typeface="Arimo Bold"/>
                <a:sym typeface="Arimo Bold"/>
              </a:rPr>
              <a:t>QUESTION 2</a:t>
            </a:r>
          </a:p>
        </p:txBody>
      </p:sp>
      <p:sp>
        <p:nvSpPr>
          <p:cNvPr name="TextBox 25" id="25"/>
          <p:cNvSpPr txBox="true"/>
          <p:nvPr/>
        </p:nvSpPr>
        <p:spPr>
          <a:xfrm rot="0">
            <a:off x="9534525" y="2932843"/>
            <a:ext cx="7477125" cy="476250"/>
          </a:xfrm>
          <a:prstGeom prst="rect">
            <a:avLst/>
          </a:prstGeom>
        </p:spPr>
        <p:txBody>
          <a:bodyPr anchor="t" rtlCol="false" tIns="0" lIns="0" bIns="0" rIns="0">
            <a:spAutoFit/>
          </a:bodyPr>
          <a:lstStyle/>
          <a:p>
            <a:pPr algn="l">
              <a:lnSpc>
                <a:spcPts val="3366"/>
              </a:lnSpc>
            </a:pPr>
            <a:r>
              <a:rPr lang="en-US" b="true" sz="2475">
                <a:solidFill>
                  <a:srgbClr val="201E1D"/>
                </a:solidFill>
                <a:latin typeface="Arimo Bold"/>
                <a:ea typeface="Arimo Bold"/>
                <a:cs typeface="Arimo Bold"/>
                <a:sym typeface="Arimo Bold"/>
              </a:rPr>
              <a:t>Find the highest common factor of 36 and 24.</a:t>
            </a:r>
          </a:p>
        </p:txBody>
      </p:sp>
      <p:grpSp>
        <p:nvGrpSpPr>
          <p:cNvPr name="Group 26" id="26"/>
          <p:cNvGrpSpPr/>
          <p:nvPr/>
        </p:nvGrpSpPr>
        <p:grpSpPr>
          <a:xfrm rot="0">
            <a:off x="12142184" y="3565588"/>
            <a:ext cx="1333500" cy="552450"/>
            <a:chOff x="0" y="0"/>
            <a:chExt cx="1778000" cy="736600"/>
          </a:xfrm>
        </p:grpSpPr>
        <p:sp>
          <p:nvSpPr>
            <p:cNvPr name="Freeform 27" id="27"/>
            <p:cNvSpPr/>
            <p:nvPr/>
          </p:nvSpPr>
          <p:spPr>
            <a:xfrm flipH="false" flipV="false" rot="0">
              <a:off x="0" y="0"/>
              <a:ext cx="1778000" cy="736600"/>
            </a:xfrm>
            <a:custGeom>
              <a:avLst/>
              <a:gdLst/>
              <a:ahLst/>
              <a:cxnLst/>
              <a:rect r="r" b="b" t="t" l="l"/>
              <a:pathLst>
                <a:path h="736600" w="1778000">
                  <a:moveTo>
                    <a:pt x="368300" y="0"/>
                  </a:moveTo>
                  <a:lnTo>
                    <a:pt x="1409700" y="0"/>
                  </a:lnTo>
                  <a:cubicBezTo>
                    <a:pt x="1613154" y="0"/>
                    <a:pt x="1778000" y="164846"/>
                    <a:pt x="1778000" y="368300"/>
                  </a:cubicBezTo>
                  <a:cubicBezTo>
                    <a:pt x="1778000" y="571754"/>
                    <a:pt x="1613154" y="736600"/>
                    <a:pt x="1409700" y="736600"/>
                  </a:cubicBezTo>
                  <a:lnTo>
                    <a:pt x="368300" y="736600"/>
                  </a:lnTo>
                  <a:cubicBezTo>
                    <a:pt x="164846" y="736600"/>
                    <a:pt x="0" y="571754"/>
                    <a:pt x="0" y="368300"/>
                  </a:cubicBezTo>
                  <a:cubicBezTo>
                    <a:pt x="0" y="164846"/>
                    <a:pt x="164846" y="0"/>
                    <a:pt x="368300" y="0"/>
                  </a:cubicBezTo>
                  <a:close/>
                </a:path>
              </a:pathLst>
            </a:custGeom>
            <a:solidFill>
              <a:srgbClr val="C67139"/>
            </a:solidFill>
          </p:spPr>
        </p:sp>
        <p:sp>
          <p:nvSpPr>
            <p:cNvPr name="TextBox 28" id="28"/>
            <p:cNvSpPr txBox="true"/>
            <p:nvPr/>
          </p:nvSpPr>
          <p:spPr>
            <a:xfrm>
              <a:off x="0" y="-9525"/>
              <a:ext cx="1778000" cy="746125"/>
            </a:xfrm>
            <a:prstGeom prst="rect">
              <a:avLst/>
            </a:prstGeom>
          </p:spPr>
          <p:txBody>
            <a:bodyPr anchor="t" rtlCol="false" tIns="149860" lIns="149860" bIns="149860" rIns="149860"/>
            <a:lstStyle/>
            <a:p>
              <a:pPr algn="ctr">
                <a:lnSpc>
                  <a:spcPts val="2430"/>
                </a:lnSpc>
              </a:pPr>
              <a:r>
                <a:rPr lang="en-US" b="true" sz="2025" spc="-40">
                  <a:solidFill>
                    <a:srgbClr val="F5EAD8"/>
                  </a:solidFill>
                  <a:latin typeface="Arimo Bold"/>
                  <a:ea typeface="Arimo Bold"/>
                  <a:cs typeface="Arimo Bold"/>
                  <a:sym typeface="Arimo Bold"/>
                </a:rPr>
                <a:t>Check</a:t>
              </a:r>
            </a:p>
          </p:txBody>
        </p:sp>
      </p:grpSp>
      <p:sp>
        <p:nvSpPr>
          <p:cNvPr name="TextBox 29" id="29"/>
          <p:cNvSpPr txBox="true"/>
          <p:nvPr/>
        </p:nvSpPr>
        <p:spPr>
          <a:xfrm rot="0">
            <a:off x="13606653" y="3556063"/>
            <a:ext cx="1981200" cy="561975"/>
          </a:xfrm>
          <a:prstGeom prst="rect">
            <a:avLst/>
          </a:prstGeom>
        </p:spPr>
        <p:txBody>
          <a:bodyPr anchor="t" rtlCol="false" tIns="0" lIns="0" bIns="0" rIns="0">
            <a:spAutoFit/>
          </a:bodyPr>
          <a:lstStyle/>
          <a:p>
            <a:pPr algn="ctr">
              <a:lnSpc>
                <a:spcPts val="2430"/>
              </a:lnSpc>
            </a:pPr>
            <a:r>
              <a:rPr lang="en-US" b="true" sz="2025" spc="-40">
                <a:solidFill>
                  <a:srgbClr val="C67139"/>
                </a:solidFill>
                <a:latin typeface="Arimo Bold"/>
                <a:ea typeface="Arimo Bold"/>
                <a:cs typeface="Arimo Bold"/>
                <a:sym typeface="Arimo Bold"/>
              </a:rPr>
              <a:t>Show answer</a:t>
            </a:r>
          </a:p>
        </p:txBody>
      </p:sp>
      <p:grpSp>
        <p:nvGrpSpPr>
          <p:cNvPr name="Group 30" id="30"/>
          <p:cNvGrpSpPr/>
          <p:nvPr/>
        </p:nvGrpSpPr>
        <p:grpSpPr>
          <a:xfrm rot="0">
            <a:off x="990600" y="4580382"/>
            <a:ext cx="8048625" cy="2066925"/>
            <a:chOff x="0" y="0"/>
            <a:chExt cx="10731500" cy="2755900"/>
          </a:xfrm>
        </p:grpSpPr>
        <p:sp>
          <p:nvSpPr>
            <p:cNvPr name="Freeform 31" id="31"/>
            <p:cNvSpPr/>
            <p:nvPr/>
          </p:nvSpPr>
          <p:spPr>
            <a:xfrm flipH="false" flipV="false" rot="0">
              <a:off x="0" y="0"/>
              <a:ext cx="10731500" cy="2755900"/>
            </a:xfrm>
            <a:custGeom>
              <a:avLst/>
              <a:gdLst/>
              <a:ahLst/>
              <a:cxnLst/>
              <a:rect r="r" b="b" t="t" l="l"/>
              <a:pathLst>
                <a:path h="2755900" w="10731500">
                  <a:moveTo>
                    <a:pt x="355600" y="0"/>
                  </a:moveTo>
                  <a:lnTo>
                    <a:pt x="10375900" y="0"/>
                  </a:lnTo>
                  <a:cubicBezTo>
                    <a:pt x="10572242" y="0"/>
                    <a:pt x="10731500" y="159258"/>
                    <a:pt x="10731500" y="355600"/>
                  </a:cubicBezTo>
                  <a:lnTo>
                    <a:pt x="10731500" y="2400300"/>
                  </a:lnTo>
                  <a:cubicBezTo>
                    <a:pt x="10731500" y="2596642"/>
                    <a:pt x="10572242" y="2755900"/>
                    <a:pt x="10375900" y="2755900"/>
                  </a:cubicBezTo>
                  <a:lnTo>
                    <a:pt x="355600" y="2755900"/>
                  </a:lnTo>
                  <a:cubicBezTo>
                    <a:pt x="159258" y="2755900"/>
                    <a:pt x="0" y="2596642"/>
                    <a:pt x="0" y="2400300"/>
                  </a:cubicBezTo>
                  <a:lnTo>
                    <a:pt x="0" y="355600"/>
                  </a:lnTo>
                  <a:cubicBezTo>
                    <a:pt x="0" y="159258"/>
                    <a:pt x="159258" y="0"/>
                    <a:pt x="355600" y="0"/>
                  </a:cubicBezTo>
                  <a:close/>
                </a:path>
              </a:pathLst>
            </a:custGeom>
            <a:solidFill>
              <a:srgbClr val="EBDDC5"/>
            </a:solidFill>
          </p:spPr>
        </p:sp>
      </p:grpSp>
      <p:sp>
        <p:nvSpPr>
          <p:cNvPr name="TextBox 32" id="32"/>
          <p:cNvSpPr txBox="true"/>
          <p:nvPr/>
        </p:nvSpPr>
        <p:spPr>
          <a:xfrm rot="0">
            <a:off x="1276350" y="4714304"/>
            <a:ext cx="7477125" cy="428625"/>
          </a:xfrm>
          <a:prstGeom prst="rect">
            <a:avLst/>
          </a:prstGeom>
        </p:spPr>
        <p:txBody>
          <a:bodyPr anchor="t" rtlCol="false" tIns="0" lIns="0" bIns="0" rIns="0">
            <a:spAutoFit/>
          </a:bodyPr>
          <a:lstStyle/>
          <a:p>
            <a:pPr algn="l">
              <a:lnSpc>
                <a:spcPts val="2790"/>
              </a:lnSpc>
            </a:pPr>
            <a:r>
              <a:rPr lang="en-US" b="true" sz="1800" spc="144">
                <a:solidFill>
                  <a:srgbClr val="8C491A"/>
                </a:solidFill>
                <a:latin typeface="Arimo Bold"/>
                <a:ea typeface="Arimo Bold"/>
                <a:cs typeface="Arimo Bold"/>
                <a:sym typeface="Arimo Bold"/>
              </a:rPr>
              <a:t>QUESTION 3</a:t>
            </a:r>
          </a:p>
        </p:txBody>
      </p:sp>
      <p:sp>
        <p:nvSpPr>
          <p:cNvPr name="TextBox 33" id="33"/>
          <p:cNvSpPr txBox="true"/>
          <p:nvPr/>
        </p:nvSpPr>
        <p:spPr>
          <a:xfrm rot="0">
            <a:off x="1276350" y="5209889"/>
            <a:ext cx="7477125" cy="476250"/>
          </a:xfrm>
          <a:prstGeom prst="rect">
            <a:avLst/>
          </a:prstGeom>
        </p:spPr>
        <p:txBody>
          <a:bodyPr anchor="t" rtlCol="false" tIns="0" lIns="0" bIns="0" rIns="0">
            <a:spAutoFit/>
          </a:bodyPr>
          <a:lstStyle/>
          <a:p>
            <a:pPr algn="l">
              <a:lnSpc>
                <a:spcPts val="3366"/>
              </a:lnSpc>
            </a:pPr>
            <a:r>
              <a:rPr lang="en-US" b="true" sz="2475">
                <a:solidFill>
                  <a:srgbClr val="201E1D"/>
                </a:solidFill>
                <a:latin typeface="Arimo Bold"/>
                <a:ea typeface="Arimo Bold"/>
                <a:cs typeface="Arimo Bold"/>
                <a:sym typeface="Arimo Bold"/>
              </a:rPr>
              <a:t>Write 81 as a power of 3. What is the power?</a:t>
            </a:r>
          </a:p>
        </p:txBody>
      </p:sp>
      <p:grpSp>
        <p:nvGrpSpPr>
          <p:cNvPr name="Group 34" id="34"/>
          <p:cNvGrpSpPr/>
          <p:nvPr/>
        </p:nvGrpSpPr>
        <p:grpSpPr>
          <a:xfrm rot="0">
            <a:off x="3884009" y="5842635"/>
            <a:ext cx="1333500" cy="552450"/>
            <a:chOff x="0" y="0"/>
            <a:chExt cx="1778000" cy="736600"/>
          </a:xfrm>
        </p:grpSpPr>
        <p:sp>
          <p:nvSpPr>
            <p:cNvPr name="Freeform 35" id="35"/>
            <p:cNvSpPr/>
            <p:nvPr/>
          </p:nvSpPr>
          <p:spPr>
            <a:xfrm flipH="false" flipV="false" rot="0">
              <a:off x="0" y="0"/>
              <a:ext cx="1778000" cy="736600"/>
            </a:xfrm>
            <a:custGeom>
              <a:avLst/>
              <a:gdLst/>
              <a:ahLst/>
              <a:cxnLst/>
              <a:rect r="r" b="b" t="t" l="l"/>
              <a:pathLst>
                <a:path h="736600" w="1778000">
                  <a:moveTo>
                    <a:pt x="368300" y="0"/>
                  </a:moveTo>
                  <a:lnTo>
                    <a:pt x="1409700" y="0"/>
                  </a:lnTo>
                  <a:cubicBezTo>
                    <a:pt x="1613154" y="0"/>
                    <a:pt x="1778000" y="164846"/>
                    <a:pt x="1778000" y="368300"/>
                  </a:cubicBezTo>
                  <a:cubicBezTo>
                    <a:pt x="1778000" y="571754"/>
                    <a:pt x="1613154" y="736600"/>
                    <a:pt x="1409700" y="736600"/>
                  </a:cubicBezTo>
                  <a:lnTo>
                    <a:pt x="368300" y="736600"/>
                  </a:lnTo>
                  <a:cubicBezTo>
                    <a:pt x="164846" y="736600"/>
                    <a:pt x="0" y="571754"/>
                    <a:pt x="0" y="368300"/>
                  </a:cubicBezTo>
                  <a:cubicBezTo>
                    <a:pt x="0" y="164846"/>
                    <a:pt x="164846" y="0"/>
                    <a:pt x="368300" y="0"/>
                  </a:cubicBezTo>
                  <a:close/>
                </a:path>
              </a:pathLst>
            </a:custGeom>
            <a:solidFill>
              <a:srgbClr val="C67139"/>
            </a:solidFill>
          </p:spPr>
        </p:sp>
        <p:sp>
          <p:nvSpPr>
            <p:cNvPr name="TextBox 36" id="36"/>
            <p:cNvSpPr txBox="true"/>
            <p:nvPr/>
          </p:nvSpPr>
          <p:spPr>
            <a:xfrm>
              <a:off x="0" y="-9525"/>
              <a:ext cx="1778000" cy="746125"/>
            </a:xfrm>
            <a:prstGeom prst="rect">
              <a:avLst/>
            </a:prstGeom>
          </p:spPr>
          <p:txBody>
            <a:bodyPr anchor="t" rtlCol="false" tIns="149860" lIns="149860" bIns="149860" rIns="149860"/>
            <a:lstStyle/>
            <a:p>
              <a:pPr algn="ctr">
                <a:lnSpc>
                  <a:spcPts val="2430"/>
                </a:lnSpc>
              </a:pPr>
              <a:r>
                <a:rPr lang="en-US" b="true" sz="2025" spc="-40">
                  <a:solidFill>
                    <a:srgbClr val="F5EAD8"/>
                  </a:solidFill>
                  <a:latin typeface="Arimo Bold"/>
                  <a:ea typeface="Arimo Bold"/>
                  <a:cs typeface="Arimo Bold"/>
                  <a:sym typeface="Arimo Bold"/>
                </a:rPr>
                <a:t>Check</a:t>
              </a:r>
            </a:p>
          </p:txBody>
        </p:sp>
      </p:grpSp>
      <p:sp>
        <p:nvSpPr>
          <p:cNvPr name="TextBox 37" id="37"/>
          <p:cNvSpPr txBox="true"/>
          <p:nvPr/>
        </p:nvSpPr>
        <p:spPr>
          <a:xfrm rot="0">
            <a:off x="5348478" y="5833110"/>
            <a:ext cx="1981200" cy="561975"/>
          </a:xfrm>
          <a:prstGeom prst="rect">
            <a:avLst/>
          </a:prstGeom>
        </p:spPr>
        <p:txBody>
          <a:bodyPr anchor="t" rtlCol="false" tIns="0" lIns="0" bIns="0" rIns="0">
            <a:spAutoFit/>
          </a:bodyPr>
          <a:lstStyle/>
          <a:p>
            <a:pPr algn="ctr">
              <a:lnSpc>
                <a:spcPts val="2430"/>
              </a:lnSpc>
            </a:pPr>
            <a:r>
              <a:rPr lang="en-US" b="true" sz="2025" spc="-40">
                <a:solidFill>
                  <a:srgbClr val="C67139"/>
                </a:solidFill>
                <a:latin typeface="Arimo Bold"/>
                <a:ea typeface="Arimo Bold"/>
                <a:cs typeface="Arimo Bold"/>
                <a:sym typeface="Arimo Bold"/>
              </a:rPr>
              <a:t>Show answer</a:t>
            </a:r>
          </a:p>
        </p:txBody>
      </p:sp>
      <p:grpSp>
        <p:nvGrpSpPr>
          <p:cNvPr name="Group 38" id="38"/>
          <p:cNvGrpSpPr/>
          <p:nvPr/>
        </p:nvGrpSpPr>
        <p:grpSpPr>
          <a:xfrm rot="0">
            <a:off x="9248775" y="4580382"/>
            <a:ext cx="8048625" cy="2066925"/>
            <a:chOff x="0" y="0"/>
            <a:chExt cx="10731500" cy="2755900"/>
          </a:xfrm>
        </p:grpSpPr>
        <p:sp>
          <p:nvSpPr>
            <p:cNvPr name="Freeform 39" id="39"/>
            <p:cNvSpPr/>
            <p:nvPr/>
          </p:nvSpPr>
          <p:spPr>
            <a:xfrm flipH="false" flipV="false" rot="0">
              <a:off x="0" y="0"/>
              <a:ext cx="10731500" cy="2755900"/>
            </a:xfrm>
            <a:custGeom>
              <a:avLst/>
              <a:gdLst/>
              <a:ahLst/>
              <a:cxnLst/>
              <a:rect r="r" b="b" t="t" l="l"/>
              <a:pathLst>
                <a:path h="2755900" w="10731500">
                  <a:moveTo>
                    <a:pt x="355600" y="0"/>
                  </a:moveTo>
                  <a:lnTo>
                    <a:pt x="10375900" y="0"/>
                  </a:lnTo>
                  <a:cubicBezTo>
                    <a:pt x="10572242" y="0"/>
                    <a:pt x="10731500" y="159258"/>
                    <a:pt x="10731500" y="355600"/>
                  </a:cubicBezTo>
                  <a:lnTo>
                    <a:pt x="10731500" y="2400300"/>
                  </a:lnTo>
                  <a:cubicBezTo>
                    <a:pt x="10731500" y="2596642"/>
                    <a:pt x="10572242" y="2755900"/>
                    <a:pt x="10375900" y="2755900"/>
                  </a:cubicBezTo>
                  <a:lnTo>
                    <a:pt x="355600" y="2755900"/>
                  </a:lnTo>
                  <a:cubicBezTo>
                    <a:pt x="159258" y="2755900"/>
                    <a:pt x="0" y="2596642"/>
                    <a:pt x="0" y="2400300"/>
                  </a:cubicBezTo>
                  <a:lnTo>
                    <a:pt x="0" y="355600"/>
                  </a:lnTo>
                  <a:cubicBezTo>
                    <a:pt x="0" y="159258"/>
                    <a:pt x="159258" y="0"/>
                    <a:pt x="355600" y="0"/>
                  </a:cubicBezTo>
                  <a:close/>
                </a:path>
              </a:pathLst>
            </a:custGeom>
            <a:solidFill>
              <a:srgbClr val="EBDDC5"/>
            </a:solidFill>
          </p:spPr>
        </p:sp>
      </p:grpSp>
      <p:sp>
        <p:nvSpPr>
          <p:cNvPr name="TextBox 40" id="40"/>
          <p:cNvSpPr txBox="true"/>
          <p:nvPr/>
        </p:nvSpPr>
        <p:spPr>
          <a:xfrm rot="0">
            <a:off x="9534525" y="4714304"/>
            <a:ext cx="7477125" cy="428625"/>
          </a:xfrm>
          <a:prstGeom prst="rect">
            <a:avLst/>
          </a:prstGeom>
        </p:spPr>
        <p:txBody>
          <a:bodyPr anchor="t" rtlCol="false" tIns="0" lIns="0" bIns="0" rIns="0">
            <a:spAutoFit/>
          </a:bodyPr>
          <a:lstStyle/>
          <a:p>
            <a:pPr algn="l">
              <a:lnSpc>
                <a:spcPts val="2790"/>
              </a:lnSpc>
            </a:pPr>
            <a:r>
              <a:rPr lang="en-US" b="true" sz="1800" spc="144">
                <a:solidFill>
                  <a:srgbClr val="56633F"/>
                </a:solidFill>
                <a:latin typeface="Arimo Bold"/>
                <a:ea typeface="Arimo Bold"/>
                <a:cs typeface="Arimo Bold"/>
                <a:sym typeface="Arimo Bold"/>
              </a:rPr>
              <a:t>QUESTION 4</a:t>
            </a:r>
          </a:p>
        </p:txBody>
      </p:sp>
      <p:sp>
        <p:nvSpPr>
          <p:cNvPr name="TextBox 41" id="41"/>
          <p:cNvSpPr txBox="true"/>
          <p:nvPr/>
        </p:nvSpPr>
        <p:spPr>
          <a:xfrm rot="0">
            <a:off x="9534525" y="5209889"/>
            <a:ext cx="7477125" cy="476250"/>
          </a:xfrm>
          <a:prstGeom prst="rect">
            <a:avLst/>
          </a:prstGeom>
        </p:spPr>
        <p:txBody>
          <a:bodyPr anchor="t" rtlCol="false" tIns="0" lIns="0" bIns="0" rIns="0">
            <a:spAutoFit/>
          </a:bodyPr>
          <a:lstStyle/>
          <a:p>
            <a:pPr algn="l">
              <a:lnSpc>
                <a:spcPts val="3366"/>
              </a:lnSpc>
            </a:pPr>
            <a:r>
              <a:rPr lang="en-US" b="true" sz="2475">
                <a:solidFill>
                  <a:srgbClr val="201E1D"/>
                </a:solidFill>
                <a:latin typeface="Arimo Bold"/>
                <a:ea typeface="Arimo Bold"/>
                <a:cs typeface="Arimo Bold"/>
                <a:sym typeface="Arimo Bold"/>
              </a:rPr>
              <a:t>Simplify 5x + 3x − 2x. What is the coefficient of x?</a:t>
            </a:r>
          </a:p>
        </p:txBody>
      </p:sp>
      <p:grpSp>
        <p:nvGrpSpPr>
          <p:cNvPr name="Group 42" id="42"/>
          <p:cNvGrpSpPr/>
          <p:nvPr/>
        </p:nvGrpSpPr>
        <p:grpSpPr>
          <a:xfrm rot="0">
            <a:off x="12142184" y="5842635"/>
            <a:ext cx="1333500" cy="552450"/>
            <a:chOff x="0" y="0"/>
            <a:chExt cx="1778000" cy="736600"/>
          </a:xfrm>
        </p:grpSpPr>
        <p:sp>
          <p:nvSpPr>
            <p:cNvPr name="Freeform 43" id="43"/>
            <p:cNvSpPr/>
            <p:nvPr/>
          </p:nvSpPr>
          <p:spPr>
            <a:xfrm flipH="false" flipV="false" rot="0">
              <a:off x="0" y="0"/>
              <a:ext cx="1778000" cy="736600"/>
            </a:xfrm>
            <a:custGeom>
              <a:avLst/>
              <a:gdLst/>
              <a:ahLst/>
              <a:cxnLst/>
              <a:rect r="r" b="b" t="t" l="l"/>
              <a:pathLst>
                <a:path h="736600" w="1778000">
                  <a:moveTo>
                    <a:pt x="368300" y="0"/>
                  </a:moveTo>
                  <a:lnTo>
                    <a:pt x="1409700" y="0"/>
                  </a:lnTo>
                  <a:cubicBezTo>
                    <a:pt x="1613154" y="0"/>
                    <a:pt x="1778000" y="164846"/>
                    <a:pt x="1778000" y="368300"/>
                  </a:cubicBezTo>
                  <a:cubicBezTo>
                    <a:pt x="1778000" y="571754"/>
                    <a:pt x="1613154" y="736600"/>
                    <a:pt x="1409700" y="736600"/>
                  </a:cubicBezTo>
                  <a:lnTo>
                    <a:pt x="368300" y="736600"/>
                  </a:lnTo>
                  <a:cubicBezTo>
                    <a:pt x="164846" y="736600"/>
                    <a:pt x="0" y="571754"/>
                    <a:pt x="0" y="368300"/>
                  </a:cubicBezTo>
                  <a:cubicBezTo>
                    <a:pt x="0" y="164846"/>
                    <a:pt x="164846" y="0"/>
                    <a:pt x="368300" y="0"/>
                  </a:cubicBezTo>
                  <a:close/>
                </a:path>
              </a:pathLst>
            </a:custGeom>
            <a:solidFill>
              <a:srgbClr val="C67139"/>
            </a:solidFill>
          </p:spPr>
        </p:sp>
        <p:sp>
          <p:nvSpPr>
            <p:cNvPr name="TextBox 44" id="44"/>
            <p:cNvSpPr txBox="true"/>
            <p:nvPr/>
          </p:nvSpPr>
          <p:spPr>
            <a:xfrm>
              <a:off x="0" y="-9525"/>
              <a:ext cx="1778000" cy="746125"/>
            </a:xfrm>
            <a:prstGeom prst="rect">
              <a:avLst/>
            </a:prstGeom>
          </p:spPr>
          <p:txBody>
            <a:bodyPr anchor="t" rtlCol="false" tIns="149860" lIns="149860" bIns="149860" rIns="149860"/>
            <a:lstStyle/>
            <a:p>
              <a:pPr algn="ctr">
                <a:lnSpc>
                  <a:spcPts val="2430"/>
                </a:lnSpc>
              </a:pPr>
              <a:r>
                <a:rPr lang="en-US" b="true" sz="2025" spc="-40">
                  <a:solidFill>
                    <a:srgbClr val="F5EAD8"/>
                  </a:solidFill>
                  <a:latin typeface="Arimo Bold"/>
                  <a:ea typeface="Arimo Bold"/>
                  <a:cs typeface="Arimo Bold"/>
                  <a:sym typeface="Arimo Bold"/>
                </a:rPr>
                <a:t>Check</a:t>
              </a:r>
            </a:p>
          </p:txBody>
        </p:sp>
      </p:grpSp>
      <p:sp>
        <p:nvSpPr>
          <p:cNvPr name="TextBox 45" id="45"/>
          <p:cNvSpPr txBox="true"/>
          <p:nvPr/>
        </p:nvSpPr>
        <p:spPr>
          <a:xfrm rot="0">
            <a:off x="13606653" y="5833110"/>
            <a:ext cx="1981200" cy="561975"/>
          </a:xfrm>
          <a:prstGeom prst="rect">
            <a:avLst/>
          </a:prstGeom>
        </p:spPr>
        <p:txBody>
          <a:bodyPr anchor="t" rtlCol="false" tIns="0" lIns="0" bIns="0" rIns="0">
            <a:spAutoFit/>
          </a:bodyPr>
          <a:lstStyle/>
          <a:p>
            <a:pPr algn="ctr">
              <a:lnSpc>
                <a:spcPts val="2430"/>
              </a:lnSpc>
            </a:pPr>
            <a:r>
              <a:rPr lang="en-US" b="true" sz="2025" spc="-40">
                <a:solidFill>
                  <a:srgbClr val="C67139"/>
                </a:solidFill>
                <a:latin typeface="Arimo Bold"/>
                <a:ea typeface="Arimo Bold"/>
                <a:cs typeface="Arimo Bold"/>
                <a:sym typeface="Arimo Bold"/>
              </a:rPr>
              <a:t>Show answer</a:t>
            </a:r>
          </a:p>
        </p:txBody>
      </p:sp>
      <p:grpSp>
        <p:nvGrpSpPr>
          <p:cNvPr name="Group 46" id="46"/>
          <p:cNvGrpSpPr/>
          <p:nvPr/>
        </p:nvGrpSpPr>
        <p:grpSpPr>
          <a:xfrm rot="0">
            <a:off x="1276350" y="3522726"/>
            <a:ext cx="2476500" cy="638175"/>
            <a:chOff x="0" y="0"/>
            <a:chExt cx="3302000" cy="850900"/>
          </a:xfrm>
        </p:grpSpPr>
        <p:sp>
          <p:nvSpPr>
            <p:cNvPr name="Freeform 47" id="47"/>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F5EAD8"/>
            </a:solidFill>
          </p:spPr>
        </p:sp>
        <p:sp>
          <p:nvSpPr>
            <p:cNvPr name="Freeform 48" id="48"/>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000000">
                <a:alpha val="0"/>
              </a:srgbClr>
            </a:solidFill>
            <a:ln w="28575" cap="sq">
              <a:solidFill>
                <a:srgbClr val="FFC6A5"/>
              </a:solidFill>
              <a:prstDash val="solid"/>
              <a:miter/>
            </a:ln>
          </p:spPr>
        </p:sp>
      </p:grpSp>
      <p:grpSp>
        <p:nvGrpSpPr>
          <p:cNvPr name="Group 49" id="49"/>
          <p:cNvGrpSpPr/>
          <p:nvPr/>
        </p:nvGrpSpPr>
        <p:grpSpPr>
          <a:xfrm rot="0">
            <a:off x="9534525" y="3522726"/>
            <a:ext cx="2476500" cy="638175"/>
            <a:chOff x="0" y="0"/>
            <a:chExt cx="3302000" cy="850900"/>
          </a:xfrm>
        </p:grpSpPr>
        <p:sp>
          <p:nvSpPr>
            <p:cNvPr name="Freeform 50" id="50"/>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F5EAD8"/>
            </a:solidFill>
          </p:spPr>
        </p:sp>
        <p:sp>
          <p:nvSpPr>
            <p:cNvPr name="Freeform 51" id="51"/>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000000">
                <a:alpha val="0"/>
              </a:srgbClr>
            </a:solidFill>
            <a:ln w="28575" cap="sq">
              <a:solidFill>
                <a:srgbClr val="FFC6A5"/>
              </a:solidFill>
              <a:prstDash val="solid"/>
              <a:miter/>
            </a:ln>
          </p:spPr>
        </p:sp>
      </p:grpSp>
      <p:grpSp>
        <p:nvGrpSpPr>
          <p:cNvPr name="Group 52" id="52"/>
          <p:cNvGrpSpPr/>
          <p:nvPr/>
        </p:nvGrpSpPr>
        <p:grpSpPr>
          <a:xfrm rot="0">
            <a:off x="1276350" y="5799868"/>
            <a:ext cx="2476500" cy="638175"/>
            <a:chOff x="0" y="0"/>
            <a:chExt cx="3302000" cy="850900"/>
          </a:xfrm>
        </p:grpSpPr>
        <p:sp>
          <p:nvSpPr>
            <p:cNvPr name="Freeform 53" id="53"/>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F5EAD8"/>
            </a:solidFill>
          </p:spPr>
        </p:sp>
        <p:sp>
          <p:nvSpPr>
            <p:cNvPr name="Freeform 54" id="54"/>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000000">
                <a:alpha val="0"/>
              </a:srgbClr>
            </a:solidFill>
            <a:ln w="28575" cap="sq">
              <a:solidFill>
                <a:srgbClr val="FFC6A5"/>
              </a:solidFill>
              <a:prstDash val="solid"/>
              <a:miter/>
            </a:ln>
          </p:spPr>
        </p:sp>
      </p:grpSp>
      <p:grpSp>
        <p:nvGrpSpPr>
          <p:cNvPr name="Group 55" id="55"/>
          <p:cNvGrpSpPr/>
          <p:nvPr/>
        </p:nvGrpSpPr>
        <p:grpSpPr>
          <a:xfrm rot="0">
            <a:off x="9534525" y="5799868"/>
            <a:ext cx="2476500" cy="638175"/>
            <a:chOff x="0" y="0"/>
            <a:chExt cx="3302000" cy="850900"/>
          </a:xfrm>
        </p:grpSpPr>
        <p:sp>
          <p:nvSpPr>
            <p:cNvPr name="Freeform 56" id="56"/>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F5EAD8"/>
            </a:solidFill>
          </p:spPr>
        </p:sp>
        <p:sp>
          <p:nvSpPr>
            <p:cNvPr name="Freeform 57" id="57"/>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000000">
                <a:alpha val="0"/>
              </a:srgbClr>
            </a:solidFill>
            <a:ln w="28575" cap="sq">
              <a:solidFill>
                <a:srgbClr val="FFC6A5"/>
              </a:solidFill>
              <a:prstDash val="solid"/>
              <a:miter/>
            </a:ln>
          </p:spPr>
        </p:sp>
      </p:gr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FFE1D0"/>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CCDBB2"/>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FFC6A5"/>
            </a:solidFill>
          </p:spPr>
        </p:sp>
      </p:grpSp>
      <p:grpSp>
        <p:nvGrpSpPr>
          <p:cNvPr name="Group 9" id="9"/>
          <p:cNvGrpSpPr/>
          <p:nvPr/>
        </p:nvGrpSpPr>
        <p:grpSpPr>
          <a:xfrm rot="0">
            <a:off x="991076" y="611505"/>
            <a:ext cx="3124200" cy="600075"/>
            <a:chOff x="0" y="0"/>
            <a:chExt cx="4165600" cy="800100"/>
          </a:xfrm>
        </p:grpSpPr>
        <p:sp>
          <p:nvSpPr>
            <p:cNvPr name="Freeform 10" id="10"/>
            <p:cNvSpPr/>
            <p:nvPr/>
          </p:nvSpPr>
          <p:spPr>
            <a:xfrm flipH="false" flipV="false" rot="0">
              <a:off x="0" y="0"/>
              <a:ext cx="4165600" cy="800100"/>
            </a:xfrm>
            <a:custGeom>
              <a:avLst/>
              <a:gdLst/>
              <a:ahLst/>
              <a:cxnLst/>
              <a:rect r="r" b="b" t="t" l="l"/>
              <a:pathLst>
                <a:path h="800100" w="4165600">
                  <a:moveTo>
                    <a:pt x="400050" y="0"/>
                  </a:moveTo>
                  <a:lnTo>
                    <a:pt x="3765550" y="0"/>
                  </a:lnTo>
                  <a:cubicBezTo>
                    <a:pt x="3986530" y="0"/>
                    <a:pt x="4165600" y="179070"/>
                    <a:pt x="4165600" y="400050"/>
                  </a:cubicBezTo>
                  <a:cubicBezTo>
                    <a:pt x="4165600" y="621030"/>
                    <a:pt x="3986530" y="800100"/>
                    <a:pt x="3765550" y="800100"/>
                  </a:cubicBezTo>
                  <a:lnTo>
                    <a:pt x="400050" y="800100"/>
                  </a:lnTo>
                  <a:cubicBezTo>
                    <a:pt x="179070" y="800100"/>
                    <a:pt x="0" y="621030"/>
                    <a:pt x="0" y="400050"/>
                  </a:cubicBezTo>
                  <a:cubicBezTo>
                    <a:pt x="0" y="179070"/>
                    <a:pt x="179070" y="0"/>
                    <a:pt x="400050" y="0"/>
                  </a:cubicBezTo>
                  <a:close/>
                </a:path>
              </a:pathLst>
            </a:custGeom>
            <a:solidFill>
              <a:srgbClr val="8C491A"/>
            </a:solidFill>
          </p:spPr>
        </p:sp>
        <p:sp>
          <p:nvSpPr>
            <p:cNvPr name="TextBox 11" id="11"/>
            <p:cNvSpPr txBox="true"/>
            <p:nvPr/>
          </p:nvSpPr>
          <p:spPr>
            <a:xfrm>
              <a:off x="0" y="-76200"/>
              <a:ext cx="41656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GETTING STARTED</a:t>
              </a:r>
            </a:p>
          </p:txBody>
        </p:sp>
      </p:grpSp>
      <p:sp>
        <p:nvSpPr>
          <p:cNvPr name="TextBox 12" id="12"/>
          <p:cNvSpPr txBox="true"/>
          <p:nvPr/>
        </p:nvSpPr>
        <p:spPr>
          <a:xfrm rot="0">
            <a:off x="4306443" y="630555"/>
            <a:ext cx="1219200" cy="485775"/>
          </a:xfrm>
          <a:prstGeom prst="rect">
            <a:avLst/>
          </a:prstGeom>
        </p:spPr>
        <p:txBody>
          <a:bodyPr anchor="t" rtlCol="false" tIns="0" lIns="0" bIns="0" rIns="0">
            <a:spAutoFit/>
          </a:bodyPr>
          <a:lstStyle/>
          <a:p>
            <a:pPr algn="l">
              <a:lnSpc>
                <a:spcPts val="3255"/>
              </a:lnSpc>
            </a:pPr>
            <a:r>
              <a:rPr lang="en-US" b="true" sz="2100">
                <a:solidFill>
                  <a:srgbClr val="3D472B"/>
                </a:solidFill>
                <a:latin typeface="Arimo Bold"/>
                <a:ea typeface="Arimo Bold"/>
                <a:cs typeface="Arimo Bold"/>
                <a:sym typeface="Arimo Bold"/>
              </a:rPr>
              <a:t>Chapter 6</a:t>
            </a:r>
          </a:p>
        </p:txBody>
      </p:sp>
      <p:sp>
        <p:nvSpPr>
          <p:cNvPr name="TextBox 13" id="13"/>
          <p:cNvSpPr txBox="true"/>
          <p:nvPr/>
        </p:nvSpPr>
        <p:spPr>
          <a:xfrm rot="0">
            <a:off x="990600" y="1509808"/>
            <a:ext cx="16306800" cy="504825"/>
          </a:xfrm>
          <a:prstGeom prst="rect">
            <a:avLst/>
          </a:prstGeom>
        </p:spPr>
        <p:txBody>
          <a:bodyPr anchor="t" rtlCol="false" tIns="0" lIns="0" bIns="0" rIns="0">
            <a:spAutoFit/>
          </a:bodyPr>
          <a:lstStyle/>
          <a:p>
            <a:pPr algn="l">
              <a:lnSpc>
                <a:spcPts val="4368"/>
              </a:lnSpc>
            </a:pPr>
            <a:r>
              <a:rPr lang="en-US" b="true" sz="4200" spc="-84">
                <a:solidFill>
                  <a:srgbClr val="201E1D"/>
                </a:solidFill>
                <a:latin typeface="Arimo Bold"/>
                <a:ea typeface="Arimo Bold"/>
                <a:cs typeface="Arimo Bold"/>
                <a:sym typeface="Arimo Bold"/>
              </a:rPr>
              <a:t>Each square is the sum of the two circles beside it</a:t>
            </a:r>
          </a:p>
        </p:txBody>
      </p:sp>
      <p:grpSp>
        <p:nvGrpSpPr>
          <p:cNvPr name="Group 14" id="14"/>
          <p:cNvGrpSpPr/>
          <p:nvPr/>
        </p:nvGrpSpPr>
        <p:grpSpPr>
          <a:xfrm rot="0">
            <a:off x="990600" y="2265140"/>
            <a:ext cx="8020050" cy="5086350"/>
            <a:chOff x="0" y="0"/>
            <a:chExt cx="10693400" cy="6781800"/>
          </a:xfrm>
        </p:grpSpPr>
        <p:sp>
          <p:nvSpPr>
            <p:cNvPr name="Freeform 15" id="15"/>
            <p:cNvSpPr/>
            <p:nvPr/>
          </p:nvSpPr>
          <p:spPr>
            <a:xfrm flipH="false" flipV="false" rot="0">
              <a:off x="0" y="0"/>
              <a:ext cx="10693400" cy="6781800"/>
            </a:xfrm>
            <a:custGeom>
              <a:avLst/>
              <a:gdLst/>
              <a:ahLst/>
              <a:cxnLst/>
              <a:rect r="r" b="b" t="t" l="l"/>
              <a:pathLst>
                <a:path h="6781800" w="10693400">
                  <a:moveTo>
                    <a:pt x="711200" y="0"/>
                  </a:moveTo>
                  <a:lnTo>
                    <a:pt x="9982200" y="0"/>
                  </a:lnTo>
                  <a:cubicBezTo>
                    <a:pt x="10375011" y="0"/>
                    <a:pt x="10693400" y="318389"/>
                    <a:pt x="10693400" y="711200"/>
                  </a:cubicBezTo>
                  <a:lnTo>
                    <a:pt x="10693400" y="6070600"/>
                  </a:lnTo>
                  <a:cubicBezTo>
                    <a:pt x="10693400" y="6463411"/>
                    <a:pt x="10375011" y="6781800"/>
                    <a:pt x="9982200" y="6781800"/>
                  </a:cubicBezTo>
                  <a:lnTo>
                    <a:pt x="711200" y="6781800"/>
                  </a:lnTo>
                  <a:cubicBezTo>
                    <a:pt x="318389" y="6781800"/>
                    <a:pt x="0" y="6463411"/>
                    <a:pt x="0" y="6070600"/>
                  </a:cubicBezTo>
                  <a:lnTo>
                    <a:pt x="0" y="711200"/>
                  </a:lnTo>
                  <a:cubicBezTo>
                    <a:pt x="0" y="318389"/>
                    <a:pt x="318389" y="0"/>
                    <a:pt x="711200" y="0"/>
                  </a:cubicBezTo>
                  <a:close/>
                </a:path>
              </a:pathLst>
            </a:custGeom>
            <a:solidFill>
              <a:srgbClr val="EBDDC5"/>
            </a:solidFill>
          </p:spPr>
        </p:sp>
      </p:grpSp>
      <p:grpSp>
        <p:nvGrpSpPr>
          <p:cNvPr name="Group 16" id="16"/>
          <p:cNvGrpSpPr/>
          <p:nvPr/>
        </p:nvGrpSpPr>
        <p:grpSpPr>
          <a:xfrm rot="0">
            <a:off x="9277350" y="2265140"/>
            <a:ext cx="8020050" cy="5086350"/>
            <a:chOff x="0" y="0"/>
            <a:chExt cx="10693400" cy="6781800"/>
          </a:xfrm>
        </p:grpSpPr>
        <p:sp>
          <p:nvSpPr>
            <p:cNvPr name="Freeform 17" id="17"/>
            <p:cNvSpPr/>
            <p:nvPr/>
          </p:nvSpPr>
          <p:spPr>
            <a:xfrm flipH="false" flipV="false" rot="0">
              <a:off x="0" y="0"/>
              <a:ext cx="10693400" cy="6781800"/>
            </a:xfrm>
            <a:custGeom>
              <a:avLst/>
              <a:gdLst/>
              <a:ahLst/>
              <a:cxnLst/>
              <a:rect r="r" b="b" t="t" l="l"/>
              <a:pathLst>
                <a:path h="6781800" w="10693400">
                  <a:moveTo>
                    <a:pt x="711200" y="0"/>
                  </a:moveTo>
                  <a:lnTo>
                    <a:pt x="9982200" y="0"/>
                  </a:lnTo>
                  <a:cubicBezTo>
                    <a:pt x="10375011" y="0"/>
                    <a:pt x="10693400" y="318389"/>
                    <a:pt x="10693400" y="711200"/>
                  </a:cubicBezTo>
                  <a:lnTo>
                    <a:pt x="10693400" y="6070600"/>
                  </a:lnTo>
                  <a:cubicBezTo>
                    <a:pt x="10693400" y="6463411"/>
                    <a:pt x="10375011" y="6781800"/>
                    <a:pt x="9982200" y="6781800"/>
                  </a:cubicBezTo>
                  <a:lnTo>
                    <a:pt x="711200" y="6781800"/>
                  </a:lnTo>
                  <a:cubicBezTo>
                    <a:pt x="318389" y="6781800"/>
                    <a:pt x="0" y="6463411"/>
                    <a:pt x="0" y="6070600"/>
                  </a:cubicBezTo>
                  <a:lnTo>
                    <a:pt x="0" y="711200"/>
                  </a:lnTo>
                  <a:cubicBezTo>
                    <a:pt x="0" y="318389"/>
                    <a:pt x="318389" y="0"/>
                    <a:pt x="711200" y="0"/>
                  </a:cubicBezTo>
                  <a:close/>
                </a:path>
              </a:pathLst>
            </a:custGeom>
            <a:solidFill>
              <a:srgbClr val="EBDDC5"/>
            </a:solidFill>
          </p:spPr>
        </p:sp>
      </p:grpSp>
      <p:grpSp>
        <p:nvGrpSpPr>
          <p:cNvPr name="Group 18" id="18"/>
          <p:cNvGrpSpPr/>
          <p:nvPr/>
        </p:nvGrpSpPr>
        <p:grpSpPr>
          <a:xfrm rot="0">
            <a:off x="1179766" y="7820406"/>
            <a:ext cx="475488" cy="475488"/>
            <a:chOff x="0" y="0"/>
            <a:chExt cx="633984" cy="633984"/>
          </a:xfrm>
        </p:grpSpPr>
        <p:sp>
          <p:nvSpPr>
            <p:cNvPr name="Freeform 19" id="19"/>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C67139"/>
            </a:solidFill>
          </p:spPr>
        </p:sp>
      </p:grpSp>
      <p:sp>
        <p:nvSpPr>
          <p:cNvPr name="TextBox 20" id="20"/>
          <p:cNvSpPr txBox="true"/>
          <p:nvPr/>
        </p:nvSpPr>
        <p:spPr>
          <a:xfrm rot="0">
            <a:off x="1179766" y="7791831"/>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3</a:t>
            </a:r>
          </a:p>
        </p:txBody>
      </p:sp>
      <p:sp>
        <p:nvSpPr>
          <p:cNvPr name="TextBox 21" id="21"/>
          <p:cNvSpPr txBox="true"/>
          <p:nvPr/>
        </p:nvSpPr>
        <p:spPr>
          <a:xfrm rot="0">
            <a:off x="1818799" y="7846219"/>
            <a:ext cx="8439912" cy="385572"/>
          </a:xfrm>
          <a:prstGeom prst="rect">
            <a:avLst/>
          </a:prstGeom>
        </p:spPr>
        <p:txBody>
          <a:bodyPr anchor="t" rtlCol="false" tIns="0" lIns="0" bIns="0" rIns="0">
            <a:spAutoFit/>
          </a:bodyPr>
          <a:lstStyle/>
          <a:p>
            <a:pPr algn="l">
              <a:lnSpc>
                <a:spcPts val="2756"/>
              </a:lnSpc>
            </a:pPr>
            <a:r>
              <a:rPr lang="en-US" b="true" sz="2088">
                <a:solidFill>
                  <a:srgbClr val="201E1D"/>
                </a:solidFill>
                <a:latin typeface="Arimo Bold"/>
                <a:ea typeface="Arimo Bold"/>
                <a:cs typeface="Arimo Bold"/>
                <a:sym typeface="Arimo Bold"/>
              </a:rPr>
              <a:t>T1: 7 − 3 = 4 · T2: squares total 44, so circles total 22; top = 22 − 15 = 7</a:t>
            </a:r>
          </a:p>
        </p:txBody>
      </p:sp>
      <p:grpSp>
        <p:nvGrpSpPr>
          <p:cNvPr name="Group 22" id="22"/>
          <p:cNvGrpSpPr/>
          <p:nvPr/>
        </p:nvGrpSpPr>
        <p:grpSpPr>
          <a:xfrm rot="0">
            <a:off x="1179766" y="8430006"/>
            <a:ext cx="475488" cy="475488"/>
            <a:chOff x="0" y="0"/>
            <a:chExt cx="633984" cy="633984"/>
          </a:xfrm>
        </p:grpSpPr>
        <p:sp>
          <p:nvSpPr>
            <p:cNvPr name="Freeform 23" id="23"/>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7A8A5E"/>
            </a:solidFill>
          </p:spPr>
        </p:sp>
      </p:grpSp>
      <p:sp>
        <p:nvSpPr>
          <p:cNvPr name="TextBox 24" id="24"/>
          <p:cNvSpPr txBox="true"/>
          <p:nvPr/>
        </p:nvSpPr>
        <p:spPr>
          <a:xfrm rot="0">
            <a:off x="1179766" y="8401431"/>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4</a:t>
            </a:r>
          </a:p>
        </p:txBody>
      </p:sp>
      <p:sp>
        <p:nvSpPr>
          <p:cNvPr name="TextBox 25" id="25"/>
          <p:cNvSpPr txBox="true"/>
          <p:nvPr/>
        </p:nvSpPr>
        <p:spPr>
          <a:xfrm rot="0">
            <a:off x="1821847" y="8455819"/>
            <a:ext cx="5413248" cy="385572"/>
          </a:xfrm>
          <a:prstGeom prst="rect">
            <a:avLst/>
          </a:prstGeom>
        </p:spPr>
        <p:txBody>
          <a:bodyPr anchor="t" rtlCol="false" tIns="0" lIns="0" bIns="0" rIns="0">
            <a:spAutoFit/>
          </a:bodyPr>
          <a:lstStyle/>
          <a:p>
            <a:pPr algn="l">
              <a:lnSpc>
                <a:spcPts val="2756"/>
              </a:lnSpc>
            </a:pPr>
            <a:r>
              <a:rPr lang="en-US" b="true" sz="2088">
                <a:solidFill>
                  <a:srgbClr val="201E1D"/>
                </a:solidFill>
                <a:latin typeface="Arimo Bold"/>
                <a:ea typeface="Arimo Bold"/>
                <a:cs typeface="Arimo Bold"/>
                <a:sym typeface="Arimo Bold"/>
              </a:rPr>
              <a:t>Finish: T1 squares 7 and 8 · T2 circles 11 and 4</a:t>
            </a:r>
          </a:p>
        </p:txBody>
      </p:sp>
      <p:grpSp>
        <p:nvGrpSpPr>
          <p:cNvPr name="Group 26" id="26"/>
          <p:cNvGrpSpPr/>
          <p:nvPr/>
        </p:nvGrpSpPr>
        <p:grpSpPr>
          <a:xfrm rot="0">
            <a:off x="992695" y="9010650"/>
            <a:ext cx="2333625" cy="666750"/>
            <a:chOff x="0" y="0"/>
            <a:chExt cx="3111500" cy="889000"/>
          </a:xfrm>
        </p:grpSpPr>
        <p:sp>
          <p:nvSpPr>
            <p:cNvPr name="Freeform 27" id="27"/>
            <p:cNvSpPr/>
            <p:nvPr/>
          </p:nvSpPr>
          <p:spPr>
            <a:xfrm flipH="false" flipV="false" rot="0">
              <a:off x="0" y="0"/>
              <a:ext cx="3111500" cy="889000"/>
            </a:xfrm>
            <a:custGeom>
              <a:avLst/>
              <a:gdLst/>
              <a:ahLst/>
              <a:cxnLst/>
              <a:rect r="r" b="b" t="t" l="l"/>
              <a:pathLst>
                <a:path h="889000" w="3111500">
                  <a:moveTo>
                    <a:pt x="444500" y="0"/>
                  </a:moveTo>
                  <a:lnTo>
                    <a:pt x="2667000" y="0"/>
                  </a:lnTo>
                  <a:cubicBezTo>
                    <a:pt x="2912491" y="0"/>
                    <a:pt x="3111500" y="199009"/>
                    <a:pt x="3111500" y="444500"/>
                  </a:cubicBezTo>
                  <a:cubicBezTo>
                    <a:pt x="3111500" y="689991"/>
                    <a:pt x="2912491" y="889000"/>
                    <a:pt x="26670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sp>
          <p:nvSpPr>
            <p:cNvPr name="TextBox 28" id="28"/>
            <p:cNvSpPr txBox="true"/>
            <p:nvPr/>
          </p:nvSpPr>
          <p:spPr>
            <a:xfrm>
              <a:off x="0" y="-19050"/>
              <a:ext cx="3111500" cy="908050"/>
            </a:xfrm>
            <a:prstGeom prst="rect">
              <a:avLst/>
            </a:prstGeom>
          </p:spPr>
          <p:txBody>
            <a:bodyPr anchor="t" rtlCol="false" tIns="203200" lIns="203200" bIns="203200" rIns="203200"/>
            <a:lstStyle/>
            <a:p>
              <a:pPr algn="ctr">
                <a:lnSpc>
                  <a:spcPts val="2700"/>
                </a:lnSpc>
              </a:pPr>
              <a:r>
                <a:rPr lang="en-US" b="true" sz="2250" spc="-44">
                  <a:solidFill>
                    <a:srgbClr val="F5EAD8"/>
                  </a:solidFill>
                  <a:latin typeface="Arimo Bold"/>
                  <a:ea typeface="Arimo Bold"/>
                  <a:cs typeface="Arimo Bold"/>
                  <a:sym typeface="Arimo Bold"/>
                </a:rPr>
                <a:t>Next step →</a:t>
              </a:r>
            </a:p>
          </p:txBody>
        </p:sp>
      </p:grpSp>
      <p:sp>
        <p:nvSpPr>
          <p:cNvPr name="TextBox 29" id="29"/>
          <p:cNvSpPr txBox="true"/>
          <p:nvPr/>
        </p:nvSpPr>
        <p:spPr>
          <a:xfrm rot="0">
            <a:off x="3481959" y="8991600"/>
            <a:ext cx="2143125" cy="685800"/>
          </a:xfrm>
          <a:prstGeom prst="rect">
            <a:avLst/>
          </a:prstGeom>
        </p:spPr>
        <p:txBody>
          <a:bodyPr anchor="t" rtlCol="false" tIns="0" lIns="0" bIns="0" rIns="0">
            <a:spAutoFit/>
          </a:bodyPr>
          <a:lstStyle/>
          <a:p>
            <a:pPr algn="ctr">
              <a:lnSpc>
                <a:spcPts val="2700"/>
              </a:lnSpc>
            </a:pPr>
            <a:r>
              <a:rPr lang="en-US" b="true" sz="2250" spc="-44">
                <a:solidFill>
                  <a:srgbClr val="201E1D"/>
                </a:solidFill>
                <a:latin typeface="Arimo Bold"/>
                <a:ea typeface="Arimo Bold"/>
                <a:cs typeface="Arimo Bold"/>
                <a:sym typeface="Arimo Bold"/>
              </a:rPr>
              <a:t>Start again</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FFE1D0"/>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CCDBB2"/>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FFC6A5"/>
            </a:solidFill>
          </p:spPr>
        </p:sp>
      </p:grpSp>
      <p:grpSp>
        <p:nvGrpSpPr>
          <p:cNvPr name="Group 9" id="9"/>
          <p:cNvGrpSpPr/>
          <p:nvPr/>
        </p:nvGrpSpPr>
        <p:grpSpPr>
          <a:xfrm rot="0">
            <a:off x="991076" y="611505"/>
            <a:ext cx="3124200" cy="600075"/>
            <a:chOff x="0" y="0"/>
            <a:chExt cx="4165600" cy="800100"/>
          </a:xfrm>
        </p:grpSpPr>
        <p:sp>
          <p:nvSpPr>
            <p:cNvPr name="Freeform 10" id="10"/>
            <p:cNvSpPr/>
            <p:nvPr/>
          </p:nvSpPr>
          <p:spPr>
            <a:xfrm flipH="false" flipV="false" rot="0">
              <a:off x="0" y="0"/>
              <a:ext cx="4165600" cy="800100"/>
            </a:xfrm>
            <a:custGeom>
              <a:avLst/>
              <a:gdLst/>
              <a:ahLst/>
              <a:cxnLst/>
              <a:rect r="r" b="b" t="t" l="l"/>
              <a:pathLst>
                <a:path h="800100" w="4165600">
                  <a:moveTo>
                    <a:pt x="400050" y="0"/>
                  </a:moveTo>
                  <a:lnTo>
                    <a:pt x="3765550" y="0"/>
                  </a:lnTo>
                  <a:cubicBezTo>
                    <a:pt x="3986530" y="0"/>
                    <a:pt x="4165600" y="179070"/>
                    <a:pt x="4165600" y="400050"/>
                  </a:cubicBezTo>
                  <a:cubicBezTo>
                    <a:pt x="4165600" y="621030"/>
                    <a:pt x="3986530" y="800100"/>
                    <a:pt x="3765550" y="800100"/>
                  </a:cubicBezTo>
                  <a:lnTo>
                    <a:pt x="400050" y="800100"/>
                  </a:lnTo>
                  <a:cubicBezTo>
                    <a:pt x="179070" y="800100"/>
                    <a:pt x="0" y="621030"/>
                    <a:pt x="0" y="400050"/>
                  </a:cubicBezTo>
                  <a:cubicBezTo>
                    <a:pt x="0" y="179070"/>
                    <a:pt x="179070" y="0"/>
                    <a:pt x="400050" y="0"/>
                  </a:cubicBezTo>
                  <a:close/>
                </a:path>
              </a:pathLst>
            </a:custGeom>
            <a:solidFill>
              <a:srgbClr val="8C491A"/>
            </a:solidFill>
          </p:spPr>
        </p:sp>
        <p:sp>
          <p:nvSpPr>
            <p:cNvPr name="TextBox 11" id="11"/>
            <p:cNvSpPr txBox="true"/>
            <p:nvPr/>
          </p:nvSpPr>
          <p:spPr>
            <a:xfrm>
              <a:off x="0" y="-76200"/>
              <a:ext cx="41656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GETTING STARTED</a:t>
              </a:r>
            </a:p>
          </p:txBody>
        </p:sp>
      </p:grpSp>
      <p:sp>
        <p:nvSpPr>
          <p:cNvPr name="TextBox 12" id="12"/>
          <p:cNvSpPr txBox="true"/>
          <p:nvPr/>
        </p:nvSpPr>
        <p:spPr>
          <a:xfrm rot="0">
            <a:off x="4306443" y="630555"/>
            <a:ext cx="1219200" cy="485775"/>
          </a:xfrm>
          <a:prstGeom prst="rect">
            <a:avLst/>
          </a:prstGeom>
        </p:spPr>
        <p:txBody>
          <a:bodyPr anchor="t" rtlCol="false" tIns="0" lIns="0" bIns="0" rIns="0">
            <a:spAutoFit/>
          </a:bodyPr>
          <a:lstStyle/>
          <a:p>
            <a:pPr algn="l">
              <a:lnSpc>
                <a:spcPts val="3255"/>
              </a:lnSpc>
            </a:pPr>
            <a:r>
              <a:rPr lang="en-US" b="true" sz="2100">
                <a:solidFill>
                  <a:srgbClr val="3D472B"/>
                </a:solidFill>
                <a:latin typeface="Arimo Bold"/>
                <a:ea typeface="Arimo Bold"/>
                <a:cs typeface="Arimo Bold"/>
                <a:sym typeface="Arimo Bold"/>
              </a:rPr>
              <a:t>Chapter 6</a:t>
            </a:r>
          </a:p>
        </p:txBody>
      </p:sp>
      <p:sp>
        <p:nvSpPr>
          <p:cNvPr name="TextBox 13" id="13"/>
          <p:cNvSpPr txBox="true"/>
          <p:nvPr/>
        </p:nvSpPr>
        <p:spPr>
          <a:xfrm rot="0">
            <a:off x="990600" y="1509808"/>
            <a:ext cx="16306800" cy="504825"/>
          </a:xfrm>
          <a:prstGeom prst="rect">
            <a:avLst/>
          </a:prstGeom>
        </p:spPr>
        <p:txBody>
          <a:bodyPr anchor="t" rtlCol="false" tIns="0" lIns="0" bIns="0" rIns="0">
            <a:spAutoFit/>
          </a:bodyPr>
          <a:lstStyle/>
          <a:p>
            <a:pPr algn="l">
              <a:lnSpc>
                <a:spcPts val="4368"/>
              </a:lnSpc>
            </a:pPr>
            <a:r>
              <a:rPr lang="en-US" b="true" sz="4200" spc="-84">
                <a:solidFill>
                  <a:srgbClr val="201E1D"/>
                </a:solidFill>
                <a:latin typeface="Arimo Bold"/>
                <a:ea typeface="Arimo Bold"/>
                <a:cs typeface="Arimo Bold"/>
                <a:sym typeface="Arimo Bold"/>
              </a:rPr>
              <a:t>The same puzzle with algebra</a:t>
            </a:r>
          </a:p>
        </p:txBody>
      </p:sp>
      <p:grpSp>
        <p:nvGrpSpPr>
          <p:cNvPr name="Group 14" id="14"/>
          <p:cNvGrpSpPr/>
          <p:nvPr/>
        </p:nvGrpSpPr>
        <p:grpSpPr>
          <a:xfrm rot="0">
            <a:off x="990600" y="2265140"/>
            <a:ext cx="8020050" cy="5086350"/>
            <a:chOff x="0" y="0"/>
            <a:chExt cx="10693400" cy="6781800"/>
          </a:xfrm>
        </p:grpSpPr>
        <p:sp>
          <p:nvSpPr>
            <p:cNvPr name="Freeform 15" id="15"/>
            <p:cNvSpPr/>
            <p:nvPr/>
          </p:nvSpPr>
          <p:spPr>
            <a:xfrm flipH="false" flipV="false" rot="0">
              <a:off x="0" y="0"/>
              <a:ext cx="10693400" cy="6781800"/>
            </a:xfrm>
            <a:custGeom>
              <a:avLst/>
              <a:gdLst/>
              <a:ahLst/>
              <a:cxnLst/>
              <a:rect r="r" b="b" t="t" l="l"/>
              <a:pathLst>
                <a:path h="6781800" w="10693400">
                  <a:moveTo>
                    <a:pt x="711200" y="0"/>
                  </a:moveTo>
                  <a:lnTo>
                    <a:pt x="9982200" y="0"/>
                  </a:lnTo>
                  <a:cubicBezTo>
                    <a:pt x="10375011" y="0"/>
                    <a:pt x="10693400" y="318389"/>
                    <a:pt x="10693400" y="711200"/>
                  </a:cubicBezTo>
                  <a:lnTo>
                    <a:pt x="10693400" y="6070600"/>
                  </a:lnTo>
                  <a:cubicBezTo>
                    <a:pt x="10693400" y="6463411"/>
                    <a:pt x="10375011" y="6781800"/>
                    <a:pt x="9982200" y="6781800"/>
                  </a:cubicBezTo>
                  <a:lnTo>
                    <a:pt x="711200" y="6781800"/>
                  </a:lnTo>
                  <a:cubicBezTo>
                    <a:pt x="318389" y="6781800"/>
                    <a:pt x="0" y="6463411"/>
                    <a:pt x="0" y="6070600"/>
                  </a:cubicBezTo>
                  <a:lnTo>
                    <a:pt x="0" y="711200"/>
                  </a:lnTo>
                  <a:cubicBezTo>
                    <a:pt x="0" y="318389"/>
                    <a:pt x="318389" y="0"/>
                    <a:pt x="711200" y="0"/>
                  </a:cubicBezTo>
                  <a:close/>
                </a:path>
              </a:pathLst>
            </a:custGeom>
            <a:solidFill>
              <a:srgbClr val="EBDDC5"/>
            </a:solidFill>
          </p:spPr>
        </p:sp>
      </p:grpSp>
      <p:grpSp>
        <p:nvGrpSpPr>
          <p:cNvPr name="Group 16" id="16"/>
          <p:cNvGrpSpPr/>
          <p:nvPr/>
        </p:nvGrpSpPr>
        <p:grpSpPr>
          <a:xfrm rot="0">
            <a:off x="9277350" y="2265140"/>
            <a:ext cx="8020050" cy="5086350"/>
            <a:chOff x="0" y="0"/>
            <a:chExt cx="10693400" cy="6781800"/>
          </a:xfrm>
        </p:grpSpPr>
        <p:sp>
          <p:nvSpPr>
            <p:cNvPr name="Freeform 17" id="17"/>
            <p:cNvSpPr/>
            <p:nvPr/>
          </p:nvSpPr>
          <p:spPr>
            <a:xfrm flipH="false" flipV="false" rot="0">
              <a:off x="0" y="0"/>
              <a:ext cx="10693400" cy="6781800"/>
            </a:xfrm>
            <a:custGeom>
              <a:avLst/>
              <a:gdLst/>
              <a:ahLst/>
              <a:cxnLst/>
              <a:rect r="r" b="b" t="t" l="l"/>
              <a:pathLst>
                <a:path h="6781800" w="10693400">
                  <a:moveTo>
                    <a:pt x="711200" y="0"/>
                  </a:moveTo>
                  <a:lnTo>
                    <a:pt x="9982200" y="0"/>
                  </a:lnTo>
                  <a:cubicBezTo>
                    <a:pt x="10375011" y="0"/>
                    <a:pt x="10693400" y="318389"/>
                    <a:pt x="10693400" y="711200"/>
                  </a:cubicBezTo>
                  <a:lnTo>
                    <a:pt x="10693400" y="6070600"/>
                  </a:lnTo>
                  <a:cubicBezTo>
                    <a:pt x="10693400" y="6463411"/>
                    <a:pt x="10375011" y="6781800"/>
                    <a:pt x="9982200" y="6781800"/>
                  </a:cubicBezTo>
                  <a:lnTo>
                    <a:pt x="711200" y="6781800"/>
                  </a:lnTo>
                  <a:cubicBezTo>
                    <a:pt x="318389" y="6781800"/>
                    <a:pt x="0" y="6463411"/>
                    <a:pt x="0" y="6070600"/>
                  </a:cubicBezTo>
                  <a:lnTo>
                    <a:pt x="0" y="711200"/>
                  </a:lnTo>
                  <a:cubicBezTo>
                    <a:pt x="0" y="318389"/>
                    <a:pt x="318389" y="0"/>
                    <a:pt x="711200" y="0"/>
                  </a:cubicBezTo>
                  <a:close/>
                </a:path>
              </a:pathLst>
            </a:custGeom>
            <a:solidFill>
              <a:srgbClr val="EBDDC5"/>
            </a:solidFill>
          </p:spPr>
        </p:sp>
      </p:grpSp>
      <p:grpSp>
        <p:nvGrpSpPr>
          <p:cNvPr name="Group 18" id="18"/>
          <p:cNvGrpSpPr/>
          <p:nvPr/>
        </p:nvGrpSpPr>
        <p:grpSpPr>
          <a:xfrm rot="0">
            <a:off x="1165765" y="7820406"/>
            <a:ext cx="475488" cy="475488"/>
            <a:chOff x="0" y="0"/>
            <a:chExt cx="633984" cy="633984"/>
          </a:xfrm>
        </p:grpSpPr>
        <p:sp>
          <p:nvSpPr>
            <p:cNvPr name="Freeform 19" id="19"/>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C67139"/>
            </a:solidFill>
          </p:spPr>
        </p:sp>
      </p:grpSp>
      <p:sp>
        <p:nvSpPr>
          <p:cNvPr name="TextBox 20" id="20"/>
          <p:cNvSpPr txBox="true"/>
          <p:nvPr/>
        </p:nvSpPr>
        <p:spPr>
          <a:xfrm rot="0">
            <a:off x="1165765" y="7791831"/>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3</a:t>
            </a:r>
          </a:p>
        </p:txBody>
      </p:sp>
      <p:sp>
        <p:nvSpPr>
          <p:cNvPr name="TextBox 21" id="21"/>
          <p:cNvSpPr txBox="true"/>
          <p:nvPr/>
        </p:nvSpPr>
        <p:spPr>
          <a:xfrm rot="0">
            <a:off x="1803654" y="7846219"/>
            <a:ext cx="7772400" cy="385572"/>
          </a:xfrm>
          <a:prstGeom prst="rect">
            <a:avLst/>
          </a:prstGeom>
        </p:spPr>
        <p:txBody>
          <a:bodyPr anchor="t" rtlCol="false" tIns="0" lIns="0" bIns="0" rIns="0">
            <a:spAutoFit/>
          </a:bodyPr>
          <a:lstStyle/>
          <a:p>
            <a:pPr algn="l">
              <a:lnSpc>
                <a:spcPts val="2756"/>
              </a:lnSpc>
            </a:pPr>
            <a:r>
              <a:rPr lang="en-US" b="true" sz="2088">
                <a:solidFill>
                  <a:srgbClr val="201E1D"/>
                </a:solidFill>
                <a:latin typeface="Arimo Bold"/>
                <a:ea typeface="Arimo Bold"/>
                <a:cs typeface="Arimo Bold"/>
                <a:sym typeface="Arimo Bold"/>
              </a:rPr>
              <a:t>T3: (a + b + c) − (a + c) = b · T4: (a − 2d) − (3a + c) = −2a − c − 2d</a:t>
            </a:r>
          </a:p>
        </p:txBody>
      </p:sp>
      <p:grpSp>
        <p:nvGrpSpPr>
          <p:cNvPr name="Group 22" id="22"/>
          <p:cNvGrpSpPr/>
          <p:nvPr/>
        </p:nvGrpSpPr>
        <p:grpSpPr>
          <a:xfrm rot="0">
            <a:off x="1165765" y="8430006"/>
            <a:ext cx="475488" cy="475488"/>
            <a:chOff x="0" y="0"/>
            <a:chExt cx="633984" cy="633984"/>
          </a:xfrm>
        </p:grpSpPr>
        <p:sp>
          <p:nvSpPr>
            <p:cNvPr name="Freeform 23" id="23"/>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7A8A5E"/>
            </a:solidFill>
          </p:spPr>
        </p:sp>
      </p:grpSp>
      <p:sp>
        <p:nvSpPr>
          <p:cNvPr name="TextBox 24" id="24"/>
          <p:cNvSpPr txBox="true"/>
          <p:nvPr/>
        </p:nvSpPr>
        <p:spPr>
          <a:xfrm rot="0">
            <a:off x="1165765" y="8401431"/>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4</a:t>
            </a:r>
          </a:p>
        </p:txBody>
      </p:sp>
      <p:sp>
        <p:nvSpPr>
          <p:cNvPr name="TextBox 25" id="25"/>
          <p:cNvSpPr txBox="true"/>
          <p:nvPr/>
        </p:nvSpPr>
        <p:spPr>
          <a:xfrm rot="0">
            <a:off x="1804226" y="8455819"/>
            <a:ext cx="4453128" cy="385572"/>
          </a:xfrm>
          <a:prstGeom prst="rect">
            <a:avLst/>
          </a:prstGeom>
        </p:spPr>
        <p:txBody>
          <a:bodyPr anchor="t" rtlCol="false" tIns="0" lIns="0" bIns="0" rIns="0">
            <a:spAutoFit/>
          </a:bodyPr>
          <a:lstStyle/>
          <a:p>
            <a:pPr algn="l">
              <a:lnSpc>
                <a:spcPts val="2756"/>
              </a:lnSpc>
            </a:pPr>
            <a:r>
              <a:rPr lang="en-US" b="true" sz="2088">
                <a:solidFill>
                  <a:srgbClr val="201E1D"/>
                </a:solidFill>
                <a:latin typeface="Arimo Bold"/>
                <a:ea typeface="Arimo Bold"/>
                <a:cs typeface="Arimo Bold"/>
                <a:sym typeface="Arimo Bold"/>
              </a:rPr>
              <a:t>Add pairs of circles to fill the squares</a:t>
            </a:r>
          </a:p>
        </p:txBody>
      </p:sp>
      <p:grpSp>
        <p:nvGrpSpPr>
          <p:cNvPr name="Group 26" id="26"/>
          <p:cNvGrpSpPr/>
          <p:nvPr/>
        </p:nvGrpSpPr>
        <p:grpSpPr>
          <a:xfrm rot="0">
            <a:off x="992695" y="9010650"/>
            <a:ext cx="2333625" cy="666750"/>
            <a:chOff x="0" y="0"/>
            <a:chExt cx="3111500" cy="889000"/>
          </a:xfrm>
        </p:grpSpPr>
        <p:sp>
          <p:nvSpPr>
            <p:cNvPr name="Freeform 27" id="27"/>
            <p:cNvSpPr/>
            <p:nvPr/>
          </p:nvSpPr>
          <p:spPr>
            <a:xfrm flipH="false" flipV="false" rot="0">
              <a:off x="0" y="0"/>
              <a:ext cx="3111500" cy="889000"/>
            </a:xfrm>
            <a:custGeom>
              <a:avLst/>
              <a:gdLst/>
              <a:ahLst/>
              <a:cxnLst/>
              <a:rect r="r" b="b" t="t" l="l"/>
              <a:pathLst>
                <a:path h="889000" w="3111500">
                  <a:moveTo>
                    <a:pt x="444500" y="0"/>
                  </a:moveTo>
                  <a:lnTo>
                    <a:pt x="2667000" y="0"/>
                  </a:lnTo>
                  <a:cubicBezTo>
                    <a:pt x="2912491" y="0"/>
                    <a:pt x="3111500" y="199009"/>
                    <a:pt x="3111500" y="444500"/>
                  </a:cubicBezTo>
                  <a:cubicBezTo>
                    <a:pt x="3111500" y="689991"/>
                    <a:pt x="2912491" y="889000"/>
                    <a:pt x="26670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sp>
          <p:nvSpPr>
            <p:cNvPr name="TextBox 28" id="28"/>
            <p:cNvSpPr txBox="true"/>
            <p:nvPr/>
          </p:nvSpPr>
          <p:spPr>
            <a:xfrm>
              <a:off x="0" y="-19050"/>
              <a:ext cx="3111500" cy="908050"/>
            </a:xfrm>
            <a:prstGeom prst="rect">
              <a:avLst/>
            </a:prstGeom>
          </p:spPr>
          <p:txBody>
            <a:bodyPr anchor="t" rtlCol="false" tIns="203200" lIns="203200" bIns="203200" rIns="203200"/>
            <a:lstStyle/>
            <a:p>
              <a:pPr algn="ctr">
                <a:lnSpc>
                  <a:spcPts val="2700"/>
                </a:lnSpc>
              </a:pPr>
              <a:r>
                <a:rPr lang="en-US" b="true" sz="2250" spc="-44">
                  <a:solidFill>
                    <a:srgbClr val="F5EAD8"/>
                  </a:solidFill>
                  <a:latin typeface="Arimo Bold"/>
                  <a:ea typeface="Arimo Bold"/>
                  <a:cs typeface="Arimo Bold"/>
                  <a:sym typeface="Arimo Bold"/>
                </a:rPr>
                <a:t>Next step →</a:t>
              </a:r>
            </a:p>
          </p:txBody>
        </p:sp>
      </p:grpSp>
      <p:sp>
        <p:nvSpPr>
          <p:cNvPr name="TextBox 29" id="29"/>
          <p:cNvSpPr txBox="true"/>
          <p:nvPr/>
        </p:nvSpPr>
        <p:spPr>
          <a:xfrm rot="0">
            <a:off x="3481959" y="8991600"/>
            <a:ext cx="2143125" cy="685800"/>
          </a:xfrm>
          <a:prstGeom prst="rect">
            <a:avLst/>
          </a:prstGeom>
        </p:spPr>
        <p:txBody>
          <a:bodyPr anchor="t" rtlCol="false" tIns="0" lIns="0" bIns="0" rIns="0">
            <a:spAutoFit/>
          </a:bodyPr>
          <a:lstStyle/>
          <a:p>
            <a:pPr algn="ctr">
              <a:lnSpc>
                <a:spcPts val="2700"/>
              </a:lnSpc>
            </a:pPr>
            <a:r>
              <a:rPr lang="en-US" b="true" sz="2250" spc="-44">
                <a:solidFill>
                  <a:srgbClr val="201E1D"/>
                </a:solidFill>
                <a:latin typeface="Arimo Bold"/>
                <a:ea typeface="Arimo Bold"/>
                <a:cs typeface="Arimo Bold"/>
                <a:sym typeface="Arimo Bold"/>
              </a:rPr>
              <a:t>Start again</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E1D0"/>
          </a:solidFill>
        </p:spPr>
      </p:sp>
      <p:grpSp>
        <p:nvGrpSpPr>
          <p:cNvPr name="Group 3" id="3"/>
          <p:cNvGrpSpPr/>
          <p:nvPr/>
        </p:nvGrpSpPr>
        <p:grpSpPr>
          <a:xfrm rot="0">
            <a:off x="12001500" y="-2095500"/>
            <a:ext cx="8191500" cy="8191500"/>
            <a:chOff x="0" y="0"/>
            <a:chExt cx="10922000" cy="10922000"/>
          </a:xfrm>
        </p:grpSpPr>
        <p:sp>
          <p:nvSpPr>
            <p:cNvPr name="Freeform 4" id="4"/>
            <p:cNvSpPr/>
            <p:nvPr/>
          </p:nvSpPr>
          <p:spPr>
            <a:xfrm flipH="false" flipV="false" rot="0">
              <a:off x="0" y="0"/>
              <a:ext cx="10922000" cy="10922000"/>
            </a:xfrm>
            <a:custGeom>
              <a:avLst/>
              <a:gdLst/>
              <a:ahLst/>
              <a:cxnLst/>
              <a:rect r="r" b="b" t="t" l="l"/>
              <a:pathLst>
                <a:path h="10922000" w="10922000">
                  <a:moveTo>
                    <a:pt x="5461000" y="0"/>
                  </a:moveTo>
                  <a:cubicBezTo>
                    <a:pt x="8476996" y="0"/>
                    <a:pt x="10922000" y="2445004"/>
                    <a:pt x="10922000" y="5461000"/>
                  </a:cubicBezTo>
                  <a:cubicBezTo>
                    <a:pt x="10922000" y="8476996"/>
                    <a:pt x="8476996" y="10922000"/>
                    <a:pt x="5461000" y="10922000"/>
                  </a:cubicBezTo>
                  <a:cubicBezTo>
                    <a:pt x="2445004" y="10922000"/>
                    <a:pt x="0" y="8476996"/>
                    <a:pt x="0" y="5461000"/>
                  </a:cubicBezTo>
                  <a:cubicBezTo>
                    <a:pt x="0" y="2445004"/>
                    <a:pt x="2445004" y="0"/>
                    <a:pt x="5461000" y="0"/>
                  </a:cubicBezTo>
                  <a:close/>
                </a:path>
              </a:pathLst>
            </a:custGeom>
            <a:solidFill>
              <a:srgbClr val="FFC6A5"/>
            </a:solidFill>
          </p:spPr>
        </p:sp>
      </p:grpSp>
      <p:grpSp>
        <p:nvGrpSpPr>
          <p:cNvPr name="Group 5" id="5"/>
          <p:cNvGrpSpPr/>
          <p:nvPr/>
        </p:nvGrpSpPr>
        <p:grpSpPr>
          <a:xfrm rot="0">
            <a:off x="10096500" y="7620000"/>
            <a:ext cx="5334000" cy="5334000"/>
            <a:chOff x="0" y="0"/>
            <a:chExt cx="7112000" cy="7112000"/>
          </a:xfrm>
        </p:grpSpPr>
        <p:sp>
          <p:nvSpPr>
            <p:cNvPr name="Freeform 6" id="6"/>
            <p:cNvSpPr/>
            <p:nvPr/>
          </p:nvSpPr>
          <p:spPr>
            <a:xfrm flipH="false" flipV="false" rot="0">
              <a:off x="0" y="0"/>
              <a:ext cx="7112000" cy="7112000"/>
            </a:xfrm>
            <a:custGeom>
              <a:avLst/>
              <a:gdLst/>
              <a:ahLst/>
              <a:cxnLst/>
              <a:rect r="r" b="b" t="t" l="l"/>
              <a:pathLst>
                <a:path h="7112000" w="7112000">
                  <a:moveTo>
                    <a:pt x="3556000" y="0"/>
                  </a:moveTo>
                  <a:cubicBezTo>
                    <a:pt x="5519928" y="0"/>
                    <a:pt x="7112000" y="1592072"/>
                    <a:pt x="7112000" y="3556000"/>
                  </a:cubicBezTo>
                  <a:cubicBezTo>
                    <a:pt x="7112000" y="5519928"/>
                    <a:pt x="5519928" y="7112000"/>
                    <a:pt x="3556000" y="7112000"/>
                  </a:cubicBezTo>
                  <a:cubicBezTo>
                    <a:pt x="1592072" y="7112000"/>
                    <a:pt x="0" y="5519928"/>
                    <a:pt x="0" y="3556000"/>
                  </a:cubicBezTo>
                  <a:cubicBezTo>
                    <a:pt x="0" y="1592072"/>
                    <a:pt x="1592072" y="0"/>
                    <a:pt x="3556000" y="0"/>
                  </a:cubicBezTo>
                  <a:close/>
                </a:path>
              </a:pathLst>
            </a:custGeom>
            <a:solidFill>
              <a:srgbClr val="CCDBB2"/>
            </a:solidFill>
          </p:spPr>
        </p:sp>
      </p:grpSp>
      <p:grpSp>
        <p:nvGrpSpPr>
          <p:cNvPr name="Group 7" id="7"/>
          <p:cNvGrpSpPr/>
          <p:nvPr/>
        </p:nvGrpSpPr>
        <p:grpSpPr>
          <a:xfrm rot="0">
            <a:off x="15144750" y="3143250"/>
            <a:ext cx="1428750" cy="1428750"/>
            <a:chOff x="0" y="0"/>
            <a:chExt cx="1905000" cy="1905000"/>
          </a:xfrm>
        </p:grpSpPr>
        <p:sp>
          <p:nvSpPr>
            <p:cNvPr name="Freeform 8" id="8"/>
            <p:cNvSpPr/>
            <p:nvPr/>
          </p:nvSpPr>
          <p:spPr>
            <a:xfrm flipH="false" flipV="false" rot="0">
              <a:off x="0" y="0"/>
              <a:ext cx="1905000" cy="1905000"/>
            </a:xfrm>
            <a:custGeom>
              <a:avLst/>
              <a:gdLst/>
              <a:ahLst/>
              <a:cxnLst/>
              <a:rect r="r" b="b" t="t" l="l"/>
              <a:pathLst>
                <a:path h="1905000" w="1905000">
                  <a:moveTo>
                    <a:pt x="952500" y="0"/>
                  </a:moveTo>
                  <a:cubicBezTo>
                    <a:pt x="1478534" y="0"/>
                    <a:pt x="1905000" y="426466"/>
                    <a:pt x="1905000" y="952500"/>
                  </a:cubicBezTo>
                  <a:cubicBezTo>
                    <a:pt x="1905000" y="1478534"/>
                    <a:pt x="1478534" y="1905000"/>
                    <a:pt x="952500" y="1905000"/>
                  </a:cubicBezTo>
                  <a:cubicBezTo>
                    <a:pt x="426466" y="1905000"/>
                    <a:pt x="0" y="1478534"/>
                    <a:pt x="0" y="952500"/>
                  </a:cubicBezTo>
                  <a:cubicBezTo>
                    <a:pt x="0" y="426466"/>
                    <a:pt x="426466" y="0"/>
                    <a:pt x="952500" y="0"/>
                  </a:cubicBezTo>
                  <a:close/>
                </a:path>
              </a:pathLst>
            </a:custGeom>
            <a:solidFill>
              <a:srgbClr val="8FA073"/>
            </a:solidFill>
          </p:spPr>
        </p:sp>
      </p:grpSp>
      <p:sp>
        <p:nvSpPr>
          <p:cNvPr name="TextBox 9" id="9"/>
          <p:cNvSpPr txBox="true"/>
          <p:nvPr/>
        </p:nvSpPr>
        <p:spPr>
          <a:xfrm rot="0">
            <a:off x="14125765" y="1438275"/>
            <a:ext cx="3019425" cy="2181225"/>
          </a:xfrm>
          <a:prstGeom prst="rect">
            <a:avLst/>
          </a:prstGeom>
        </p:spPr>
        <p:txBody>
          <a:bodyPr anchor="t" rtlCol="false" tIns="0" lIns="0" bIns="0" rIns="0">
            <a:spAutoFit/>
          </a:bodyPr>
          <a:lstStyle/>
          <a:p>
            <a:pPr algn="l">
              <a:lnSpc>
                <a:spcPts val="19500"/>
              </a:lnSpc>
            </a:pPr>
            <a:r>
              <a:rPr lang="en-US" b="true" sz="19500" spc="-390">
                <a:solidFill>
                  <a:srgbClr val="8C491A"/>
                </a:solidFill>
                <a:latin typeface="Arimo Bold"/>
                <a:ea typeface="Arimo Bold"/>
                <a:cs typeface="Arimo Bold"/>
                <a:sym typeface="Arimo Bold"/>
              </a:rPr>
              <a:t>6.1</a:t>
            </a:r>
          </a:p>
        </p:txBody>
      </p:sp>
      <p:sp>
        <p:nvSpPr>
          <p:cNvPr name="TextBox 10" id="10"/>
          <p:cNvSpPr txBox="true"/>
          <p:nvPr/>
        </p:nvSpPr>
        <p:spPr>
          <a:xfrm rot="0">
            <a:off x="1143000" y="2747677"/>
            <a:ext cx="16002000" cy="600075"/>
          </a:xfrm>
          <a:prstGeom prst="rect">
            <a:avLst/>
          </a:prstGeom>
        </p:spPr>
        <p:txBody>
          <a:bodyPr anchor="t" rtlCol="false" tIns="0" lIns="0" bIns="0" rIns="0">
            <a:spAutoFit/>
          </a:bodyPr>
          <a:lstStyle/>
          <a:p>
            <a:pPr algn="l">
              <a:lnSpc>
                <a:spcPts val="3952"/>
              </a:lnSpc>
            </a:pPr>
            <a:r>
              <a:rPr lang="en-US" b="true" sz="2550" spc="254">
                <a:solidFill>
                  <a:srgbClr val="643312"/>
                </a:solidFill>
                <a:latin typeface="Arimo Bold"/>
                <a:ea typeface="Arimo Bold"/>
                <a:cs typeface="Arimo Bold"/>
                <a:sym typeface="Arimo Bold"/>
              </a:rPr>
              <a:t>LESSON 6.1</a:t>
            </a:r>
          </a:p>
        </p:txBody>
      </p:sp>
      <p:sp>
        <p:nvSpPr>
          <p:cNvPr name="TextBox 11" id="11"/>
          <p:cNvSpPr txBox="true"/>
          <p:nvPr/>
        </p:nvSpPr>
        <p:spPr>
          <a:xfrm rot="0">
            <a:off x="1143000" y="3803428"/>
            <a:ext cx="10953750" cy="1009650"/>
          </a:xfrm>
          <a:prstGeom prst="rect">
            <a:avLst/>
          </a:prstGeom>
        </p:spPr>
        <p:txBody>
          <a:bodyPr anchor="t" rtlCol="false" tIns="0" lIns="0" bIns="0" rIns="0">
            <a:spAutoFit/>
          </a:bodyPr>
          <a:lstStyle/>
          <a:p>
            <a:pPr algn="l">
              <a:lnSpc>
                <a:spcPts val="9000"/>
              </a:lnSpc>
            </a:pPr>
            <a:r>
              <a:rPr lang="en-US" b="true" sz="9000" spc="-179">
                <a:solidFill>
                  <a:srgbClr val="201E1D"/>
                </a:solidFill>
                <a:latin typeface="Arimo Bold"/>
                <a:ea typeface="Arimo Bold"/>
                <a:cs typeface="Arimo Bold"/>
                <a:sym typeface="Arimo Bold"/>
              </a:rPr>
              <a:t>Solving equations</a:t>
            </a:r>
          </a:p>
        </p:txBody>
      </p:sp>
      <p:sp>
        <p:nvSpPr>
          <p:cNvPr name="TextBox 12" id="12"/>
          <p:cNvSpPr txBox="true"/>
          <p:nvPr/>
        </p:nvSpPr>
        <p:spPr>
          <a:xfrm rot="0">
            <a:off x="1143000" y="5039773"/>
            <a:ext cx="10477500" cy="571500"/>
          </a:xfrm>
          <a:prstGeom prst="rect">
            <a:avLst/>
          </a:prstGeom>
        </p:spPr>
        <p:txBody>
          <a:bodyPr anchor="t" rtlCol="false" tIns="0" lIns="0" bIns="0" rIns="0">
            <a:spAutoFit/>
          </a:bodyPr>
          <a:lstStyle/>
          <a:p>
            <a:pPr algn="l">
              <a:lnSpc>
                <a:spcPts val="3720"/>
              </a:lnSpc>
            </a:pPr>
            <a:r>
              <a:rPr lang="en-US" b="true" sz="2400">
                <a:solidFill>
                  <a:srgbClr val="643312"/>
                </a:solidFill>
                <a:latin typeface="Arimo Bold"/>
                <a:ea typeface="Arimo Bold"/>
                <a:cs typeface="Arimo Bold"/>
                <a:sym typeface="Arimo Bold"/>
              </a:rPr>
              <a:t>In this lesson you will</a:t>
            </a:r>
          </a:p>
        </p:txBody>
      </p:sp>
      <p:grpSp>
        <p:nvGrpSpPr>
          <p:cNvPr name="Group 13" id="13"/>
          <p:cNvGrpSpPr/>
          <p:nvPr/>
        </p:nvGrpSpPr>
        <p:grpSpPr>
          <a:xfrm rot="0">
            <a:off x="1143000" y="5876734"/>
            <a:ext cx="209550" cy="209550"/>
            <a:chOff x="0" y="0"/>
            <a:chExt cx="279400" cy="279400"/>
          </a:xfrm>
        </p:grpSpPr>
        <p:sp>
          <p:nvSpPr>
            <p:cNvPr name="Freeform 14" id="14"/>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C67139"/>
            </a:solidFill>
          </p:spPr>
        </p:sp>
      </p:grpSp>
      <p:sp>
        <p:nvSpPr>
          <p:cNvPr name="TextBox 15" id="15"/>
          <p:cNvSpPr txBox="true"/>
          <p:nvPr/>
        </p:nvSpPr>
        <p:spPr>
          <a:xfrm rot="0">
            <a:off x="1522857" y="5695759"/>
            <a:ext cx="8886825" cy="523875"/>
          </a:xfrm>
          <a:prstGeom prst="rect">
            <a:avLst/>
          </a:prstGeom>
        </p:spPr>
        <p:txBody>
          <a:bodyPr anchor="t" rtlCol="false" tIns="0" lIns="0" bIns="0" rIns="0">
            <a:spAutoFit/>
          </a:bodyPr>
          <a:lstStyle/>
          <a:p>
            <a:pPr algn="l">
              <a:lnSpc>
                <a:spcPts val="3762"/>
              </a:lnSpc>
            </a:pPr>
            <a:r>
              <a:rPr lang="en-US" b="true" sz="2850">
                <a:solidFill>
                  <a:srgbClr val="201E1D"/>
                </a:solidFill>
                <a:latin typeface="Arimo Bold"/>
                <a:ea typeface="Arimo Bold"/>
                <a:cs typeface="Arimo Bold"/>
                <a:sym typeface="Arimo Bold"/>
              </a:rPr>
              <a:t>solve linear equations by doing the same to both sides</a:t>
            </a:r>
          </a:p>
        </p:txBody>
      </p:sp>
      <p:grpSp>
        <p:nvGrpSpPr>
          <p:cNvPr name="Group 16" id="16"/>
          <p:cNvGrpSpPr/>
          <p:nvPr/>
        </p:nvGrpSpPr>
        <p:grpSpPr>
          <a:xfrm rot="0">
            <a:off x="1143000" y="6487858"/>
            <a:ext cx="209550" cy="209550"/>
            <a:chOff x="0" y="0"/>
            <a:chExt cx="279400" cy="279400"/>
          </a:xfrm>
        </p:grpSpPr>
        <p:sp>
          <p:nvSpPr>
            <p:cNvPr name="Freeform 17" id="17"/>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7A8A5E"/>
            </a:solidFill>
          </p:spPr>
        </p:sp>
      </p:grpSp>
      <p:sp>
        <p:nvSpPr>
          <p:cNvPr name="TextBox 18" id="18"/>
          <p:cNvSpPr txBox="true"/>
          <p:nvPr/>
        </p:nvSpPr>
        <p:spPr>
          <a:xfrm rot="0">
            <a:off x="1525810" y="6306883"/>
            <a:ext cx="7143750" cy="523875"/>
          </a:xfrm>
          <a:prstGeom prst="rect">
            <a:avLst/>
          </a:prstGeom>
        </p:spPr>
        <p:txBody>
          <a:bodyPr anchor="t" rtlCol="false" tIns="0" lIns="0" bIns="0" rIns="0">
            <a:spAutoFit/>
          </a:bodyPr>
          <a:lstStyle/>
          <a:p>
            <a:pPr algn="l">
              <a:lnSpc>
                <a:spcPts val="3762"/>
              </a:lnSpc>
            </a:pPr>
            <a:r>
              <a:rPr lang="en-US" b="true" sz="2850">
                <a:solidFill>
                  <a:srgbClr val="201E1D"/>
                </a:solidFill>
                <a:latin typeface="Arimo Bold"/>
                <a:ea typeface="Arimo Bold"/>
                <a:cs typeface="Arimo Bold"/>
                <a:sym typeface="Arimo Bold"/>
              </a:rPr>
              <a:t>solve equations with brackets and fractions</a:t>
            </a:r>
          </a:p>
        </p:txBody>
      </p:sp>
      <p:grpSp>
        <p:nvGrpSpPr>
          <p:cNvPr name="Group 19" id="19"/>
          <p:cNvGrpSpPr/>
          <p:nvPr/>
        </p:nvGrpSpPr>
        <p:grpSpPr>
          <a:xfrm rot="0">
            <a:off x="1143000" y="7098982"/>
            <a:ext cx="209550" cy="209550"/>
            <a:chOff x="0" y="0"/>
            <a:chExt cx="279400" cy="279400"/>
          </a:xfrm>
        </p:grpSpPr>
        <p:sp>
          <p:nvSpPr>
            <p:cNvPr name="Freeform 20" id="20"/>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C67139"/>
            </a:solidFill>
          </p:spPr>
        </p:sp>
      </p:grpSp>
      <p:sp>
        <p:nvSpPr>
          <p:cNvPr name="TextBox 21" id="21"/>
          <p:cNvSpPr txBox="true"/>
          <p:nvPr/>
        </p:nvSpPr>
        <p:spPr>
          <a:xfrm rot="0">
            <a:off x="1523143" y="6918007"/>
            <a:ext cx="5705475" cy="523875"/>
          </a:xfrm>
          <a:prstGeom prst="rect">
            <a:avLst/>
          </a:prstGeom>
        </p:spPr>
        <p:txBody>
          <a:bodyPr anchor="t" rtlCol="false" tIns="0" lIns="0" bIns="0" rIns="0">
            <a:spAutoFit/>
          </a:bodyPr>
          <a:lstStyle/>
          <a:p>
            <a:pPr algn="l">
              <a:lnSpc>
                <a:spcPts val="3762"/>
              </a:lnSpc>
            </a:pPr>
            <a:r>
              <a:rPr lang="en-US" b="true" sz="2850">
                <a:solidFill>
                  <a:srgbClr val="201E1D"/>
                </a:solidFill>
                <a:latin typeface="Arimo Bold"/>
                <a:ea typeface="Arimo Bold"/>
                <a:cs typeface="Arimo Bold"/>
                <a:sym typeface="Arimo Bold"/>
              </a:rPr>
              <a:t>solve equations where x is a power</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FFE1D0"/>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CCDBB2"/>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FFC6A5"/>
            </a:solidFill>
          </p:spPr>
        </p:sp>
      </p:grpSp>
      <p:grpSp>
        <p:nvGrpSpPr>
          <p:cNvPr name="Group 9" id="9"/>
          <p:cNvGrpSpPr/>
          <p:nvPr/>
        </p:nvGrpSpPr>
        <p:grpSpPr>
          <a:xfrm rot="0">
            <a:off x="914590" y="611505"/>
            <a:ext cx="2743200" cy="600075"/>
            <a:chOff x="0" y="0"/>
            <a:chExt cx="3657600" cy="800100"/>
          </a:xfrm>
        </p:grpSpPr>
        <p:sp>
          <p:nvSpPr>
            <p:cNvPr name="Freeform 10" id="10"/>
            <p:cNvSpPr/>
            <p:nvPr/>
          </p:nvSpPr>
          <p:spPr>
            <a:xfrm flipH="false" flipV="false" rot="0">
              <a:off x="0" y="0"/>
              <a:ext cx="3657600" cy="800100"/>
            </a:xfrm>
            <a:custGeom>
              <a:avLst/>
              <a:gdLst/>
              <a:ahLst/>
              <a:cxnLst/>
              <a:rect r="r" b="b" t="t" l="l"/>
              <a:pathLst>
                <a:path h="800100" w="3657600">
                  <a:moveTo>
                    <a:pt x="400050" y="0"/>
                  </a:moveTo>
                  <a:lnTo>
                    <a:pt x="3257550" y="0"/>
                  </a:lnTo>
                  <a:cubicBezTo>
                    <a:pt x="3478530" y="0"/>
                    <a:pt x="3657600" y="179070"/>
                    <a:pt x="3657600" y="400050"/>
                  </a:cubicBezTo>
                  <a:cubicBezTo>
                    <a:pt x="3657600" y="621030"/>
                    <a:pt x="3478530" y="800100"/>
                    <a:pt x="3257550" y="800100"/>
                  </a:cubicBezTo>
                  <a:lnTo>
                    <a:pt x="400050" y="800100"/>
                  </a:lnTo>
                  <a:cubicBezTo>
                    <a:pt x="179070" y="800100"/>
                    <a:pt x="0" y="621030"/>
                    <a:pt x="0" y="400050"/>
                  </a:cubicBezTo>
                  <a:cubicBezTo>
                    <a:pt x="0" y="179070"/>
                    <a:pt x="179070" y="0"/>
                    <a:pt x="400050" y="0"/>
                  </a:cubicBezTo>
                  <a:close/>
                </a:path>
              </a:pathLst>
            </a:custGeom>
            <a:solidFill>
              <a:srgbClr val="8C491A"/>
            </a:solidFill>
          </p:spPr>
        </p:sp>
        <p:sp>
          <p:nvSpPr>
            <p:cNvPr name="TextBox 11" id="11"/>
            <p:cNvSpPr txBox="true"/>
            <p:nvPr/>
          </p:nvSpPr>
          <p:spPr>
            <a:xfrm>
              <a:off x="0" y="-76200"/>
              <a:ext cx="36576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INTRODUCTION</a:t>
              </a:r>
            </a:p>
          </p:txBody>
        </p:sp>
      </p:grpSp>
      <p:sp>
        <p:nvSpPr>
          <p:cNvPr name="TextBox 12" id="12"/>
          <p:cNvSpPr txBox="true"/>
          <p:nvPr/>
        </p:nvSpPr>
        <p:spPr>
          <a:xfrm rot="0">
            <a:off x="3850100" y="630555"/>
            <a:ext cx="1743075" cy="485775"/>
          </a:xfrm>
          <a:prstGeom prst="rect">
            <a:avLst/>
          </a:prstGeom>
        </p:spPr>
        <p:txBody>
          <a:bodyPr anchor="t" rtlCol="false" tIns="0" lIns="0" bIns="0" rIns="0">
            <a:spAutoFit/>
          </a:bodyPr>
          <a:lstStyle/>
          <a:p>
            <a:pPr algn="l">
              <a:lnSpc>
                <a:spcPts val="3255"/>
              </a:lnSpc>
            </a:pPr>
            <a:r>
              <a:rPr lang="en-US" b="true" sz="2100">
                <a:solidFill>
                  <a:srgbClr val="3D472B"/>
                </a:solidFill>
                <a:latin typeface="Arimo Bold"/>
                <a:ea typeface="Arimo Bold"/>
                <a:cs typeface="Arimo Bold"/>
                <a:sym typeface="Arimo Bold"/>
              </a:rPr>
              <a:t>6.1 · Equations</a:t>
            </a:r>
          </a:p>
        </p:txBody>
      </p:sp>
      <p:sp>
        <p:nvSpPr>
          <p:cNvPr name="TextBox 13" id="13"/>
          <p:cNvSpPr txBox="true"/>
          <p:nvPr/>
        </p:nvSpPr>
        <p:spPr>
          <a:xfrm rot="0">
            <a:off x="914400" y="1472089"/>
            <a:ext cx="6438900" cy="523875"/>
          </a:xfrm>
          <a:prstGeom prst="rect">
            <a:avLst/>
          </a:prstGeom>
        </p:spPr>
        <p:txBody>
          <a:bodyPr anchor="t" rtlCol="false" tIns="0" lIns="0" bIns="0" rIns="0">
            <a:spAutoFit/>
          </a:bodyPr>
          <a:lstStyle/>
          <a:p>
            <a:pPr algn="l">
              <a:lnSpc>
                <a:spcPts val="4524"/>
              </a:lnSpc>
            </a:pPr>
            <a:r>
              <a:rPr lang="en-US" b="true" sz="4350" spc="-86">
                <a:solidFill>
                  <a:srgbClr val="201E1D"/>
                </a:solidFill>
                <a:latin typeface="Arimo Bold"/>
                <a:ea typeface="Arimo Bold"/>
                <a:cs typeface="Arimo Bold"/>
                <a:sym typeface="Arimo Bold"/>
              </a:rPr>
              <a:t>Think of a number…</a:t>
            </a:r>
          </a:p>
        </p:txBody>
      </p:sp>
      <p:sp>
        <p:nvSpPr>
          <p:cNvPr name="TextBox 14" id="14"/>
          <p:cNvSpPr txBox="true"/>
          <p:nvPr/>
        </p:nvSpPr>
        <p:spPr>
          <a:xfrm rot="0">
            <a:off x="914400" y="2151602"/>
            <a:ext cx="6438900" cy="933450"/>
          </a:xfrm>
          <a:prstGeom prst="rect">
            <a:avLst/>
          </a:prstGeom>
        </p:spPr>
        <p:txBody>
          <a:bodyPr anchor="t" rtlCol="false" tIns="0" lIns="0" bIns="0" rIns="0">
            <a:spAutoFit/>
          </a:bodyPr>
          <a:lstStyle/>
          <a:p>
            <a:pPr algn="l">
              <a:lnSpc>
                <a:spcPts val="3465"/>
              </a:lnSpc>
            </a:pPr>
            <a:r>
              <a:rPr lang="en-US" b="true" sz="2475">
                <a:solidFill>
                  <a:srgbClr val="201E1D"/>
                </a:solidFill>
                <a:latin typeface="Arimo Bold"/>
                <a:ea typeface="Arimo Bold"/>
                <a:cs typeface="Arimo Bold"/>
                <a:sym typeface="Arimo Bold"/>
              </a:rPr>
              <a:t>I think of a number, multiply it by 3 and add 1. The answer is 13. What is my number?</a:t>
            </a:r>
          </a:p>
        </p:txBody>
      </p:sp>
      <p:grpSp>
        <p:nvGrpSpPr>
          <p:cNvPr name="Group 15" id="15"/>
          <p:cNvGrpSpPr/>
          <p:nvPr/>
        </p:nvGrpSpPr>
        <p:grpSpPr>
          <a:xfrm rot="0">
            <a:off x="914400" y="5829110"/>
            <a:ext cx="6438900" cy="2343150"/>
            <a:chOff x="0" y="0"/>
            <a:chExt cx="8585200" cy="3124200"/>
          </a:xfrm>
        </p:grpSpPr>
        <p:sp>
          <p:nvSpPr>
            <p:cNvPr name="Freeform 16" id="16"/>
            <p:cNvSpPr/>
            <p:nvPr/>
          </p:nvSpPr>
          <p:spPr>
            <a:xfrm flipH="false" flipV="false" rot="0">
              <a:off x="0" y="0"/>
              <a:ext cx="8585200" cy="3124200"/>
            </a:xfrm>
            <a:custGeom>
              <a:avLst/>
              <a:gdLst/>
              <a:ahLst/>
              <a:cxnLst/>
              <a:rect r="r" b="b" t="t" l="l"/>
              <a:pathLst>
                <a:path h="3124200" w="8585200">
                  <a:moveTo>
                    <a:pt x="355600" y="0"/>
                  </a:moveTo>
                  <a:lnTo>
                    <a:pt x="8229600" y="0"/>
                  </a:lnTo>
                  <a:cubicBezTo>
                    <a:pt x="8425942" y="0"/>
                    <a:pt x="8585200" y="159258"/>
                    <a:pt x="8585200" y="355600"/>
                  </a:cubicBezTo>
                  <a:lnTo>
                    <a:pt x="8585200" y="2768600"/>
                  </a:lnTo>
                  <a:cubicBezTo>
                    <a:pt x="8585200" y="2964942"/>
                    <a:pt x="8425942" y="3124200"/>
                    <a:pt x="8229600" y="3124200"/>
                  </a:cubicBezTo>
                  <a:lnTo>
                    <a:pt x="355600" y="3124200"/>
                  </a:lnTo>
                  <a:cubicBezTo>
                    <a:pt x="159258" y="3124200"/>
                    <a:pt x="0" y="2964942"/>
                    <a:pt x="0" y="2768600"/>
                  </a:cubicBezTo>
                  <a:lnTo>
                    <a:pt x="0" y="355600"/>
                  </a:lnTo>
                  <a:cubicBezTo>
                    <a:pt x="0" y="159258"/>
                    <a:pt x="159258" y="0"/>
                    <a:pt x="355600" y="0"/>
                  </a:cubicBezTo>
                  <a:close/>
                </a:path>
              </a:pathLst>
            </a:custGeom>
            <a:solidFill>
              <a:srgbClr val="FFF2EB"/>
            </a:solidFill>
          </p:spPr>
        </p:sp>
        <p:sp>
          <p:nvSpPr>
            <p:cNvPr name="Freeform 17" id="17"/>
            <p:cNvSpPr/>
            <p:nvPr/>
          </p:nvSpPr>
          <p:spPr>
            <a:xfrm flipH="false" flipV="false" rot="0">
              <a:off x="0" y="0"/>
              <a:ext cx="8585200" cy="3124200"/>
            </a:xfrm>
            <a:custGeom>
              <a:avLst/>
              <a:gdLst/>
              <a:ahLst/>
              <a:cxnLst/>
              <a:rect r="r" b="b" t="t" l="l"/>
              <a:pathLst>
                <a:path h="3124200" w="8585200">
                  <a:moveTo>
                    <a:pt x="355600" y="0"/>
                  </a:moveTo>
                  <a:lnTo>
                    <a:pt x="8229600" y="0"/>
                  </a:lnTo>
                  <a:cubicBezTo>
                    <a:pt x="8425942" y="0"/>
                    <a:pt x="8585200" y="159258"/>
                    <a:pt x="8585200" y="355600"/>
                  </a:cubicBezTo>
                  <a:lnTo>
                    <a:pt x="8585200" y="2768600"/>
                  </a:lnTo>
                  <a:cubicBezTo>
                    <a:pt x="8585200" y="2964942"/>
                    <a:pt x="8425942" y="3124200"/>
                    <a:pt x="8229600" y="3124200"/>
                  </a:cubicBezTo>
                  <a:lnTo>
                    <a:pt x="355600" y="3124200"/>
                  </a:lnTo>
                  <a:cubicBezTo>
                    <a:pt x="159258" y="3124200"/>
                    <a:pt x="0" y="2964942"/>
                    <a:pt x="0" y="2768600"/>
                  </a:cubicBezTo>
                  <a:lnTo>
                    <a:pt x="0" y="355600"/>
                  </a:lnTo>
                  <a:cubicBezTo>
                    <a:pt x="0" y="159258"/>
                    <a:pt x="159258" y="0"/>
                    <a:pt x="355600" y="0"/>
                  </a:cubicBezTo>
                  <a:close/>
                </a:path>
              </a:pathLst>
            </a:custGeom>
            <a:solidFill>
              <a:srgbClr val="000000">
                <a:alpha val="0"/>
              </a:srgbClr>
            </a:solidFill>
            <a:ln w="28575" cap="sq">
              <a:solidFill>
                <a:srgbClr val="FFC6A5"/>
              </a:solidFill>
              <a:prstDash val="solid"/>
              <a:miter/>
            </a:ln>
          </p:spPr>
        </p:sp>
      </p:grpSp>
      <p:grpSp>
        <p:nvGrpSpPr>
          <p:cNvPr name="Group 18" id="18"/>
          <p:cNvGrpSpPr/>
          <p:nvPr/>
        </p:nvGrpSpPr>
        <p:grpSpPr>
          <a:xfrm rot="0">
            <a:off x="1208818" y="6030563"/>
            <a:ext cx="1676400" cy="400050"/>
            <a:chOff x="0" y="0"/>
            <a:chExt cx="2235200" cy="533400"/>
          </a:xfrm>
        </p:grpSpPr>
        <p:sp>
          <p:nvSpPr>
            <p:cNvPr name="Freeform 19" id="19"/>
            <p:cNvSpPr/>
            <p:nvPr/>
          </p:nvSpPr>
          <p:spPr>
            <a:xfrm flipH="false" flipV="false" rot="0">
              <a:off x="0" y="0"/>
              <a:ext cx="2235200" cy="533400"/>
            </a:xfrm>
            <a:custGeom>
              <a:avLst/>
              <a:gdLst/>
              <a:ahLst/>
              <a:cxnLst/>
              <a:rect r="r" b="b" t="t" l="l"/>
              <a:pathLst>
                <a:path h="533400" w="2235200">
                  <a:moveTo>
                    <a:pt x="266700" y="0"/>
                  </a:moveTo>
                  <a:lnTo>
                    <a:pt x="1968500" y="0"/>
                  </a:lnTo>
                  <a:cubicBezTo>
                    <a:pt x="2115820" y="0"/>
                    <a:pt x="2235200" y="119380"/>
                    <a:pt x="2235200" y="266700"/>
                  </a:cubicBezTo>
                  <a:cubicBezTo>
                    <a:pt x="2235200" y="414020"/>
                    <a:pt x="2115820" y="533400"/>
                    <a:pt x="1968500" y="533400"/>
                  </a:cubicBezTo>
                  <a:lnTo>
                    <a:pt x="266700" y="533400"/>
                  </a:lnTo>
                  <a:cubicBezTo>
                    <a:pt x="119380" y="533400"/>
                    <a:pt x="0" y="414020"/>
                    <a:pt x="0" y="266700"/>
                  </a:cubicBezTo>
                  <a:cubicBezTo>
                    <a:pt x="0" y="119380"/>
                    <a:pt x="119380" y="0"/>
                    <a:pt x="266700" y="0"/>
                  </a:cubicBezTo>
                  <a:close/>
                </a:path>
              </a:pathLst>
            </a:custGeom>
            <a:solidFill>
              <a:srgbClr val="C67139"/>
            </a:solidFill>
          </p:spPr>
        </p:sp>
        <p:sp>
          <p:nvSpPr>
            <p:cNvPr name="TextBox 20" id="20"/>
            <p:cNvSpPr txBox="true"/>
            <p:nvPr/>
          </p:nvSpPr>
          <p:spPr>
            <a:xfrm>
              <a:off x="0" y="-76200"/>
              <a:ext cx="2235200" cy="609600"/>
            </a:xfrm>
            <a:prstGeom prst="rect">
              <a:avLst/>
            </a:prstGeom>
          </p:spPr>
          <p:txBody>
            <a:bodyPr anchor="t" rtlCol="false" tIns="88265" lIns="88265" bIns="88265" rIns="88265"/>
            <a:lstStyle/>
            <a:p>
              <a:pPr algn="l">
                <a:lnSpc>
                  <a:spcPts val="2557"/>
                </a:lnSpc>
              </a:pPr>
              <a:r>
                <a:rPr lang="en-US" b="true" sz="1650" spc="165">
                  <a:solidFill>
                    <a:srgbClr val="F5EAD8"/>
                  </a:solidFill>
                  <a:latin typeface="Arimo Bold"/>
                  <a:ea typeface="Arimo Bold"/>
                  <a:cs typeface="Arimo Bold"/>
                  <a:sym typeface="Arimo Bold"/>
                </a:rPr>
                <a:t>NEW WORD</a:t>
              </a:r>
            </a:p>
          </p:txBody>
        </p:sp>
      </p:grpSp>
      <p:sp>
        <p:nvSpPr>
          <p:cNvPr name="TextBox 21" id="21"/>
          <p:cNvSpPr txBox="true"/>
          <p:nvPr/>
        </p:nvSpPr>
        <p:spPr>
          <a:xfrm rot="0">
            <a:off x="1209675" y="6327172"/>
            <a:ext cx="5848350" cy="790575"/>
          </a:xfrm>
          <a:prstGeom prst="rect">
            <a:avLst/>
          </a:prstGeom>
        </p:spPr>
        <p:txBody>
          <a:bodyPr anchor="t" rtlCol="false" tIns="0" lIns="0" bIns="0" rIns="0">
            <a:spAutoFit/>
          </a:bodyPr>
          <a:lstStyle/>
          <a:p>
            <a:pPr algn="l">
              <a:lnSpc>
                <a:spcPts val="5115"/>
              </a:lnSpc>
            </a:pPr>
            <a:r>
              <a:rPr lang="en-US" b="true" sz="3300" spc="-66">
                <a:solidFill>
                  <a:srgbClr val="643312"/>
                </a:solidFill>
                <a:latin typeface="Arimo Bold"/>
                <a:ea typeface="Arimo Bold"/>
                <a:cs typeface="Arimo Bold"/>
                <a:sym typeface="Arimo Bold"/>
              </a:rPr>
              <a:t>Linear equation</a:t>
            </a:r>
          </a:p>
        </p:txBody>
      </p:sp>
      <p:sp>
        <p:nvSpPr>
          <p:cNvPr name="TextBox 22" id="22"/>
          <p:cNvSpPr txBox="true"/>
          <p:nvPr/>
        </p:nvSpPr>
        <p:spPr>
          <a:xfrm rot="0">
            <a:off x="1209675" y="7097363"/>
            <a:ext cx="5848350" cy="876300"/>
          </a:xfrm>
          <a:prstGeom prst="rect">
            <a:avLst/>
          </a:prstGeom>
        </p:spPr>
        <p:txBody>
          <a:bodyPr anchor="t" rtlCol="false" tIns="0" lIns="0" bIns="0" rIns="0">
            <a:spAutoFit/>
          </a:bodyPr>
          <a:lstStyle/>
          <a:p>
            <a:pPr algn="l">
              <a:lnSpc>
                <a:spcPts val="3208"/>
              </a:lnSpc>
            </a:pPr>
            <a:r>
              <a:rPr lang="en-US" b="true" sz="2325">
                <a:solidFill>
                  <a:srgbClr val="201E1D"/>
                </a:solidFill>
                <a:latin typeface="Arimo Bold"/>
                <a:ea typeface="Arimo Bold"/>
                <a:cs typeface="Arimo Bold"/>
                <a:sym typeface="Arimo Bold"/>
              </a:rPr>
              <a:t>An equation where the unknown has no power other than one, such as 3x + 1 = 13.</a:t>
            </a:r>
          </a:p>
        </p:txBody>
      </p:sp>
      <p:grpSp>
        <p:nvGrpSpPr>
          <p:cNvPr name="Group 23" id="23"/>
          <p:cNvGrpSpPr/>
          <p:nvPr/>
        </p:nvGrpSpPr>
        <p:grpSpPr>
          <a:xfrm rot="0">
            <a:off x="916495" y="9010650"/>
            <a:ext cx="2333625" cy="666750"/>
            <a:chOff x="0" y="0"/>
            <a:chExt cx="3111500" cy="889000"/>
          </a:xfrm>
        </p:grpSpPr>
        <p:sp>
          <p:nvSpPr>
            <p:cNvPr name="Freeform 24" id="24"/>
            <p:cNvSpPr/>
            <p:nvPr/>
          </p:nvSpPr>
          <p:spPr>
            <a:xfrm flipH="false" flipV="false" rot="0">
              <a:off x="0" y="0"/>
              <a:ext cx="3111500" cy="889000"/>
            </a:xfrm>
            <a:custGeom>
              <a:avLst/>
              <a:gdLst/>
              <a:ahLst/>
              <a:cxnLst/>
              <a:rect r="r" b="b" t="t" l="l"/>
              <a:pathLst>
                <a:path h="889000" w="3111500">
                  <a:moveTo>
                    <a:pt x="444500" y="0"/>
                  </a:moveTo>
                  <a:lnTo>
                    <a:pt x="2667000" y="0"/>
                  </a:lnTo>
                  <a:cubicBezTo>
                    <a:pt x="2912491" y="0"/>
                    <a:pt x="3111500" y="199009"/>
                    <a:pt x="3111500" y="444500"/>
                  </a:cubicBezTo>
                  <a:cubicBezTo>
                    <a:pt x="3111500" y="689991"/>
                    <a:pt x="2912491" y="889000"/>
                    <a:pt x="26670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sp>
          <p:nvSpPr>
            <p:cNvPr name="TextBox 25" id="25"/>
            <p:cNvSpPr txBox="true"/>
            <p:nvPr/>
          </p:nvSpPr>
          <p:spPr>
            <a:xfrm>
              <a:off x="0" y="-19050"/>
              <a:ext cx="3111500" cy="908050"/>
            </a:xfrm>
            <a:prstGeom prst="rect">
              <a:avLst/>
            </a:prstGeom>
          </p:spPr>
          <p:txBody>
            <a:bodyPr anchor="t" rtlCol="false" tIns="203200" lIns="203200" bIns="203200" rIns="203200"/>
            <a:lstStyle/>
            <a:p>
              <a:pPr algn="ctr">
                <a:lnSpc>
                  <a:spcPts val="2700"/>
                </a:lnSpc>
              </a:pPr>
              <a:r>
                <a:rPr lang="en-US" b="true" sz="2250" spc="-44">
                  <a:solidFill>
                    <a:srgbClr val="F5EAD8"/>
                  </a:solidFill>
                  <a:latin typeface="Arimo Bold"/>
                  <a:ea typeface="Arimo Bold"/>
                  <a:cs typeface="Arimo Bold"/>
                  <a:sym typeface="Arimo Bold"/>
                </a:rPr>
                <a:t>Next step →</a:t>
              </a:r>
            </a:p>
          </p:txBody>
        </p:sp>
      </p:grpSp>
      <p:sp>
        <p:nvSpPr>
          <p:cNvPr name="TextBox 26" id="26"/>
          <p:cNvSpPr txBox="true"/>
          <p:nvPr/>
        </p:nvSpPr>
        <p:spPr>
          <a:xfrm rot="0">
            <a:off x="3405759" y="8991600"/>
            <a:ext cx="2143125" cy="685800"/>
          </a:xfrm>
          <a:prstGeom prst="rect">
            <a:avLst/>
          </a:prstGeom>
        </p:spPr>
        <p:txBody>
          <a:bodyPr anchor="t" rtlCol="false" tIns="0" lIns="0" bIns="0" rIns="0">
            <a:spAutoFit/>
          </a:bodyPr>
          <a:lstStyle/>
          <a:p>
            <a:pPr algn="ctr">
              <a:lnSpc>
                <a:spcPts val="2700"/>
              </a:lnSpc>
            </a:pPr>
            <a:r>
              <a:rPr lang="en-US" b="true" sz="2250" spc="-44">
                <a:solidFill>
                  <a:srgbClr val="201E1D"/>
                </a:solidFill>
                <a:latin typeface="Arimo Bold"/>
                <a:ea typeface="Arimo Bold"/>
                <a:cs typeface="Arimo Bold"/>
                <a:sym typeface="Arimo Bold"/>
              </a:rPr>
              <a:t>Start again</a:t>
            </a:r>
          </a:p>
        </p:txBody>
      </p:sp>
      <p:grpSp>
        <p:nvGrpSpPr>
          <p:cNvPr name="Group 27" id="27"/>
          <p:cNvGrpSpPr/>
          <p:nvPr/>
        </p:nvGrpSpPr>
        <p:grpSpPr>
          <a:xfrm rot="0">
            <a:off x="1043178" y="3515868"/>
            <a:ext cx="475488" cy="475488"/>
            <a:chOff x="0" y="0"/>
            <a:chExt cx="633984" cy="633984"/>
          </a:xfrm>
        </p:grpSpPr>
        <p:sp>
          <p:nvSpPr>
            <p:cNvPr name="Freeform 28" id="28"/>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C67139"/>
            </a:solidFill>
          </p:spPr>
        </p:sp>
      </p:grpSp>
      <p:sp>
        <p:nvSpPr>
          <p:cNvPr name="TextBox 29" id="29"/>
          <p:cNvSpPr txBox="true"/>
          <p:nvPr/>
        </p:nvSpPr>
        <p:spPr>
          <a:xfrm rot="0">
            <a:off x="1043178" y="3487293"/>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1</a:t>
            </a:r>
          </a:p>
        </p:txBody>
      </p:sp>
      <p:sp>
        <p:nvSpPr>
          <p:cNvPr name="TextBox 30" id="30"/>
          <p:cNvSpPr txBox="true"/>
          <p:nvPr/>
        </p:nvSpPr>
        <p:spPr>
          <a:xfrm rot="0">
            <a:off x="1682782" y="3528060"/>
            <a:ext cx="3730752" cy="413004"/>
          </a:xfrm>
          <a:prstGeom prst="rect">
            <a:avLst/>
          </a:prstGeom>
        </p:spPr>
        <p:txBody>
          <a:bodyPr anchor="t" rtlCol="false" tIns="0" lIns="0" bIns="0" rIns="0">
            <a:spAutoFit/>
          </a:bodyPr>
          <a:lstStyle/>
          <a:p>
            <a:pPr algn="l">
              <a:lnSpc>
                <a:spcPts val="2946"/>
              </a:lnSpc>
            </a:pPr>
            <a:r>
              <a:rPr lang="en-US" b="true" sz="2232">
                <a:solidFill>
                  <a:srgbClr val="201E1D"/>
                </a:solidFill>
                <a:latin typeface="Arimo Bold"/>
                <a:ea typeface="Arimo Bold"/>
                <a:cs typeface="Arimo Bold"/>
                <a:sym typeface="Arimo Bold"/>
              </a:rPr>
              <a:t>Call the number x: 3x + 1 = 13</a:t>
            </a:r>
          </a:p>
        </p:txBody>
      </p:sp>
      <p:grpSp>
        <p:nvGrpSpPr>
          <p:cNvPr name="Group 31" id="31"/>
          <p:cNvGrpSpPr/>
          <p:nvPr/>
        </p:nvGrpSpPr>
        <p:grpSpPr>
          <a:xfrm rot="0">
            <a:off x="1043178" y="4125468"/>
            <a:ext cx="475488" cy="475488"/>
            <a:chOff x="0" y="0"/>
            <a:chExt cx="633984" cy="633984"/>
          </a:xfrm>
        </p:grpSpPr>
        <p:sp>
          <p:nvSpPr>
            <p:cNvPr name="Freeform 32" id="32"/>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7A8A5E"/>
            </a:solidFill>
          </p:spPr>
        </p:sp>
      </p:grpSp>
      <p:sp>
        <p:nvSpPr>
          <p:cNvPr name="TextBox 33" id="33"/>
          <p:cNvSpPr txBox="true"/>
          <p:nvPr/>
        </p:nvSpPr>
        <p:spPr>
          <a:xfrm rot="0">
            <a:off x="1043178" y="4096893"/>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2</a:t>
            </a:r>
          </a:p>
        </p:txBody>
      </p:sp>
      <p:sp>
        <p:nvSpPr>
          <p:cNvPr name="TextBox 34" id="34"/>
          <p:cNvSpPr txBox="true"/>
          <p:nvPr/>
        </p:nvSpPr>
        <p:spPr>
          <a:xfrm rot="0">
            <a:off x="1684306" y="4137660"/>
            <a:ext cx="3657600" cy="413004"/>
          </a:xfrm>
          <a:prstGeom prst="rect">
            <a:avLst/>
          </a:prstGeom>
        </p:spPr>
        <p:txBody>
          <a:bodyPr anchor="t" rtlCol="false" tIns="0" lIns="0" bIns="0" rIns="0">
            <a:spAutoFit/>
          </a:bodyPr>
          <a:lstStyle/>
          <a:p>
            <a:pPr algn="l">
              <a:lnSpc>
                <a:spcPts val="2946"/>
              </a:lnSpc>
            </a:pPr>
            <a:r>
              <a:rPr lang="en-US" b="true" sz="2232">
                <a:solidFill>
                  <a:srgbClr val="201E1D"/>
                </a:solidFill>
                <a:latin typeface="Arimo Bold"/>
                <a:ea typeface="Arimo Bold"/>
                <a:cs typeface="Arimo Bold"/>
                <a:sym typeface="Arimo Bold"/>
              </a:rPr>
              <a:t>Forwards: x → ×3 → +1 → 13</a:t>
            </a:r>
          </a:p>
        </p:txBody>
      </p:sp>
      <p:grpSp>
        <p:nvGrpSpPr>
          <p:cNvPr name="Group 35" id="35"/>
          <p:cNvGrpSpPr/>
          <p:nvPr/>
        </p:nvGrpSpPr>
        <p:grpSpPr>
          <a:xfrm rot="0">
            <a:off x="1043178" y="4735068"/>
            <a:ext cx="475488" cy="475488"/>
            <a:chOff x="0" y="0"/>
            <a:chExt cx="633984" cy="633984"/>
          </a:xfrm>
        </p:grpSpPr>
        <p:sp>
          <p:nvSpPr>
            <p:cNvPr name="Freeform 36" id="36"/>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C67139"/>
            </a:solidFill>
          </p:spPr>
        </p:sp>
      </p:grpSp>
      <p:sp>
        <p:nvSpPr>
          <p:cNvPr name="TextBox 37" id="37"/>
          <p:cNvSpPr txBox="true"/>
          <p:nvPr/>
        </p:nvSpPr>
        <p:spPr>
          <a:xfrm rot="0">
            <a:off x="1043178" y="4706493"/>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3</a:t>
            </a:r>
          </a:p>
        </p:txBody>
      </p:sp>
      <p:sp>
        <p:nvSpPr>
          <p:cNvPr name="TextBox 38" id="38"/>
          <p:cNvSpPr txBox="true"/>
          <p:nvPr/>
        </p:nvSpPr>
        <p:spPr>
          <a:xfrm rot="0">
            <a:off x="1682591" y="4747260"/>
            <a:ext cx="3895344" cy="413004"/>
          </a:xfrm>
          <a:prstGeom prst="rect">
            <a:avLst/>
          </a:prstGeom>
        </p:spPr>
        <p:txBody>
          <a:bodyPr anchor="t" rtlCol="false" tIns="0" lIns="0" bIns="0" rIns="0">
            <a:spAutoFit/>
          </a:bodyPr>
          <a:lstStyle/>
          <a:p>
            <a:pPr algn="l">
              <a:lnSpc>
                <a:spcPts val="2946"/>
              </a:lnSpc>
            </a:pPr>
            <a:r>
              <a:rPr lang="en-US" b="true" sz="2232">
                <a:solidFill>
                  <a:srgbClr val="201E1D"/>
                </a:solidFill>
                <a:latin typeface="Arimo Bold"/>
                <a:ea typeface="Arimo Bold"/>
                <a:cs typeface="Arimo Bold"/>
                <a:sym typeface="Arimo Bold"/>
              </a:rPr>
              <a:t>Backwards: 13 → −1 → ÷3 → 4</a:t>
            </a:r>
          </a:p>
        </p:txBody>
      </p:sp>
      <p:grpSp>
        <p:nvGrpSpPr>
          <p:cNvPr name="Group 39" id="39"/>
          <p:cNvGrpSpPr/>
          <p:nvPr/>
        </p:nvGrpSpPr>
        <p:grpSpPr>
          <a:xfrm rot="0">
            <a:off x="1043178" y="5344668"/>
            <a:ext cx="475488" cy="475488"/>
            <a:chOff x="0" y="0"/>
            <a:chExt cx="633984" cy="633984"/>
          </a:xfrm>
        </p:grpSpPr>
        <p:sp>
          <p:nvSpPr>
            <p:cNvPr name="Freeform 40" id="40"/>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7A8A5E"/>
            </a:solidFill>
          </p:spPr>
        </p:sp>
      </p:grpSp>
      <p:sp>
        <p:nvSpPr>
          <p:cNvPr name="TextBox 41" id="41"/>
          <p:cNvSpPr txBox="true"/>
          <p:nvPr/>
        </p:nvSpPr>
        <p:spPr>
          <a:xfrm rot="0">
            <a:off x="1043178" y="5316093"/>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4</a:t>
            </a:r>
          </a:p>
        </p:txBody>
      </p:sp>
      <p:sp>
        <p:nvSpPr>
          <p:cNvPr name="TextBox 42" id="42"/>
          <p:cNvSpPr txBox="true"/>
          <p:nvPr/>
        </p:nvSpPr>
        <p:spPr>
          <a:xfrm rot="0">
            <a:off x="1681067" y="5356860"/>
            <a:ext cx="2999232" cy="413004"/>
          </a:xfrm>
          <a:prstGeom prst="rect">
            <a:avLst/>
          </a:prstGeom>
        </p:spPr>
        <p:txBody>
          <a:bodyPr anchor="t" rtlCol="false" tIns="0" lIns="0" bIns="0" rIns="0">
            <a:spAutoFit/>
          </a:bodyPr>
          <a:lstStyle/>
          <a:p>
            <a:pPr algn="l">
              <a:lnSpc>
                <a:spcPts val="2946"/>
              </a:lnSpc>
            </a:pPr>
            <a:r>
              <a:rPr lang="en-US" b="true" sz="2232">
                <a:solidFill>
                  <a:srgbClr val="201E1D"/>
                </a:solidFill>
                <a:latin typeface="Arimo Bold"/>
                <a:ea typeface="Arimo Bold"/>
                <a:cs typeface="Arimo Bold"/>
                <a:sym typeface="Arimo Bold"/>
              </a:rPr>
              <a:t>Check: 3 × 4 + 1 = 13 ✓</a:t>
            </a:r>
          </a:p>
        </p:txBody>
      </p:sp>
      <p:grpSp>
        <p:nvGrpSpPr>
          <p:cNvPr name="Group 43" id="43"/>
          <p:cNvGrpSpPr/>
          <p:nvPr/>
        </p:nvGrpSpPr>
        <p:grpSpPr>
          <a:xfrm rot="0">
            <a:off x="7848600" y="609600"/>
            <a:ext cx="9525000" cy="9067800"/>
            <a:chOff x="0" y="0"/>
            <a:chExt cx="12700000" cy="12090400"/>
          </a:xfrm>
        </p:grpSpPr>
        <p:sp>
          <p:nvSpPr>
            <p:cNvPr name="Freeform 44" id="44"/>
            <p:cNvSpPr/>
            <p:nvPr/>
          </p:nvSpPr>
          <p:spPr>
            <a:xfrm flipH="false" flipV="false" rot="0">
              <a:off x="0" y="0"/>
              <a:ext cx="12700000" cy="12090400"/>
            </a:xfrm>
            <a:custGeom>
              <a:avLst/>
              <a:gdLst/>
              <a:ahLst/>
              <a:cxnLst/>
              <a:rect r="r" b="b" t="t" l="l"/>
              <a:pathLst>
                <a:path h="12090400" w="12700000">
                  <a:moveTo>
                    <a:pt x="711200" y="0"/>
                  </a:moveTo>
                  <a:lnTo>
                    <a:pt x="11988800" y="0"/>
                  </a:lnTo>
                  <a:cubicBezTo>
                    <a:pt x="12381611" y="0"/>
                    <a:pt x="12700000" y="318389"/>
                    <a:pt x="12700000" y="711200"/>
                  </a:cubicBezTo>
                  <a:lnTo>
                    <a:pt x="12700000" y="11379200"/>
                  </a:lnTo>
                  <a:cubicBezTo>
                    <a:pt x="12700000" y="11772011"/>
                    <a:pt x="12381611" y="12090400"/>
                    <a:pt x="11988800" y="12090400"/>
                  </a:cubicBezTo>
                  <a:lnTo>
                    <a:pt x="711200" y="12090400"/>
                  </a:lnTo>
                  <a:cubicBezTo>
                    <a:pt x="318389" y="12090400"/>
                    <a:pt x="0" y="11772011"/>
                    <a:pt x="0" y="11379200"/>
                  </a:cubicBezTo>
                  <a:lnTo>
                    <a:pt x="0" y="711200"/>
                  </a:lnTo>
                  <a:cubicBezTo>
                    <a:pt x="0" y="318389"/>
                    <a:pt x="318389" y="0"/>
                    <a:pt x="711200" y="0"/>
                  </a:cubicBezTo>
                  <a:close/>
                </a:path>
              </a:pathLst>
            </a:custGeom>
            <a:solidFill>
              <a:srgbClr val="EBDDC5"/>
            </a:solidFill>
          </p:spPr>
        </p:sp>
      </p:gr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FFE1D0"/>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CCDBB2"/>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FFC6A5"/>
            </a:solidFill>
          </p:spPr>
        </p:sp>
      </p:grpSp>
      <p:grpSp>
        <p:nvGrpSpPr>
          <p:cNvPr name="Group 9" id="9"/>
          <p:cNvGrpSpPr/>
          <p:nvPr/>
        </p:nvGrpSpPr>
        <p:grpSpPr>
          <a:xfrm rot="0">
            <a:off x="915543" y="611505"/>
            <a:ext cx="1800225" cy="600075"/>
            <a:chOff x="0" y="0"/>
            <a:chExt cx="2400300" cy="800100"/>
          </a:xfrm>
        </p:grpSpPr>
        <p:sp>
          <p:nvSpPr>
            <p:cNvPr name="Freeform 10" id="10"/>
            <p:cNvSpPr/>
            <p:nvPr/>
          </p:nvSpPr>
          <p:spPr>
            <a:xfrm flipH="false" flipV="false" rot="0">
              <a:off x="0" y="0"/>
              <a:ext cx="2400300" cy="800100"/>
            </a:xfrm>
            <a:custGeom>
              <a:avLst/>
              <a:gdLst/>
              <a:ahLst/>
              <a:cxnLst/>
              <a:rect r="r" b="b" t="t" l="l"/>
              <a:pathLst>
                <a:path h="800100" w="2400300">
                  <a:moveTo>
                    <a:pt x="400050" y="0"/>
                  </a:moveTo>
                  <a:lnTo>
                    <a:pt x="2000250" y="0"/>
                  </a:lnTo>
                  <a:cubicBezTo>
                    <a:pt x="2221230" y="0"/>
                    <a:pt x="2400300" y="179070"/>
                    <a:pt x="2400300" y="400050"/>
                  </a:cubicBezTo>
                  <a:cubicBezTo>
                    <a:pt x="2400300" y="621030"/>
                    <a:pt x="2221230" y="800100"/>
                    <a:pt x="2000250" y="800100"/>
                  </a:cubicBezTo>
                  <a:lnTo>
                    <a:pt x="400050" y="800100"/>
                  </a:lnTo>
                  <a:cubicBezTo>
                    <a:pt x="179070" y="800100"/>
                    <a:pt x="0" y="621030"/>
                    <a:pt x="0" y="400050"/>
                  </a:cubicBezTo>
                  <a:cubicBezTo>
                    <a:pt x="0" y="179070"/>
                    <a:pt x="179070" y="0"/>
                    <a:pt x="400050" y="0"/>
                  </a:cubicBezTo>
                  <a:close/>
                </a:path>
              </a:pathLst>
            </a:custGeom>
            <a:solidFill>
              <a:srgbClr val="8C491A"/>
            </a:solidFill>
          </p:spPr>
        </p:sp>
        <p:sp>
          <p:nvSpPr>
            <p:cNvPr name="TextBox 11" id="11"/>
            <p:cNvSpPr txBox="true"/>
            <p:nvPr/>
          </p:nvSpPr>
          <p:spPr>
            <a:xfrm>
              <a:off x="0" y="-76200"/>
              <a:ext cx="24003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SOLVING</a:t>
              </a:r>
            </a:p>
          </p:txBody>
        </p:sp>
      </p:grpSp>
      <p:sp>
        <p:nvSpPr>
          <p:cNvPr name="TextBox 12" id="12"/>
          <p:cNvSpPr txBox="true"/>
          <p:nvPr/>
        </p:nvSpPr>
        <p:spPr>
          <a:xfrm rot="0">
            <a:off x="2908935" y="630555"/>
            <a:ext cx="1743075" cy="485775"/>
          </a:xfrm>
          <a:prstGeom prst="rect">
            <a:avLst/>
          </a:prstGeom>
        </p:spPr>
        <p:txBody>
          <a:bodyPr anchor="t" rtlCol="false" tIns="0" lIns="0" bIns="0" rIns="0">
            <a:spAutoFit/>
          </a:bodyPr>
          <a:lstStyle/>
          <a:p>
            <a:pPr algn="l">
              <a:lnSpc>
                <a:spcPts val="3255"/>
              </a:lnSpc>
            </a:pPr>
            <a:r>
              <a:rPr lang="en-US" b="true" sz="2100">
                <a:solidFill>
                  <a:srgbClr val="3D472B"/>
                </a:solidFill>
                <a:latin typeface="Arimo Bold"/>
                <a:ea typeface="Arimo Bold"/>
                <a:cs typeface="Arimo Bold"/>
                <a:sym typeface="Arimo Bold"/>
              </a:rPr>
              <a:t>6.1 · Equations</a:t>
            </a:r>
          </a:p>
        </p:txBody>
      </p:sp>
      <p:sp>
        <p:nvSpPr>
          <p:cNvPr name="TextBox 13" id="13"/>
          <p:cNvSpPr txBox="true"/>
          <p:nvPr/>
        </p:nvSpPr>
        <p:spPr>
          <a:xfrm rot="0">
            <a:off x="914400" y="1472089"/>
            <a:ext cx="7391400" cy="523875"/>
          </a:xfrm>
          <a:prstGeom prst="rect">
            <a:avLst/>
          </a:prstGeom>
        </p:spPr>
        <p:txBody>
          <a:bodyPr anchor="t" rtlCol="false" tIns="0" lIns="0" bIns="0" rIns="0">
            <a:spAutoFit/>
          </a:bodyPr>
          <a:lstStyle/>
          <a:p>
            <a:pPr algn="l">
              <a:lnSpc>
                <a:spcPts val="4524"/>
              </a:lnSpc>
            </a:pPr>
            <a:r>
              <a:rPr lang="en-US" b="true" sz="4350" spc="-86">
                <a:solidFill>
                  <a:srgbClr val="201E1D"/>
                </a:solidFill>
                <a:latin typeface="Arimo Bold"/>
                <a:ea typeface="Arimo Bold"/>
                <a:cs typeface="Arimo Bold"/>
                <a:sym typeface="Arimo Bold"/>
              </a:rPr>
              <a:t>Do the same to both sides</a:t>
            </a:r>
          </a:p>
        </p:txBody>
      </p:sp>
      <p:grpSp>
        <p:nvGrpSpPr>
          <p:cNvPr name="Group 14" id="14"/>
          <p:cNvGrpSpPr/>
          <p:nvPr/>
        </p:nvGrpSpPr>
        <p:grpSpPr>
          <a:xfrm rot="0">
            <a:off x="914400" y="2206085"/>
            <a:ext cx="7391400" cy="2343150"/>
            <a:chOff x="0" y="0"/>
            <a:chExt cx="9855200" cy="3124200"/>
          </a:xfrm>
        </p:grpSpPr>
        <p:sp>
          <p:nvSpPr>
            <p:cNvPr name="Freeform 15" id="15"/>
            <p:cNvSpPr/>
            <p:nvPr/>
          </p:nvSpPr>
          <p:spPr>
            <a:xfrm flipH="false" flipV="false" rot="0">
              <a:off x="0" y="0"/>
              <a:ext cx="9855200" cy="3124200"/>
            </a:xfrm>
            <a:custGeom>
              <a:avLst/>
              <a:gdLst/>
              <a:ahLst/>
              <a:cxnLst/>
              <a:rect r="r" b="b" t="t" l="l"/>
              <a:pathLst>
                <a:path h="3124200" w="9855200">
                  <a:moveTo>
                    <a:pt x="355600" y="0"/>
                  </a:moveTo>
                  <a:lnTo>
                    <a:pt x="9499600" y="0"/>
                  </a:lnTo>
                  <a:cubicBezTo>
                    <a:pt x="9695942" y="0"/>
                    <a:pt x="9855200" y="159258"/>
                    <a:pt x="9855200" y="355600"/>
                  </a:cubicBezTo>
                  <a:lnTo>
                    <a:pt x="9855200" y="2768600"/>
                  </a:lnTo>
                  <a:cubicBezTo>
                    <a:pt x="9855200" y="2964942"/>
                    <a:pt x="9695942" y="3124200"/>
                    <a:pt x="9499600" y="3124200"/>
                  </a:cubicBezTo>
                  <a:lnTo>
                    <a:pt x="355600" y="3124200"/>
                  </a:lnTo>
                  <a:cubicBezTo>
                    <a:pt x="159258" y="3124200"/>
                    <a:pt x="0" y="2964942"/>
                    <a:pt x="0" y="2768600"/>
                  </a:cubicBezTo>
                  <a:lnTo>
                    <a:pt x="0" y="355600"/>
                  </a:lnTo>
                  <a:cubicBezTo>
                    <a:pt x="0" y="159258"/>
                    <a:pt x="159258" y="0"/>
                    <a:pt x="355600" y="0"/>
                  </a:cubicBezTo>
                  <a:close/>
                </a:path>
              </a:pathLst>
            </a:custGeom>
            <a:solidFill>
              <a:srgbClr val="FFF2EB"/>
            </a:solidFill>
          </p:spPr>
        </p:sp>
        <p:sp>
          <p:nvSpPr>
            <p:cNvPr name="Freeform 16" id="16"/>
            <p:cNvSpPr/>
            <p:nvPr/>
          </p:nvSpPr>
          <p:spPr>
            <a:xfrm flipH="false" flipV="false" rot="0">
              <a:off x="0" y="0"/>
              <a:ext cx="9855200" cy="3124200"/>
            </a:xfrm>
            <a:custGeom>
              <a:avLst/>
              <a:gdLst/>
              <a:ahLst/>
              <a:cxnLst/>
              <a:rect r="r" b="b" t="t" l="l"/>
              <a:pathLst>
                <a:path h="3124200" w="9855200">
                  <a:moveTo>
                    <a:pt x="355600" y="0"/>
                  </a:moveTo>
                  <a:lnTo>
                    <a:pt x="9499600" y="0"/>
                  </a:lnTo>
                  <a:cubicBezTo>
                    <a:pt x="9695942" y="0"/>
                    <a:pt x="9855200" y="159258"/>
                    <a:pt x="9855200" y="355600"/>
                  </a:cubicBezTo>
                  <a:lnTo>
                    <a:pt x="9855200" y="2768600"/>
                  </a:lnTo>
                  <a:cubicBezTo>
                    <a:pt x="9855200" y="2964942"/>
                    <a:pt x="9695942" y="3124200"/>
                    <a:pt x="9499600" y="3124200"/>
                  </a:cubicBezTo>
                  <a:lnTo>
                    <a:pt x="355600" y="3124200"/>
                  </a:lnTo>
                  <a:cubicBezTo>
                    <a:pt x="159258" y="3124200"/>
                    <a:pt x="0" y="2964942"/>
                    <a:pt x="0" y="2768600"/>
                  </a:cubicBezTo>
                  <a:lnTo>
                    <a:pt x="0" y="355600"/>
                  </a:lnTo>
                  <a:cubicBezTo>
                    <a:pt x="0" y="159258"/>
                    <a:pt x="159258" y="0"/>
                    <a:pt x="355600" y="0"/>
                  </a:cubicBezTo>
                  <a:close/>
                </a:path>
              </a:pathLst>
            </a:custGeom>
            <a:solidFill>
              <a:srgbClr val="000000">
                <a:alpha val="0"/>
              </a:srgbClr>
            </a:solidFill>
            <a:ln w="28575" cap="sq">
              <a:solidFill>
                <a:srgbClr val="FFC6A5"/>
              </a:solidFill>
              <a:prstDash val="solid"/>
              <a:miter/>
            </a:ln>
          </p:spPr>
        </p:sp>
      </p:grpSp>
      <p:grpSp>
        <p:nvGrpSpPr>
          <p:cNvPr name="Group 17" id="17"/>
          <p:cNvGrpSpPr/>
          <p:nvPr/>
        </p:nvGrpSpPr>
        <p:grpSpPr>
          <a:xfrm rot="0">
            <a:off x="1208818" y="2407444"/>
            <a:ext cx="1676400" cy="400050"/>
            <a:chOff x="0" y="0"/>
            <a:chExt cx="2235200" cy="533400"/>
          </a:xfrm>
        </p:grpSpPr>
        <p:sp>
          <p:nvSpPr>
            <p:cNvPr name="Freeform 18" id="18"/>
            <p:cNvSpPr/>
            <p:nvPr/>
          </p:nvSpPr>
          <p:spPr>
            <a:xfrm flipH="false" flipV="false" rot="0">
              <a:off x="0" y="0"/>
              <a:ext cx="2235200" cy="533400"/>
            </a:xfrm>
            <a:custGeom>
              <a:avLst/>
              <a:gdLst/>
              <a:ahLst/>
              <a:cxnLst/>
              <a:rect r="r" b="b" t="t" l="l"/>
              <a:pathLst>
                <a:path h="533400" w="2235200">
                  <a:moveTo>
                    <a:pt x="266700" y="0"/>
                  </a:moveTo>
                  <a:lnTo>
                    <a:pt x="1968500" y="0"/>
                  </a:lnTo>
                  <a:cubicBezTo>
                    <a:pt x="2115820" y="0"/>
                    <a:pt x="2235200" y="119380"/>
                    <a:pt x="2235200" y="266700"/>
                  </a:cubicBezTo>
                  <a:cubicBezTo>
                    <a:pt x="2235200" y="414020"/>
                    <a:pt x="2115820" y="533400"/>
                    <a:pt x="1968500" y="533400"/>
                  </a:cubicBezTo>
                  <a:lnTo>
                    <a:pt x="266700" y="533400"/>
                  </a:lnTo>
                  <a:cubicBezTo>
                    <a:pt x="119380" y="533400"/>
                    <a:pt x="0" y="414020"/>
                    <a:pt x="0" y="266700"/>
                  </a:cubicBezTo>
                  <a:cubicBezTo>
                    <a:pt x="0" y="119380"/>
                    <a:pt x="119380" y="0"/>
                    <a:pt x="266700" y="0"/>
                  </a:cubicBezTo>
                  <a:close/>
                </a:path>
              </a:pathLst>
            </a:custGeom>
            <a:solidFill>
              <a:srgbClr val="C67139"/>
            </a:solidFill>
          </p:spPr>
        </p:sp>
        <p:sp>
          <p:nvSpPr>
            <p:cNvPr name="TextBox 19" id="19"/>
            <p:cNvSpPr txBox="true"/>
            <p:nvPr/>
          </p:nvSpPr>
          <p:spPr>
            <a:xfrm>
              <a:off x="0" y="-76200"/>
              <a:ext cx="2235200" cy="609600"/>
            </a:xfrm>
            <a:prstGeom prst="rect">
              <a:avLst/>
            </a:prstGeom>
          </p:spPr>
          <p:txBody>
            <a:bodyPr anchor="t" rtlCol="false" tIns="88265" lIns="88265" bIns="88265" rIns="88265"/>
            <a:lstStyle/>
            <a:p>
              <a:pPr algn="l">
                <a:lnSpc>
                  <a:spcPts val="2557"/>
                </a:lnSpc>
              </a:pPr>
              <a:r>
                <a:rPr lang="en-US" b="true" sz="1650" spc="165">
                  <a:solidFill>
                    <a:srgbClr val="F5EAD8"/>
                  </a:solidFill>
                  <a:latin typeface="Arimo Bold"/>
                  <a:ea typeface="Arimo Bold"/>
                  <a:cs typeface="Arimo Bold"/>
                  <a:sym typeface="Arimo Bold"/>
                </a:rPr>
                <a:t>NEW WORD</a:t>
              </a:r>
            </a:p>
          </p:txBody>
        </p:sp>
      </p:grpSp>
      <p:sp>
        <p:nvSpPr>
          <p:cNvPr name="TextBox 20" id="20"/>
          <p:cNvSpPr txBox="true"/>
          <p:nvPr/>
        </p:nvSpPr>
        <p:spPr>
          <a:xfrm rot="0">
            <a:off x="1209675" y="2704052"/>
            <a:ext cx="6800850" cy="790575"/>
          </a:xfrm>
          <a:prstGeom prst="rect">
            <a:avLst/>
          </a:prstGeom>
        </p:spPr>
        <p:txBody>
          <a:bodyPr anchor="t" rtlCol="false" tIns="0" lIns="0" bIns="0" rIns="0">
            <a:spAutoFit/>
          </a:bodyPr>
          <a:lstStyle/>
          <a:p>
            <a:pPr algn="l">
              <a:lnSpc>
                <a:spcPts val="5115"/>
              </a:lnSpc>
            </a:pPr>
            <a:r>
              <a:rPr lang="en-US" b="true" sz="3300" spc="-66">
                <a:solidFill>
                  <a:srgbClr val="643312"/>
                </a:solidFill>
                <a:latin typeface="Arimo Bold"/>
                <a:ea typeface="Arimo Bold"/>
                <a:cs typeface="Arimo Bold"/>
                <a:sym typeface="Arimo Bold"/>
              </a:rPr>
              <a:t>Solution</a:t>
            </a:r>
          </a:p>
        </p:txBody>
      </p:sp>
      <p:sp>
        <p:nvSpPr>
          <p:cNvPr name="TextBox 21" id="21"/>
          <p:cNvSpPr txBox="true"/>
          <p:nvPr/>
        </p:nvSpPr>
        <p:spPr>
          <a:xfrm rot="0">
            <a:off x="1209675" y="3474244"/>
            <a:ext cx="6800850" cy="876300"/>
          </a:xfrm>
          <a:prstGeom prst="rect">
            <a:avLst/>
          </a:prstGeom>
        </p:spPr>
        <p:txBody>
          <a:bodyPr anchor="t" rtlCol="false" tIns="0" lIns="0" bIns="0" rIns="0">
            <a:spAutoFit/>
          </a:bodyPr>
          <a:lstStyle/>
          <a:p>
            <a:pPr algn="l">
              <a:lnSpc>
                <a:spcPts val="3208"/>
              </a:lnSpc>
            </a:pPr>
            <a:r>
              <a:rPr lang="en-US" b="true" sz="2325">
                <a:solidFill>
                  <a:srgbClr val="201E1D"/>
                </a:solidFill>
                <a:latin typeface="Arimo Bold"/>
                <a:ea typeface="Arimo Bold"/>
                <a:cs typeface="Arimo Bold"/>
                <a:sym typeface="Arimo Bold"/>
              </a:rPr>
              <a:t>The value of the unknown that makes the equation true. For 3x + 1 = 13 the solution is x = 4.</a:t>
            </a:r>
          </a:p>
        </p:txBody>
      </p:sp>
      <p:grpSp>
        <p:nvGrpSpPr>
          <p:cNvPr name="Group 22" id="22"/>
          <p:cNvGrpSpPr/>
          <p:nvPr/>
        </p:nvGrpSpPr>
        <p:grpSpPr>
          <a:xfrm rot="0">
            <a:off x="914400" y="6682835"/>
            <a:ext cx="7391400" cy="1076325"/>
            <a:chOff x="0" y="0"/>
            <a:chExt cx="9855200" cy="1435100"/>
          </a:xfrm>
        </p:grpSpPr>
        <p:sp>
          <p:nvSpPr>
            <p:cNvPr name="Freeform 23" id="23"/>
            <p:cNvSpPr/>
            <p:nvPr/>
          </p:nvSpPr>
          <p:spPr>
            <a:xfrm flipH="false" flipV="false" rot="0">
              <a:off x="0" y="0"/>
              <a:ext cx="9855200" cy="1435100"/>
            </a:xfrm>
            <a:custGeom>
              <a:avLst/>
              <a:gdLst/>
              <a:ahLst/>
              <a:cxnLst/>
              <a:rect r="r" b="b" t="t" l="l"/>
              <a:pathLst>
                <a:path h="1435100" w="9855200">
                  <a:moveTo>
                    <a:pt x="355600" y="0"/>
                  </a:moveTo>
                  <a:lnTo>
                    <a:pt x="9499600" y="0"/>
                  </a:lnTo>
                  <a:cubicBezTo>
                    <a:pt x="9695942" y="0"/>
                    <a:pt x="9855200" y="159258"/>
                    <a:pt x="9855200" y="355600"/>
                  </a:cubicBezTo>
                  <a:lnTo>
                    <a:pt x="9855200" y="1079500"/>
                  </a:lnTo>
                  <a:cubicBezTo>
                    <a:pt x="9855200" y="1275842"/>
                    <a:pt x="9695942" y="1435100"/>
                    <a:pt x="9499600" y="1435100"/>
                  </a:cubicBezTo>
                  <a:lnTo>
                    <a:pt x="355600" y="1435100"/>
                  </a:lnTo>
                  <a:cubicBezTo>
                    <a:pt x="159258" y="1435100"/>
                    <a:pt x="0" y="1275842"/>
                    <a:pt x="0" y="1079500"/>
                  </a:cubicBezTo>
                  <a:lnTo>
                    <a:pt x="0" y="355600"/>
                  </a:lnTo>
                  <a:cubicBezTo>
                    <a:pt x="0" y="159258"/>
                    <a:pt x="159258" y="0"/>
                    <a:pt x="355600" y="0"/>
                  </a:cubicBezTo>
                  <a:close/>
                </a:path>
              </a:pathLst>
            </a:custGeom>
            <a:solidFill>
              <a:srgbClr val="FFE1D0"/>
            </a:solidFill>
          </p:spPr>
        </p:sp>
      </p:grpSp>
      <p:sp>
        <p:nvSpPr>
          <p:cNvPr name="TextBox 24" id="24"/>
          <p:cNvSpPr txBox="true"/>
          <p:nvPr/>
        </p:nvSpPr>
        <p:spPr>
          <a:xfrm rot="0">
            <a:off x="914400" y="6625685"/>
            <a:ext cx="7391400" cy="1133475"/>
          </a:xfrm>
          <a:prstGeom prst="rect">
            <a:avLst/>
          </a:prstGeom>
        </p:spPr>
        <p:txBody>
          <a:bodyPr anchor="t" rtlCol="false" tIns="0" lIns="0" bIns="0" rIns="0">
            <a:spAutoFit/>
          </a:bodyPr>
          <a:lstStyle/>
          <a:p>
            <a:pPr algn="l">
              <a:lnSpc>
                <a:spcPts val="3045"/>
              </a:lnSpc>
            </a:pPr>
            <a:r>
              <a:rPr lang="en-US" b="true" sz="2175">
                <a:solidFill>
                  <a:srgbClr val="643312"/>
                </a:solidFill>
                <a:latin typeface="Arimo Bold"/>
                <a:ea typeface="Arimo Bold"/>
                <a:cs typeface="Arimo Bold"/>
                <a:sym typeface="Arimo Bold"/>
              </a:rPr>
              <a:t>Tip </a:t>
            </a:r>
            <a:r>
              <a:rPr lang="en-US" b="true" sz="2175">
                <a:solidFill>
                  <a:srgbClr val="201E1D"/>
                </a:solidFill>
                <a:latin typeface="Arimo Bold"/>
                <a:ea typeface="Arimo Bold"/>
                <a:cs typeface="Arimo Bold"/>
                <a:sym typeface="Arimo Bold"/>
              </a:rPr>
              <a:t>Line up the = signs and write every step. Check by substituting: 3 × 4 + 1 = 13.</a:t>
            </a:r>
          </a:p>
        </p:txBody>
      </p:sp>
      <p:grpSp>
        <p:nvGrpSpPr>
          <p:cNvPr name="Group 25" id="25"/>
          <p:cNvGrpSpPr/>
          <p:nvPr/>
        </p:nvGrpSpPr>
        <p:grpSpPr>
          <a:xfrm rot="0">
            <a:off x="916495" y="9010650"/>
            <a:ext cx="2333625" cy="666750"/>
            <a:chOff x="0" y="0"/>
            <a:chExt cx="3111500" cy="889000"/>
          </a:xfrm>
        </p:grpSpPr>
        <p:sp>
          <p:nvSpPr>
            <p:cNvPr name="Freeform 26" id="26"/>
            <p:cNvSpPr/>
            <p:nvPr/>
          </p:nvSpPr>
          <p:spPr>
            <a:xfrm flipH="false" flipV="false" rot="0">
              <a:off x="0" y="0"/>
              <a:ext cx="3111500" cy="889000"/>
            </a:xfrm>
            <a:custGeom>
              <a:avLst/>
              <a:gdLst/>
              <a:ahLst/>
              <a:cxnLst/>
              <a:rect r="r" b="b" t="t" l="l"/>
              <a:pathLst>
                <a:path h="889000" w="3111500">
                  <a:moveTo>
                    <a:pt x="444500" y="0"/>
                  </a:moveTo>
                  <a:lnTo>
                    <a:pt x="2667000" y="0"/>
                  </a:lnTo>
                  <a:cubicBezTo>
                    <a:pt x="2912491" y="0"/>
                    <a:pt x="3111500" y="199009"/>
                    <a:pt x="3111500" y="444500"/>
                  </a:cubicBezTo>
                  <a:cubicBezTo>
                    <a:pt x="3111500" y="689991"/>
                    <a:pt x="2912491" y="889000"/>
                    <a:pt x="26670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sp>
          <p:nvSpPr>
            <p:cNvPr name="TextBox 27" id="27"/>
            <p:cNvSpPr txBox="true"/>
            <p:nvPr/>
          </p:nvSpPr>
          <p:spPr>
            <a:xfrm>
              <a:off x="0" y="-19050"/>
              <a:ext cx="3111500" cy="908050"/>
            </a:xfrm>
            <a:prstGeom prst="rect">
              <a:avLst/>
            </a:prstGeom>
          </p:spPr>
          <p:txBody>
            <a:bodyPr anchor="t" rtlCol="false" tIns="203200" lIns="203200" bIns="203200" rIns="203200"/>
            <a:lstStyle/>
            <a:p>
              <a:pPr algn="ctr">
                <a:lnSpc>
                  <a:spcPts val="2700"/>
                </a:lnSpc>
              </a:pPr>
              <a:r>
                <a:rPr lang="en-US" b="true" sz="2250" spc="-44">
                  <a:solidFill>
                    <a:srgbClr val="F5EAD8"/>
                  </a:solidFill>
                  <a:latin typeface="Arimo Bold"/>
                  <a:ea typeface="Arimo Bold"/>
                  <a:cs typeface="Arimo Bold"/>
                  <a:sym typeface="Arimo Bold"/>
                </a:rPr>
                <a:t>Next step →</a:t>
              </a:r>
            </a:p>
          </p:txBody>
        </p:sp>
      </p:grpSp>
      <p:sp>
        <p:nvSpPr>
          <p:cNvPr name="TextBox 28" id="28"/>
          <p:cNvSpPr txBox="true"/>
          <p:nvPr/>
        </p:nvSpPr>
        <p:spPr>
          <a:xfrm rot="0">
            <a:off x="3405759" y="8991600"/>
            <a:ext cx="2143125" cy="685800"/>
          </a:xfrm>
          <a:prstGeom prst="rect">
            <a:avLst/>
          </a:prstGeom>
        </p:spPr>
        <p:txBody>
          <a:bodyPr anchor="t" rtlCol="false" tIns="0" lIns="0" bIns="0" rIns="0">
            <a:spAutoFit/>
          </a:bodyPr>
          <a:lstStyle/>
          <a:p>
            <a:pPr algn="ctr">
              <a:lnSpc>
                <a:spcPts val="2700"/>
              </a:lnSpc>
            </a:pPr>
            <a:r>
              <a:rPr lang="en-US" b="true" sz="2250" spc="-44">
                <a:solidFill>
                  <a:srgbClr val="201E1D"/>
                </a:solidFill>
                <a:latin typeface="Arimo Bold"/>
                <a:ea typeface="Arimo Bold"/>
                <a:cs typeface="Arimo Bold"/>
                <a:sym typeface="Arimo Bold"/>
              </a:rPr>
              <a:t>Start again</a:t>
            </a:r>
          </a:p>
        </p:txBody>
      </p:sp>
      <p:grpSp>
        <p:nvGrpSpPr>
          <p:cNvPr name="Group 29" id="29"/>
          <p:cNvGrpSpPr/>
          <p:nvPr/>
        </p:nvGrpSpPr>
        <p:grpSpPr>
          <a:xfrm rot="0">
            <a:off x="1062228" y="4977384"/>
            <a:ext cx="475488" cy="475488"/>
            <a:chOff x="0" y="0"/>
            <a:chExt cx="633984" cy="633984"/>
          </a:xfrm>
        </p:grpSpPr>
        <p:sp>
          <p:nvSpPr>
            <p:cNvPr name="Freeform 30" id="30"/>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C67139"/>
            </a:solidFill>
          </p:spPr>
        </p:sp>
      </p:grpSp>
      <p:sp>
        <p:nvSpPr>
          <p:cNvPr name="TextBox 31" id="31"/>
          <p:cNvSpPr txBox="true"/>
          <p:nvPr/>
        </p:nvSpPr>
        <p:spPr>
          <a:xfrm rot="0">
            <a:off x="1062228" y="4948809"/>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1</a:t>
            </a:r>
          </a:p>
        </p:txBody>
      </p:sp>
      <p:sp>
        <p:nvSpPr>
          <p:cNvPr name="TextBox 32" id="32"/>
          <p:cNvSpPr txBox="true"/>
          <p:nvPr/>
        </p:nvSpPr>
        <p:spPr>
          <a:xfrm rot="0">
            <a:off x="1700022" y="4975384"/>
            <a:ext cx="3767328" cy="431673"/>
          </a:xfrm>
          <a:prstGeom prst="rect">
            <a:avLst/>
          </a:prstGeom>
        </p:spPr>
        <p:txBody>
          <a:bodyPr anchor="t" rtlCol="false" tIns="0" lIns="0" bIns="0" rIns="0">
            <a:spAutoFit/>
          </a:bodyPr>
          <a:lstStyle/>
          <a:p>
            <a:pPr algn="l">
              <a:lnSpc>
                <a:spcPts val="3041"/>
              </a:lnSpc>
            </a:pPr>
            <a:r>
              <a:rPr lang="en-US" b="true" sz="2304">
                <a:solidFill>
                  <a:srgbClr val="201E1D"/>
                </a:solidFill>
                <a:latin typeface="Arimo Bold"/>
                <a:ea typeface="Arimo Bold"/>
                <a:cs typeface="Arimo Bold"/>
                <a:sym typeface="Arimo Bold"/>
              </a:rPr>
              <a:t>Put 3x + 1 = 13 on the scales.</a:t>
            </a:r>
          </a:p>
        </p:txBody>
      </p:sp>
      <p:grpSp>
        <p:nvGrpSpPr>
          <p:cNvPr name="Group 33" id="33"/>
          <p:cNvGrpSpPr/>
          <p:nvPr/>
        </p:nvGrpSpPr>
        <p:grpSpPr>
          <a:xfrm rot="0">
            <a:off x="1062228" y="5586984"/>
            <a:ext cx="475488" cy="475488"/>
            <a:chOff x="0" y="0"/>
            <a:chExt cx="633984" cy="633984"/>
          </a:xfrm>
        </p:grpSpPr>
        <p:sp>
          <p:nvSpPr>
            <p:cNvPr name="Freeform 34" id="34"/>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7A8A5E"/>
            </a:solidFill>
          </p:spPr>
        </p:sp>
      </p:grpSp>
      <p:sp>
        <p:nvSpPr>
          <p:cNvPr name="TextBox 35" id="35"/>
          <p:cNvSpPr txBox="true"/>
          <p:nvPr/>
        </p:nvSpPr>
        <p:spPr>
          <a:xfrm rot="0">
            <a:off x="1062228" y="5558409"/>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2</a:t>
            </a:r>
          </a:p>
        </p:txBody>
      </p:sp>
      <p:sp>
        <p:nvSpPr>
          <p:cNvPr name="TextBox 36" id="36"/>
          <p:cNvSpPr txBox="true"/>
          <p:nvPr/>
        </p:nvSpPr>
        <p:spPr>
          <a:xfrm rot="0">
            <a:off x="1704213" y="5584984"/>
            <a:ext cx="4590288" cy="431673"/>
          </a:xfrm>
          <a:prstGeom prst="rect">
            <a:avLst/>
          </a:prstGeom>
        </p:spPr>
        <p:txBody>
          <a:bodyPr anchor="t" rtlCol="false" tIns="0" lIns="0" bIns="0" rIns="0">
            <a:spAutoFit/>
          </a:bodyPr>
          <a:lstStyle/>
          <a:p>
            <a:pPr algn="l">
              <a:lnSpc>
                <a:spcPts val="3041"/>
              </a:lnSpc>
            </a:pPr>
            <a:r>
              <a:rPr lang="en-US" b="true" sz="2304">
                <a:solidFill>
                  <a:srgbClr val="201E1D"/>
                </a:solidFill>
                <a:latin typeface="Arimo Bold"/>
                <a:ea typeface="Arimo Bold"/>
                <a:cs typeface="Arimo Bold"/>
                <a:sym typeface="Arimo Bold"/>
              </a:rPr>
              <a:t>Subtract 1 from both sides: 3x = 12</a:t>
            </a:r>
          </a:p>
        </p:txBody>
      </p:sp>
      <p:grpSp>
        <p:nvGrpSpPr>
          <p:cNvPr name="Group 37" id="37"/>
          <p:cNvGrpSpPr/>
          <p:nvPr/>
        </p:nvGrpSpPr>
        <p:grpSpPr>
          <a:xfrm rot="0">
            <a:off x="1062228" y="6196584"/>
            <a:ext cx="475488" cy="475488"/>
            <a:chOff x="0" y="0"/>
            <a:chExt cx="633984" cy="633984"/>
          </a:xfrm>
        </p:grpSpPr>
        <p:sp>
          <p:nvSpPr>
            <p:cNvPr name="Freeform 38" id="38"/>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C67139"/>
            </a:solidFill>
          </p:spPr>
        </p:sp>
      </p:grpSp>
      <p:sp>
        <p:nvSpPr>
          <p:cNvPr name="TextBox 39" id="39"/>
          <p:cNvSpPr txBox="true"/>
          <p:nvPr/>
        </p:nvSpPr>
        <p:spPr>
          <a:xfrm rot="0">
            <a:off x="1062228" y="6168009"/>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3</a:t>
            </a:r>
          </a:p>
        </p:txBody>
      </p:sp>
      <p:sp>
        <p:nvSpPr>
          <p:cNvPr name="TextBox 40" id="40"/>
          <p:cNvSpPr txBox="true"/>
          <p:nvPr/>
        </p:nvSpPr>
        <p:spPr>
          <a:xfrm rot="0">
            <a:off x="1702689" y="6194584"/>
            <a:ext cx="3730752" cy="431673"/>
          </a:xfrm>
          <a:prstGeom prst="rect">
            <a:avLst/>
          </a:prstGeom>
        </p:spPr>
        <p:txBody>
          <a:bodyPr anchor="t" rtlCol="false" tIns="0" lIns="0" bIns="0" rIns="0">
            <a:spAutoFit/>
          </a:bodyPr>
          <a:lstStyle/>
          <a:p>
            <a:pPr algn="l">
              <a:lnSpc>
                <a:spcPts val="3041"/>
              </a:lnSpc>
            </a:pPr>
            <a:r>
              <a:rPr lang="en-US" b="true" sz="2304">
                <a:solidFill>
                  <a:srgbClr val="201E1D"/>
                </a:solidFill>
                <a:latin typeface="Arimo Bold"/>
                <a:ea typeface="Arimo Bold"/>
                <a:cs typeface="Arimo Bold"/>
                <a:sym typeface="Arimo Bold"/>
              </a:rPr>
              <a:t>Divide both sides by 3: x = 4</a:t>
            </a:r>
          </a:p>
        </p:txBody>
      </p:sp>
      <p:grpSp>
        <p:nvGrpSpPr>
          <p:cNvPr name="Group 41" id="41"/>
          <p:cNvGrpSpPr/>
          <p:nvPr/>
        </p:nvGrpSpPr>
        <p:grpSpPr>
          <a:xfrm rot="0">
            <a:off x="8801100" y="609600"/>
            <a:ext cx="8572500" cy="9067800"/>
            <a:chOff x="0" y="0"/>
            <a:chExt cx="11430000" cy="12090400"/>
          </a:xfrm>
        </p:grpSpPr>
        <p:sp>
          <p:nvSpPr>
            <p:cNvPr name="Freeform 42" id="42"/>
            <p:cNvSpPr/>
            <p:nvPr/>
          </p:nvSpPr>
          <p:spPr>
            <a:xfrm flipH="false" flipV="false" rot="0">
              <a:off x="0" y="0"/>
              <a:ext cx="11430000" cy="12090400"/>
            </a:xfrm>
            <a:custGeom>
              <a:avLst/>
              <a:gdLst/>
              <a:ahLst/>
              <a:cxnLst/>
              <a:rect r="r" b="b" t="t" l="l"/>
              <a:pathLst>
                <a:path h="12090400" w="11430000">
                  <a:moveTo>
                    <a:pt x="711200" y="0"/>
                  </a:moveTo>
                  <a:lnTo>
                    <a:pt x="10718800" y="0"/>
                  </a:lnTo>
                  <a:cubicBezTo>
                    <a:pt x="11111611" y="0"/>
                    <a:pt x="11430000" y="318389"/>
                    <a:pt x="11430000" y="711200"/>
                  </a:cubicBezTo>
                  <a:lnTo>
                    <a:pt x="11430000" y="11379200"/>
                  </a:lnTo>
                  <a:cubicBezTo>
                    <a:pt x="11430000" y="11772011"/>
                    <a:pt x="11111611" y="12090400"/>
                    <a:pt x="10718800" y="12090400"/>
                  </a:cubicBezTo>
                  <a:lnTo>
                    <a:pt x="711200" y="12090400"/>
                  </a:lnTo>
                  <a:cubicBezTo>
                    <a:pt x="318389" y="12090400"/>
                    <a:pt x="0" y="11772011"/>
                    <a:pt x="0" y="11379200"/>
                  </a:cubicBezTo>
                  <a:lnTo>
                    <a:pt x="0" y="711200"/>
                  </a:lnTo>
                  <a:cubicBezTo>
                    <a:pt x="0" y="318389"/>
                    <a:pt x="318389" y="0"/>
                    <a:pt x="711200" y="0"/>
                  </a:cubicBezTo>
                  <a:close/>
                </a:path>
              </a:pathLst>
            </a:custGeom>
            <a:solidFill>
              <a:srgbClr val="EBDDC5"/>
            </a:solidFill>
          </p:spPr>
        </p:sp>
      </p:gr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FFE1D0"/>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CCDBB2"/>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FFC6A5"/>
            </a:solidFill>
          </p:spPr>
        </p:sp>
      </p:grpSp>
      <p:grpSp>
        <p:nvGrpSpPr>
          <p:cNvPr name="Group 9" id="9"/>
          <p:cNvGrpSpPr/>
          <p:nvPr/>
        </p:nvGrpSpPr>
        <p:grpSpPr>
          <a:xfrm rot="0">
            <a:off x="913733" y="611505"/>
            <a:ext cx="3619500" cy="600075"/>
            <a:chOff x="0" y="0"/>
            <a:chExt cx="4826000" cy="800100"/>
          </a:xfrm>
        </p:grpSpPr>
        <p:sp>
          <p:nvSpPr>
            <p:cNvPr name="Freeform 10" id="10"/>
            <p:cNvSpPr/>
            <p:nvPr/>
          </p:nvSpPr>
          <p:spPr>
            <a:xfrm flipH="false" flipV="false" rot="0">
              <a:off x="0" y="0"/>
              <a:ext cx="4826000" cy="800100"/>
            </a:xfrm>
            <a:custGeom>
              <a:avLst/>
              <a:gdLst/>
              <a:ahLst/>
              <a:cxnLst/>
              <a:rect r="r" b="b" t="t" l="l"/>
              <a:pathLst>
                <a:path h="800100" w="4826000">
                  <a:moveTo>
                    <a:pt x="400050" y="0"/>
                  </a:moveTo>
                  <a:lnTo>
                    <a:pt x="4425950" y="0"/>
                  </a:lnTo>
                  <a:cubicBezTo>
                    <a:pt x="4646930" y="0"/>
                    <a:pt x="4826000" y="179070"/>
                    <a:pt x="4826000" y="400050"/>
                  </a:cubicBezTo>
                  <a:cubicBezTo>
                    <a:pt x="4826000" y="621030"/>
                    <a:pt x="4646930" y="800100"/>
                    <a:pt x="4425950" y="800100"/>
                  </a:cubicBezTo>
                  <a:lnTo>
                    <a:pt x="400050" y="800100"/>
                  </a:lnTo>
                  <a:cubicBezTo>
                    <a:pt x="179070" y="800100"/>
                    <a:pt x="0" y="621030"/>
                    <a:pt x="0" y="400050"/>
                  </a:cubicBezTo>
                  <a:cubicBezTo>
                    <a:pt x="0" y="179070"/>
                    <a:pt x="179070" y="0"/>
                    <a:pt x="400050" y="0"/>
                  </a:cubicBezTo>
                  <a:close/>
                </a:path>
              </a:pathLst>
            </a:custGeom>
            <a:solidFill>
              <a:srgbClr val="8C491A"/>
            </a:solidFill>
          </p:spPr>
        </p:sp>
        <p:sp>
          <p:nvSpPr>
            <p:cNvPr name="TextBox 11" id="11"/>
            <p:cNvSpPr txBox="true"/>
            <p:nvPr/>
          </p:nvSpPr>
          <p:spPr>
            <a:xfrm>
              <a:off x="0" y="-76200"/>
              <a:ext cx="48260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WORKED EXAMPLE 1A</a:t>
              </a:r>
            </a:p>
          </p:txBody>
        </p:sp>
      </p:grpSp>
      <p:sp>
        <p:nvSpPr>
          <p:cNvPr name="TextBox 12" id="12"/>
          <p:cNvSpPr txBox="true"/>
          <p:nvPr/>
        </p:nvSpPr>
        <p:spPr>
          <a:xfrm rot="0">
            <a:off x="4724590" y="630555"/>
            <a:ext cx="1743075" cy="485775"/>
          </a:xfrm>
          <a:prstGeom prst="rect">
            <a:avLst/>
          </a:prstGeom>
        </p:spPr>
        <p:txBody>
          <a:bodyPr anchor="t" rtlCol="false" tIns="0" lIns="0" bIns="0" rIns="0">
            <a:spAutoFit/>
          </a:bodyPr>
          <a:lstStyle/>
          <a:p>
            <a:pPr algn="l">
              <a:lnSpc>
                <a:spcPts val="3255"/>
              </a:lnSpc>
            </a:pPr>
            <a:r>
              <a:rPr lang="en-US" b="true" sz="2100">
                <a:solidFill>
                  <a:srgbClr val="3D472B"/>
                </a:solidFill>
                <a:latin typeface="Arimo Bold"/>
                <a:ea typeface="Arimo Bold"/>
                <a:cs typeface="Arimo Bold"/>
                <a:sym typeface="Arimo Bold"/>
              </a:rPr>
              <a:t>6.1 · Equations</a:t>
            </a:r>
          </a:p>
        </p:txBody>
      </p:sp>
      <p:sp>
        <p:nvSpPr>
          <p:cNvPr name="TextBox 13" id="13"/>
          <p:cNvSpPr txBox="true"/>
          <p:nvPr/>
        </p:nvSpPr>
        <p:spPr>
          <a:xfrm rot="0">
            <a:off x="914400" y="1472089"/>
            <a:ext cx="7391400" cy="523875"/>
          </a:xfrm>
          <a:prstGeom prst="rect">
            <a:avLst/>
          </a:prstGeom>
        </p:spPr>
        <p:txBody>
          <a:bodyPr anchor="t" rtlCol="false" tIns="0" lIns="0" bIns="0" rIns="0">
            <a:spAutoFit/>
          </a:bodyPr>
          <a:lstStyle/>
          <a:p>
            <a:pPr algn="l">
              <a:lnSpc>
                <a:spcPts val="4524"/>
              </a:lnSpc>
            </a:pPr>
            <a:r>
              <a:rPr lang="en-US" b="true" sz="4350" spc="-86">
                <a:solidFill>
                  <a:srgbClr val="201E1D"/>
                </a:solidFill>
                <a:latin typeface="Arimo Bold"/>
                <a:ea typeface="Arimo Bold"/>
                <a:cs typeface="Arimo Bold"/>
                <a:sym typeface="Arimo Bold"/>
              </a:rPr>
              <a:t>x on both sides</a:t>
            </a:r>
          </a:p>
        </p:txBody>
      </p:sp>
      <p:sp>
        <p:nvSpPr>
          <p:cNvPr name="TextBox 14" id="14"/>
          <p:cNvSpPr txBox="true"/>
          <p:nvPr/>
        </p:nvSpPr>
        <p:spPr>
          <a:xfrm rot="0">
            <a:off x="914400" y="2141220"/>
            <a:ext cx="7391400" cy="571500"/>
          </a:xfrm>
          <a:prstGeom prst="rect">
            <a:avLst/>
          </a:prstGeom>
        </p:spPr>
        <p:txBody>
          <a:bodyPr anchor="t" rtlCol="false" tIns="0" lIns="0" bIns="0" rIns="0">
            <a:spAutoFit/>
          </a:bodyPr>
          <a:lstStyle/>
          <a:p>
            <a:pPr algn="l">
              <a:lnSpc>
                <a:spcPts val="3990"/>
              </a:lnSpc>
            </a:pPr>
            <a:r>
              <a:rPr lang="en-US" b="true" sz="2850">
                <a:solidFill>
                  <a:srgbClr val="201E1D"/>
                </a:solidFill>
                <a:latin typeface="Arimo Bold"/>
                <a:ea typeface="Arimo Bold"/>
                <a:cs typeface="Arimo Bold"/>
                <a:sym typeface="Arimo Bold"/>
              </a:rPr>
              <a:t>Solve 5x − 2 = 3x + 6</a:t>
            </a:r>
          </a:p>
        </p:txBody>
      </p:sp>
      <p:grpSp>
        <p:nvGrpSpPr>
          <p:cNvPr name="Group 15" id="15"/>
          <p:cNvGrpSpPr/>
          <p:nvPr/>
        </p:nvGrpSpPr>
        <p:grpSpPr>
          <a:xfrm rot="0">
            <a:off x="914400" y="5457634"/>
            <a:ext cx="7391400" cy="1076325"/>
            <a:chOff x="0" y="0"/>
            <a:chExt cx="9855200" cy="1435100"/>
          </a:xfrm>
        </p:grpSpPr>
        <p:sp>
          <p:nvSpPr>
            <p:cNvPr name="Freeform 16" id="16"/>
            <p:cNvSpPr/>
            <p:nvPr/>
          </p:nvSpPr>
          <p:spPr>
            <a:xfrm flipH="false" flipV="false" rot="0">
              <a:off x="0" y="0"/>
              <a:ext cx="9855200" cy="1435100"/>
            </a:xfrm>
            <a:custGeom>
              <a:avLst/>
              <a:gdLst/>
              <a:ahLst/>
              <a:cxnLst/>
              <a:rect r="r" b="b" t="t" l="l"/>
              <a:pathLst>
                <a:path h="1435100" w="9855200">
                  <a:moveTo>
                    <a:pt x="355600" y="0"/>
                  </a:moveTo>
                  <a:lnTo>
                    <a:pt x="9499600" y="0"/>
                  </a:lnTo>
                  <a:cubicBezTo>
                    <a:pt x="9695942" y="0"/>
                    <a:pt x="9855200" y="159258"/>
                    <a:pt x="9855200" y="355600"/>
                  </a:cubicBezTo>
                  <a:lnTo>
                    <a:pt x="9855200" y="1079500"/>
                  </a:lnTo>
                  <a:cubicBezTo>
                    <a:pt x="9855200" y="1275842"/>
                    <a:pt x="9695942" y="1435100"/>
                    <a:pt x="9499600" y="1435100"/>
                  </a:cubicBezTo>
                  <a:lnTo>
                    <a:pt x="355600" y="1435100"/>
                  </a:lnTo>
                  <a:cubicBezTo>
                    <a:pt x="159258" y="1435100"/>
                    <a:pt x="0" y="1275842"/>
                    <a:pt x="0" y="1079500"/>
                  </a:cubicBezTo>
                  <a:lnTo>
                    <a:pt x="0" y="355600"/>
                  </a:lnTo>
                  <a:cubicBezTo>
                    <a:pt x="0" y="159258"/>
                    <a:pt x="159258" y="0"/>
                    <a:pt x="355600" y="0"/>
                  </a:cubicBezTo>
                  <a:close/>
                </a:path>
              </a:pathLst>
            </a:custGeom>
            <a:solidFill>
              <a:srgbClr val="FFE1D0"/>
            </a:solidFill>
          </p:spPr>
        </p:sp>
      </p:grpSp>
      <p:sp>
        <p:nvSpPr>
          <p:cNvPr name="TextBox 17" id="17"/>
          <p:cNvSpPr txBox="true"/>
          <p:nvPr/>
        </p:nvSpPr>
        <p:spPr>
          <a:xfrm rot="0">
            <a:off x="914400" y="5400484"/>
            <a:ext cx="7391400" cy="1133475"/>
          </a:xfrm>
          <a:prstGeom prst="rect">
            <a:avLst/>
          </a:prstGeom>
        </p:spPr>
        <p:txBody>
          <a:bodyPr anchor="t" rtlCol="false" tIns="0" lIns="0" bIns="0" rIns="0">
            <a:spAutoFit/>
          </a:bodyPr>
          <a:lstStyle/>
          <a:p>
            <a:pPr algn="l">
              <a:lnSpc>
                <a:spcPts val="3045"/>
              </a:lnSpc>
            </a:pPr>
            <a:r>
              <a:rPr lang="en-US" b="true" sz="2175">
                <a:solidFill>
                  <a:srgbClr val="643312"/>
                </a:solidFill>
                <a:latin typeface="Arimo Bold"/>
                <a:ea typeface="Arimo Bold"/>
                <a:cs typeface="Arimo Bold"/>
                <a:sym typeface="Arimo Bold"/>
              </a:rPr>
              <a:t>Tip </a:t>
            </a:r>
            <a:r>
              <a:rPr lang="en-US" b="true" sz="2175">
                <a:solidFill>
                  <a:srgbClr val="201E1D"/>
                </a:solidFill>
                <a:latin typeface="Arimo Bold"/>
                <a:ea typeface="Arimo Bold"/>
                <a:cs typeface="Arimo Bold"/>
                <a:sym typeface="Arimo Bold"/>
              </a:rPr>
              <a:t>Subtract the smaller x term. Subtracting 5x instead would leave −2x, a negative coefficient.</a:t>
            </a:r>
          </a:p>
        </p:txBody>
      </p:sp>
      <p:grpSp>
        <p:nvGrpSpPr>
          <p:cNvPr name="Group 18" id="18"/>
          <p:cNvGrpSpPr/>
          <p:nvPr/>
        </p:nvGrpSpPr>
        <p:grpSpPr>
          <a:xfrm rot="0">
            <a:off x="916495" y="9010650"/>
            <a:ext cx="2333625" cy="666750"/>
            <a:chOff x="0" y="0"/>
            <a:chExt cx="3111500" cy="889000"/>
          </a:xfrm>
        </p:grpSpPr>
        <p:sp>
          <p:nvSpPr>
            <p:cNvPr name="Freeform 19" id="19"/>
            <p:cNvSpPr/>
            <p:nvPr/>
          </p:nvSpPr>
          <p:spPr>
            <a:xfrm flipH="false" flipV="false" rot="0">
              <a:off x="0" y="0"/>
              <a:ext cx="3111500" cy="889000"/>
            </a:xfrm>
            <a:custGeom>
              <a:avLst/>
              <a:gdLst/>
              <a:ahLst/>
              <a:cxnLst/>
              <a:rect r="r" b="b" t="t" l="l"/>
              <a:pathLst>
                <a:path h="889000" w="3111500">
                  <a:moveTo>
                    <a:pt x="444500" y="0"/>
                  </a:moveTo>
                  <a:lnTo>
                    <a:pt x="2667000" y="0"/>
                  </a:lnTo>
                  <a:cubicBezTo>
                    <a:pt x="2912491" y="0"/>
                    <a:pt x="3111500" y="199009"/>
                    <a:pt x="3111500" y="444500"/>
                  </a:cubicBezTo>
                  <a:cubicBezTo>
                    <a:pt x="3111500" y="689991"/>
                    <a:pt x="2912491" y="889000"/>
                    <a:pt x="26670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sp>
          <p:nvSpPr>
            <p:cNvPr name="TextBox 20" id="20"/>
            <p:cNvSpPr txBox="true"/>
            <p:nvPr/>
          </p:nvSpPr>
          <p:spPr>
            <a:xfrm>
              <a:off x="0" y="-19050"/>
              <a:ext cx="3111500" cy="908050"/>
            </a:xfrm>
            <a:prstGeom prst="rect">
              <a:avLst/>
            </a:prstGeom>
          </p:spPr>
          <p:txBody>
            <a:bodyPr anchor="t" rtlCol="false" tIns="203200" lIns="203200" bIns="203200" rIns="203200"/>
            <a:lstStyle/>
            <a:p>
              <a:pPr algn="ctr">
                <a:lnSpc>
                  <a:spcPts val="2700"/>
                </a:lnSpc>
              </a:pPr>
              <a:r>
                <a:rPr lang="en-US" b="true" sz="2250" spc="-44">
                  <a:solidFill>
                    <a:srgbClr val="F5EAD8"/>
                  </a:solidFill>
                  <a:latin typeface="Arimo Bold"/>
                  <a:ea typeface="Arimo Bold"/>
                  <a:cs typeface="Arimo Bold"/>
                  <a:sym typeface="Arimo Bold"/>
                </a:rPr>
                <a:t>Next step →</a:t>
              </a:r>
            </a:p>
          </p:txBody>
        </p:sp>
      </p:grpSp>
      <p:sp>
        <p:nvSpPr>
          <p:cNvPr name="TextBox 21" id="21"/>
          <p:cNvSpPr txBox="true"/>
          <p:nvPr/>
        </p:nvSpPr>
        <p:spPr>
          <a:xfrm rot="0">
            <a:off x="3405759" y="8991600"/>
            <a:ext cx="2143125" cy="685800"/>
          </a:xfrm>
          <a:prstGeom prst="rect">
            <a:avLst/>
          </a:prstGeom>
        </p:spPr>
        <p:txBody>
          <a:bodyPr anchor="t" rtlCol="false" tIns="0" lIns="0" bIns="0" rIns="0">
            <a:spAutoFit/>
          </a:bodyPr>
          <a:lstStyle/>
          <a:p>
            <a:pPr algn="ctr">
              <a:lnSpc>
                <a:spcPts val="2700"/>
              </a:lnSpc>
            </a:pPr>
            <a:r>
              <a:rPr lang="en-US" b="true" sz="2250" spc="-44">
                <a:solidFill>
                  <a:srgbClr val="201E1D"/>
                </a:solidFill>
                <a:latin typeface="Arimo Bold"/>
                <a:ea typeface="Arimo Bold"/>
                <a:cs typeface="Arimo Bold"/>
                <a:sym typeface="Arimo Bold"/>
              </a:rPr>
              <a:t>Start again</a:t>
            </a:r>
          </a:p>
        </p:txBody>
      </p:sp>
      <p:grpSp>
        <p:nvGrpSpPr>
          <p:cNvPr name="Group 22" id="22"/>
          <p:cNvGrpSpPr/>
          <p:nvPr/>
        </p:nvGrpSpPr>
        <p:grpSpPr>
          <a:xfrm rot="0">
            <a:off x="1062228" y="3142583"/>
            <a:ext cx="475488" cy="475488"/>
            <a:chOff x="0" y="0"/>
            <a:chExt cx="633984" cy="633984"/>
          </a:xfrm>
        </p:grpSpPr>
        <p:sp>
          <p:nvSpPr>
            <p:cNvPr name="Freeform 23" id="23"/>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C67139"/>
            </a:solidFill>
          </p:spPr>
        </p:sp>
      </p:grpSp>
      <p:sp>
        <p:nvSpPr>
          <p:cNvPr name="TextBox 24" id="24"/>
          <p:cNvSpPr txBox="true"/>
          <p:nvPr/>
        </p:nvSpPr>
        <p:spPr>
          <a:xfrm rot="0">
            <a:off x="1062228" y="3114008"/>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1</a:t>
            </a:r>
          </a:p>
        </p:txBody>
      </p:sp>
      <p:sp>
        <p:nvSpPr>
          <p:cNvPr name="TextBox 25" id="25"/>
          <p:cNvSpPr txBox="true"/>
          <p:nvPr/>
        </p:nvSpPr>
        <p:spPr>
          <a:xfrm rot="0">
            <a:off x="1702880" y="3140583"/>
            <a:ext cx="4334256" cy="431673"/>
          </a:xfrm>
          <a:prstGeom prst="rect">
            <a:avLst/>
          </a:prstGeom>
        </p:spPr>
        <p:txBody>
          <a:bodyPr anchor="t" rtlCol="false" tIns="0" lIns="0" bIns="0" rIns="0">
            <a:spAutoFit/>
          </a:bodyPr>
          <a:lstStyle/>
          <a:p>
            <a:pPr algn="l">
              <a:lnSpc>
                <a:spcPts val="3041"/>
              </a:lnSpc>
            </a:pPr>
            <a:r>
              <a:rPr lang="en-US" b="true" sz="2304">
                <a:solidFill>
                  <a:srgbClr val="201E1D"/>
                </a:solidFill>
                <a:latin typeface="Arimo Bold"/>
                <a:ea typeface="Arimo Bold"/>
                <a:cs typeface="Arimo Bold"/>
                <a:sym typeface="Arimo Bold"/>
              </a:rPr>
              <a:t>Put 5x − 2 = 3x + 6 on the scales.</a:t>
            </a:r>
          </a:p>
        </p:txBody>
      </p:sp>
      <p:grpSp>
        <p:nvGrpSpPr>
          <p:cNvPr name="Group 26" id="26"/>
          <p:cNvGrpSpPr/>
          <p:nvPr/>
        </p:nvGrpSpPr>
        <p:grpSpPr>
          <a:xfrm rot="0">
            <a:off x="1062228" y="3752183"/>
            <a:ext cx="475488" cy="475488"/>
            <a:chOff x="0" y="0"/>
            <a:chExt cx="633984" cy="633984"/>
          </a:xfrm>
        </p:grpSpPr>
        <p:sp>
          <p:nvSpPr>
            <p:cNvPr name="Freeform 27" id="27"/>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7A8A5E"/>
            </a:solidFill>
          </p:spPr>
        </p:sp>
      </p:grpSp>
      <p:sp>
        <p:nvSpPr>
          <p:cNvPr name="TextBox 28" id="28"/>
          <p:cNvSpPr txBox="true"/>
          <p:nvPr/>
        </p:nvSpPr>
        <p:spPr>
          <a:xfrm rot="0">
            <a:off x="1062228" y="3723608"/>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2</a:t>
            </a:r>
          </a:p>
        </p:txBody>
      </p:sp>
      <p:sp>
        <p:nvSpPr>
          <p:cNvPr name="TextBox 29" id="29"/>
          <p:cNvSpPr txBox="true"/>
          <p:nvPr/>
        </p:nvSpPr>
        <p:spPr>
          <a:xfrm rot="0">
            <a:off x="1703070" y="3750183"/>
            <a:ext cx="5157216" cy="431673"/>
          </a:xfrm>
          <a:prstGeom prst="rect">
            <a:avLst/>
          </a:prstGeom>
        </p:spPr>
        <p:txBody>
          <a:bodyPr anchor="t" rtlCol="false" tIns="0" lIns="0" bIns="0" rIns="0">
            <a:spAutoFit/>
          </a:bodyPr>
          <a:lstStyle/>
          <a:p>
            <a:pPr algn="l">
              <a:lnSpc>
                <a:spcPts val="3041"/>
              </a:lnSpc>
            </a:pPr>
            <a:r>
              <a:rPr lang="en-US" b="true" sz="2304">
                <a:solidFill>
                  <a:srgbClr val="201E1D"/>
                </a:solidFill>
                <a:latin typeface="Arimo Bold"/>
                <a:ea typeface="Arimo Bold"/>
                <a:cs typeface="Arimo Bold"/>
                <a:sym typeface="Arimo Bold"/>
              </a:rPr>
              <a:t>Subtract 3x from both sides: 2x − 2 = 6</a:t>
            </a:r>
          </a:p>
        </p:txBody>
      </p:sp>
      <p:grpSp>
        <p:nvGrpSpPr>
          <p:cNvPr name="Group 30" id="30"/>
          <p:cNvGrpSpPr/>
          <p:nvPr/>
        </p:nvGrpSpPr>
        <p:grpSpPr>
          <a:xfrm rot="0">
            <a:off x="1062228" y="4361783"/>
            <a:ext cx="475488" cy="475488"/>
            <a:chOff x="0" y="0"/>
            <a:chExt cx="633984" cy="633984"/>
          </a:xfrm>
        </p:grpSpPr>
        <p:sp>
          <p:nvSpPr>
            <p:cNvPr name="Freeform 31" id="31"/>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C67139"/>
            </a:solidFill>
          </p:spPr>
        </p:sp>
      </p:grpSp>
      <p:sp>
        <p:nvSpPr>
          <p:cNvPr name="TextBox 32" id="32"/>
          <p:cNvSpPr txBox="true"/>
          <p:nvPr/>
        </p:nvSpPr>
        <p:spPr>
          <a:xfrm rot="0">
            <a:off x="1062228" y="4333208"/>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3</a:t>
            </a:r>
          </a:p>
        </p:txBody>
      </p:sp>
      <p:sp>
        <p:nvSpPr>
          <p:cNvPr name="TextBox 33" id="33"/>
          <p:cNvSpPr txBox="true"/>
          <p:nvPr/>
        </p:nvSpPr>
        <p:spPr>
          <a:xfrm rot="0">
            <a:off x="1702784" y="4359783"/>
            <a:ext cx="3557016" cy="431673"/>
          </a:xfrm>
          <a:prstGeom prst="rect">
            <a:avLst/>
          </a:prstGeom>
        </p:spPr>
        <p:txBody>
          <a:bodyPr anchor="t" rtlCol="false" tIns="0" lIns="0" bIns="0" rIns="0">
            <a:spAutoFit/>
          </a:bodyPr>
          <a:lstStyle/>
          <a:p>
            <a:pPr algn="l">
              <a:lnSpc>
                <a:spcPts val="3041"/>
              </a:lnSpc>
            </a:pPr>
            <a:r>
              <a:rPr lang="en-US" b="true" sz="2304">
                <a:solidFill>
                  <a:srgbClr val="201E1D"/>
                </a:solidFill>
                <a:latin typeface="Arimo Bold"/>
                <a:ea typeface="Arimo Bold"/>
                <a:cs typeface="Arimo Bold"/>
                <a:sym typeface="Arimo Bold"/>
              </a:rPr>
              <a:t>Add 2 to both sides: 2x = 8</a:t>
            </a:r>
          </a:p>
        </p:txBody>
      </p:sp>
      <p:grpSp>
        <p:nvGrpSpPr>
          <p:cNvPr name="Group 34" id="34"/>
          <p:cNvGrpSpPr/>
          <p:nvPr/>
        </p:nvGrpSpPr>
        <p:grpSpPr>
          <a:xfrm rot="0">
            <a:off x="1062228" y="4971383"/>
            <a:ext cx="475488" cy="475488"/>
            <a:chOff x="0" y="0"/>
            <a:chExt cx="633984" cy="633984"/>
          </a:xfrm>
        </p:grpSpPr>
        <p:sp>
          <p:nvSpPr>
            <p:cNvPr name="Freeform 35" id="35"/>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7A8A5E"/>
            </a:solidFill>
          </p:spPr>
        </p:sp>
      </p:grpSp>
      <p:sp>
        <p:nvSpPr>
          <p:cNvPr name="TextBox 36" id="36"/>
          <p:cNvSpPr txBox="true"/>
          <p:nvPr/>
        </p:nvSpPr>
        <p:spPr>
          <a:xfrm rot="0">
            <a:off x="1062228" y="4942808"/>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4</a:t>
            </a:r>
          </a:p>
        </p:txBody>
      </p:sp>
      <p:sp>
        <p:nvSpPr>
          <p:cNvPr name="TextBox 37" id="37"/>
          <p:cNvSpPr txBox="true"/>
          <p:nvPr/>
        </p:nvSpPr>
        <p:spPr>
          <a:xfrm rot="0">
            <a:off x="1700974" y="4969383"/>
            <a:ext cx="3739896" cy="431673"/>
          </a:xfrm>
          <a:prstGeom prst="rect">
            <a:avLst/>
          </a:prstGeom>
        </p:spPr>
        <p:txBody>
          <a:bodyPr anchor="t" rtlCol="false" tIns="0" lIns="0" bIns="0" rIns="0">
            <a:spAutoFit/>
          </a:bodyPr>
          <a:lstStyle/>
          <a:p>
            <a:pPr algn="l">
              <a:lnSpc>
                <a:spcPts val="3041"/>
              </a:lnSpc>
            </a:pPr>
            <a:r>
              <a:rPr lang="en-US" b="true" sz="2304">
                <a:solidFill>
                  <a:srgbClr val="201E1D"/>
                </a:solidFill>
                <a:latin typeface="Arimo Bold"/>
                <a:ea typeface="Arimo Bold"/>
                <a:cs typeface="Arimo Bold"/>
                <a:sym typeface="Arimo Bold"/>
              </a:rPr>
              <a:t>Divide both sides by 2: x = 4</a:t>
            </a:r>
          </a:p>
        </p:txBody>
      </p:sp>
      <p:grpSp>
        <p:nvGrpSpPr>
          <p:cNvPr name="Group 38" id="38"/>
          <p:cNvGrpSpPr/>
          <p:nvPr/>
        </p:nvGrpSpPr>
        <p:grpSpPr>
          <a:xfrm rot="0">
            <a:off x="8801100" y="609600"/>
            <a:ext cx="8572500" cy="9067800"/>
            <a:chOff x="0" y="0"/>
            <a:chExt cx="11430000" cy="12090400"/>
          </a:xfrm>
        </p:grpSpPr>
        <p:sp>
          <p:nvSpPr>
            <p:cNvPr name="Freeform 39" id="39"/>
            <p:cNvSpPr/>
            <p:nvPr/>
          </p:nvSpPr>
          <p:spPr>
            <a:xfrm flipH="false" flipV="false" rot="0">
              <a:off x="0" y="0"/>
              <a:ext cx="11430000" cy="12090400"/>
            </a:xfrm>
            <a:custGeom>
              <a:avLst/>
              <a:gdLst/>
              <a:ahLst/>
              <a:cxnLst/>
              <a:rect r="r" b="b" t="t" l="l"/>
              <a:pathLst>
                <a:path h="12090400" w="11430000">
                  <a:moveTo>
                    <a:pt x="711200" y="0"/>
                  </a:moveTo>
                  <a:lnTo>
                    <a:pt x="10718800" y="0"/>
                  </a:lnTo>
                  <a:cubicBezTo>
                    <a:pt x="11111611" y="0"/>
                    <a:pt x="11430000" y="318389"/>
                    <a:pt x="11430000" y="711200"/>
                  </a:cubicBezTo>
                  <a:lnTo>
                    <a:pt x="11430000" y="11379200"/>
                  </a:lnTo>
                  <a:cubicBezTo>
                    <a:pt x="11430000" y="11772011"/>
                    <a:pt x="11111611" y="12090400"/>
                    <a:pt x="10718800" y="12090400"/>
                  </a:cubicBezTo>
                  <a:lnTo>
                    <a:pt x="711200" y="12090400"/>
                  </a:lnTo>
                  <a:cubicBezTo>
                    <a:pt x="318389" y="12090400"/>
                    <a:pt x="0" y="11772011"/>
                    <a:pt x="0" y="11379200"/>
                  </a:cubicBezTo>
                  <a:lnTo>
                    <a:pt x="0" y="711200"/>
                  </a:lnTo>
                  <a:cubicBezTo>
                    <a:pt x="0" y="318389"/>
                    <a:pt x="318389" y="0"/>
                    <a:pt x="711200" y="0"/>
                  </a:cubicBezTo>
                  <a:close/>
                </a:path>
              </a:pathLst>
            </a:custGeom>
            <a:solidFill>
              <a:srgbClr val="EBDDC5"/>
            </a:solidFill>
          </p:spPr>
        </p:sp>
      </p:gr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FFE1D0"/>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CCDBB2"/>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FFC6A5"/>
            </a:solidFill>
          </p:spPr>
        </p:sp>
      </p:grpSp>
      <p:grpSp>
        <p:nvGrpSpPr>
          <p:cNvPr name="Group 9" id="9"/>
          <p:cNvGrpSpPr/>
          <p:nvPr/>
        </p:nvGrpSpPr>
        <p:grpSpPr>
          <a:xfrm rot="0">
            <a:off x="912209" y="611505"/>
            <a:ext cx="3590925" cy="600075"/>
            <a:chOff x="0" y="0"/>
            <a:chExt cx="4787900" cy="800100"/>
          </a:xfrm>
        </p:grpSpPr>
        <p:sp>
          <p:nvSpPr>
            <p:cNvPr name="Freeform 10" id="10"/>
            <p:cNvSpPr/>
            <p:nvPr/>
          </p:nvSpPr>
          <p:spPr>
            <a:xfrm flipH="false" flipV="false" rot="0">
              <a:off x="0" y="0"/>
              <a:ext cx="4787900" cy="800100"/>
            </a:xfrm>
            <a:custGeom>
              <a:avLst/>
              <a:gdLst/>
              <a:ahLst/>
              <a:cxnLst/>
              <a:rect r="r" b="b" t="t" l="l"/>
              <a:pathLst>
                <a:path h="800100" w="4787900">
                  <a:moveTo>
                    <a:pt x="400050" y="0"/>
                  </a:moveTo>
                  <a:lnTo>
                    <a:pt x="4387850" y="0"/>
                  </a:lnTo>
                  <a:cubicBezTo>
                    <a:pt x="4608830" y="0"/>
                    <a:pt x="4787900" y="179070"/>
                    <a:pt x="4787900" y="400050"/>
                  </a:cubicBezTo>
                  <a:cubicBezTo>
                    <a:pt x="4787900" y="621030"/>
                    <a:pt x="4608830" y="800100"/>
                    <a:pt x="4387850" y="800100"/>
                  </a:cubicBezTo>
                  <a:lnTo>
                    <a:pt x="400050" y="800100"/>
                  </a:lnTo>
                  <a:cubicBezTo>
                    <a:pt x="179070" y="800100"/>
                    <a:pt x="0" y="621030"/>
                    <a:pt x="0" y="400050"/>
                  </a:cubicBezTo>
                  <a:cubicBezTo>
                    <a:pt x="0" y="179070"/>
                    <a:pt x="179070" y="0"/>
                    <a:pt x="400050" y="0"/>
                  </a:cubicBezTo>
                  <a:close/>
                </a:path>
              </a:pathLst>
            </a:custGeom>
            <a:solidFill>
              <a:srgbClr val="8C491A"/>
            </a:solidFill>
          </p:spPr>
        </p:sp>
        <p:sp>
          <p:nvSpPr>
            <p:cNvPr name="TextBox 11" id="11"/>
            <p:cNvSpPr txBox="true"/>
            <p:nvPr/>
          </p:nvSpPr>
          <p:spPr>
            <a:xfrm>
              <a:off x="0" y="-76200"/>
              <a:ext cx="47879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WORKED EXAMPLE 1B</a:t>
              </a:r>
            </a:p>
          </p:txBody>
        </p:sp>
      </p:grpSp>
      <p:sp>
        <p:nvSpPr>
          <p:cNvPr name="TextBox 12" id="12"/>
          <p:cNvSpPr txBox="true"/>
          <p:nvPr/>
        </p:nvSpPr>
        <p:spPr>
          <a:xfrm rot="0">
            <a:off x="4692968" y="630555"/>
            <a:ext cx="1743075" cy="485775"/>
          </a:xfrm>
          <a:prstGeom prst="rect">
            <a:avLst/>
          </a:prstGeom>
        </p:spPr>
        <p:txBody>
          <a:bodyPr anchor="t" rtlCol="false" tIns="0" lIns="0" bIns="0" rIns="0">
            <a:spAutoFit/>
          </a:bodyPr>
          <a:lstStyle/>
          <a:p>
            <a:pPr algn="l">
              <a:lnSpc>
                <a:spcPts val="3255"/>
              </a:lnSpc>
            </a:pPr>
            <a:r>
              <a:rPr lang="en-US" b="true" sz="2100">
                <a:solidFill>
                  <a:srgbClr val="3D472B"/>
                </a:solidFill>
                <a:latin typeface="Arimo Bold"/>
                <a:ea typeface="Arimo Bold"/>
                <a:cs typeface="Arimo Bold"/>
                <a:sym typeface="Arimo Bold"/>
              </a:rPr>
              <a:t>6.1 · Equations</a:t>
            </a:r>
          </a:p>
        </p:txBody>
      </p:sp>
      <p:sp>
        <p:nvSpPr>
          <p:cNvPr name="TextBox 13" id="13"/>
          <p:cNvSpPr txBox="true"/>
          <p:nvPr/>
        </p:nvSpPr>
        <p:spPr>
          <a:xfrm rot="0">
            <a:off x="914400" y="1472089"/>
            <a:ext cx="7391400" cy="523875"/>
          </a:xfrm>
          <a:prstGeom prst="rect">
            <a:avLst/>
          </a:prstGeom>
        </p:spPr>
        <p:txBody>
          <a:bodyPr anchor="t" rtlCol="false" tIns="0" lIns="0" bIns="0" rIns="0">
            <a:spAutoFit/>
          </a:bodyPr>
          <a:lstStyle/>
          <a:p>
            <a:pPr algn="l">
              <a:lnSpc>
                <a:spcPts val="4524"/>
              </a:lnSpc>
            </a:pPr>
            <a:r>
              <a:rPr lang="en-US" b="true" sz="4350" spc="-86">
                <a:solidFill>
                  <a:srgbClr val="201E1D"/>
                </a:solidFill>
                <a:latin typeface="Arimo Bold"/>
                <a:ea typeface="Arimo Bold"/>
                <a:cs typeface="Arimo Bold"/>
                <a:sym typeface="Arimo Bold"/>
              </a:rPr>
              <a:t>A negative x term</a:t>
            </a:r>
          </a:p>
        </p:txBody>
      </p:sp>
      <p:sp>
        <p:nvSpPr>
          <p:cNvPr name="TextBox 14" id="14"/>
          <p:cNvSpPr txBox="true"/>
          <p:nvPr/>
        </p:nvSpPr>
        <p:spPr>
          <a:xfrm rot="0">
            <a:off x="914400" y="2141220"/>
            <a:ext cx="7391400" cy="571500"/>
          </a:xfrm>
          <a:prstGeom prst="rect">
            <a:avLst/>
          </a:prstGeom>
        </p:spPr>
        <p:txBody>
          <a:bodyPr anchor="t" rtlCol="false" tIns="0" lIns="0" bIns="0" rIns="0">
            <a:spAutoFit/>
          </a:bodyPr>
          <a:lstStyle/>
          <a:p>
            <a:pPr algn="l">
              <a:lnSpc>
                <a:spcPts val="3990"/>
              </a:lnSpc>
            </a:pPr>
            <a:r>
              <a:rPr lang="en-US" b="true" sz="2850">
                <a:solidFill>
                  <a:srgbClr val="201E1D"/>
                </a:solidFill>
                <a:latin typeface="Arimo Bold"/>
                <a:ea typeface="Arimo Bold"/>
                <a:cs typeface="Arimo Bold"/>
                <a:sym typeface="Arimo Bold"/>
              </a:rPr>
              <a:t>Solve 5x + 12 = 20 − 11x</a:t>
            </a:r>
          </a:p>
        </p:txBody>
      </p:sp>
      <p:grpSp>
        <p:nvGrpSpPr>
          <p:cNvPr name="Group 15" id="15"/>
          <p:cNvGrpSpPr/>
          <p:nvPr/>
        </p:nvGrpSpPr>
        <p:grpSpPr>
          <a:xfrm rot="0">
            <a:off x="916495" y="9010650"/>
            <a:ext cx="2333625" cy="666750"/>
            <a:chOff x="0" y="0"/>
            <a:chExt cx="3111500" cy="889000"/>
          </a:xfrm>
        </p:grpSpPr>
        <p:sp>
          <p:nvSpPr>
            <p:cNvPr name="Freeform 16" id="16"/>
            <p:cNvSpPr/>
            <p:nvPr/>
          </p:nvSpPr>
          <p:spPr>
            <a:xfrm flipH="false" flipV="false" rot="0">
              <a:off x="0" y="0"/>
              <a:ext cx="3111500" cy="889000"/>
            </a:xfrm>
            <a:custGeom>
              <a:avLst/>
              <a:gdLst/>
              <a:ahLst/>
              <a:cxnLst/>
              <a:rect r="r" b="b" t="t" l="l"/>
              <a:pathLst>
                <a:path h="889000" w="3111500">
                  <a:moveTo>
                    <a:pt x="444500" y="0"/>
                  </a:moveTo>
                  <a:lnTo>
                    <a:pt x="2667000" y="0"/>
                  </a:lnTo>
                  <a:cubicBezTo>
                    <a:pt x="2912491" y="0"/>
                    <a:pt x="3111500" y="199009"/>
                    <a:pt x="3111500" y="444500"/>
                  </a:cubicBezTo>
                  <a:cubicBezTo>
                    <a:pt x="3111500" y="689991"/>
                    <a:pt x="2912491" y="889000"/>
                    <a:pt x="26670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sp>
          <p:nvSpPr>
            <p:cNvPr name="TextBox 17" id="17"/>
            <p:cNvSpPr txBox="true"/>
            <p:nvPr/>
          </p:nvSpPr>
          <p:spPr>
            <a:xfrm>
              <a:off x="0" y="-19050"/>
              <a:ext cx="3111500" cy="908050"/>
            </a:xfrm>
            <a:prstGeom prst="rect">
              <a:avLst/>
            </a:prstGeom>
          </p:spPr>
          <p:txBody>
            <a:bodyPr anchor="t" rtlCol="false" tIns="203200" lIns="203200" bIns="203200" rIns="203200"/>
            <a:lstStyle/>
            <a:p>
              <a:pPr algn="ctr">
                <a:lnSpc>
                  <a:spcPts val="2700"/>
                </a:lnSpc>
              </a:pPr>
              <a:r>
                <a:rPr lang="en-US" b="true" sz="2250" spc="-44">
                  <a:solidFill>
                    <a:srgbClr val="F5EAD8"/>
                  </a:solidFill>
                  <a:latin typeface="Arimo Bold"/>
                  <a:ea typeface="Arimo Bold"/>
                  <a:cs typeface="Arimo Bold"/>
                  <a:sym typeface="Arimo Bold"/>
                </a:rPr>
                <a:t>Next step →</a:t>
              </a:r>
            </a:p>
          </p:txBody>
        </p:sp>
      </p:grpSp>
      <p:sp>
        <p:nvSpPr>
          <p:cNvPr name="TextBox 18" id="18"/>
          <p:cNvSpPr txBox="true"/>
          <p:nvPr/>
        </p:nvSpPr>
        <p:spPr>
          <a:xfrm rot="0">
            <a:off x="3405759" y="8991600"/>
            <a:ext cx="2143125" cy="685800"/>
          </a:xfrm>
          <a:prstGeom prst="rect">
            <a:avLst/>
          </a:prstGeom>
        </p:spPr>
        <p:txBody>
          <a:bodyPr anchor="t" rtlCol="false" tIns="0" lIns="0" bIns="0" rIns="0">
            <a:spAutoFit/>
          </a:bodyPr>
          <a:lstStyle/>
          <a:p>
            <a:pPr algn="ctr">
              <a:lnSpc>
                <a:spcPts val="2700"/>
              </a:lnSpc>
            </a:pPr>
            <a:r>
              <a:rPr lang="en-US" b="true" sz="2250" spc="-44">
                <a:solidFill>
                  <a:srgbClr val="201E1D"/>
                </a:solidFill>
                <a:latin typeface="Arimo Bold"/>
                <a:ea typeface="Arimo Bold"/>
                <a:cs typeface="Arimo Bold"/>
                <a:sym typeface="Arimo Bold"/>
              </a:rPr>
              <a:t>Start again</a:t>
            </a:r>
          </a:p>
        </p:txBody>
      </p:sp>
      <p:grpSp>
        <p:nvGrpSpPr>
          <p:cNvPr name="Group 19" id="19"/>
          <p:cNvGrpSpPr/>
          <p:nvPr/>
        </p:nvGrpSpPr>
        <p:grpSpPr>
          <a:xfrm rot="0">
            <a:off x="1062228" y="3142583"/>
            <a:ext cx="475488" cy="475488"/>
            <a:chOff x="0" y="0"/>
            <a:chExt cx="633984" cy="633984"/>
          </a:xfrm>
        </p:grpSpPr>
        <p:sp>
          <p:nvSpPr>
            <p:cNvPr name="Freeform 20" id="20"/>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C67139"/>
            </a:solidFill>
          </p:spPr>
        </p:sp>
      </p:grpSp>
      <p:sp>
        <p:nvSpPr>
          <p:cNvPr name="TextBox 21" id="21"/>
          <p:cNvSpPr txBox="true"/>
          <p:nvPr/>
        </p:nvSpPr>
        <p:spPr>
          <a:xfrm rot="0">
            <a:off x="1062228" y="3114008"/>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1</a:t>
            </a:r>
          </a:p>
        </p:txBody>
      </p:sp>
      <p:sp>
        <p:nvSpPr>
          <p:cNvPr name="TextBox 22" id="22"/>
          <p:cNvSpPr txBox="true"/>
          <p:nvPr/>
        </p:nvSpPr>
        <p:spPr>
          <a:xfrm rot="0">
            <a:off x="1703546" y="3140583"/>
            <a:ext cx="4727448" cy="431673"/>
          </a:xfrm>
          <a:prstGeom prst="rect">
            <a:avLst/>
          </a:prstGeom>
        </p:spPr>
        <p:txBody>
          <a:bodyPr anchor="t" rtlCol="false" tIns="0" lIns="0" bIns="0" rIns="0">
            <a:spAutoFit/>
          </a:bodyPr>
          <a:lstStyle/>
          <a:p>
            <a:pPr algn="l">
              <a:lnSpc>
                <a:spcPts val="3041"/>
              </a:lnSpc>
            </a:pPr>
            <a:r>
              <a:rPr lang="en-US" b="true" sz="2304">
                <a:solidFill>
                  <a:srgbClr val="201E1D"/>
                </a:solidFill>
                <a:latin typeface="Arimo Bold"/>
                <a:ea typeface="Arimo Bold"/>
                <a:cs typeface="Arimo Bold"/>
                <a:sym typeface="Arimo Bold"/>
              </a:rPr>
              <a:t>Put 5x + 12 = 20 − 11x on the scales.</a:t>
            </a:r>
          </a:p>
        </p:txBody>
      </p:sp>
      <p:grpSp>
        <p:nvGrpSpPr>
          <p:cNvPr name="Group 23" id="23"/>
          <p:cNvGrpSpPr/>
          <p:nvPr/>
        </p:nvGrpSpPr>
        <p:grpSpPr>
          <a:xfrm rot="0">
            <a:off x="1062228" y="3752183"/>
            <a:ext cx="475488" cy="475488"/>
            <a:chOff x="0" y="0"/>
            <a:chExt cx="633984" cy="633984"/>
          </a:xfrm>
        </p:grpSpPr>
        <p:sp>
          <p:nvSpPr>
            <p:cNvPr name="Freeform 24" id="24"/>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7A8A5E"/>
            </a:solidFill>
          </p:spPr>
        </p:sp>
      </p:grpSp>
      <p:sp>
        <p:nvSpPr>
          <p:cNvPr name="TextBox 25" id="25"/>
          <p:cNvSpPr txBox="true"/>
          <p:nvPr/>
        </p:nvSpPr>
        <p:spPr>
          <a:xfrm rot="0">
            <a:off x="1062228" y="3723608"/>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2</a:t>
            </a:r>
          </a:p>
        </p:txBody>
      </p:sp>
      <p:sp>
        <p:nvSpPr>
          <p:cNvPr name="TextBox 26" id="26"/>
          <p:cNvSpPr txBox="true"/>
          <p:nvPr/>
        </p:nvSpPr>
        <p:spPr>
          <a:xfrm rot="0">
            <a:off x="1702594" y="3750183"/>
            <a:ext cx="4700016" cy="431673"/>
          </a:xfrm>
          <a:prstGeom prst="rect">
            <a:avLst/>
          </a:prstGeom>
        </p:spPr>
        <p:txBody>
          <a:bodyPr anchor="t" rtlCol="false" tIns="0" lIns="0" bIns="0" rIns="0">
            <a:spAutoFit/>
          </a:bodyPr>
          <a:lstStyle/>
          <a:p>
            <a:pPr algn="l">
              <a:lnSpc>
                <a:spcPts val="3041"/>
              </a:lnSpc>
            </a:pPr>
            <a:r>
              <a:rPr lang="en-US" b="true" sz="2304">
                <a:solidFill>
                  <a:srgbClr val="201E1D"/>
                </a:solidFill>
                <a:latin typeface="Arimo Bold"/>
                <a:ea typeface="Arimo Bold"/>
                <a:cs typeface="Arimo Bold"/>
                <a:sym typeface="Arimo Bold"/>
              </a:rPr>
              <a:t>Add 11x to both sides: 16x + 12 = 20</a:t>
            </a:r>
          </a:p>
        </p:txBody>
      </p:sp>
      <p:grpSp>
        <p:nvGrpSpPr>
          <p:cNvPr name="Group 27" id="27"/>
          <p:cNvGrpSpPr/>
          <p:nvPr/>
        </p:nvGrpSpPr>
        <p:grpSpPr>
          <a:xfrm rot="0">
            <a:off x="1062228" y="4361783"/>
            <a:ext cx="475488" cy="475488"/>
            <a:chOff x="0" y="0"/>
            <a:chExt cx="633984" cy="633984"/>
          </a:xfrm>
        </p:grpSpPr>
        <p:sp>
          <p:nvSpPr>
            <p:cNvPr name="Freeform 28" id="28"/>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C67139"/>
            </a:solidFill>
          </p:spPr>
        </p:sp>
      </p:grpSp>
      <p:sp>
        <p:nvSpPr>
          <p:cNvPr name="TextBox 29" id="29"/>
          <p:cNvSpPr txBox="true"/>
          <p:nvPr/>
        </p:nvSpPr>
        <p:spPr>
          <a:xfrm rot="0">
            <a:off x="1062228" y="4333208"/>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3</a:t>
            </a:r>
          </a:p>
        </p:txBody>
      </p:sp>
      <p:sp>
        <p:nvSpPr>
          <p:cNvPr name="TextBox 30" id="30"/>
          <p:cNvSpPr txBox="true"/>
          <p:nvPr/>
        </p:nvSpPr>
        <p:spPr>
          <a:xfrm rot="0">
            <a:off x="1701260" y="4359783"/>
            <a:ext cx="4782312" cy="431673"/>
          </a:xfrm>
          <a:prstGeom prst="rect">
            <a:avLst/>
          </a:prstGeom>
        </p:spPr>
        <p:txBody>
          <a:bodyPr anchor="t" rtlCol="false" tIns="0" lIns="0" bIns="0" rIns="0">
            <a:spAutoFit/>
          </a:bodyPr>
          <a:lstStyle/>
          <a:p>
            <a:pPr algn="l">
              <a:lnSpc>
                <a:spcPts val="3041"/>
              </a:lnSpc>
            </a:pPr>
            <a:r>
              <a:rPr lang="en-US" b="true" sz="2304">
                <a:solidFill>
                  <a:srgbClr val="201E1D"/>
                </a:solidFill>
                <a:latin typeface="Arimo Bold"/>
                <a:ea typeface="Arimo Bold"/>
                <a:cs typeface="Arimo Bold"/>
                <a:sym typeface="Arimo Bold"/>
              </a:rPr>
              <a:t>Subtract 12 from both sides: 16x = 8</a:t>
            </a:r>
          </a:p>
        </p:txBody>
      </p:sp>
      <p:grpSp>
        <p:nvGrpSpPr>
          <p:cNvPr name="Group 31" id="31"/>
          <p:cNvGrpSpPr/>
          <p:nvPr/>
        </p:nvGrpSpPr>
        <p:grpSpPr>
          <a:xfrm rot="0">
            <a:off x="1062228" y="4971383"/>
            <a:ext cx="475488" cy="475488"/>
            <a:chOff x="0" y="0"/>
            <a:chExt cx="633984" cy="633984"/>
          </a:xfrm>
        </p:grpSpPr>
        <p:sp>
          <p:nvSpPr>
            <p:cNvPr name="Freeform 32" id="32"/>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7A8A5E"/>
            </a:solidFill>
          </p:spPr>
        </p:sp>
      </p:grpSp>
      <p:sp>
        <p:nvSpPr>
          <p:cNvPr name="TextBox 33" id="33"/>
          <p:cNvSpPr txBox="true"/>
          <p:nvPr/>
        </p:nvSpPr>
        <p:spPr>
          <a:xfrm rot="0">
            <a:off x="1062228" y="4942808"/>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4</a:t>
            </a:r>
          </a:p>
        </p:txBody>
      </p:sp>
      <p:sp>
        <p:nvSpPr>
          <p:cNvPr name="TextBox 34" id="34"/>
          <p:cNvSpPr txBox="true"/>
          <p:nvPr/>
        </p:nvSpPr>
        <p:spPr>
          <a:xfrm rot="0">
            <a:off x="1701546" y="4969383"/>
            <a:ext cx="3931920" cy="431673"/>
          </a:xfrm>
          <a:prstGeom prst="rect">
            <a:avLst/>
          </a:prstGeom>
        </p:spPr>
        <p:txBody>
          <a:bodyPr anchor="t" rtlCol="false" tIns="0" lIns="0" bIns="0" rIns="0">
            <a:spAutoFit/>
          </a:bodyPr>
          <a:lstStyle/>
          <a:p>
            <a:pPr algn="l">
              <a:lnSpc>
                <a:spcPts val="3041"/>
              </a:lnSpc>
            </a:pPr>
            <a:r>
              <a:rPr lang="en-US" b="true" sz="2304">
                <a:solidFill>
                  <a:srgbClr val="201E1D"/>
                </a:solidFill>
                <a:latin typeface="Arimo Bold"/>
                <a:ea typeface="Arimo Bold"/>
                <a:cs typeface="Arimo Bold"/>
                <a:sym typeface="Arimo Bold"/>
              </a:rPr>
              <a:t>Divide both sides by 16: x = ½</a:t>
            </a:r>
          </a:p>
        </p:txBody>
      </p:sp>
      <p:grpSp>
        <p:nvGrpSpPr>
          <p:cNvPr name="Group 35" id="35"/>
          <p:cNvGrpSpPr/>
          <p:nvPr/>
        </p:nvGrpSpPr>
        <p:grpSpPr>
          <a:xfrm rot="0">
            <a:off x="8801100" y="609600"/>
            <a:ext cx="8572500" cy="9067800"/>
            <a:chOff x="0" y="0"/>
            <a:chExt cx="11430000" cy="12090400"/>
          </a:xfrm>
        </p:grpSpPr>
        <p:sp>
          <p:nvSpPr>
            <p:cNvPr name="Freeform 36" id="36"/>
            <p:cNvSpPr/>
            <p:nvPr/>
          </p:nvSpPr>
          <p:spPr>
            <a:xfrm flipH="false" flipV="false" rot="0">
              <a:off x="0" y="0"/>
              <a:ext cx="11430000" cy="12090400"/>
            </a:xfrm>
            <a:custGeom>
              <a:avLst/>
              <a:gdLst/>
              <a:ahLst/>
              <a:cxnLst/>
              <a:rect r="r" b="b" t="t" l="l"/>
              <a:pathLst>
                <a:path h="12090400" w="11430000">
                  <a:moveTo>
                    <a:pt x="711200" y="0"/>
                  </a:moveTo>
                  <a:lnTo>
                    <a:pt x="10718800" y="0"/>
                  </a:lnTo>
                  <a:cubicBezTo>
                    <a:pt x="11111611" y="0"/>
                    <a:pt x="11430000" y="318389"/>
                    <a:pt x="11430000" y="711200"/>
                  </a:cubicBezTo>
                  <a:lnTo>
                    <a:pt x="11430000" y="11379200"/>
                  </a:lnTo>
                  <a:cubicBezTo>
                    <a:pt x="11430000" y="11772011"/>
                    <a:pt x="11111611" y="12090400"/>
                    <a:pt x="10718800" y="12090400"/>
                  </a:cubicBezTo>
                  <a:lnTo>
                    <a:pt x="711200" y="12090400"/>
                  </a:lnTo>
                  <a:cubicBezTo>
                    <a:pt x="318389" y="12090400"/>
                    <a:pt x="0" y="11772011"/>
                    <a:pt x="0" y="11379200"/>
                  </a:cubicBezTo>
                  <a:lnTo>
                    <a:pt x="0" y="711200"/>
                  </a:lnTo>
                  <a:cubicBezTo>
                    <a:pt x="0" y="318389"/>
                    <a:pt x="318389" y="0"/>
                    <a:pt x="711200" y="0"/>
                  </a:cubicBezTo>
                  <a:close/>
                </a:path>
              </a:pathLst>
            </a:custGeom>
            <a:solidFill>
              <a:srgbClr val="EBDDC5"/>
            </a:solidFill>
          </p:spPr>
        </p:sp>
      </p:gr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FFE1D0"/>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CCDBB2"/>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FFC6A5"/>
            </a:solidFill>
          </p:spPr>
        </p:sp>
      </p:grpSp>
      <p:grpSp>
        <p:nvGrpSpPr>
          <p:cNvPr name="Group 9" id="9"/>
          <p:cNvGrpSpPr/>
          <p:nvPr/>
        </p:nvGrpSpPr>
        <p:grpSpPr>
          <a:xfrm rot="0">
            <a:off x="990886" y="611505"/>
            <a:ext cx="4295775" cy="600075"/>
            <a:chOff x="0" y="0"/>
            <a:chExt cx="5727700" cy="800100"/>
          </a:xfrm>
        </p:grpSpPr>
        <p:sp>
          <p:nvSpPr>
            <p:cNvPr name="Freeform 10" id="10"/>
            <p:cNvSpPr/>
            <p:nvPr/>
          </p:nvSpPr>
          <p:spPr>
            <a:xfrm flipH="false" flipV="false" rot="0">
              <a:off x="0" y="0"/>
              <a:ext cx="5727700" cy="800100"/>
            </a:xfrm>
            <a:custGeom>
              <a:avLst/>
              <a:gdLst/>
              <a:ahLst/>
              <a:cxnLst/>
              <a:rect r="r" b="b" t="t" l="l"/>
              <a:pathLst>
                <a:path h="800100" w="5727700">
                  <a:moveTo>
                    <a:pt x="400050" y="0"/>
                  </a:moveTo>
                  <a:lnTo>
                    <a:pt x="5327650" y="0"/>
                  </a:lnTo>
                  <a:cubicBezTo>
                    <a:pt x="5548630" y="0"/>
                    <a:pt x="5727700" y="179070"/>
                    <a:pt x="5727700" y="400050"/>
                  </a:cubicBezTo>
                  <a:cubicBezTo>
                    <a:pt x="5727700" y="621030"/>
                    <a:pt x="5548630" y="800100"/>
                    <a:pt x="5327650" y="800100"/>
                  </a:cubicBezTo>
                  <a:lnTo>
                    <a:pt x="400050" y="800100"/>
                  </a:lnTo>
                  <a:cubicBezTo>
                    <a:pt x="179070" y="800100"/>
                    <a:pt x="0" y="621030"/>
                    <a:pt x="0" y="400050"/>
                  </a:cubicBezTo>
                  <a:cubicBezTo>
                    <a:pt x="0" y="179070"/>
                    <a:pt x="179070" y="0"/>
                    <a:pt x="400050" y="0"/>
                  </a:cubicBezTo>
                  <a:close/>
                </a:path>
              </a:pathLst>
            </a:custGeom>
            <a:solidFill>
              <a:srgbClr val="8C491A"/>
            </a:solidFill>
          </p:spPr>
        </p:sp>
        <p:sp>
          <p:nvSpPr>
            <p:cNvPr name="TextBox 11" id="11"/>
            <p:cNvSpPr txBox="true"/>
            <p:nvPr/>
          </p:nvSpPr>
          <p:spPr>
            <a:xfrm>
              <a:off x="0" y="-76200"/>
              <a:ext cx="57277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WORKED EXAMPLE 1C &amp; 1D</a:t>
              </a:r>
            </a:p>
          </p:txBody>
        </p:sp>
      </p:grpSp>
      <p:sp>
        <p:nvSpPr>
          <p:cNvPr name="TextBox 12" id="12"/>
          <p:cNvSpPr txBox="true"/>
          <p:nvPr/>
        </p:nvSpPr>
        <p:spPr>
          <a:xfrm rot="0">
            <a:off x="5479066" y="630555"/>
            <a:ext cx="1743075" cy="485775"/>
          </a:xfrm>
          <a:prstGeom prst="rect">
            <a:avLst/>
          </a:prstGeom>
        </p:spPr>
        <p:txBody>
          <a:bodyPr anchor="t" rtlCol="false" tIns="0" lIns="0" bIns="0" rIns="0">
            <a:spAutoFit/>
          </a:bodyPr>
          <a:lstStyle/>
          <a:p>
            <a:pPr algn="l">
              <a:lnSpc>
                <a:spcPts val="3255"/>
              </a:lnSpc>
            </a:pPr>
            <a:r>
              <a:rPr lang="en-US" b="true" sz="2100">
                <a:solidFill>
                  <a:srgbClr val="3D472B"/>
                </a:solidFill>
                <a:latin typeface="Arimo Bold"/>
                <a:ea typeface="Arimo Bold"/>
                <a:cs typeface="Arimo Bold"/>
                <a:sym typeface="Arimo Bold"/>
              </a:rPr>
              <a:t>6.1 · Equations</a:t>
            </a:r>
          </a:p>
        </p:txBody>
      </p:sp>
      <p:sp>
        <p:nvSpPr>
          <p:cNvPr name="TextBox 13" id="13"/>
          <p:cNvSpPr txBox="true"/>
          <p:nvPr/>
        </p:nvSpPr>
        <p:spPr>
          <a:xfrm rot="0">
            <a:off x="990600" y="1510189"/>
            <a:ext cx="16306800" cy="523875"/>
          </a:xfrm>
          <a:prstGeom prst="rect">
            <a:avLst/>
          </a:prstGeom>
        </p:spPr>
        <p:txBody>
          <a:bodyPr anchor="t" rtlCol="false" tIns="0" lIns="0" bIns="0" rIns="0">
            <a:spAutoFit/>
          </a:bodyPr>
          <a:lstStyle/>
          <a:p>
            <a:pPr algn="l">
              <a:lnSpc>
                <a:spcPts val="4524"/>
              </a:lnSpc>
            </a:pPr>
            <a:r>
              <a:rPr lang="en-US" b="true" sz="4350" spc="-86">
                <a:solidFill>
                  <a:srgbClr val="201E1D"/>
                </a:solidFill>
                <a:latin typeface="Arimo Bold"/>
                <a:ea typeface="Arimo Bold"/>
                <a:cs typeface="Arimo Bold"/>
                <a:sym typeface="Arimo Bold"/>
              </a:rPr>
              <a:t>Brackets and fractions</a:t>
            </a:r>
          </a:p>
        </p:txBody>
      </p:sp>
      <p:sp>
        <p:nvSpPr>
          <p:cNvPr name="TextBox 14" id="14"/>
          <p:cNvSpPr txBox="true"/>
          <p:nvPr/>
        </p:nvSpPr>
        <p:spPr>
          <a:xfrm rot="0">
            <a:off x="990600" y="2224088"/>
            <a:ext cx="7886700" cy="514350"/>
          </a:xfrm>
          <a:prstGeom prst="rect">
            <a:avLst/>
          </a:prstGeom>
        </p:spPr>
        <p:txBody>
          <a:bodyPr anchor="t" rtlCol="false" tIns="0" lIns="0" bIns="0" rIns="0">
            <a:spAutoFit/>
          </a:bodyPr>
          <a:lstStyle/>
          <a:p>
            <a:pPr algn="l">
              <a:lnSpc>
                <a:spcPts val="3569"/>
              </a:lnSpc>
            </a:pPr>
            <a:r>
              <a:rPr lang="en-US" b="true" sz="2550">
                <a:solidFill>
                  <a:srgbClr val="201E1D"/>
                </a:solidFill>
                <a:latin typeface="Arimo Bold"/>
                <a:ea typeface="Arimo Bold"/>
                <a:cs typeface="Arimo Bold"/>
                <a:sym typeface="Arimo Bold"/>
              </a:rPr>
              <a:t>c</a:t>
            </a:r>
            <a:r>
              <a:rPr lang="en-US" b="true" sz="2550">
                <a:solidFill>
                  <a:srgbClr val="201E1D"/>
                </a:solidFill>
                <a:latin typeface="Arimo Bold"/>
                <a:ea typeface="Arimo Bold"/>
                <a:cs typeface="Arimo Bold"/>
                <a:sym typeface="Arimo Bold"/>
              </a:rPr>
              <a:t> Solve 2(y − 4) + 4(y + 2) = 30</a:t>
            </a:r>
          </a:p>
        </p:txBody>
      </p:sp>
      <p:sp>
        <p:nvSpPr>
          <p:cNvPr name="TextBox 15" id="15"/>
          <p:cNvSpPr txBox="true"/>
          <p:nvPr/>
        </p:nvSpPr>
        <p:spPr>
          <a:xfrm rot="0">
            <a:off x="9410700" y="2224088"/>
            <a:ext cx="7886700" cy="514350"/>
          </a:xfrm>
          <a:prstGeom prst="rect">
            <a:avLst/>
          </a:prstGeom>
        </p:spPr>
        <p:txBody>
          <a:bodyPr anchor="t" rtlCol="false" tIns="0" lIns="0" bIns="0" rIns="0">
            <a:spAutoFit/>
          </a:bodyPr>
          <a:lstStyle/>
          <a:p>
            <a:pPr algn="l">
              <a:lnSpc>
                <a:spcPts val="3569"/>
              </a:lnSpc>
            </a:pPr>
            <a:r>
              <a:rPr lang="en-US" b="true" sz="2550">
                <a:solidFill>
                  <a:srgbClr val="201E1D"/>
                </a:solidFill>
                <a:latin typeface="Arimo Bold"/>
                <a:ea typeface="Arimo Bold"/>
                <a:cs typeface="Arimo Bold"/>
                <a:sym typeface="Arimo Bold"/>
              </a:rPr>
              <a:t>d</a:t>
            </a:r>
            <a:r>
              <a:rPr lang="en-US" b="true" sz="2550">
                <a:solidFill>
                  <a:srgbClr val="201E1D"/>
                </a:solidFill>
                <a:latin typeface="Arimo Bold"/>
                <a:ea typeface="Arimo Bold"/>
                <a:cs typeface="Arimo Bold"/>
                <a:sym typeface="Arimo Bold"/>
              </a:rPr>
              <a:t> Solve</a:t>
            </a:r>
          </a:p>
        </p:txBody>
      </p:sp>
      <p:sp>
        <p:nvSpPr>
          <p:cNvPr name="AutoShape 16" id="16"/>
          <p:cNvSpPr/>
          <p:nvPr/>
        </p:nvSpPr>
        <p:spPr>
          <a:xfrm rot="0">
            <a:off x="9439370" y="3022664"/>
            <a:ext cx="247650" cy="28575"/>
          </a:xfrm>
          <a:prstGeom prst="rect">
            <a:avLst/>
          </a:prstGeom>
          <a:solidFill>
            <a:srgbClr val="201E1D"/>
          </a:solidFill>
        </p:spPr>
      </p:sp>
      <p:sp>
        <p:nvSpPr>
          <p:cNvPr name="TextBox 17" id="17"/>
          <p:cNvSpPr txBox="true"/>
          <p:nvPr/>
        </p:nvSpPr>
        <p:spPr>
          <a:xfrm rot="0">
            <a:off x="9439370" y="2746439"/>
            <a:ext cx="247650" cy="304800"/>
          </a:xfrm>
          <a:prstGeom prst="rect">
            <a:avLst/>
          </a:prstGeom>
        </p:spPr>
        <p:txBody>
          <a:bodyPr anchor="t" rtlCol="false" tIns="0" lIns="0" bIns="0" rIns="0">
            <a:spAutoFit/>
          </a:bodyPr>
          <a:lstStyle/>
          <a:p>
            <a:pPr algn="l">
              <a:lnSpc>
                <a:spcPts val="2258"/>
              </a:lnSpc>
            </a:pPr>
            <a:r>
              <a:rPr lang="en-US" b="true" sz="2091">
                <a:solidFill>
                  <a:srgbClr val="201E1D"/>
                </a:solidFill>
                <a:latin typeface="Arimo Bold"/>
                <a:ea typeface="Arimo Bold"/>
                <a:cs typeface="Arimo Bold"/>
                <a:sym typeface="Arimo Bold"/>
              </a:rPr>
              <a:t>6</a:t>
            </a:r>
          </a:p>
        </p:txBody>
      </p:sp>
      <p:sp>
        <p:nvSpPr>
          <p:cNvPr name="TextBox 18" id="18"/>
          <p:cNvSpPr txBox="true"/>
          <p:nvPr/>
        </p:nvSpPr>
        <p:spPr>
          <a:xfrm rot="0">
            <a:off x="9444038" y="3061716"/>
            <a:ext cx="238125" cy="276225"/>
          </a:xfrm>
          <a:prstGeom prst="rect">
            <a:avLst/>
          </a:prstGeom>
        </p:spPr>
        <p:txBody>
          <a:bodyPr anchor="t" rtlCol="false" tIns="0" lIns="0" bIns="0" rIns="0">
            <a:spAutoFit/>
          </a:bodyPr>
          <a:lstStyle/>
          <a:p>
            <a:pPr algn="l">
              <a:lnSpc>
                <a:spcPts val="2258"/>
              </a:lnSpc>
            </a:pPr>
            <a:r>
              <a:rPr lang="en-US" b="true" sz="2091">
                <a:solidFill>
                  <a:srgbClr val="201E1D"/>
                </a:solidFill>
                <a:latin typeface="Arimo Bold"/>
                <a:ea typeface="Arimo Bold"/>
                <a:cs typeface="Arimo Bold"/>
                <a:sym typeface="Arimo Bold"/>
              </a:rPr>
              <a:t>7</a:t>
            </a:r>
          </a:p>
        </p:txBody>
      </p:sp>
      <p:sp>
        <p:nvSpPr>
          <p:cNvPr name="TextBox 19" id="19"/>
          <p:cNvSpPr txBox="true"/>
          <p:nvPr/>
        </p:nvSpPr>
        <p:spPr>
          <a:xfrm rot="0">
            <a:off x="9410700" y="3279267"/>
            <a:ext cx="7886700" cy="514350"/>
          </a:xfrm>
          <a:prstGeom prst="rect">
            <a:avLst/>
          </a:prstGeom>
        </p:spPr>
        <p:txBody>
          <a:bodyPr anchor="t" rtlCol="false" tIns="0" lIns="0" bIns="0" rIns="0">
            <a:spAutoFit/>
          </a:bodyPr>
          <a:lstStyle/>
          <a:p>
            <a:pPr algn="l">
              <a:lnSpc>
                <a:spcPts val="3569"/>
              </a:lnSpc>
            </a:pPr>
            <a:r>
              <a:rPr lang="en-US" b="true" sz="2550">
                <a:solidFill>
                  <a:srgbClr val="201E1D"/>
                </a:solidFill>
                <a:latin typeface="Arimo Bold"/>
                <a:ea typeface="Arimo Bold"/>
                <a:cs typeface="Arimo Bold"/>
                <a:sym typeface="Arimo Bold"/>
              </a:rPr>
              <a:t>p = 10</a:t>
            </a:r>
          </a:p>
        </p:txBody>
      </p:sp>
      <p:sp>
        <p:nvSpPr>
          <p:cNvPr name="TextBox 20" id="20"/>
          <p:cNvSpPr txBox="true"/>
          <p:nvPr/>
        </p:nvSpPr>
        <p:spPr>
          <a:xfrm rot="0">
            <a:off x="9435179" y="4740116"/>
            <a:ext cx="1088136" cy="430911"/>
          </a:xfrm>
          <a:prstGeom prst="rect">
            <a:avLst/>
          </a:prstGeom>
        </p:spPr>
        <p:txBody>
          <a:bodyPr anchor="t" rtlCol="false" tIns="0" lIns="0" bIns="0" rIns="0">
            <a:spAutoFit/>
          </a:bodyPr>
          <a:lstStyle/>
          <a:p>
            <a:pPr algn="l">
              <a:lnSpc>
                <a:spcPts val="3182"/>
              </a:lnSpc>
            </a:pPr>
            <a:r>
              <a:rPr lang="en-US" b="true" sz="2448">
                <a:solidFill>
                  <a:srgbClr val="201E1D"/>
                </a:solidFill>
                <a:latin typeface="Arimo Bold"/>
                <a:ea typeface="Arimo Bold"/>
                <a:cs typeface="Arimo Bold"/>
                <a:sym typeface="Arimo Bold"/>
              </a:rPr>
              <a:t>p =</a:t>
            </a:r>
          </a:p>
        </p:txBody>
      </p:sp>
      <p:sp>
        <p:nvSpPr>
          <p:cNvPr name="AutoShape 21" id="21"/>
          <p:cNvSpPr/>
          <p:nvPr/>
        </p:nvSpPr>
        <p:spPr>
          <a:xfrm rot="0">
            <a:off x="9460420" y="5445538"/>
            <a:ext cx="402336" cy="28575"/>
          </a:xfrm>
          <a:prstGeom prst="rect">
            <a:avLst/>
          </a:prstGeom>
          <a:solidFill>
            <a:srgbClr val="201E1D"/>
          </a:solidFill>
        </p:spPr>
      </p:sp>
      <p:sp>
        <p:nvSpPr>
          <p:cNvPr name="TextBox 22" id="22"/>
          <p:cNvSpPr txBox="true"/>
          <p:nvPr/>
        </p:nvSpPr>
        <p:spPr>
          <a:xfrm rot="0">
            <a:off x="9460420" y="5191411"/>
            <a:ext cx="402336" cy="282702"/>
          </a:xfrm>
          <a:prstGeom prst="rect">
            <a:avLst/>
          </a:prstGeom>
        </p:spPr>
        <p:txBody>
          <a:bodyPr anchor="t" rtlCol="false" tIns="0" lIns="0" bIns="0" rIns="0">
            <a:spAutoFit/>
          </a:bodyPr>
          <a:lstStyle/>
          <a:p>
            <a:pPr algn="l">
              <a:lnSpc>
                <a:spcPts val="2167"/>
              </a:lnSpc>
            </a:pPr>
            <a:r>
              <a:rPr lang="en-US" b="true" sz="2007">
                <a:solidFill>
                  <a:srgbClr val="201E1D"/>
                </a:solidFill>
                <a:latin typeface="Arimo Bold"/>
                <a:ea typeface="Arimo Bold"/>
                <a:cs typeface="Arimo Bold"/>
                <a:sym typeface="Arimo Bold"/>
              </a:rPr>
              <a:t>70</a:t>
            </a:r>
          </a:p>
        </p:txBody>
      </p:sp>
      <p:sp>
        <p:nvSpPr>
          <p:cNvPr name="TextBox 23" id="23"/>
          <p:cNvSpPr txBox="true"/>
          <p:nvPr/>
        </p:nvSpPr>
        <p:spPr>
          <a:xfrm rot="0">
            <a:off x="9542716" y="5494020"/>
            <a:ext cx="237744" cy="255270"/>
          </a:xfrm>
          <a:prstGeom prst="rect">
            <a:avLst/>
          </a:prstGeom>
        </p:spPr>
        <p:txBody>
          <a:bodyPr anchor="t" rtlCol="false" tIns="0" lIns="0" bIns="0" rIns="0">
            <a:spAutoFit/>
          </a:bodyPr>
          <a:lstStyle/>
          <a:p>
            <a:pPr algn="l">
              <a:lnSpc>
                <a:spcPts val="2167"/>
              </a:lnSpc>
            </a:pPr>
            <a:r>
              <a:rPr lang="en-US" b="true" sz="2007">
                <a:solidFill>
                  <a:srgbClr val="201E1D"/>
                </a:solidFill>
                <a:latin typeface="Arimo Bold"/>
                <a:ea typeface="Arimo Bold"/>
                <a:cs typeface="Arimo Bold"/>
                <a:sym typeface="Arimo Bold"/>
              </a:rPr>
              <a:t>6</a:t>
            </a:r>
          </a:p>
        </p:txBody>
      </p:sp>
      <p:sp>
        <p:nvSpPr>
          <p:cNvPr name="TextBox 24" id="24"/>
          <p:cNvSpPr txBox="true"/>
          <p:nvPr/>
        </p:nvSpPr>
        <p:spPr>
          <a:xfrm rot="0">
            <a:off x="9435179" y="5721953"/>
            <a:ext cx="1088136" cy="430911"/>
          </a:xfrm>
          <a:prstGeom prst="rect">
            <a:avLst/>
          </a:prstGeom>
        </p:spPr>
        <p:txBody>
          <a:bodyPr anchor="t" rtlCol="false" tIns="0" lIns="0" bIns="0" rIns="0">
            <a:spAutoFit/>
          </a:bodyPr>
          <a:lstStyle/>
          <a:p>
            <a:pPr algn="l">
              <a:lnSpc>
                <a:spcPts val="3182"/>
              </a:lnSpc>
            </a:pPr>
            <a:r>
              <a:rPr lang="en-US" b="true" sz="2448">
                <a:solidFill>
                  <a:srgbClr val="201E1D"/>
                </a:solidFill>
                <a:latin typeface="Arimo Bold"/>
                <a:ea typeface="Arimo Bold"/>
                <a:cs typeface="Arimo Bold"/>
                <a:sym typeface="Arimo Bold"/>
              </a:rPr>
              <a:t>=</a:t>
            </a:r>
          </a:p>
        </p:txBody>
      </p:sp>
      <p:sp>
        <p:nvSpPr>
          <p:cNvPr name="AutoShape 25" id="25"/>
          <p:cNvSpPr/>
          <p:nvPr/>
        </p:nvSpPr>
        <p:spPr>
          <a:xfrm rot="0">
            <a:off x="9460516" y="6427375"/>
            <a:ext cx="384048" cy="28575"/>
          </a:xfrm>
          <a:prstGeom prst="rect">
            <a:avLst/>
          </a:prstGeom>
          <a:solidFill>
            <a:srgbClr val="201E1D"/>
          </a:solidFill>
        </p:spPr>
      </p:sp>
      <p:sp>
        <p:nvSpPr>
          <p:cNvPr name="TextBox 26" id="26"/>
          <p:cNvSpPr txBox="true"/>
          <p:nvPr/>
        </p:nvSpPr>
        <p:spPr>
          <a:xfrm rot="0">
            <a:off x="9460516" y="6173248"/>
            <a:ext cx="384048" cy="282702"/>
          </a:xfrm>
          <a:prstGeom prst="rect">
            <a:avLst/>
          </a:prstGeom>
        </p:spPr>
        <p:txBody>
          <a:bodyPr anchor="t" rtlCol="false" tIns="0" lIns="0" bIns="0" rIns="0">
            <a:spAutoFit/>
          </a:bodyPr>
          <a:lstStyle/>
          <a:p>
            <a:pPr algn="l">
              <a:lnSpc>
                <a:spcPts val="2167"/>
              </a:lnSpc>
            </a:pPr>
            <a:r>
              <a:rPr lang="en-US" b="true" sz="2007">
                <a:solidFill>
                  <a:srgbClr val="201E1D"/>
                </a:solidFill>
                <a:latin typeface="Arimo Bold"/>
                <a:ea typeface="Arimo Bold"/>
                <a:cs typeface="Arimo Bold"/>
                <a:sym typeface="Arimo Bold"/>
              </a:rPr>
              <a:t>35</a:t>
            </a:r>
          </a:p>
        </p:txBody>
      </p:sp>
      <p:sp>
        <p:nvSpPr>
          <p:cNvPr name="TextBox 27" id="27"/>
          <p:cNvSpPr txBox="true"/>
          <p:nvPr/>
        </p:nvSpPr>
        <p:spPr>
          <a:xfrm rot="0">
            <a:off x="9533668" y="6475857"/>
            <a:ext cx="237744" cy="255270"/>
          </a:xfrm>
          <a:prstGeom prst="rect">
            <a:avLst/>
          </a:prstGeom>
        </p:spPr>
        <p:txBody>
          <a:bodyPr anchor="t" rtlCol="false" tIns="0" lIns="0" bIns="0" rIns="0">
            <a:spAutoFit/>
          </a:bodyPr>
          <a:lstStyle/>
          <a:p>
            <a:pPr algn="l">
              <a:lnSpc>
                <a:spcPts val="2167"/>
              </a:lnSpc>
            </a:pPr>
            <a:r>
              <a:rPr lang="en-US" b="true" sz="2007">
                <a:solidFill>
                  <a:srgbClr val="201E1D"/>
                </a:solidFill>
                <a:latin typeface="Arimo Bold"/>
                <a:ea typeface="Arimo Bold"/>
                <a:cs typeface="Arimo Bold"/>
                <a:sym typeface="Arimo Bold"/>
              </a:rPr>
              <a:t>3</a:t>
            </a:r>
          </a:p>
        </p:txBody>
      </p:sp>
      <p:grpSp>
        <p:nvGrpSpPr>
          <p:cNvPr name="Group 28" id="28"/>
          <p:cNvGrpSpPr/>
          <p:nvPr/>
        </p:nvGrpSpPr>
        <p:grpSpPr>
          <a:xfrm rot="0">
            <a:off x="990600" y="6810566"/>
            <a:ext cx="16306800" cy="704850"/>
            <a:chOff x="0" y="0"/>
            <a:chExt cx="21742400" cy="939800"/>
          </a:xfrm>
        </p:grpSpPr>
        <p:sp>
          <p:nvSpPr>
            <p:cNvPr name="Freeform 29" id="29"/>
            <p:cNvSpPr/>
            <p:nvPr/>
          </p:nvSpPr>
          <p:spPr>
            <a:xfrm flipH="false" flipV="false" rot="0">
              <a:off x="0" y="0"/>
              <a:ext cx="21742400" cy="939800"/>
            </a:xfrm>
            <a:custGeom>
              <a:avLst/>
              <a:gdLst/>
              <a:ahLst/>
              <a:cxnLst/>
              <a:rect r="r" b="b" t="t" l="l"/>
              <a:pathLst>
                <a:path h="939800" w="21742400">
                  <a:moveTo>
                    <a:pt x="355600" y="0"/>
                  </a:moveTo>
                  <a:lnTo>
                    <a:pt x="21386800" y="0"/>
                  </a:lnTo>
                  <a:cubicBezTo>
                    <a:pt x="21583142" y="0"/>
                    <a:pt x="21742400" y="159258"/>
                    <a:pt x="21742400" y="355600"/>
                  </a:cubicBezTo>
                  <a:lnTo>
                    <a:pt x="21742400" y="584200"/>
                  </a:lnTo>
                  <a:cubicBezTo>
                    <a:pt x="21742400" y="780542"/>
                    <a:pt x="21583142" y="939800"/>
                    <a:pt x="21386800" y="939800"/>
                  </a:cubicBezTo>
                  <a:lnTo>
                    <a:pt x="355600" y="939800"/>
                  </a:lnTo>
                  <a:cubicBezTo>
                    <a:pt x="159258" y="939800"/>
                    <a:pt x="0" y="780542"/>
                    <a:pt x="0" y="584200"/>
                  </a:cubicBezTo>
                  <a:lnTo>
                    <a:pt x="0" y="355600"/>
                  </a:lnTo>
                  <a:cubicBezTo>
                    <a:pt x="0" y="159258"/>
                    <a:pt x="159258" y="0"/>
                    <a:pt x="355600" y="0"/>
                  </a:cubicBezTo>
                  <a:close/>
                </a:path>
              </a:pathLst>
            </a:custGeom>
            <a:solidFill>
              <a:srgbClr val="FFE1D0"/>
            </a:solidFill>
          </p:spPr>
        </p:sp>
        <p:sp>
          <p:nvSpPr>
            <p:cNvPr name="TextBox 30" id="30"/>
            <p:cNvSpPr txBox="true"/>
            <p:nvPr/>
          </p:nvSpPr>
          <p:spPr>
            <a:xfrm>
              <a:off x="0" y="-57150"/>
              <a:ext cx="21742400" cy="996950"/>
            </a:xfrm>
            <a:prstGeom prst="rect">
              <a:avLst/>
            </a:prstGeom>
          </p:spPr>
          <p:txBody>
            <a:bodyPr anchor="t" rtlCol="false" tIns="228600" lIns="228600" bIns="228600" rIns="228600"/>
            <a:lstStyle/>
            <a:p>
              <a:pPr algn="l">
                <a:lnSpc>
                  <a:spcPts val="3149"/>
                </a:lnSpc>
              </a:pPr>
              <a:r>
                <a:rPr lang="en-US" b="true" sz="2250">
                  <a:solidFill>
                    <a:srgbClr val="643312"/>
                  </a:solidFill>
                  <a:latin typeface="Arimo Bold"/>
                  <a:ea typeface="Arimo Bold"/>
                  <a:cs typeface="Arimo Bold"/>
                  <a:sym typeface="Arimo Bold"/>
                </a:rPr>
                <a:t>Tip </a:t>
              </a:r>
              <a:r>
                <a:rPr lang="en-US" b="true" sz="2250">
                  <a:solidFill>
                    <a:srgbClr val="201E1D"/>
                  </a:solidFill>
                  <a:latin typeface="Arimo Bold"/>
                  <a:ea typeface="Arimo Bold"/>
                  <a:cs typeface="Arimo Bold"/>
                  <a:sym typeface="Arimo Bold"/>
                </a:rPr>
                <a:t>With brackets, expand first. With a fraction, multiply both sides by its denominator first.</a:t>
              </a:r>
            </a:p>
          </p:txBody>
        </p:sp>
      </p:grpSp>
      <p:grpSp>
        <p:nvGrpSpPr>
          <p:cNvPr name="Group 31" id="31"/>
          <p:cNvGrpSpPr/>
          <p:nvPr/>
        </p:nvGrpSpPr>
        <p:grpSpPr>
          <a:xfrm rot="0">
            <a:off x="992695" y="9010650"/>
            <a:ext cx="2333625" cy="666750"/>
            <a:chOff x="0" y="0"/>
            <a:chExt cx="3111500" cy="889000"/>
          </a:xfrm>
        </p:grpSpPr>
        <p:sp>
          <p:nvSpPr>
            <p:cNvPr name="Freeform 32" id="32"/>
            <p:cNvSpPr/>
            <p:nvPr/>
          </p:nvSpPr>
          <p:spPr>
            <a:xfrm flipH="false" flipV="false" rot="0">
              <a:off x="0" y="0"/>
              <a:ext cx="3111500" cy="889000"/>
            </a:xfrm>
            <a:custGeom>
              <a:avLst/>
              <a:gdLst/>
              <a:ahLst/>
              <a:cxnLst/>
              <a:rect r="r" b="b" t="t" l="l"/>
              <a:pathLst>
                <a:path h="889000" w="3111500">
                  <a:moveTo>
                    <a:pt x="444500" y="0"/>
                  </a:moveTo>
                  <a:lnTo>
                    <a:pt x="2667000" y="0"/>
                  </a:lnTo>
                  <a:cubicBezTo>
                    <a:pt x="2912491" y="0"/>
                    <a:pt x="3111500" y="199009"/>
                    <a:pt x="3111500" y="444500"/>
                  </a:cubicBezTo>
                  <a:cubicBezTo>
                    <a:pt x="3111500" y="689991"/>
                    <a:pt x="2912491" y="889000"/>
                    <a:pt x="26670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sp>
          <p:nvSpPr>
            <p:cNvPr name="TextBox 33" id="33"/>
            <p:cNvSpPr txBox="true"/>
            <p:nvPr/>
          </p:nvSpPr>
          <p:spPr>
            <a:xfrm>
              <a:off x="0" y="-19050"/>
              <a:ext cx="3111500" cy="908050"/>
            </a:xfrm>
            <a:prstGeom prst="rect">
              <a:avLst/>
            </a:prstGeom>
          </p:spPr>
          <p:txBody>
            <a:bodyPr anchor="t" rtlCol="false" tIns="203200" lIns="203200" bIns="203200" rIns="203200"/>
            <a:lstStyle/>
            <a:p>
              <a:pPr algn="ctr">
                <a:lnSpc>
                  <a:spcPts val="2700"/>
                </a:lnSpc>
              </a:pPr>
              <a:r>
                <a:rPr lang="en-US" b="true" sz="2250" spc="-44">
                  <a:solidFill>
                    <a:srgbClr val="F5EAD8"/>
                  </a:solidFill>
                  <a:latin typeface="Arimo Bold"/>
                  <a:ea typeface="Arimo Bold"/>
                  <a:cs typeface="Arimo Bold"/>
                  <a:sym typeface="Arimo Bold"/>
                </a:rPr>
                <a:t>Next step →</a:t>
              </a:r>
            </a:p>
          </p:txBody>
        </p:sp>
      </p:grpSp>
      <p:sp>
        <p:nvSpPr>
          <p:cNvPr name="TextBox 34" id="34"/>
          <p:cNvSpPr txBox="true"/>
          <p:nvPr/>
        </p:nvSpPr>
        <p:spPr>
          <a:xfrm rot="0">
            <a:off x="3481959" y="8991600"/>
            <a:ext cx="2143125" cy="685800"/>
          </a:xfrm>
          <a:prstGeom prst="rect">
            <a:avLst/>
          </a:prstGeom>
        </p:spPr>
        <p:txBody>
          <a:bodyPr anchor="t" rtlCol="false" tIns="0" lIns="0" bIns="0" rIns="0">
            <a:spAutoFit/>
          </a:bodyPr>
          <a:lstStyle/>
          <a:p>
            <a:pPr algn="ctr">
              <a:lnSpc>
                <a:spcPts val="2700"/>
              </a:lnSpc>
            </a:pPr>
            <a:r>
              <a:rPr lang="en-US" b="true" sz="2250" spc="-44">
                <a:solidFill>
                  <a:srgbClr val="201E1D"/>
                </a:solidFill>
                <a:latin typeface="Arimo Bold"/>
                <a:ea typeface="Arimo Bold"/>
                <a:cs typeface="Arimo Bold"/>
                <a:sym typeface="Arimo Bold"/>
              </a:rPr>
              <a:t>Start again</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FFE1D0"/>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CCDBB2"/>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FFC6A5"/>
            </a:solidFill>
          </p:spPr>
        </p:sp>
      </p:grpSp>
      <p:grpSp>
        <p:nvGrpSpPr>
          <p:cNvPr name="Group 9" id="9"/>
          <p:cNvGrpSpPr/>
          <p:nvPr/>
        </p:nvGrpSpPr>
        <p:grpSpPr>
          <a:xfrm rot="0">
            <a:off x="913448" y="611505"/>
            <a:ext cx="3581400" cy="600075"/>
            <a:chOff x="0" y="0"/>
            <a:chExt cx="4775200" cy="800100"/>
          </a:xfrm>
        </p:grpSpPr>
        <p:sp>
          <p:nvSpPr>
            <p:cNvPr name="Freeform 10" id="10"/>
            <p:cNvSpPr/>
            <p:nvPr/>
          </p:nvSpPr>
          <p:spPr>
            <a:xfrm flipH="false" flipV="false" rot="0">
              <a:off x="0" y="0"/>
              <a:ext cx="4775200" cy="800100"/>
            </a:xfrm>
            <a:custGeom>
              <a:avLst/>
              <a:gdLst/>
              <a:ahLst/>
              <a:cxnLst/>
              <a:rect r="r" b="b" t="t" l="l"/>
              <a:pathLst>
                <a:path h="800100" w="4775200">
                  <a:moveTo>
                    <a:pt x="400050" y="0"/>
                  </a:moveTo>
                  <a:lnTo>
                    <a:pt x="4375150" y="0"/>
                  </a:lnTo>
                  <a:cubicBezTo>
                    <a:pt x="4596130" y="0"/>
                    <a:pt x="4775200" y="179070"/>
                    <a:pt x="4775200" y="400050"/>
                  </a:cubicBezTo>
                  <a:cubicBezTo>
                    <a:pt x="4775200" y="621030"/>
                    <a:pt x="4596130" y="800100"/>
                    <a:pt x="4375150" y="800100"/>
                  </a:cubicBezTo>
                  <a:lnTo>
                    <a:pt x="400050" y="800100"/>
                  </a:lnTo>
                  <a:cubicBezTo>
                    <a:pt x="179070" y="800100"/>
                    <a:pt x="0" y="621030"/>
                    <a:pt x="0" y="400050"/>
                  </a:cubicBezTo>
                  <a:cubicBezTo>
                    <a:pt x="0" y="179070"/>
                    <a:pt x="179070" y="0"/>
                    <a:pt x="400050" y="0"/>
                  </a:cubicBezTo>
                  <a:close/>
                </a:path>
              </a:pathLst>
            </a:custGeom>
            <a:solidFill>
              <a:srgbClr val="8C491A"/>
            </a:solidFill>
          </p:spPr>
        </p:sp>
        <p:sp>
          <p:nvSpPr>
            <p:cNvPr name="TextBox 11" id="11"/>
            <p:cNvSpPr txBox="true"/>
            <p:nvPr/>
          </p:nvSpPr>
          <p:spPr>
            <a:xfrm>
              <a:off x="0" y="-76200"/>
              <a:ext cx="47752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WORKED EXAMPLE 1E</a:t>
              </a:r>
            </a:p>
          </p:txBody>
        </p:sp>
      </p:grpSp>
      <p:sp>
        <p:nvSpPr>
          <p:cNvPr name="TextBox 12" id="12"/>
          <p:cNvSpPr txBox="true"/>
          <p:nvPr/>
        </p:nvSpPr>
        <p:spPr>
          <a:xfrm rot="0">
            <a:off x="4685919" y="630555"/>
            <a:ext cx="1743075" cy="485775"/>
          </a:xfrm>
          <a:prstGeom prst="rect">
            <a:avLst/>
          </a:prstGeom>
        </p:spPr>
        <p:txBody>
          <a:bodyPr anchor="t" rtlCol="false" tIns="0" lIns="0" bIns="0" rIns="0">
            <a:spAutoFit/>
          </a:bodyPr>
          <a:lstStyle/>
          <a:p>
            <a:pPr algn="l">
              <a:lnSpc>
                <a:spcPts val="3255"/>
              </a:lnSpc>
            </a:pPr>
            <a:r>
              <a:rPr lang="en-US" b="true" sz="2100">
                <a:solidFill>
                  <a:srgbClr val="3D472B"/>
                </a:solidFill>
                <a:latin typeface="Arimo Bold"/>
                <a:ea typeface="Arimo Bold"/>
                <a:cs typeface="Arimo Bold"/>
                <a:sym typeface="Arimo Bold"/>
              </a:rPr>
              <a:t>6.1 · Equations</a:t>
            </a:r>
          </a:p>
        </p:txBody>
      </p:sp>
      <p:sp>
        <p:nvSpPr>
          <p:cNvPr name="TextBox 13" id="13"/>
          <p:cNvSpPr txBox="true"/>
          <p:nvPr/>
        </p:nvSpPr>
        <p:spPr>
          <a:xfrm rot="0">
            <a:off x="914400" y="1472089"/>
            <a:ext cx="7772400" cy="523875"/>
          </a:xfrm>
          <a:prstGeom prst="rect">
            <a:avLst/>
          </a:prstGeom>
        </p:spPr>
        <p:txBody>
          <a:bodyPr anchor="t" rtlCol="false" tIns="0" lIns="0" bIns="0" rIns="0">
            <a:spAutoFit/>
          </a:bodyPr>
          <a:lstStyle/>
          <a:p>
            <a:pPr algn="l">
              <a:lnSpc>
                <a:spcPts val="4524"/>
              </a:lnSpc>
            </a:pPr>
            <a:r>
              <a:rPr lang="en-US" b="true" sz="4350" spc="-86">
                <a:solidFill>
                  <a:srgbClr val="201E1D"/>
                </a:solidFill>
                <a:latin typeface="Arimo Bold"/>
                <a:ea typeface="Arimo Bold"/>
                <a:cs typeface="Arimo Bold"/>
                <a:sym typeface="Arimo Bold"/>
              </a:rPr>
              <a:t>x in the denominator</a:t>
            </a:r>
          </a:p>
        </p:txBody>
      </p:sp>
      <p:sp>
        <p:nvSpPr>
          <p:cNvPr name="TextBox 14" id="14"/>
          <p:cNvSpPr txBox="true"/>
          <p:nvPr/>
        </p:nvSpPr>
        <p:spPr>
          <a:xfrm rot="0">
            <a:off x="914400" y="2130742"/>
            <a:ext cx="7772400" cy="609600"/>
          </a:xfrm>
          <a:prstGeom prst="rect">
            <a:avLst/>
          </a:prstGeom>
        </p:spPr>
        <p:txBody>
          <a:bodyPr anchor="t" rtlCol="false" tIns="0" lIns="0" bIns="0" rIns="0">
            <a:spAutoFit/>
          </a:bodyPr>
          <a:lstStyle/>
          <a:p>
            <a:pPr algn="l">
              <a:lnSpc>
                <a:spcPts val="4200"/>
              </a:lnSpc>
            </a:pPr>
            <a:r>
              <a:rPr lang="en-US" b="true" sz="3000">
                <a:solidFill>
                  <a:srgbClr val="201E1D"/>
                </a:solidFill>
                <a:latin typeface="Arimo Bold"/>
                <a:ea typeface="Arimo Bold"/>
                <a:cs typeface="Arimo Bold"/>
                <a:sym typeface="Arimo Bold"/>
              </a:rPr>
              <a:t>Solve</a:t>
            </a:r>
          </a:p>
        </p:txBody>
      </p:sp>
      <p:sp>
        <p:nvSpPr>
          <p:cNvPr name="AutoShape 15" id="15"/>
          <p:cNvSpPr/>
          <p:nvPr/>
        </p:nvSpPr>
        <p:spPr>
          <a:xfrm rot="0">
            <a:off x="944404" y="3075718"/>
            <a:ext cx="276225" cy="28575"/>
          </a:xfrm>
          <a:prstGeom prst="rect">
            <a:avLst/>
          </a:prstGeom>
          <a:solidFill>
            <a:srgbClr val="201E1D"/>
          </a:solidFill>
        </p:spPr>
      </p:sp>
      <p:sp>
        <p:nvSpPr>
          <p:cNvPr name="TextBox 16" id="16"/>
          <p:cNvSpPr txBox="true"/>
          <p:nvPr/>
        </p:nvSpPr>
        <p:spPr>
          <a:xfrm rot="0">
            <a:off x="944404" y="2761393"/>
            <a:ext cx="276225" cy="342900"/>
          </a:xfrm>
          <a:prstGeom prst="rect">
            <a:avLst/>
          </a:prstGeom>
        </p:spPr>
        <p:txBody>
          <a:bodyPr anchor="t" rtlCol="false" tIns="0" lIns="0" bIns="0" rIns="0">
            <a:spAutoFit/>
          </a:bodyPr>
          <a:lstStyle/>
          <a:p>
            <a:pPr algn="l">
              <a:lnSpc>
                <a:spcPts val="2656"/>
              </a:lnSpc>
            </a:pPr>
            <a:r>
              <a:rPr lang="en-US" b="true" sz="2460">
                <a:solidFill>
                  <a:srgbClr val="201E1D"/>
                </a:solidFill>
                <a:latin typeface="Arimo Bold"/>
                <a:ea typeface="Arimo Bold"/>
                <a:cs typeface="Arimo Bold"/>
                <a:sym typeface="Arimo Bold"/>
              </a:rPr>
              <a:t>2</a:t>
            </a:r>
          </a:p>
        </p:txBody>
      </p:sp>
      <p:sp>
        <p:nvSpPr>
          <p:cNvPr name="TextBox 17" id="17"/>
          <p:cNvSpPr txBox="true"/>
          <p:nvPr/>
        </p:nvSpPr>
        <p:spPr>
          <a:xfrm rot="0">
            <a:off x="949071" y="3127153"/>
            <a:ext cx="266700" cy="314325"/>
          </a:xfrm>
          <a:prstGeom prst="rect">
            <a:avLst/>
          </a:prstGeom>
        </p:spPr>
        <p:txBody>
          <a:bodyPr anchor="t" rtlCol="false" tIns="0" lIns="0" bIns="0" rIns="0">
            <a:spAutoFit/>
          </a:bodyPr>
          <a:lstStyle/>
          <a:p>
            <a:pPr algn="l">
              <a:lnSpc>
                <a:spcPts val="2656"/>
              </a:lnSpc>
            </a:pPr>
            <a:r>
              <a:rPr lang="en-US" b="true" sz="2460">
                <a:solidFill>
                  <a:srgbClr val="201E1D"/>
                </a:solidFill>
                <a:latin typeface="Arimo Bold"/>
                <a:ea typeface="Arimo Bold"/>
                <a:cs typeface="Arimo Bold"/>
                <a:sym typeface="Arimo Bold"/>
              </a:rPr>
              <a:t>3</a:t>
            </a:r>
          </a:p>
        </p:txBody>
      </p:sp>
      <p:sp>
        <p:nvSpPr>
          <p:cNvPr name="TextBox 18" id="18"/>
          <p:cNvSpPr txBox="true"/>
          <p:nvPr/>
        </p:nvSpPr>
        <p:spPr>
          <a:xfrm rot="0">
            <a:off x="914400" y="3367278"/>
            <a:ext cx="7772400" cy="609600"/>
          </a:xfrm>
          <a:prstGeom prst="rect">
            <a:avLst/>
          </a:prstGeom>
        </p:spPr>
        <p:txBody>
          <a:bodyPr anchor="t" rtlCol="false" tIns="0" lIns="0" bIns="0" rIns="0">
            <a:spAutoFit/>
          </a:bodyPr>
          <a:lstStyle/>
          <a:p>
            <a:pPr algn="l">
              <a:lnSpc>
                <a:spcPts val="4200"/>
              </a:lnSpc>
            </a:pPr>
            <a:r>
              <a:rPr lang="en-US" b="true" sz="3000">
                <a:solidFill>
                  <a:srgbClr val="201E1D"/>
                </a:solidFill>
                <a:latin typeface="Arimo Bold"/>
                <a:ea typeface="Arimo Bold"/>
                <a:cs typeface="Arimo Bold"/>
                <a:sym typeface="Arimo Bold"/>
              </a:rPr>
              <a:t>+</a:t>
            </a:r>
          </a:p>
        </p:txBody>
      </p:sp>
      <p:sp>
        <p:nvSpPr>
          <p:cNvPr name="AutoShape 19" id="19"/>
          <p:cNvSpPr/>
          <p:nvPr/>
        </p:nvSpPr>
        <p:spPr>
          <a:xfrm rot="0">
            <a:off x="1052036" y="4312158"/>
            <a:ext cx="228600" cy="28575"/>
          </a:xfrm>
          <a:prstGeom prst="rect">
            <a:avLst/>
          </a:prstGeom>
          <a:solidFill>
            <a:srgbClr val="201E1D"/>
          </a:solidFill>
        </p:spPr>
      </p:sp>
      <p:sp>
        <p:nvSpPr>
          <p:cNvPr name="TextBox 20" id="20"/>
          <p:cNvSpPr txBox="true"/>
          <p:nvPr/>
        </p:nvSpPr>
        <p:spPr>
          <a:xfrm rot="0">
            <a:off x="1052036" y="3997833"/>
            <a:ext cx="228600" cy="342900"/>
          </a:xfrm>
          <a:prstGeom prst="rect">
            <a:avLst/>
          </a:prstGeom>
        </p:spPr>
        <p:txBody>
          <a:bodyPr anchor="t" rtlCol="false" tIns="0" lIns="0" bIns="0" rIns="0">
            <a:spAutoFit/>
          </a:bodyPr>
          <a:lstStyle/>
          <a:p>
            <a:pPr algn="l">
              <a:lnSpc>
                <a:spcPts val="2656"/>
              </a:lnSpc>
            </a:pPr>
            <a:r>
              <a:rPr lang="en-US" b="true" sz="2460">
                <a:solidFill>
                  <a:srgbClr val="201E1D"/>
                </a:solidFill>
                <a:latin typeface="Arimo Bold"/>
                <a:ea typeface="Arimo Bold"/>
                <a:cs typeface="Arimo Bold"/>
                <a:sym typeface="Arimo Bold"/>
              </a:rPr>
              <a:t>1</a:t>
            </a:r>
          </a:p>
        </p:txBody>
      </p:sp>
      <p:sp>
        <p:nvSpPr>
          <p:cNvPr name="TextBox 21" id="21"/>
          <p:cNvSpPr txBox="true"/>
          <p:nvPr/>
        </p:nvSpPr>
        <p:spPr>
          <a:xfrm rot="0">
            <a:off x="942499" y="4363688"/>
            <a:ext cx="447675" cy="314325"/>
          </a:xfrm>
          <a:prstGeom prst="rect">
            <a:avLst/>
          </a:prstGeom>
        </p:spPr>
        <p:txBody>
          <a:bodyPr anchor="t" rtlCol="false" tIns="0" lIns="0" bIns="0" rIns="0">
            <a:spAutoFit/>
          </a:bodyPr>
          <a:lstStyle/>
          <a:p>
            <a:pPr algn="l">
              <a:lnSpc>
                <a:spcPts val="2656"/>
              </a:lnSpc>
            </a:pPr>
            <a:r>
              <a:rPr lang="en-US" b="true" sz="2460">
                <a:solidFill>
                  <a:srgbClr val="201E1D"/>
                </a:solidFill>
                <a:latin typeface="Arimo Bold"/>
                <a:ea typeface="Arimo Bold"/>
                <a:cs typeface="Arimo Bold"/>
                <a:sym typeface="Arimo Bold"/>
              </a:rPr>
              <a:t>3x</a:t>
            </a:r>
          </a:p>
        </p:txBody>
      </p:sp>
      <p:sp>
        <p:nvSpPr>
          <p:cNvPr name="TextBox 22" id="22"/>
          <p:cNvSpPr txBox="true"/>
          <p:nvPr/>
        </p:nvSpPr>
        <p:spPr>
          <a:xfrm rot="0">
            <a:off x="914400" y="4603718"/>
            <a:ext cx="7772400" cy="609600"/>
          </a:xfrm>
          <a:prstGeom prst="rect">
            <a:avLst/>
          </a:prstGeom>
        </p:spPr>
        <p:txBody>
          <a:bodyPr anchor="t" rtlCol="false" tIns="0" lIns="0" bIns="0" rIns="0">
            <a:spAutoFit/>
          </a:bodyPr>
          <a:lstStyle/>
          <a:p>
            <a:pPr algn="l">
              <a:lnSpc>
                <a:spcPts val="4200"/>
              </a:lnSpc>
            </a:pPr>
            <a:r>
              <a:rPr lang="en-US" b="true" sz="3000">
                <a:solidFill>
                  <a:srgbClr val="201E1D"/>
                </a:solidFill>
                <a:latin typeface="Arimo Bold"/>
                <a:ea typeface="Arimo Bold"/>
                <a:cs typeface="Arimo Bold"/>
                <a:sym typeface="Arimo Bold"/>
              </a:rPr>
              <a:t>=</a:t>
            </a:r>
          </a:p>
        </p:txBody>
      </p:sp>
      <p:sp>
        <p:nvSpPr>
          <p:cNvPr name="AutoShape 23" id="23"/>
          <p:cNvSpPr/>
          <p:nvPr/>
        </p:nvSpPr>
        <p:spPr>
          <a:xfrm rot="0">
            <a:off x="941451" y="5548598"/>
            <a:ext cx="819150" cy="28575"/>
          </a:xfrm>
          <a:prstGeom prst="rect">
            <a:avLst/>
          </a:prstGeom>
          <a:solidFill>
            <a:srgbClr val="201E1D"/>
          </a:solidFill>
        </p:spPr>
      </p:sp>
      <p:sp>
        <p:nvSpPr>
          <p:cNvPr name="TextBox 24" id="24"/>
          <p:cNvSpPr txBox="true"/>
          <p:nvPr/>
        </p:nvSpPr>
        <p:spPr>
          <a:xfrm rot="0">
            <a:off x="941451" y="5234273"/>
            <a:ext cx="819150" cy="342900"/>
          </a:xfrm>
          <a:prstGeom prst="rect">
            <a:avLst/>
          </a:prstGeom>
        </p:spPr>
        <p:txBody>
          <a:bodyPr anchor="t" rtlCol="false" tIns="0" lIns="0" bIns="0" rIns="0">
            <a:spAutoFit/>
          </a:bodyPr>
          <a:lstStyle/>
          <a:p>
            <a:pPr algn="l">
              <a:lnSpc>
                <a:spcPts val="2656"/>
              </a:lnSpc>
            </a:pPr>
            <a:r>
              <a:rPr lang="en-US" b="true" sz="2460">
                <a:solidFill>
                  <a:srgbClr val="201E1D"/>
                </a:solidFill>
                <a:latin typeface="Arimo Bold"/>
                <a:ea typeface="Arimo Bold"/>
                <a:cs typeface="Arimo Bold"/>
                <a:sym typeface="Arimo Bold"/>
              </a:rPr>
              <a:t>4 − x</a:t>
            </a:r>
          </a:p>
        </p:txBody>
      </p:sp>
      <p:sp>
        <p:nvSpPr>
          <p:cNvPr name="TextBox 25" id="25"/>
          <p:cNvSpPr txBox="true"/>
          <p:nvPr/>
        </p:nvSpPr>
        <p:spPr>
          <a:xfrm rot="0">
            <a:off x="1122331" y="5600129"/>
            <a:ext cx="457200" cy="314325"/>
          </a:xfrm>
          <a:prstGeom prst="rect">
            <a:avLst/>
          </a:prstGeom>
        </p:spPr>
        <p:txBody>
          <a:bodyPr anchor="t" rtlCol="false" tIns="0" lIns="0" bIns="0" rIns="0">
            <a:spAutoFit/>
          </a:bodyPr>
          <a:lstStyle/>
          <a:p>
            <a:pPr algn="l">
              <a:lnSpc>
                <a:spcPts val="2656"/>
              </a:lnSpc>
            </a:pPr>
            <a:r>
              <a:rPr lang="en-US" b="true" sz="2460">
                <a:solidFill>
                  <a:srgbClr val="201E1D"/>
                </a:solidFill>
                <a:latin typeface="Arimo Bold"/>
                <a:ea typeface="Arimo Bold"/>
                <a:cs typeface="Arimo Bold"/>
                <a:sym typeface="Arimo Bold"/>
              </a:rPr>
              <a:t>6x</a:t>
            </a:r>
          </a:p>
        </p:txBody>
      </p:sp>
      <p:grpSp>
        <p:nvGrpSpPr>
          <p:cNvPr name="Group 26" id="26"/>
          <p:cNvGrpSpPr/>
          <p:nvPr/>
        </p:nvGrpSpPr>
        <p:grpSpPr>
          <a:xfrm rot="0">
            <a:off x="916495" y="9097137"/>
            <a:ext cx="2333625" cy="666750"/>
            <a:chOff x="0" y="0"/>
            <a:chExt cx="3111500" cy="889000"/>
          </a:xfrm>
        </p:grpSpPr>
        <p:sp>
          <p:nvSpPr>
            <p:cNvPr name="Freeform 27" id="27"/>
            <p:cNvSpPr/>
            <p:nvPr/>
          </p:nvSpPr>
          <p:spPr>
            <a:xfrm flipH="false" flipV="false" rot="0">
              <a:off x="0" y="0"/>
              <a:ext cx="3111500" cy="889000"/>
            </a:xfrm>
            <a:custGeom>
              <a:avLst/>
              <a:gdLst/>
              <a:ahLst/>
              <a:cxnLst/>
              <a:rect r="r" b="b" t="t" l="l"/>
              <a:pathLst>
                <a:path h="889000" w="3111500">
                  <a:moveTo>
                    <a:pt x="444500" y="0"/>
                  </a:moveTo>
                  <a:lnTo>
                    <a:pt x="2667000" y="0"/>
                  </a:lnTo>
                  <a:cubicBezTo>
                    <a:pt x="2912491" y="0"/>
                    <a:pt x="3111500" y="199009"/>
                    <a:pt x="3111500" y="444500"/>
                  </a:cubicBezTo>
                  <a:cubicBezTo>
                    <a:pt x="3111500" y="689991"/>
                    <a:pt x="2912491" y="889000"/>
                    <a:pt x="26670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sp>
          <p:nvSpPr>
            <p:cNvPr name="TextBox 28" id="28"/>
            <p:cNvSpPr txBox="true"/>
            <p:nvPr/>
          </p:nvSpPr>
          <p:spPr>
            <a:xfrm>
              <a:off x="0" y="-19050"/>
              <a:ext cx="3111500" cy="908050"/>
            </a:xfrm>
            <a:prstGeom prst="rect">
              <a:avLst/>
            </a:prstGeom>
          </p:spPr>
          <p:txBody>
            <a:bodyPr anchor="t" rtlCol="false" tIns="203200" lIns="203200" bIns="203200" rIns="203200"/>
            <a:lstStyle/>
            <a:p>
              <a:pPr algn="ctr">
                <a:lnSpc>
                  <a:spcPts val="2700"/>
                </a:lnSpc>
              </a:pPr>
              <a:r>
                <a:rPr lang="en-US" b="true" sz="2250" spc="-44">
                  <a:solidFill>
                    <a:srgbClr val="F5EAD8"/>
                  </a:solidFill>
                  <a:latin typeface="Arimo Bold"/>
                  <a:ea typeface="Arimo Bold"/>
                  <a:cs typeface="Arimo Bold"/>
                  <a:sym typeface="Arimo Bold"/>
                </a:rPr>
                <a:t>Next step →</a:t>
              </a:r>
            </a:p>
          </p:txBody>
        </p:sp>
      </p:grpSp>
      <p:sp>
        <p:nvSpPr>
          <p:cNvPr name="TextBox 29" id="29"/>
          <p:cNvSpPr txBox="true"/>
          <p:nvPr/>
        </p:nvSpPr>
        <p:spPr>
          <a:xfrm rot="0">
            <a:off x="3405759" y="9078087"/>
            <a:ext cx="2143125" cy="685800"/>
          </a:xfrm>
          <a:prstGeom prst="rect">
            <a:avLst/>
          </a:prstGeom>
        </p:spPr>
        <p:txBody>
          <a:bodyPr anchor="t" rtlCol="false" tIns="0" lIns="0" bIns="0" rIns="0">
            <a:spAutoFit/>
          </a:bodyPr>
          <a:lstStyle/>
          <a:p>
            <a:pPr algn="ctr">
              <a:lnSpc>
                <a:spcPts val="2700"/>
              </a:lnSpc>
            </a:pPr>
            <a:r>
              <a:rPr lang="en-US" b="true" sz="2250" spc="-44">
                <a:solidFill>
                  <a:srgbClr val="201E1D"/>
                </a:solidFill>
                <a:latin typeface="Arimo Bold"/>
                <a:ea typeface="Arimo Bold"/>
                <a:cs typeface="Arimo Bold"/>
                <a:sym typeface="Arimo Bold"/>
              </a:rPr>
              <a:t>Start again</a:t>
            </a:r>
          </a:p>
        </p:txBody>
      </p:sp>
      <p:sp>
        <p:nvSpPr>
          <p:cNvPr name="TextBox 30" id="30"/>
          <p:cNvSpPr txBox="true"/>
          <p:nvPr/>
        </p:nvSpPr>
        <p:spPr>
          <a:xfrm rot="0">
            <a:off x="957834" y="7940993"/>
            <a:ext cx="2075688" cy="467868"/>
          </a:xfrm>
          <a:prstGeom prst="rect">
            <a:avLst/>
          </a:prstGeom>
        </p:spPr>
        <p:txBody>
          <a:bodyPr anchor="t" rtlCol="false" tIns="0" lIns="0" bIns="0" rIns="0">
            <a:spAutoFit/>
          </a:bodyPr>
          <a:lstStyle/>
          <a:p>
            <a:pPr algn="l">
              <a:lnSpc>
                <a:spcPts val="3369"/>
              </a:lnSpc>
            </a:pPr>
            <a:r>
              <a:rPr lang="en-US" b="true" sz="2592">
                <a:solidFill>
                  <a:srgbClr val="201E1D"/>
                </a:solidFill>
                <a:latin typeface="Arimo Bold"/>
                <a:ea typeface="Arimo Bold"/>
                <a:cs typeface="Arimo Bold"/>
                <a:sym typeface="Arimo Bold"/>
              </a:rPr>
              <a:t>x =</a:t>
            </a:r>
          </a:p>
        </p:txBody>
      </p:sp>
      <p:sp>
        <p:nvSpPr>
          <p:cNvPr name="AutoShape 31" id="31"/>
          <p:cNvSpPr/>
          <p:nvPr/>
        </p:nvSpPr>
        <p:spPr>
          <a:xfrm rot="0">
            <a:off x="986695" y="8698897"/>
            <a:ext cx="246888" cy="28575"/>
          </a:xfrm>
          <a:prstGeom prst="rect">
            <a:avLst/>
          </a:prstGeom>
          <a:solidFill>
            <a:srgbClr val="201E1D"/>
          </a:solidFill>
        </p:spPr>
      </p:sp>
      <p:sp>
        <p:nvSpPr>
          <p:cNvPr name="TextBox 32" id="32"/>
          <p:cNvSpPr txBox="true"/>
          <p:nvPr/>
        </p:nvSpPr>
        <p:spPr>
          <a:xfrm rot="0">
            <a:off x="986695" y="8426482"/>
            <a:ext cx="246888" cy="300990"/>
          </a:xfrm>
          <a:prstGeom prst="rect">
            <a:avLst/>
          </a:prstGeom>
        </p:spPr>
        <p:txBody>
          <a:bodyPr anchor="t" rtlCol="false" tIns="0" lIns="0" bIns="0" rIns="0">
            <a:spAutoFit/>
          </a:bodyPr>
          <a:lstStyle/>
          <a:p>
            <a:pPr algn="l">
              <a:lnSpc>
                <a:spcPts val="2295"/>
              </a:lnSpc>
            </a:pPr>
            <a:r>
              <a:rPr lang="en-US" b="true" sz="2125">
                <a:solidFill>
                  <a:srgbClr val="201E1D"/>
                </a:solidFill>
                <a:latin typeface="Arimo Bold"/>
                <a:ea typeface="Arimo Bold"/>
                <a:cs typeface="Arimo Bold"/>
                <a:sym typeface="Arimo Bold"/>
              </a:rPr>
              <a:t>2</a:t>
            </a:r>
          </a:p>
        </p:txBody>
      </p:sp>
      <p:sp>
        <p:nvSpPr>
          <p:cNvPr name="TextBox 33" id="33"/>
          <p:cNvSpPr txBox="true"/>
          <p:nvPr/>
        </p:nvSpPr>
        <p:spPr>
          <a:xfrm rot="0">
            <a:off x="986695" y="8745379"/>
            <a:ext cx="246888" cy="273558"/>
          </a:xfrm>
          <a:prstGeom prst="rect">
            <a:avLst/>
          </a:prstGeom>
        </p:spPr>
        <p:txBody>
          <a:bodyPr anchor="t" rtlCol="false" tIns="0" lIns="0" bIns="0" rIns="0">
            <a:spAutoFit/>
          </a:bodyPr>
          <a:lstStyle/>
          <a:p>
            <a:pPr algn="l">
              <a:lnSpc>
                <a:spcPts val="2295"/>
              </a:lnSpc>
            </a:pPr>
            <a:r>
              <a:rPr lang="en-US" b="true" sz="2125">
                <a:solidFill>
                  <a:srgbClr val="201E1D"/>
                </a:solidFill>
                <a:latin typeface="Arimo Bold"/>
                <a:ea typeface="Arimo Bold"/>
                <a:cs typeface="Arimo Bold"/>
                <a:sym typeface="Arimo Bold"/>
              </a:rPr>
              <a:t>5</a:t>
            </a:r>
          </a:p>
        </p:txBody>
      </p:sp>
      <p:grpSp>
        <p:nvGrpSpPr>
          <p:cNvPr name="Group 34" id="34"/>
          <p:cNvGrpSpPr/>
          <p:nvPr/>
        </p:nvGrpSpPr>
        <p:grpSpPr>
          <a:xfrm rot="0">
            <a:off x="9182100" y="609600"/>
            <a:ext cx="8191500" cy="9067800"/>
            <a:chOff x="0" y="0"/>
            <a:chExt cx="10922000" cy="12090400"/>
          </a:xfrm>
        </p:grpSpPr>
        <p:sp>
          <p:nvSpPr>
            <p:cNvPr name="Freeform 35" id="35"/>
            <p:cNvSpPr/>
            <p:nvPr/>
          </p:nvSpPr>
          <p:spPr>
            <a:xfrm flipH="false" flipV="false" rot="0">
              <a:off x="0" y="0"/>
              <a:ext cx="10922000" cy="12090400"/>
            </a:xfrm>
            <a:custGeom>
              <a:avLst/>
              <a:gdLst/>
              <a:ahLst/>
              <a:cxnLst/>
              <a:rect r="r" b="b" t="t" l="l"/>
              <a:pathLst>
                <a:path h="12090400" w="10922000">
                  <a:moveTo>
                    <a:pt x="711200" y="0"/>
                  </a:moveTo>
                  <a:lnTo>
                    <a:pt x="10210800" y="0"/>
                  </a:lnTo>
                  <a:cubicBezTo>
                    <a:pt x="10603611" y="0"/>
                    <a:pt x="10922000" y="318389"/>
                    <a:pt x="10922000" y="711200"/>
                  </a:cubicBezTo>
                  <a:lnTo>
                    <a:pt x="10922000" y="11379200"/>
                  </a:lnTo>
                  <a:cubicBezTo>
                    <a:pt x="10922000" y="11772011"/>
                    <a:pt x="10603611" y="12090400"/>
                    <a:pt x="10210800" y="12090400"/>
                  </a:cubicBezTo>
                  <a:lnTo>
                    <a:pt x="711200" y="12090400"/>
                  </a:lnTo>
                  <a:cubicBezTo>
                    <a:pt x="318389" y="12090400"/>
                    <a:pt x="0" y="11772011"/>
                    <a:pt x="0" y="11379200"/>
                  </a:cubicBezTo>
                  <a:lnTo>
                    <a:pt x="0" y="711200"/>
                  </a:lnTo>
                  <a:cubicBezTo>
                    <a:pt x="0" y="318389"/>
                    <a:pt x="318389" y="0"/>
                    <a:pt x="711200" y="0"/>
                  </a:cubicBezTo>
                  <a:close/>
                </a:path>
              </a:pathLst>
            </a:custGeom>
            <a:solidFill>
              <a:srgbClr val="EBDDC5"/>
            </a:solidFill>
          </p:spPr>
        </p:sp>
      </p:grpSp>
      <p:grpSp>
        <p:nvGrpSpPr>
          <p:cNvPr name="Group 36" id="36"/>
          <p:cNvGrpSpPr/>
          <p:nvPr/>
        </p:nvGrpSpPr>
        <p:grpSpPr>
          <a:xfrm rot="0">
            <a:off x="9747409" y="2285333"/>
            <a:ext cx="1344168" cy="1481328"/>
            <a:chOff x="0" y="0"/>
            <a:chExt cx="1792224" cy="1975104"/>
          </a:xfrm>
        </p:grpSpPr>
        <p:sp>
          <p:nvSpPr>
            <p:cNvPr name="Freeform 37" id="37"/>
            <p:cNvSpPr/>
            <p:nvPr/>
          </p:nvSpPr>
          <p:spPr>
            <a:xfrm flipH="false" flipV="false" rot="0">
              <a:off x="0" y="0"/>
              <a:ext cx="1792224" cy="1975104"/>
            </a:xfrm>
            <a:custGeom>
              <a:avLst/>
              <a:gdLst/>
              <a:ahLst/>
              <a:cxnLst/>
              <a:rect r="r" b="b" t="t" l="l"/>
              <a:pathLst>
                <a:path h="1975104" w="1792224">
                  <a:moveTo>
                    <a:pt x="896112" y="0"/>
                  </a:moveTo>
                  <a:cubicBezTo>
                    <a:pt x="1391031" y="0"/>
                    <a:pt x="1792224" y="401193"/>
                    <a:pt x="1792224" y="896112"/>
                  </a:cubicBezTo>
                  <a:lnTo>
                    <a:pt x="1792224" y="1078992"/>
                  </a:lnTo>
                  <a:cubicBezTo>
                    <a:pt x="1792224" y="1573911"/>
                    <a:pt x="1391031" y="1975104"/>
                    <a:pt x="896112" y="1975104"/>
                  </a:cubicBezTo>
                  <a:cubicBezTo>
                    <a:pt x="401193" y="1975104"/>
                    <a:pt x="0" y="1573911"/>
                    <a:pt x="0" y="1078992"/>
                  </a:cubicBezTo>
                  <a:lnTo>
                    <a:pt x="0" y="896112"/>
                  </a:lnTo>
                  <a:cubicBezTo>
                    <a:pt x="0" y="401193"/>
                    <a:pt x="401193" y="0"/>
                    <a:pt x="896112" y="0"/>
                  </a:cubicBezTo>
                  <a:close/>
                </a:path>
              </a:pathLst>
            </a:custGeom>
            <a:solidFill>
              <a:srgbClr val="FFF2EB"/>
            </a:solidFill>
          </p:spPr>
        </p:sp>
        <p:sp>
          <p:nvSpPr>
            <p:cNvPr name="Freeform 38" id="38"/>
            <p:cNvSpPr/>
            <p:nvPr/>
          </p:nvSpPr>
          <p:spPr>
            <a:xfrm flipH="false" flipV="false" rot="0">
              <a:off x="0" y="0"/>
              <a:ext cx="1792224" cy="1975104"/>
            </a:xfrm>
            <a:custGeom>
              <a:avLst/>
              <a:gdLst/>
              <a:ahLst/>
              <a:cxnLst/>
              <a:rect r="r" b="b" t="t" l="l"/>
              <a:pathLst>
                <a:path h="1975104" w="1792224">
                  <a:moveTo>
                    <a:pt x="896112" y="0"/>
                  </a:moveTo>
                  <a:cubicBezTo>
                    <a:pt x="1391031" y="0"/>
                    <a:pt x="1792224" y="401193"/>
                    <a:pt x="1792224" y="896112"/>
                  </a:cubicBezTo>
                  <a:lnTo>
                    <a:pt x="1792224" y="1078992"/>
                  </a:lnTo>
                  <a:cubicBezTo>
                    <a:pt x="1792224" y="1573911"/>
                    <a:pt x="1391031" y="1975104"/>
                    <a:pt x="896112" y="1975104"/>
                  </a:cubicBezTo>
                  <a:cubicBezTo>
                    <a:pt x="401193" y="1975104"/>
                    <a:pt x="0" y="1573911"/>
                    <a:pt x="0" y="1078992"/>
                  </a:cubicBezTo>
                  <a:lnTo>
                    <a:pt x="0" y="896112"/>
                  </a:lnTo>
                  <a:cubicBezTo>
                    <a:pt x="0" y="401193"/>
                    <a:pt x="401193" y="0"/>
                    <a:pt x="896112" y="0"/>
                  </a:cubicBezTo>
                  <a:close/>
                </a:path>
              </a:pathLst>
            </a:custGeom>
            <a:solidFill>
              <a:srgbClr val="000000">
                <a:alpha val="0"/>
              </a:srgbClr>
            </a:solidFill>
            <a:ln w="28575" cap="sq">
              <a:solidFill>
                <a:srgbClr val="F6A06B"/>
              </a:solidFill>
              <a:prstDash val="solid"/>
              <a:miter/>
            </a:ln>
          </p:spPr>
        </p:sp>
      </p:grpSp>
      <p:sp>
        <p:nvSpPr>
          <p:cNvPr name="TextBox 39" id="39"/>
          <p:cNvSpPr txBox="true"/>
          <p:nvPr/>
        </p:nvSpPr>
        <p:spPr>
          <a:xfrm rot="0">
            <a:off x="10049161" y="2300287"/>
            <a:ext cx="740664" cy="671703"/>
          </a:xfrm>
          <a:prstGeom prst="rect">
            <a:avLst/>
          </a:prstGeom>
        </p:spPr>
        <p:txBody>
          <a:bodyPr anchor="t" rtlCol="false" tIns="0" lIns="0" bIns="0" rIns="0">
            <a:spAutoFit/>
          </a:bodyPr>
          <a:lstStyle/>
          <a:p>
            <a:pPr algn="l">
              <a:lnSpc>
                <a:spcPts val="4463"/>
              </a:lnSpc>
            </a:pPr>
            <a:r>
              <a:rPr lang="en-US" b="true" sz="2879">
                <a:solidFill>
                  <a:srgbClr val="201E1D"/>
                </a:solidFill>
                <a:latin typeface="Arimo Bold"/>
                <a:ea typeface="Arimo Bold"/>
                <a:cs typeface="Arimo Bold"/>
                <a:sym typeface="Arimo Bold"/>
              </a:rPr>
              <a:t>6x ×</a:t>
            </a:r>
          </a:p>
        </p:txBody>
      </p:sp>
      <p:sp>
        <p:nvSpPr>
          <p:cNvPr name="AutoShape 40" id="40"/>
          <p:cNvSpPr/>
          <p:nvPr/>
        </p:nvSpPr>
        <p:spPr>
          <a:xfrm rot="0">
            <a:off x="10078784" y="3292697"/>
            <a:ext cx="265176" cy="28575"/>
          </a:xfrm>
          <a:prstGeom prst="rect">
            <a:avLst/>
          </a:prstGeom>
          <a:solidFill>
            <a:srgbClr val="201E1D"/>
          </a:solidFill>
        </p:spPr>
      </p:sp>
      <p:sp>
        <p:nvSpPr>
          <p:cNvPr name="TextBox 41" id="41"/>
          <p:cNvSpPr txBox="true"/>
          <p:nvPr/>
        </p:nvSpPr>
        <p:spPr>
          <a:xfrm rot="0">
            <a:off x="10078784" y="2992850"/>
            <a:ext cx="265176" cy="328422"/>
          </a:xfrm>
          <a:prstGeom prst="rect">
            <a:avLst/>
          </a:prstGeom>
        </p:spPr>
        <p:txBody>
          <a:bodyPr anchor="t" rtlCol="false" tIns="0" lIns="0" bIns="0" rIns="0">
            <a:spAutoFit/>
          </a:bodyPr>
          <a:lstStyle/>
          <a:p>
            <a:pPr algn="l">
              <a:lnSpc>
                <a:spcPts val="2550"/>
              </a:lnSpc>
            </a:pPr>
            <a:r>
              <a:rPr lang="en-US" b="true" sz="2361">
                <a:solidFill>
                  <a:srgbClr val="201E1D"/>
                </a:solidFill>
                <a:latin typeface="Arimo Bold"/>
                <a:ea typeface="Arimo Bold"/>
                <a:cs typeface="Arimo Bold"/>
                <a:sym typeface="Arimo Bold"/>
              </a:rPr>
              <a:t>2</a:t>
            </a:r>
          </a:p>
        </p:txBody>
      </p:sp>
      <p:sp>
        <p:nvSpPr>
          <p:cNvPr name="TextBox 42" id="42"/>
          <p:cNvSpPr txBox="true"/>
          <p:nvPr/>
        </p:nvSpPr>
        <p:spPr>
          <a:xfrm rot="0">
            <a:off x="10083260" y="3344037"/>
            <a:ext cx="256032" cy="300990"/>
          </a:xfrm>
          <a:prstGeom prst="rect">
            <a:avLst/>
          </a:prstGeom>
        </p:spPr>
        <p:txBody>
          <a:bodyPr anchor="t" rtlCol="false" tIns="0" lIns="0" bIns="0" rIns="0">
            <a:spAutoFit/>
          </a:bodyPr>
          <a:lstStyle/>
          <a:p>
            <a:pPr algn="l">
              <a:lnSpc>
                <a:spcPts val="2550"/>
              </a:lnSpc>
            </a:pPr>
            <a:r>
              <a:rPr lang="en-US" b="true" sz="2361">
                <a:solidFill>
                  <a:srgbClr val="201E1D"/>
                </a:solidFill>
                <a:latin typeface="Arimo Bold"/>
                <a:ea typeface="Arimo Bold"/>
                <a:cs typeface="Arimo Bold"/>
                <a:sym typeface="Arimo Bold"/>
              </a:rPr>
              <a:t>3</a:t>
            </a:r>
          </a:p>
        </p:txBody>
      </p:sp>
      <p:sp>
        <p:nvSpPr>
          <p:cNvPr name="TextBox 43" id="43"/>
          <p:cNvSpPr txBox="true"/>
          <p:nvPr/>
        </p:nvSpPr>
        <p:spPr>
          <a:xfrm rot="0">
            <a:off x="11293983" y="2637758"/>
            <a:ext cx="228600" cy="671703"/>
          </a:xfrm>
          <a:prstGeom prst="rect">
            <a:avLst/>
          </a:prstGeom>
        </p:spPr>
        <p:txBody>
          <a:bodyPr anchor="t" rtlCol="false" tIns="0" lIns="0" bIns="0" rIns="0">
            <a:spAutoFit/>
          </a:bodyPr>
          <a:lstStyle/>
          <a:p>
            <a:pPr algn="l">
              <a:lnSpc>
                <a:spcPts val="4463"/>
              </a:lnSpc>
            </a:pPr>
            <a:r>
              <a:rPr lang="en-US" b="true" sz="2879">
                <a:solidFill>
                  <a:srgbClr val="201E1D"/>
                </a:solidFill>
                <a:latin typeface="Arimo Bold"/>
                <a:ea typeface="Arimo Bold"/>
                <a:cs typeface="Arimo Bold"/>
                <a:sym typeface="Arimo Bold"/>
              </a:rPr>
              <a:t>=</a:t>
            </a:r>
          </a:p>
        </p:txBody>
      </p:sp>
      <p:grpSp>
        <p:nvGrpSpPr>
          <p:cNvPr name="Group 44" id="44"/>
          <p:cNvGrpSpPr/>
          <p:nvPr/>
        </p:nvGrpSpPr>
        <p:grpSpPr>
          <a:xfrm rot="0">
            <a:off x="11726323" y="2651093"/>
            <a:ext cx="987552" cy="749808"/>
            <a:chOff x="0" y="0"/>
            <a:chExt cx="1316736" cy="999744"/>
          </a:xfrm>
        </p:grpSpPr>
        <p:sp>
          <p:nvSpPr>
            <p:cNvPr name="Freeform 45" id="45"/>
            <p:cNvSpPr/>
            <p:nvPr/>
          </p:nvSpPr>
          <p:spPr>
            <a:xfrm flipH="false" flipV="false" rot="0">
              <a:off x="0" y="0"/>
              <a:ext cx="1316736" cy="999744"/>
            </a:xfrm>
            <a:custGeom>
              <a:avLst/>
              <a:gdLst/>
              <a:ahLst/>
              <a:cxnLst/>
              <a:rect r="r" b="b" t="t" l="l"/>
              <a:pathLst>
                <a:path h="999744" w="1316736">
                  <a:moveTo>
                    <a:pt x="499872" y="0"/>
                  </a:moveTo>
                  <a:lnTo>
                    <a:pt x="816864" y="0"/>
                  </a:lnTo>
                  <a:cubicBezTo>
                    <a:pt x="1092962" y="0"/>
                    <a:pt x="1316736" y="223774"/>
                    <a:pt x="1316736" y="499872"/>
                  </a:cubicBezTo>
                  <a:cubicBezTo>
                    <a:pt x="1316736" y="775970"/>
                    <a:pt x="1092962" y="999744"/>
                    <a:pt x="816864" y="999744"/>
                  </a:cubicBezTo>
                  <a:lnTo>
                    <a:pt x="499872" y="999744"/>
                  </a:lnTo>
                  <a:cubicBezTo>
                    <a:pt x="223774" y="999744"/>
                    <a:pt x="0" y="775970"/>
                    <a:pt x="0" y="499872"/>
                  </a:cubicBezTo>
                  <a:cubicBezTo>
                    <a:pt x="0" y="223774"/>
                    <a:pt x="223774" y="0"/>
                    <a:pt x="499872" y="0"/>
                  </a:cubicBezTo>
                  <a:close/>
                </a:path>
              </a:pathLst>
            </a:custGeom>
            <a:solidFill>
              <a:srgbClr val="8C491A"/>
            </a:solidFill>
          </p:spPr>
        </p:sp>
      </p:grpSp>
      <p:sp>
        <p:nvSpPr>
          <p:cNvPr name="TextBox 46" id="46"/>
          <p:cNvSpPr txBox="true"/>
          <p:nvPr/>
        </p:nvSpPr>
        <p:spPr>
          <a:xfrm rot="0">
            <a:off x="11726323" y="2546318"/>
            <a:ext cx="987552" cy="854583"/>
          </a:xfrm>
          <a:prstGeom prst="rect">
            <a:avLst/>
          </a:prstGeom>
        </p:spPr>
        <p:txBody>
          <a:bodyPr anchor="t" rtlCol="false" tIns="0" lIns="0" bIns="0" rIns="0">
            <a:spAutoFit/>
          </a:bodyPr>
          <a:lstStyle/>
          <a:p>
            <a:pPr algn="l">
              <a:lnSpc>
                <a:spcPts val="4463"/>
              </a:lnSpc>
            </a:pPr>
            <a:r>
              <a:rPr lang="en-US" b="true" sz="2879">
                <a:solidFill>
                  <a:srgbClr val="F5EAD8"/>
                </a:solidFill>
                <a:latin typeface="Arimo Bold"/>
                <a:ea typeface="Arimo Bold"/>
                <a:cs typeface="Arimo Bold"/>
                <a:sym typeface="Arimo Bold"/>
              </a:rPr>
              <a:t>4x</a:t>
            </a:r>
          </a:p>
        </p:txBody>
      </p:sp>
      <p:grpSp>
        <p:nvGrpSpPr>
          <p:cNvPr name="Group 47" id="47"/>
          <p:cNvGrpSpPr/>
          <p:nvPr/>
        </p:nvGrpSpPr>
        <p:grpSpPr>
          <a:xfrm rot="0">
            <a:off x="9747409" y="4055174"/>
            <a:ext cx="1344168" cy="1481328"/>
            <a:chOff x="0" y="0"/>
            <a:chExt cx="1792224" cy="1975104"/>
          </a:xfrm>
        </p:grpSpPr>
        <p:sp>
          <p:nvSpPr>
            <p:cNvPr name="Freeform 48" id="48"/>
            <p:cNvSpPr/>
            <p:nvPr/>
          </p:nvSpPr>
          <p:spPr>
            <a:xfrm flipH="false" flipV="false" rot="0">
              <a:off x="0" y="0"/>
              <a:ext cx="1792224" cy="1975104"/>
            </a:xfrm>
            <a:custGeom>
              <a:avLst/>
              <a:gdLst/>
              <a:ahLst/>
              <a:cxnLst/>
              <a:rect r="r" b="b" t="t" l="l"/>
              <a:pathLst>
                <a:path h="1975104" w="1792224">
                  <a:moveTo>
                    <a:pt x="896112" y="0"/>
                  </a:moveTo>
                  <a:cubicBezTo>
                    <a:pt x="1391031" y="0"/>
                    <a:pt x="1792224" y="401193"/>
                    <a:pt x="1792224" y="896112"/>
                  </a:cubicBezTo>
                  <a:lnTo>
                    <a:pt x="1792224" y="1078992"/>
                  </a:lnTo>
                  <a:cubicBezTo>
                    <a:pt x="1792224" y="1573911"/>
                    <a:pt x="1391031" y="1975104"/>
                    <a:pt x="896112" y="1975104"/>
                  </a:cubicBezTo>
                  <a:cubicBezTo>
                    <a:pt x="401193" y="1975104"/>
                    <a:pt x="0" y="1573911"/>
                    <a:pt x="0" y="1078992"/>
                  </a:cubicBezTo>
                  <a:lnTo>
                    <a:pt x="0" y="896112"/>
                  </a:lnTo>
                  <a:cubicBezTo>
                    <a:pt x="0" y="401193"/>
                    <a:pt x="401193" y="0"/>
                    <a:pt x="896112" y="0"/>
                  </a:cubicBezTo>
                  <a:close/>
                </a:path>
              </a:pathLst>
            </a:custGeom>
            <a:solidFill>
              <a:srgbClr val="F0FAE1"/>
            </a:solidFill>
          </p:spPr>
        </p:sp>
        <p:sp>
          <p:nvSpPr>
            <p:cNvPr name="Freeform 49" id="49"/>
            <p:cNvSpPr/>
            <p:nvPr/>
          </p:nvSpPr>
          <p:spPr>
            <a:xfrm flipH="false" flipV="false" rot="0">
              <a:off x="0" y="0"/>
              <a:ext cx="1792224" cy="1975104"/>
            </a:xfrm>
            <a:custGeom>
              <a:avLst/>
              <a:gdLst/>
              <a:ahLst/>
              <a:cxnLst/>
              <a:rect r="r" b="b" t="t" l="l"/>
              <a:pathLst>
                <a:path h="1975104" w="1792224">
                  <a:moveTo>
                    <a:pt x="896112" y="0"/>
                  </a:moveTo>
                  <a:cubicBezTo>
                    <a:pt x="1391031" y="0"/>
                    <a:pt x="1792224" y="401193"/>
                    <a:pt x="1792224" y="896112"/>
                  </a:cubicBezTo>
                  <a:lnTo>
                    <a:pt x="1792224" y="1078992"/>
                  </a:lnTo>
                  <a:cubicBezTo>
                    <a:pt x="1792224" y="1573911"/>
                    <a:pt x="1391031" y="1975104"/>
                    <a:pt x="896112" y="1975104"/>
                  </a:cubicBezTo>
                  <a:cubicBezTo>
                    <a:pt x="401193" y="1975104"/>
                    <a:pt x="0" y="1573911"/>
                    <a:pt x="0" y="1078992"/>
                  </a:cubicBezTo>
                  <a:lnTo>
                    <a:pt x="0" y="896112"/>
                  </a:lnTo>
                  <a:cubicBezTo>
                    <a:pt x="0" y="401193"/>
                    <a:pt x="401193" y="0"/>
                    <a:pt x="896112" y="0"/>
                  </a:cubicBezTo>
                  <a:close/>
                </a:path>
              </a:pathLst>
            </a:custGeom>
            <a:solidFill>
              <a:srgbClr val="000000">
                <a:alpha val="0"/>
              </a:srgbClr>
            </a:solidFill>
            <a:ln w="28575" cap="sq">
              <a:solidFill>
                <a:srgbClr val="AEBF92"/>
              </a:solidFill>
              <a:prstDash val="solid"/>
              <a:miter/>
            </a:ln>
          </p:spPr>
        </p:sp>
      </p:grpSp>
      <p:sp>
        <p:nvSpPr>
          <p:cNvPr name="TextBox 50" id="50"/>
          <p:cNvSpPr txBox="true"/>
          <p:nvPr/>
        </p:nvSpPr>
        <p:spPr>
          <a:xfrm rot="0">
            <a:off x="10049161" y="4070128"/>
            <a:ext cx="740664" cy="671703"/>
          </a:xfrm>
          <a:prstGeom prst="rect">
            <a:avLst/>
          </a:prstGeom>
        </p:spPr>
        <p:txBody>
          <a:bodyPr anchor="t" rtlCol="false" tIns="0" lIns="0" bIns="0" rIns="0">
            <a:spAutoFit/>
          </a:bodyPr>
          <a:lstStyle/>
          <a:p>
            <a:pPr algn="l">
              <a:lnSpc>
                <a:spcPts val="4463"/>
              </a:lnSpc>
            </a:pPr>
            <a:r>
              <a:rPr lang="en-US" b="true" sz="2879">
                <a:solidFill>
                  <a:srgbClr val="201E1D"/>
                </a:solidFill>
                <a:latin typeface="Arimo Bold"/>
                <a:ea typeface="Arimo Bold"/>
                <a:cs typeface="Arimo Bold"/>
                <a:sym typeface="Arimo Bold"/>
              </a:rPr>
              <a:t>6x ×</a:t>
            </a:r>
          </a:p>
        </p:txBody>
      </p:sp>
      <p:sp>
        <p:nvSpPr>
          <p:cNvPr name="AutoShape 51" id="51"/>
          <p:cNvSpPr/>
          <p:nvPr/>
        </p:nvSpPr>
        <p:spPr>
          <a:xfrm rot="0">
            <a:off x="10182130" y="5062633"/>
            <a:ext cx="219456" cy="28575"/>
          </a:xfrm>
          <a:prstGeom prst="rect">
            <a:avLst/>
          </a:prstGeom>
          <a:solidFill>
            <a:srgbClr val="201E1D"/>
          </a:solidFill>
        </p:spPr>
      </p:sp>
      <p:sp>
        <p:nvSpPr>
          <p:cNvPr name="TextBox 52" id="52"/>
          <p:cNvSpPr txBox="true"/>
          <p:nvPr/>
        </p:nvSpPr>
        <p:spPr>
          <a:xfrm rot="0">
            <a:off x="10182130" y="4762786"/>
            <a:ext cx="219456" cy="328422"/>
          </a:xfrm>
          <a:prstGeom prst="rect">
            <a:avLst/>
          </a:prstGeom>
        </p:spPr>
        <p:txBody>
          <a:bodyPr anchor="t" rtlCol="false" tIns="0" lIns="0" bIns="0" rIns="0">
            <a:spAutoFit/>
          </a:bodyPr>
          <a:lstStyle/>
          <a:p>
            <a:pPr algn="l">
              <a:lnSpc>
                <a:spcPts val="2550"/>
              </a:lnSpc>
            </a:pPr>
            <a:r>
              <a:rPr lang="en-US" b="true" sz="2361">
                <a:solidFill>
                  <a:srgbClr val="201E1D"/>
                </a:solidFill>
                <a:latin typeface="Arimo Bold"/>
                <a:ea typeface="Arimo Bold"/>
                <a:cs typeface="Arimo Bold"/>
                <a:sym typeface="Arimo Bold"/>
              </a:rPr>
              <a:t>1</a:t>
            </a:r>
          </a:p>
        </p:txBody>
      </p:sp>
      <p:sp>
        <p:nvSpPr>
          <p:cNvPr name="TextBox 53" id="53"/>
          <p:cNvSpPr txBox="true"/>
          <p:nvPr/>
        </p:nvSpPr>
        <p:spPr>
          <a:xfrm rot="0">
            <a:off x="10077069" y="5113972"/>
            <a:ext cx="429768" cy="300990"/>
          </a:xfrm>
          <a:prstGeom prst="rect">
            <a:avLst/>
          </a:prstGeom>
        </p:spPr>
        <p:txBody>
          <a:bodyPr anchor="t" rtlCol="false" tIns="0" lIns="0" bIns="0" rIns="0">
            <a:spAutoFit/>
          </a:bodyPr>
          <a:lstStyle/>
          <a:p>
            <a:pPr algn="l">
              <a:lnSpc>
                <a:spcPts val="2550"/>
              </a:lnSpc>
            </a:pPr>
            <a:r>
              <a:rPr lang="en-US" b="true" sz="2361">
                <a:solidFill>
                  <a:srgbClr val="201E1D"/>
                </a:solidFill>
                <a:latin typeface="Arimo Bold"/>
                <a:ea typeface="Arimo Bold"/>
                <a:cs typeface="Arimo Bold"/>
                <a:sym typeface="Arimo Bold"/>
              </a:rPr>
              <a:t>3x</a:t>
            </a:r>
          </a:p>
        </p:txBody>
      </p:sp>
      <p:sp>
        <p:nvSpPr>
          <p:cNvPr name="TextBox 54" id="54"/>
          <p:cNvSpPr txBox="true"/>
          <p:nvPr/>
        </p:nvSpPr>
        <p:spPr>
          <a:xfrm rot="0">
            <a:off x="11293983" y="4407599"/>
            <a:ext cx="228600" cy="671703"/>
          </a:xfrm>
          <a:prstGeom prst="rect">
            <a:avLst/>
          </a:prstGeom>
        </p:spPr>
        <p:txBody>
          <a:bodyPr anchor="t" rtlCol="false" tIns="0" lIns="0" bIns="0" rIns="0">
            <a:spAutoFit/>
          </a:bodyPr>
          <a:lstStyle/>
          <a:p>
            <a:pPr algn="l">
              <a:lnSpc>
                <a:spcPts val="4463"/>
              </a:lnSpc>
            </a:pPr>
            <a:r>
              <a:rPr lang="en-US" b="true" sz="2879">
                <a:solidFill>
                  <a:srgbClr val="201E1D"/>
                </a:solidFill>
                <a:latin typeface="Arimo Bold"/>
                <a:ea typeface="Arimo Bold"/>
                <a:cs typeface="Arimo Bold"/>
                <a:sym typeface="Arimo Bold"/>
              </a:rPr>
              <a:t>=</a:t>
            </a:r>
          </a:p>
        </p:txBody>
      </p:sp>
      <p:grpSp>
        <p:nvGrpSpPr>
          <p:cNvPr name="Group 55" id="55"/>
          <p:cNvGrpSpPr/>
          <p:nvPr/>
        </p:nvGrpSpPr>
        <p:grpSpPr>
          <a:xfrm rot="0">
            <a:off x="11723656" y="4420934"/>
            <a:ext cx="768096" cy="749808"/>
            <a:chOff x="0" y="0"/>
            <a:chExt cx="1024128" cy="999744"/>
          </a:xfrm>
        </p:grpSpPr>
        <p:sp>
          <p:nvSpPr>
            <p:cNvPr name="Freeform 56" id="56"/>
            <p:cNvSpPr/>
            <p:nvPr/>
          </p:nvSpPr>
          <p:spPr>
            <a:xfrm flipH="false" flipV="false" rot="0">
              <a:off x="0" y="0"/>
              <a:ext cx="1024128" cy="999744"/>
            </a:xfrm>
            <a:custGeom>
              <a:avLst/>
              <a:gdLst/>
              <a:ahLst/>
              <a:cxnLst/>
              <a:rect r="r" b="b" t="t" l="l"/>
              <a:pathLst>
                <a:path h="999744" w="1024128">
                  <a:moveTo>
                    <a:pt x="499872" y="0"/>
                  </a:moveTo>
                  <a:lnTo>
                    <a:pt x="524256" y="0"/>
                  </a:lnTo>
                  <a:cubicBezTo>
                    <a:pt x="800354" y="0"/>
                    <a:pt x="1024128" y="223774"/>
                    <a:pt x="1024128" y="499872"/>
                  </a:cubicBezTo>
                  <a:cubicBezTo>
                    <a:pt x="1024128" y="775970"/>
                    <a:pt x="800354" y="999744"/>
                    <a:pt x="524256" y="999744"/>
                  </a:cubicBezTo>
                  <a:lnTo>
                    <a:pt x="499872" y="999744"/>
                  </a:lnTo>
                  <a:cubicBezTo>
                    <a:pt x="223774" y="999744"/>
                    <a:pt x="0" y="775970"/>
                    <a:pt x="0" y="499872"/>
                  </a:cubicBezTo>
                  <a:cubicBezTo>
                    <a:pt x="0" y="223774"/>
                    <a:pt x="223774" y="0"/>
                    <a:pt x="499872" y="0"/>
                  </a:cubicBezTo>
                  <a:close/>
                </a:path>
              </a:pathLst>
            </a:custGeom>
            <a:solidFill>
              <a:srgbClr val="56633F"/>
            </a:solidFill>
          </p:spPr>
        </p:sp>
      </p:grpSp>
      <p:sp>
        <p:nvSpPr>
          <p:cNvPr name="TextBox 57" id="57"/>
          <p:cNvSpPr txBox="true"/>
          <p:nvPr/>
        </p:nvSpPr>
        <p:spPr>
          <a:xfrm rot="0">
            <a:off x="11723656" y="4316159"/>
            <a:ext cx="768096" cy="854583"/>
          </a:xfrm>
          <a:prstGeom prst="rect">
            <a:avLst/>
          </a:prstGeom>
        </p:spPr>
        <p:txBody>
          <a:bodyPr anchor="t" rtlCol="false" tIns="0" lIns="0" bIns="0" rIns="0">
            <a:spAutoFit/>
          </a:bodyPr>
          <a:lstStyle/>
          <a:p>
            <a:pPr algn="l">
              <a:lnSpc>
                <a:spcPts val="4463"/>
              </a:lnSpc>
            </a:pPr>
            <a:r>
              <a:rPr lang="en-US" b="true" sz="2879">
                <a:solidFill>
                  <a:srgbClr val="F5EAD8"/>
                </a:solidFill>
                <a:latin typeface="Arimo Bold"/>
                <a:ea typeface="Arimo Bold"/>
                <a:cs typeface="Arimo Bold"/>
                <a:sym typeface="Arimo Bold"/>
              </a:rPr>
              <a:t>2</a:t>
            </a:r>
          </a:p>
        </p:txBody>
      </p:sp>
      <p:grpSp>
        <p:nvGrpSpPr>
          <p:cNvPr name="Group 58" id="58"/>
          <p:cNvGrpSpPr/>
          <p:nvPr/>
        </p:nvGrpSpPr>
        <p:grpSpPr>
          <a:xfrm rot="0">
            <a:off x="9746742" y="5825014"/>
            <a:ext cx="1444752" cy="1481328"/>
            <a:chOff x="0" y="0"/>
            <a:chExt cx="1926336" cy="1975104"/>
          </a:xfrm>
        </p:grpSpPr>
        <p:sp>
          <p:nvSpPr>
            <p:cNvPr name="Freeform 59" id="59"/>
            <p:cNvSpPr/>
            <p:nvPr/>
          </p:nvSpPr>
          <p:spPr>
            <a:xfrm flipH="false" flipV="false" rot="0">
              <a:off x="0" y="0"/>
              <a:ext cx="1926336" cy="1975104"/>
            </a:xfrm>
            <a:custGeom>
              <a:avLst/>
              <a:gdLst/>
              <a:ahLst/>
              <a:cxnLst/>
              <a:rect r="r" b="b" t="t" l="l"/>
              <a:pathLst>
                <a:path h="1975104" w="1926336">
                  <a:moveTo>
                    <a:pt x="963168" y="0"/>
                  </a:moveTo>
                  <a:cubicBezTo>
                    <a:pt x="1495171" y="0"/>
                    <a:pt x="1926336" y="431165"/>
                    <a:pt x="1926336" y="963168"/>
                  </a:cubicBezTo>
                  <a:lnTo>
                    <a:pt x="1926336" y="1011936"/>
                  </a:lnTo>
                  <a:cubicBezTo>
                    <a:pt x="1926336" y="1543939"/>
                    <a:pt x="1495171" y="1975104"/>
                    <a:pt x="963168" y="1975104"/>
                  </a:cubicBezTo>
                  <a:cubicBezTo>
                    <a:pt x="431165" y="1975104"/>
                    <a:pt x="0" y="1543939"/>
                    <a:pt x="0" y="1011936"/>
                  </a:cubicBezTo>
                  <a:lnTo>
                    <a:pt x="0" y="963168"/>
                  </a:lnTo>
                  <a:cubicBezTo>
                    <a:pt x="0" y="431165"/>
                    <a:pt x="431165" y="0"/>
                    <a:pt x="963168" y="0"/>
                  </a:cubicBezTo>
                  <a:close/>
                </a:path>
              </a:pathLst>
            </a:custGeom>
            <a:solidFill>
              <a:srgbClr val="FFF2EB"/>
            </a:solidFill>
          </p:spPr>
        </p:sp>
        <p:sp>
          <p:nvSpPr>
            <p:cNvPr name="Freeform 60" id="60"/>
            <p:cNvSpPr/>
            <p:nvPr/>
          </p:nvSpPr>
          <p:spPr>
            <a:xfrm flipH="false" flipV="false" rot="0">
              <a:off x="0" y="0"/>
              <a:ext cx="1926336" cy="1975104"/>
            </a:xfrm>
            <a:custGeom>
              <a:avLst/>
              <a:gdLst/>
              <a:ahLst/>
              <a:cxnLst/>
              <a:rect r="r" b="b" t="t" l="l"/>
              <a:pathLst>
                <a:path h="1975104" w="1926336">
                  <a:moveTo>
                    <a:pt x="963168" y="0"/>
                  </a:moveTo>
                  <a:cubicBezTo>
                    <a:pt x="1495171" y="0"/>
                    <a:pt x="1926336" y="431165"/>
                    <a:pt x="1926336" y="963168"/>
                  </a:cubicBezTo>
                  <a:lnTo>
                    <a:pt x="1926336" y="1011936"/>
                  </a:lnTo>
                  <a:cubicBezTo>
                    <a:pt x="1926336" y="1543939"/>
                    <a:pt x="1495171" y="1975104"/>
                    <a:pt x="963168" y="1975104"/>
                  </a:cubicBezTo>
                  <a:cubicBezTo>
                    <a:pt x="431165" y="1975104"/>
                    <a:pt x="0" y="1543939"/>
                    <a:pt x="0" y="1011936"/>
                  </a:cubicBezTo>
                  <a:lnTo>
                    <a:pt x="0" y="963168"/>
                  </a:lnTo>
                  <a:cubicBezTo>
                    <a:pt x="0" y="431165"/>
                    <a:pt x="431165" y="0"/>
                    <a:pt x="963168" y="0"/>
                  </a:cubicBezTo>
                  <a:close/>
                </a:path>
              </a:pathLst>
            </a:custGeom>
            <a:solidFill>
              <a:srgbClr val="000000">
                <a:alpha val="0"/>
              </a:srgbClr>
            </a:solidFill>
            <a:ln w="28575" cap="sq">
              <a:solidFill>
                <a:srgbClr val="F6A06B"/>
              </a:solidFill>
              <a:prstDash val="solid"/>
              <a:miter/>
            </a:ln>
          </p:spPr>
        </p:sp>
      </p:grpSp>
      <p:sp>
        <p:nvSpPr>
          <p:cNvPr name="TextBox 61" id="61"/>
          <p:cNvSpPr txBox="true"/>
          <p:nvPr/>
        </p:nvSpPr>
        <p:spPr>
          <a:xfrm rot="0">
            <a:off x="10048494" y="5839968"/>
            <a:ext cx="841248" cy="671703"/>
          </a:xfrm>
          <a:prstGeom prst="rect">
            <a:avLst/>
          </a:prstGeom>
        </p:spPr>
        <p:txBody>
          <a:bodyPr anchor="t" rtlCol="false" tIns="0" lIns="0" bIns="0" rIns="0">
            <a:spAutoFit/>
          </a:bodyPr>
          <a:lstStyle/>
          <a:p>
            <a:pPr algn="l">
              <a:lnSpc>
                <a:spcPts val="4463"/>
              </a:lnSpc>
            </a:pPr>
            <a:r>
              <a:rPr lang="en-US" b="true" sz="2879">
                <a:solidFill>
                  <a:srgbClr val="201E1D"/>
                </a:solidFill>
                <a:latin typeface="Arimo Bold"/>
                <a:ea typeface="Arimo Bold"/>
                <a:cs typeface="Arimo Bold"/>
                <a:sym typeface="Arimo Bold"/>
              </a:rPr>
              <a:t>6x ×</a:t>
            </a:r>
          </a:p>
        </p:txBody>
      </p:sp>
      <p:sp>
        <p:nvSpPr>
          <p:cNvPr name="AutoShape 62" id="62"/>
          <p:cNvSpPr/>
          <p:nvPr/>
        </p:nvSpPr>
        <p:spPr>
          <a:xfrm rot="0">
            <a:off x="10075926" y="6832473"/>
            <a:ext cx="786384" cy="28575"/>
          </a:xfrm>
          <a:prstGeom prst="rect">
            <a:avLst/>
          </a:prstGeom>
          <a:solidFill>
            <a:srgbClr val="201E1D"/>
          </a:solidFill>
        </p:spPr>
      </p:sp>
      <p:sp>
        <p:nvSpPr>
          <p:cNvPr name="TextBox 63" id="63"/>
          <p:cNvSpPr txBox="true"/>
          <p:nvPr/>
        </p:nvSpPr>
        <p:spPr>
          <a:xfrm rot="0">
            <a:off x="10075926" y="6532626"/>
            <a:ext cx="786384" cy="328422"/>
          </a:xfrm>
          <a:prstGeom prst="rect">
            <a:avLst/>
          </a:prstGeom>
        </p:spPr>
        <p:txBody>
          <a:bodyPr anchor="t" rtlCol="false" tIns="0" lIns="0" bIns="0" rIns="0">
            <a:spAutoFit/>
          </a:bodyPr>
          <a:lstStyle/>
          <a:p>
            <a:pPr algn="l">
              <a:lnSpc>
                <a:spcPts val="2550"/>
              </a:lnSpc>
            </a:pPr>
            <a:r>
              <a:rPr lang="en-US" b="true" sz="2361">
                <a:solidFill>
                  <a:srgbClr val="201E1D"/>
                </a:solidFill>
                <a:latin typeface="Arimo Bold"/>
                <a:ea typeface="Arimo Bold"/>
                <a:cs typeface="Arimo Bold"/>
                <a:sym typeface="Arimo Bold"/>
              </a:rPr>
              <a:t>4 − x</a:t>
            </a:r>
          </a:p>
        </p:txBody>
      </p:sp>
      <p:sp>
        <p:nvSpPr>
          <p:cNvPr name="TextBox 64" id="64"/>
          <p:cNvSpPr txBox="true"/>
          <p:nvPr/>
        </p:nvSpPr>
        <p:spPr>
          <a:xfrm rot="0">
            <a:off x="10249567" y="6883813"/>
            <a:ext cx="438912" cy="300990"/>
          </a:xfrm>
          <a:prstGeom prst="rect">
            <a:avLst/>
          </a:prstGeom>
        </p:spPr>
        <p:txBody>
          <a:bodyPr anchor="t" rtlCol="false" tIns="0" lIns="0" bIns="0" rIns="0">
            <a:spAutoFit/>
          </a:bodyPr>
          <a:lstStyle/>
          <a:p>
            <a:pPr algn="l">
              <a:lnSpc>
                <a:spcPts val="2550"/>
              </a:lnSpc>
            </a:pPr>
            <a:r>
              <a:rPr lang="en-US" b="true" sz="2361">
                <a:solidFill>
                  <a:srgbClr val="201E1D"/>
                </a:solidFill>
                <a:latin typeface="Arimo Bold"/>
                <a:ea typeface="Arimo Bold"/>
                <a:cs typeface="Arimo Bold"/>
                <a:sym typeface="Arimo Bold"/>
              </a:rPr>
              <a:t>6x</a:t>
            </a:r>
          </a:p>
        </p:txBody>
      </p:sp>
      <p:sp>
        <p:nvSpPr>
          <p:cNvPr name="TextBox 65" id="65"/>
          <p:cNvSpPr txBox="true"/>
          <p:nvPr/>
        </p:nvSpPr>
        <p:spPr>
          <a:xfrm rot="0">
            <a:off x="11393234" y="6177439"/>
            <a:ext cx="228600" cy="671703"/>
          </a:xfrm>
          <a:prstGeom prst="rect">
            <a:avLst/>
          </a:prstGeom>
        </p:spPr>
        <p:txBody>
          <a:bodyPr anchor="t" rtlCol="false" tIns="0" lIns="0" bIns="0" rIns="0">
            <a:spAutoFit/>
          </a:bodyPr>
          <a:lstStyle/>
          <a:p>
            <a:pPr algn="l">
              <a:lnSpc>
                <a:spcPts val="4463"/>
              </a:lnSpc>
            </a:pPr>
            <a:r>
              <a:rPr lang="en-US" b="true" sz="2879">
                <a:solidFill>
                  <a:srgbClr val="201E1D"/>
                </a:solidFill>
                <a:latin typeface="Arimo Bold"/>
                <a:ea typeface="Arimo Bold"/>
                <a:cs typeface="Arimo Bold"/>
                <a:sym typeface="Arimo Bold"/>
              </a:rPr>
              <a:t>=</a:t>
            </a:r>
          </a:p>
        </p:txBody>
      </p:sp>
      <p:grpSp>
        <p:nvGrpSpPr>
          <p:cNvPr name="Group 66" id="66"/>
          <p:cNvGrpSpPr/>
          <p:nvPr/>
        </p:nvGrpSpPr>
        <p:grpSpPr>
          <a:xfrm rot="0">
            <a:off x="11826335" y="6190774"/>
            <a:ext cx="1389888" cy="749808"/>
            <a:chOff x="0" y="0"/>
            <a:chExt cx="1853184" cy="999744"/>
          </a:xfrm>
        </p:grpSpPr>
        <p:sp>
          <p:nvSpPr>
            <p:cNvPr name="Freeform 67" id="67"/>
            <p:cNvSpPr/>
            <p:nvPr/>
          </p:nvSpPr>
          <p:spPr>
            <a:xfrm flipH="false" flipV="false" rot="0">
              <a:off x="0" y="0"/>
              <a:ext cx="1853184" cy="999744"/>
            </a:xfrm>
            <a:custGeom>
              <a:avLst/>
              <a:gdLst/>
              <a:ahLst/>
              <a:cxnLst/>
              <a:rect r="r" b="b" t="t" l="l"/>
              <a:pathLst>
                <a:path h="999744" w="1853184">
                  <a:moveTo>
                    <a:pt x="499872" y="0"/>
                  </a:moveTo>
                  <a:lnTo>
                    <a:pt x="1353312" y="0"/>
                  </a:lnTo>
                  <a:cubicBezTo>
                    <a:pt x="1629410" y="0"/>
                    <a:pt x="1853184" y="223774"/>
                    <a:pt x="1853184" y="499872"/>
                  </a:cubicBezTo>
                  <a:cubicBezTo>
                    <a:pt x="1853184" y="775970"/>
                    <a:pt x="1629410" y="999744"/>
                    <a:pt x="1353312" y="999744"/>
                  </a:cubicBezTo>
                  <a:lnTo>
                    <a:pt x="499872" y="999744"/>
                  </a:lnTo>
                  <a:cubicBezTo>
                    <a:pt x="223774" y="999744"/>
                    <a:pt x="0" y="775970"/>
                    <a:pt x="0" y="499872"/>
                  </a:cubicBezTo>
                  <a:cubicBezTo>
                    <a:pt x="0" y="223774"/>
                    <a:pt x="223774" y="0"/>
                    <a:pt x="499872" y="0"/>
                  </a:cubicBezTo>
                  <a:close/>
                </a:path>
              </a:pathLst>
            </a:custGeom>
            <a:solidFill>
              <a:srgbClr val="8C491A"/>
            </a:solidFill>
          </p:spPr>
        </p:sp>
      </p:grpSp>
      <p:sp>
        <p:nvSpPr>
          <p:cNvPr name="TextBox 68" id="68"/>
          <p:cNvSpPr txBox="true"/>
          <p:nvPr/>
        </p:nvSpPr>
        <p:spPr>
          <a:xfrm rot="0">
            <a:off x="11826335" y="6085999"/>
            <a:ext cx="1389888" cy="854583"/>
          </a:xfrm>
          <a:prstGeom prst="rect">
            <a:avLst/>
          </a:prstGeom>
        </p:spPr>
        <p:txBody>
          <a:bodyPr anchor="t" rtlCol="false" tIns="0" lIns="0" bIns="0" rIns="0">
            <a:spAutoFit/>
          </a:bodyPr>
          <a:lstStyle/>
          <a:p>
            <a:pPr algn="l">
              <a:lnSpc>
                <a:spcPts val="4463"/>
              </a:lnSpc>
            </a:pPr>
            <a:r>
              <a:rPr lang="en-US" b="true" sz="2879">
                <a:solidFill>
                  <a:srgbClr val="F5EAD8"/>
                </a:solidFill>
                <a:latin typeface="Arimo Bold"/>
                <a:ea typeface="Arimo Bold"/>
                <a:cs typeface="Arimo Bold"/>
                <a:sym typeface="Arimo Bold"/>
              </a:rPr>
              <a:t>4 − x</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FFE1D0"/>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CCDBB2"/>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FFC6A5"/>
            </a:solidFill>
          </p:spPr>
        </p:sp>
      </p:grpSp>
      <p:grpSp>
        <p:nvGrpSpPr>
          <p:cNvPr name="Group 9" id="9"/>
          <p:cNvGrpSpPr/>
          <p:nvPr/>
        </p:nvGrpSpPr>
        <p:grpSpPr>
          <a:xfrm rot="0">
            <a:off x="916591" y="611505"/>
            <a:ext cx="1400175" cy="600075"/>
            <a:chOff x="0" y="0"/>
            <a:chExt cx="1866900" cy="800100"/>
          </a:xfrm>
        </p:grpSpPr>
        <p:sp>
          <p:nvSpPr>
            <p:cNvPr name="Freeform 10" id="10"/>
            <p:cNvSpPr/>
            <p:nvPr/>
          </p:nvSpPr>
          <p:spPr>
            <a:xfrm flipH="false" flipV="false" rot="0">
              <a:off x="0" y="0"/>
              <a:ext cx="1866900" cy="800100"/>
            </a:xfrm>
            <a:custGeom>
              <a:avLst/>
              <a:gdLst/>
              <a:ahLst/>
              <a:cxnLst/>
              <a:rect r="r" b="b" t="t" l="l"/>
              <a:pathLst>
                <a:path h="800100" w="1866900">
                  <a:moveTo>
                    <a:pt x="400050" y="0"/>
                  </a:moveTo>
                  <a:lnTo>
                    <a:pt x="1466850" y="0"/>
                  </a:lnTo>
                  <a:cubicBezTo>
                    <a:pt x="1687830" y="0"/>
                    <a:pt x="1866900" y="179070"/>
                    <a:pt x="1866900" y="400050"/>
                  </a:cubicBezTo>
                  <a:cubicBezTo>
                    <a:pt x="1866900" y="621030"/>
                    <a:pt x="1687830" y="800100"/>
                    <a:pt x="1466850" y="800100"/>
                  </a:cubicBezTo>
                  <a:lnTo>
                    <a:pt x="400050" y="800100"/>
                  </a:lnTo>
                  <a:cubicBezTo>
                    <a:pt x="179070" y="800100"/>
                    <a:pt x="0" y="621030"/>
                    <a:pt x="0" y="400050"/>
                  </a:cubicBezTo>
                  <a:cubicBezTo>
                    <a:pt x="0" y="179070"/>
                    <a:pt x="179070" y="0"/>
                    <a:pt x="400050" y="0"/>
                  </a:cubicBezTo>
                  <a:close/>
                </a:path>
              </a:pathLst>
            </a:custGeom>
            <a:solidFill>
              <a:srgbClr val="8C491A"/>
            </a:solidFill>
          </p:spPr>
        </p:sp>
        <p:sp>
          <p:nvSpPr>
            <p:cNvPr name="TextBox 11" id="11"/>
            <p:cNvSpPr txBox="true"/>
            <p:nvPr/>
          </p:nvSpPr>
          <p:spPr>
            <a:xfrm>
              <a:off x="0" y="-76200"/>
              <a:ext cx="18669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TRY IT</a:t>
              </a:r>
            </a:p>
          </p:txBody>
        </p:sp>
      </p:grpSp>
      <p:sp>
        <p:nvSpPr>
          <p:cNvPr name="TextBox 12" id="12"/>
          <p:cNvSpPr txBox="true"/>
          <p:nvPr/>
        </p:nvSpPr>
        <p:spPr>
          <a:xfrm rot="0">
            <a:off x="2510219" y="630555"/>
            <a:ext cx="1866900" cy="485775"/>
          </a:xfrm>
          <a:prstGeom prst="rect">
            <a:avLst/>
          </a:prstGeom>
        </p:spPr>
        <p:txBody>
          <a:bodyPr anchor="t" rtlCol="false" tIns="0" lIns="0" bIns="0" rIns="0">
            <a:spAutoFit/>
          </a:bodyPr>
          <a:lstStyle/>
          <a:p>
            <a:pPr algn="l">
              <a:lnSpc>
                <a:spcPts val="3255"/>
              </a:lnSpc>
            </a:pPr>
            <a:r>
              <a:rPr lang="en-US" b="true" sz="2100">
                <a:solidFill>
                  <a:srgbClr val="3D472B"/>
                </a:solidFill>
                <a:latin typeface="Arimo Bold"/>
                <a:ea typeface="Arimo Bold"/>
                <a:cs typeface="Arimo Bold"/>
                <a:sym typeface="Arimo Bold"/>
              </a:rPr>
              <a:t>6.1 · Interactive</a:t>
            </a:r>
          </a:p>
        </p:txBody>
      </p:sp>
      <p:sp>
        <p:nvSpPr>
          <p:cNvPr name="TextBox 13" id="13"/>
          <p:cNvSpPr txBox="true"/>
          <p:nvPr/>
        </p:nvSpPr>
        <p:spPr>
          <a:xfrm rot="0">
            <a:off x="914400" y="1472089"/>
            <a:ext cx="7391400" cy="523875"/>
          </a:xfrm>
          <a:prstGeom prst="rect">
            <a:avLst/>
          </a:prstGeom>
        </p:spPr>
        <p:txBody>
          <a:bodyPr anchor="t" rtlCol="false" tIns="0" lIns="0" bIns="0" rIns="0">
            <a:spAutoFit/>
          </a:bodyPr>
          <a:lstStyle/>
          <a:p>
            <a:pPr algn="l">
              <a:lnSpc>
                <a:spcPts val="4524"/>
              </a:lnSpc>
            </a:pPr>
            <a:r>
              <a:rPr lang="en-US" b="true" sz="4350" spc="-86">
                <a:solidFill>
                  <a:srgbClr val="201E1D"/>
                </a:solidFill>
                <a:latin typeface="Arimo Bold"/>
                <a:ea typeface="Arimo Bold"/>
                <a:cs typeface="Arimo Bold"/>
                <a:sym typeface="Arimo Bold"/>
              </a:rPr>
              <a:t>Solve it on the scales</a:t>
            </a:r>
          </a:p>
        </p:txBody>
      </p:sp>
      <p:grpSp>
        <p:nvGrpSpPr>
          <p:cNvPr name="Group 14" id="14"/>
          <p:cNvGrpSpPr/>
          <p:nvPr/>
        </p:nvGrpSpPr>
        <p:grpSpPr>
          <a:xfrm rot="0">
            <a:off x="914400" y="2208371"/>
            <a:ext cx="7391400" cy="1076325"/>
            <a:chOff x="0" y="0"/>
            <a:chExt cx="9855200" cy="1435100"/>
          </a:xfrm>
        </p:grpSpPr>
        <p:sp>
          <p:nvSpPr>
            <p:cNvPr name="Freeform 15" id="15"/>
            <p:cNvSpPr/>
            <p:nvPr/>
          </p:nvSpPr>
          <p:spPr>
            <a:xfrm flipH="false" flipV="false" rot="0">
              <a:off x="0" y="0"/>
              <a:ext cx="9855200" cy="1435100"/>
            </a:xfrm>
            <a:custGeom>
              <a:avLst/>
              <a:gdLst/>
              <a:ahLst/>
              <a:cxnLst/>
              <a:rect r="r" b="b" t="t" l="l"/>
              <a:pathLst>
                <a:path h="1435100" w="9855200">
                  <a:moveTo>
                    <a:pt x="355600" y="0"/>
                  </a:moveTo>
                  <a:lnTo>
                    <a:pt x="9499600" y="0"/>
                  </a:lnTo>
                  <a:cubicBezTo>
                    <a:pt x="9695942" y="0"/>
                    <a:pt x="9855200" y="159258"/>
                    <a:pt x="9855200" y="355600"/>
                  </a:cubicBezTo>
                  <a:lnTo>
                    <a:pt x="9855200" y="1079500"/>
                  </a:lnTo>
                  <a:cubicBezTo>
                    <a:pt x="9855200" y="1275842"/>
                    <a:pt x="9695942" y="1435100"/>
                    <a:pt x="9499600" y="1435100"/>
                  </a:cubicBezTo>
                  <a:lnTo>
                    <a:pt x="355600" y="1435100"/>
                  </a:lnTo>
                  <a:cubicBezTo>
                    <a:pt x="159258" y="1435100"/>
                    <a:pt x="0" y="1275842"/>
                    <a:pt x="0" y="1079500"/>
                  </a:cubicBezTo>
                  <a:lnTo>
                    <a:pt x="0" y="355600"/>
                  </a:lnTo>
                  <a:cubicBezTo>
                    <a:pt x="0" y="159258"/>
                    <a:pt x="159258" y="0"/>
                    <a:pt x="355600" y="0"/>
                  </a:cubicBezTo>
                  <a:close/>
                </a:path>
              </a:pathLst>
            </a:custGeom>
            <a:solidFill>
              <a:srgbClr val="FFF2EB"/>
            </a:solidFill>
          </p:spPr>
        </p:sp>
        <p:sp>
          <p:nvSpPr>
            <p:cNvPr name="Freeform 16" id="16"/>
            <p:cNvSpPr/>
            <p:nvPr/>
          </p:nvSpPr>
          <p:spPr>
            <a:xfrm flipH="false" flipV="false" rot="0">
              <a:off x="0" y="0"/>
              <a:ext cx="9855200" cy="1435100"/>
            </a:xfrm>
            <a:custGeom>
              <a:avLst/>
              <a:gdLst/>
              <a:ahLst/>
              <a:cxnLst/>
              <a:rect r="r" b="b" t="t" l="l"/>
              <a:pathLst>
                <a:path h="1435100" w="9855200">
                  <a:moveTo>
                    <a:pt x="355600" y="0"/>
                  </a:moveTo>
                  <a:lnTo>
                    <a:pt x="9499600" y="0"/>
                  </a:lnTo>
                  <a:cubicBezTo>
                    <a:pt x="9695942" y="0"/>
                    <a:pt x="9855200" y="159258"/>
                    <a:pt x="9855200" y="355600"/>
                  </a:cubicBezTo>
                  <a:lnTo>
                    <a:pt x="9855200" y="1079500"/>
                  </a:lnTo>
                  <a:cubicBezTo>
                    <a:pt x="9855200" y="1275842"/>
                    <a:pt x="9695942" y="1435100"/>
                    <a:pt x="9499600" y="1435100"/>
                  </a:cubicBezTo>
                  <a:lnTo>
                    <a:pt x="355600" y="1435100"/>
                  </a:lnTo>
                  <a:cubicBezTo>
                    <a:pt x="159258" y="1435100"/>
                    <a:pt x="0" y="1275842"/>
                    <a:pt x="0" y="1079500"/>
                  </a:cubicBezTo>
                  <a:lnTo>
                    <a:pt x="0" y="355600"/>
                  </a:lnTo>
                  <a:cubicBezTo>
                    <a:pt x="0" y="159258"/>
                    <a:pt x="159258" y="0"/>
                    <a:pt x="355600" y="0"/>
                  </a:cubicBezTo>
                  <a:close/>
                </a:path>
              </a:pathLst>
            </a:custGeom>
            <a:solidFill>
              <a:srgbClr val="000000">
                <a:alpha val="0"/>
              </a:srgbClr>
            </a:solidFill>
            <a:ln w="28575" cap="sq">
              <a:solidFill>
                <a:srgbClr val="FFC6A5"/>
              </a:solidFill>
              <a:prstDash val="solid"/>
              <a:miter/>
            </a:ln>
          </p:spPr>
        </p:sp>
        <p:sp>
          <p:nvSpPr>
            <p:cNvPr name="TextBox 17" id="17"/>
            <p:cNvSpPr txBox="true"/>
            <p:nvPr/>
          </p:nvSpPr>
          <p:spPr>
            <a:xfrm>
              <a:off x="0" y="-133350"/>
              <a:ext cx="9855200" cy="1568450"/>
            </a:xfrm>
            <a:prstGeom prst="rect">
              <a:avLst/>
            </a:prstGeom>
          </p:spPr>
          <p:txBody>
            <a:bodyPr anchor="t" rtlCol="false" tIns="315595" lIns="315595" bIns="315595" rIns="315595"/>
            <a:lstStyle/>
            <a:p>
              <a:pPr algn="l">
                <a:lnSpc>
                  <a:spcPts val="5347"/>
                </a:lnSpc>
              </a:pPr>
              <a:r>
                <a:rPr lang="en-US" b="true" sz="3450">
                  <a:solidFill>
                    <a:srgbClr val="201E1D"/>
                  </a:solidFill>
                  <a:latin typeface="Arimo Bold"/>
                  <a:ea typeface="Arimo Bold"/>
                  <a:cs typeface="Arimo Bold"/>
                  <a:sym typeface="Arimo Bold"/>
                </a:rPr>
                <a:t>5x − 2 = 3x + 6</a:t>
              </a:r>
            </a:p>
          </p:txBody>
        </p:sp>
      </p:grpSp>
      <p:grpSp>
        <p:nvGrpSpPr>
          <p:cNvPr name="Group 18" id="18"/>
          <p:cNvGrpSpPr/>
          <p:nvPr/>
        </p:nvGrpSpPr>
        <p:grpSpPr>
          <a:xfrm rot="0">
            <a:off x="914400" y="3496532"/>
            <a:ext cx="7391400" cy="676275"/>
            <a:chOff x="0" y="0"/>
            <a:chExt cx="9855200" cy="901700"/>
          </a:xfrm>
        </p:grpSpPr>
        <p:sp>
          <p:nvSpPr>
            <p:cNvPr name="Freeform 19" id="19"/>
            <p:cNvSpPr/>
            <p:nvPr/>
          </p:nvSpPr>
          <p:spPr>
            <a:xfrm flipH="false" flipV="false" rot="0">
              <a:off x="0" y="0"/>
              <a:ext cx="9855200" cy="901700"/>
            </a:xfrm>
            <a:custGeom>
              <a:avLst/>
              <a:gdLst/>
              <a:ahLst/>
              <a:cxnLst/>
              <a:rect r="r" b="b" t="t" l="l"/>
              <a:pathLst>
                <a:path h="901700" w="9855200">
                  <a:moveTo>
                    <a:pt x="450850" y="0"/>
                  </a:moveTo>
                  <a:lnTo>
                    <a:pt x="9404350" y="0"/>
                  </a:lnTo>
                  <a:cubicBezTo>
                    <a:pt x="9653397" y="0"/>
                    <a:pt x="9855200" y="201803"/>
                    <a:pt x="9855200" y="450850"/>
                  </a:cubicBezTo>
                  <a:cubicBezTo>
                    <a:pt x="9855200" y="699897"/>
                    <a:pt x="9653397" y="901700"/>
                    <a:pt x="9404350" y="901700"/>
                  </a:cubicBezTo>
                  <a:lnTo>
                    <a:pt x="450850" y="901700"/>
                  </a:lnTo>
                  <a:cubicBezTo>
                    <a:pt x="201803" y="901700"/>
                    <a:pt x="0" y="699897"/>
                    <a:pt x="0" y="450850"/>
                  </a:cubicBezTo>
                  <a:cubicBezTo>
                    <a:pt x="0" y="201803"/>
                    <a:pt x="201803" y="0"/>
                    <a:pt x="450850" y="0"/>
                  </a:cubicBezTo>
                  <a:close/>
                </a:path>
              </a:pathLst>
            </a:custGeom>
            <a:solidFill>
              <a:srgbClr val="C67139"/>
            </a:solidFill>
          </p:spPr>
        </p:sp>
      </p:grpSp>
      <p:sp>
        <p:nvSpPr>
          <p:cNvPr name="TextBox 20" id="20"/>
          <p:cNvSpPr txBox="true"/>
          <p:nvPr/>
        </p:nvSpPr>
        <p:spPr>
          <a:xfrm rot="0">
            <a:off x="1246251" y="3648932"/>
            <a:ext cx="3676650" cy="361950"/>
          </a:xfrm>
          <a:prstGeom prst="rect">
            <a:avLst/>
          </a:prstGeom>
        </p:spPr>
        <p:txBody>
          <a:bodyPr anchor="t" rtlCol="false" tIns="0" lIns="0" bIns="0" rIns="0">
            <a:spAutoFit/>
          </a:bodyPr>
          <a:lstStyle/>
          <a:p>
            <a:pPr algn="ctr">
              <a:lnSpc>
                <a:spcPts val="2790"/>
              </a:lnSpc>
            </a:pPr>
            <a:r>
              <a:rPr lang="en-US" b="true" sz="2325" spc="-46">
                <a:solidFill>
                  <a:srgbClr val="F5EAD8"/>
                </a:solidFill>
                <a:latin typeface="Arimo Bold"/>
                <a:ea typeface="Arimo Bold"/>
                <a:cs typeface="Arimo Bold"/>
                <a:sym typeface="Arimo Bold"/>
              </a:rPr>
              <a:t>Subtract 3x from both sides</a:t>
            </a:r>
          </a:p>
        </p:txBody>
      </p:sp>
      <p:grpSp>
        <p:nvGrpSpPr>
          <p:cNvPr name="Group 21" id="21"/>
          <p:cNvGrpSpPr/>
          <p:nvPr/>
        </p:nvGrpSpPr>
        <p:grpSpPr>
          <a:xfrm rot="0">
            <a:off x="914400" y="4307967"/>
            <a:ext cx="7391400" cy="676275"/>
            <a:chOff x="0" y="0"/>
            <a:chExt cx="9855200" cy="901700"/>
          </a:xfrm>
        </p:grpSpPr>
        <p:sp>
          <p:nvSpPr>
            <p:cNvPr name="Freeform 22" id="22"/>
            <p:cNvSpPr/>
            <p:nvPr/>
          </p:nvSpPr>
          <p:spPr>
            <a:xfrm flipH="false" flipV="false" rot="0">
              <a:off x="0" y="0"/>
              <a:ext cx="9855200" cy="901700"/>
            </a:xfrm>
            <a:custGeom>
              <a:avLst/>
              <a:gdLst/>
              <a:ahLst/>
              <a:cxnLst/>
              <a:rect r="r" b="b" t="t" l="l"/>
              <a:pathLst>
                <a:path h="901700" w="9855200">
                  <a:moveTo>
                    <a:pt x="450850" y="0"/>
                  </a:moveTo>
                  <a:lnTo>
                    <a:pt x="9404350" y="0"/>
                  </a:lnTo>
                  <a:cubicBezTo>
                    <a:pt x="9653397" y="0"/>
                    <a:pt x="9855200" y="201803"/>
                    <a:pt x="9855200" y="450850"/>
                  </a:cubicBezTo>
                  <a:cubicBezTo>
                    <a:pt x="9855200" y="699897"/>
                    <a:pt x="9653397" y="901700"/>
                    <a:pt x="9404350" y="901700"/>
                  </a:cubicBezTo>
                  <a:lnTo>
                    <a:pt x="450850" y="901700"/>
                  </a:lnTo>
                  <a:cubicBezTo>
                    <a:pt x="201803" y="901700"/>
                    <a:pt x="0" y="699897"/>
                    <a:pt x="0" y="450850"/>
                  </a:cubicBezTo>
                  <a:cubicBezTo>
                    <a:pt x="0" y="201803"/>
                    <a:pt x="201803" y="0"/>
                    <a:pt x="450850" y="0"/>
                  </a:cubicBezTo>
                  <a:close/>
                </a:path>
              </a:pathLst>
            </a:custGeom>
            <a:solidFill>
              <a:srgbClr val="C67139"/>
            </a:solidFill>
          </p:spPr>
        </p:sp>
      </p:grpSp>
      <p:sp>
        <p:nvSpPr>
          <p:cNvPr name="TextBox 23" id="23"/>
          <p:cNvSpPr txBox="true"/>
          <p:nvPr/>
        </p:nvSpPr>
        <p:spPr>
          <a:xfrm rot="0">
            <a:off x="1247680" y="4460367"/>
            <a:ext cx="2543175" cy="361950"/>
          </a:xfrm>
          <a:prstGeom prst="rect">
            <a:avLst/>
          </a:prstGeom>
        </p:spPr>
        <p:txBody>
          <a:bodyPr anchor="t" rtlCol="false" tIns="0" lIns="0" bIns="0" rIns="0">
            <a:spAutoFit/>
          </a:bodyPr>
          <a:lstStyle/>
          <a:p>
            <a:pPr algn="ctr">
              <a:lnSpc>
                <a:spcPts val="2790"/>
              </a:lnSpc>
            </a:pPr>
            <a:r>
              <a:rPr lang="en-US" b="true" sz="2325" spc="-46">
                <a:solidFill>
                  <a:srgbClr val="F5EAD8"/>
                </a:solidFill>
                <a:latin typeface="Arimo Bold"/>
                <a:ea typeface="Arimo Bold"/>
                <a:cs typeface="Arimo Bold"/>
                <a:sym typeface="Arimo Bold"/>
              </a:rPr>
              <a:t>Add 2 to both sides</a:t>
            </a:r>
          </a:p>
        </p:txBody>
      </p:sp>
      <p:grpSp>
        <p:nvGrpSpPr>
          <p:cNvPr name="Group 24" id="24"/>
          <p:cNvGrpSpPr/>
          <p:nvPr/>
        </p:nvGrpSpPr>
        <p:grpSpPr>
          <a:xfrm rot="0">
            <a:off x="914400" y="5119402"/>
            <a:ext cx="7391400" cy="676275"/>
            <a:chOff x="0" y="0"/>
            <a:chExt cx="9855200" cy="901700"/>
          </a:xfrm>
        </p:grpSpPr>
        <p:sp>
          <p:nvSpPr>
            <p:cNvPr name="Freeform 25" id="25"/>
            <p:cNvSpPr/>
            <p:nvPr/>
          </p:nvSpPr>
          <p:spPr>
            <a:xfrm flipH="false" flipV="false" rot="0">
              <a:off x="0" y="0"/>
              <a:ext cx="9855200" cy="901700"/>
            </a:xfrm>
            <a:custGeom>
              <a:avLst/>
              <a:gdLst/>
              <a:ahLst/>
              <a:cxnLst/>
              <a:rect r="r" b="b" t="t" l="l"/>
              <a:pathLst>
                <a:path h="901700" w="9855200">
                  <a:moveTo>
                    <a:pt x="450850" y="0"/>
                  </a:moveTo>
                  <a:lnTo>
                    <a:pt x="9404350" y="0"/>
                  </a:lnTo>
                  <a:cubicBezTo>
                    <a:pt x="9653397" y="0"/>
                    <a:pt x="9855200" y="201803"/>
                    <a:pt x="9855200" y="450850"/>
                  </a:cubicBezTo>
                  <a:cubicBezTo>
                    <a:pt x="9855200" y="699897"/>
                    <a:pt x="9653397" y="901700"/>
                    <a:pt x="9404350" y="901700"/>
                  </a:cubicBezTo>
                  <a:lnTo>
                    <a:pt x="450850" y="901700"/>
                  </a:lnTo>
                  <a:cubicBezTo>
                    <a:pt x="201803" y="901700"/>
                    <a:pt x="0" y="699897"/>
                    <a:pt x="0" y="450850"/>
                  </a:cubicBezTo>
                  <a:cubicBezTo>
                    <a:pt x="0" y="201803"/>
                    <a:pt x="201803" y="0"/>
                    <a:pt x="450850" y="0"/>
                  </a:cubicBezTo>
                  <a:close/>
                </a:path>
              </a:pathLst>
            </a:custGeom>
            <a:solidFill>
              <a:srgbClr val="C67139"/>
            </a:solidFill>
          </p:spPr>
        </p:sp>
      </p:grpSp>
      <p:sp>
        <p:nvSpPr>
          <p:cNvPr name="TextBox 26" id="26"/>
          <p:cNvSpPr txBox="true"/>
          <p:nvPr/>
        </p:nvSpPr>
        <p:spPr>
          <a:xfrm rot="0">
            <a:off x="1248061" y="5271802"/>
            <a:ext cx="2895600" cy="361950"/>
          </a:xfrm>
          <a:prstGeom prst="rect">
            <a:avLst/>
          </a:prstGeom>
        </p:spPr>
        <p:txBody>
          <a:bodyPr anchor="t" rtlCol="false" tIns="0" lIns="0" bIns="0" rIns="0">
            <a:spAutoFit/>
          </a:bodyPr>
          <a:lstStyle/>
          <a:p>
            <a:pPr algn="ctr">
              <a:lnSpc>
                <a:spcPts val="2790"/>
              </a:lnSpc>
            </a:pPr>
            <a:r>
              <a:rPr lang="en-US" b="true" sz="2325" spc="-46">
                <a:solidFill>
                  <a:srgbClr val="F5EAD8"/>
                </a:solidFill>
                <a:latin typeface="Arimo Bold"/>
                <a:ea typeface="Arimo Bold"/>
                <a:cs typeface="Arimo Bold"/>
                <a:sym typeface="Arimo Bold"/>
              </a:rPr>
              <a:t>Divide both sides by 5</a:t>
            </a:r>
          </a:p>
        </p:txBody>
      </p:sp>
      <p:sp>
        <p:nvSpPr>
          <p:cNvPr name="TextBox 27" id="27"/>
          <p:cNvSpPr txBox="true"/>
          <p:nvPr/>
        </p:nvSpPr>
        <p:spPr>
          <a:xfrm rot="0">
            <a:off x="914400" y="5949696"/>
            <a:ext cx="7391400" cy="476250"/>
          </a:xfrm>
          <a:prstGeom prst="rect">
            <a:avLst/>
          </a:prstGeom>
        </p:spPr>
        <p:txBody>
          <a:bodyPr anchor="t" rtlCol="false" tIns="0" lIns="0" bIns="0" rIns="0">
            <a:spAutoFit/>
          </a:bodyPr>
          <a:lstStyle/>
          <a:p>
            <a:pPr algn="l">
              <a:lnSpc>
                <a:spcPts val="3311"/>
              </a:lnSpc>
            </a:pPr>
            <a:r>
              <a:rPr lang="en-US" b="true" sz="2400">
                <a:solidFill>
                  <a:srgbClr val="643312"/>
                </a:solidFill>
                <a:latin typeface="Arimo Bold"/>
                <a:ea typeface="Arimo Bold"/>
                <a:cs typeface="Arimo Bold"/>
                <a:sym typeface="Arimo Bold"/>
              </a:rPr>
              <a:t>Choose an operation to apply to both sides.</a:t>
            </a:r>
          </a:p>
        </p:txBody>
      </p:sp>
      <p:sp>
        <p:nvSpPr>
          <p:cNvPr name="TextBox 28" id="28"/>
          <p:cNvSpPr txBox="true"/>
          <p:nvPr/>
        </p:nvSpPr>
        <p:spPr>
          <a:xfrm rot="0">
            <a:off x="915734" y="8991600"/>
            <a:ext cx="2495550" cy="685800"/>
          </a:xfrm>
          <a:prstGeom prst="rect">
            <a:avLst/>
          </a:prstGeom>
        </p:spPr>
        <p:txBody>
          <a:bodyPr anchor="t" rtlCol="false" tIns="0" lIns="0" bIns="0" rIns="0">
            <a:spAutoFit/>
          </a:bodyPr>
          <a:lstStyle/>
          <a:p>
            <a:pPr algn="ctr">
              <a:lnSpc>
                <a:spcPts val="2700"/>
              </a:lnSpc>
            </a:pPr>
            <a:r>
              <a:rPr lang="en-US" b="true" sz="2250" spc="-44">
                <a:solidFill>
                  <a:srgbClr val="201E1D"/>
                </a:solidFill>
                <a:latin typeface="Arimo Bold"/>
                <a:ea typeface="Arimo Bold"/>
                <a:cs typeface="Arimo Bold"/>
                <a:sym typeface="Arimo Bold"/>
              </a:rPr>
              <a:t>New equation</a:t>
            </a:r>
          </a:p>
        </p:txBody>
      </p:sp>
      <p:sp>
        <p:nvSpPr>
          <p:cNvPr name="TextBox 29" id="29"/>
          <p:cNvSpPr txBox="true"/>
          <p:nvPr/>
        </p:nvSpPr>
        <p:spPr>
          <a:xfrm rot="0">
            <a:off x="3566255" y="8991600"/>
            <a:ext cx="1990725" cy="685800"/>
          </a:xfrm>
          <a:prstGeom prst="rect">
            <a:avLst/>
          </a:prstGeom>
        </p:spPr>
        <p:txBody>
          <a:bodyPr anchor="t" rtlCol="false" tIns="0" lIns="0" bIns="0" rIns="0">
            <a:spAutoFit/>
          </a:bodyPr>
          <a:lstStyle/>
          <a:p>
            <a:pPr algn="ctr">
              <a:lnSpc>
                <a:spcPts val="2700"/>
              </a:lnSpc>
            </a:pPr>
            <a:r>
              <a:rPr lang="en-US" b="true" sz="2250" spc="-44">
                <a:solidFill>
                  <a:srgbClr val="C67139"/>
                </a:solidFill>
                <a:latin typeface="Arimo Bold"/>
                <a:ea typeface="Arimo Bold"/>
                <a:cs typeface="Arimo Bold"/>
                <a:sym typeface="Arimo Bold"/>
              </a:rPr>
              <a:t>Start again</a:t>
            </a:r>
          </a:p>
        </p:txBody>
      </p:sp>
      <p:grpSp>
        <p:nvGrpSpPr>
          <p:cNvPr name="Group 30" id="30"/>
          <p:cNvGrpSpPr/>
          <p:nvPr/>
        </p:nvGrpSpPr>
        <p:grpSpPr>
          <a:xfrm rot="0">
            <a:off x="8801100" y="609600"/>
            <a:ext cx="8572500" cy="9067800"/>
            <a:chOff x="0" y="0"/>
            <a:chExt cx="11430000" cy="12090400"/>
          </a:xfrm>
        </p:grpSpPr>
        <p:sp>
          <p:nvSpPr>
            <p:cNvPr name="Freeform 31" id="31"/>
            <p:cNvSpPr/>
            <p:nvPr/>
          </p:nvSpPr>
          <p:spPr>
            <a:xfrm flipH="false" flipV="false" rot="0">
              <a:off x="0" y="0"/>
              <a:ext cx="11430000" cy="12090400"/>
            </a:xfrm>
            <a:custGeom>
              <a:avLst/>
              <a:gdLst/>
              <a:ahLst/>
              <a:cxnLst/>
              <a:rect r="r" b="b" t="t" l="l"/>
              <a:pathLst>
                <a:path h="12090400" w="11430000">
                  <a:moveTo>
                    <a:pt x="711200" y="0"/>
                  </a:moveTo>
                  <a:lnTo>
                    <a:pt x="10718800" y="0"/>
                  </a:lnTo>
                  <a:cubicBezTo>
                    <a:pt x="11111611" y="0"/>
                    <a:pt x="11430000" y="318389"/>
                    <a:pt x="11430000" y="711200"/>
                  </a:cubicBezTo>
                  <a:lnTo>
                    <a:pt x="11430000" y="11379200"/>
                  </a:lnTo>
                  <a:cubicBezTo>
                    <a:pt x="11430000" y="11772011"/>
                    <a:pt x="11111611" y="12090400"/>
                    <a:pt x="10718800" y="12090400"/>
                  </a:cubicBezTo>
                  <a:lnTo>
                    <a:pt x="711200" y="12090400"/>
                  </a:lnTo>
                  <a:cubicBezTo>
                    <a:pt x="318389" y="12090400"/>
                    <a:pt x="0" y="11772011"/>
                    <a:pt x="0" y="11379200"/>
                  </a:cubicBezTo>
                  <a:lnTo>
                    <a:pt x="0" y="711200"/>
                  </a:lnTo>
                  <a:cubicBezTo>
                    <a:pt x="0" y="318389"/>
                    <a:pt x="318389" y="0"/>
                    <a:pt x="711200" y="0"/>
                  </a:cubicBezTo>
                  <a:close/>
                </a:path>
              </a:pathLst>
            </a:custGeom>
            <a:solidFill>
              <a:srgbClr val="EBDDC5"/>
            </a:solidFill>
          </p:spPr>
        </p:sp>
      </p:gr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FFE1D0"/>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CCDBB2"/>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FFC6A5"/>
            </a:solidFill>
          </p:spPr>
        </p:sp>
      </p:grpSp>
      <p:grpSp>
        <p:nvGrpSpPr>
          <p:cNvPr name="Group 9" id="9"/>
          <p:cNvGrpSpPr/>
          <p:nvPr/>
        </p:nvGrpSpPr>
        <p:grpSpPr>
          <a:xfrm rot="0">
            <a:off x="916305" y="611505"/>
            <a:ext cx="3657600" cy="600075"/>
            <a:chOff x="0" y="0"/>
            <a:chExt cx="4876800" cy="800100"/>
          </a:xfrm>
        </p:grpSpPr>
        <p:sp>
          <p:nvSpPr>
            <p:cNvPr name="Freeform 10" id="10"/>
            <p:cNvSpPr/>
            <p:nvPr/>
          </p:nvSpPr>
          <p:spPr>
            <a:xfrm flipH="false" flipV="false" rot="0">
              <a:off x="0" y="0"/>
              <a:ext cx="4876800" cy="800100"/>
            </a:xfrm>
            <a:custGeom>
              <a:avLst/>
              <a:gdLst/>
              <a:ahLst/>
              <a:cxnLst/>
              <a:rect r="r" b="b" t="t" l="l"/>
              <a:pathLst>
                <a:path h="800100" w="4876800">
                  <a:moveTo>
                    <a:pt x="400050" y="0"/>
                  </a:moveTo>
                  <a:lnTo>
                    <a:pt x="4476750" y="0"/>
                  </a:lnTo>
                  <a:cubicBezTo>
                    <a:pt x="4697730" y="0"/>
                    <a:pt x="4876800" y="179070"/>
                    <a:pt x="4876800" y="400050"/>
                  </a:cubicBezTo>
                  <a:cubicBezTo>
                    <a:pt x="4876800" y="621030"/>
                    <a:pt x="4697730" y="800100"/>
                    <a:pt x="4476750" y="800100"/>
                  </a:cubicBezTo>
                  <a:lnTo>
                    <a:pt x="400050" y="800100"/>
                  </a:lnTo>
                  <a:cubicBezTo>
                    <a:pt x="179070" y="800100"/>
                    <a:pt x="0" y="621030"/>
                    <a:pt x="0" y="400050"/>
                  </a:cubicBezTo>
                  <a:cubicBezTo>
                    <a:pt x="0" y="179070"/>
                    <a:pt x="179070" y="0"/>
                    <a:pt x="400050" y="0"/>
                  </a:cubicBezTo>
                  <a:close/>
                </a:path>
              </a:pathLst>
            </a:custGeom>
            <a:solidFill>
              <a:srgbClr val="8C491A"/>
            </a:solidFill>
          </p:spPr>
        </p:sp>
        <p:sp>
          <p:nvSpPr>
            <p:cNvPr name="TextBox 11" id="11"/>
            <p:cNvSpPr txBox="true"/>
            <p:nvPr/>
          </p:nvSpPr>
          <p:spPr>
            <a:xfrm>
              <a:off x="0" y="-76200"/>
              <a:ext cx="48768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WORKED EXAMPLE 2A</a:t>
              </a:r>
            </a:p>
          </p:txBody>
        </p:sp>
      </p:grpSp>
      <p:sp>
        <p:nvSpPr>
          <p:cNvPr name="TextBox 12" id="12"/>
          <p:cNvSpPr txBox="true"/>
          <p:nvPr/>
        </p:nvSpPr>
        <p:spPr>
          <a:xfrm rot="0">
            <a:off x="4767739" y="630555"/>
            <a:ext cx="1743075" cy="485775"/>
          </a:xfrm>
          <a:prstGeom prst="rect">
            <a:avLst/>
          </a:prstGeom>
        </p:spPr>
        <p:txBody>
          <a:bodyPr anchor="t" rtlCol="false" tIns="0" lIns="0" bIns="0" rIns="0">
            <a:spAutoFit/>
          </a:bodyPr>
          <a:lstStyle/>
          <a:p>
            <a:pPr algn="l">
              <a:lnSpc>
                <a:spcPts val="3255"/>
              </a:lnSpc>
            </a:pPr>
            <a:r>
              <a:rPr lang="en-US" b="true" sz="2100">
                <a:solidFill>
                  <a:srgbClr val="3D472B"/>
                </a:solidFill>
                <a:latin typeface="Arimo Bold"/>
                <a:ea typeface="Arimo Bold"/>
                <a:cs typeface="Arimo Bold"/>
                <a:sym typeface="Arimo Bold"/>
              </a:rPr>
              <a:t>6.1 · Equations</a:t>
            </a:r>
          </a:p>
        </p:txBody>
      </p:sp>
      <p:sp>
        <p:nvSpPr>
          <p:cNvPr name="TextBox 13" id="13"/>
          <p:cNvSpPr txBox="true"/>
          <p:nvPr/>
        </p:nvSpPr>
        <p:spPr>
          <a:xfrm rot="0">
            <a:off x="914400" y="1472089"/>
            <a:ext cx="7391400" cy="523875"/>
          </a:xfrm>
          <a:prstGeom prst="rect">
            <a:avLst/>
          </a:prstGeom>
        </p:spPr>
        <p:txBody>
          <a:bodyPr anchor="t" rtlCol="false" tIns="0" lIns="0" bIns="0" rIns="0">
            <a:spAutoFit/>
          </a:bodyPr>
          <a:lstStyle/>
          <a:p>
            <a:pPr algn="l">
              <a:lnSpc>
                <a:spcPts val="4524"/>
              </a:lnSpc>
            </a:pPr>
            <a:r>
              <a:rPr lang="en-US" b="true" sz="4350" spc="-86">
                <a:solidFill>
                  <a:srgbClr val="201E1D"/>
                </a:solidFill>
                <a:latin typeface="Arimo Bold"/>
                <a:ea typeface="Arimo Bold"/>
                <a:cs typeface="Arimo Bold"/>
                <a:sym typeface="Arimo Bold"/>
              </a:rPr>
              <a:t>When x is in the power</a:t>
            </a:r>
          </a:p>
        </p:txBody>
      </p:sp>
      <p:grpSp>
        <p:nvGrpSpPr>
          <p:cNvPr name="Group 14" id="14"/>
          <p:cNvGrpSpPr/>
          <p:nvPr/>
        </p:nvGrpSpPr>
        <p:grpSpPr>
          <a:xfrm rot="0">
            <a:off x="914400" y="2207609"/>
            <a:ext cx="7391400" cy="2409825"/>
            <a:chOff x="0" y="0"/>
            <a:chExt cx="9855200" cy="3213100"/>
          </a:xfrm>
        </p:grpSpPr>
        <p:sp>
          <p:nvSpPr>
            <p:cNvPr name="Freeform 15" id="15"/>
            <p:cNvSpPr/>
            <p:nvPr/>
          </p:nvSpPr>
          <p:spPr>
            <a:xfrm flipH="false" flipV="false" rot="0">
              <a:off x="0" y="0"/>
              <a:ext cx="9855200" cy="3213100"/>
            </a:xfrm>
            <a:custGeom>
              <a:avLst/>
              <a:gdLst/>
              <a:ahLst/>
              <a:cxnLst/>
              <a:rect r="r" b="b" t="t" l="l"/>
              <a:pathLst>
                <a:path h="3213100" w="9855200">
                  <a:moveTo>
                    <a:pt x="355600" y="0"/>
                  </a:moveTo>
                  <a:lnTo>
                    <a:pt x="9499600" y="0"/>
                  </a:lnTo>
                  <a:cubicBezTo>
                    <a:pt x="9695942" y="0"/>
                    <a:pt x="9855200" y="159258"/>
                    <a:pt x="9855200" y="355600"/>
                  </a:cubicBezTo>
                  <a:lnTo>
                    <a:pt x="9855200" y="2857500"/>
                  </a:lnTo>
                  <a:cubicBezTo>
                    <a:pt x="9855200" y="3053842"/>
                    <a:pt x="9695942" y="3213100"/>
                    <a:pt x="9499600" y="3213100"/>
                  </a:cubicBezTo>
                  <a:lnTo>
                    <a:pt x="355600" y="3213100"/>
                  </a:lnTo>
                  <a:cubicBezTo>
                    <a:pt x="159258" y="3213100"/>
                    <a:pt x="0" y="3053842"/>
                    <a:pt x="0" y="2857500"/>
                  </a:cubicBezTo>
                  <a:lnTo>
                    <a:pt x="0" y="355600"/>
                  </a:lnTo>
                  <a:cubicBezTo>
                    <a:pt x="0" y="159258"/>
                    <a:pt x="159258" y="0"/>
                    <a:pt x="355600" y="0"/>
                  </a:cubicBezTo>
                  <a:close/>
                </a:path>
              </a:pathLst>
            </a:custGeom>
            <a:solidFill>
              <a:srgbClr val="FFF2EB"/>
            </a:solidFill>
          </p:spPr>
        </p:sp>
        <p:sp>
          <p:nvSpPr>
            <p:cNvPr name="Freeform 16" id="16"/>
            <p:cNvSpPr/>
            <p:nvPr/>
          </p:nvSpPr>
          <p:spPr>
            <a:xfrm flipH="false" flipV="false" rot="0">
              <a:off x="0" y="0"/>
              <a:ext cx="9855200" cy="3213100"/>
            </a:xfrm>
            <a:custGeom>
              <a:avLst/>
              <a:gdLst/>
              <a:ahLst/>
              <a:cxnLst/>
              <a:rect r="r" b="b" t="t" l="l"/>
              <a:pathLst>
                <a:path h="3213100" w="9855200">
                  <a:moveTo>
                    <a:pt x="355600" y="0"/>
                  </a:moveTo>
                  <a:lnTo>
                    <a:pt x="9499600" y="0"/>
                  </a:lnTo>
                  <a:cubicBezTo>
                    <a:pt x="9695942" y="0"/>
                    <a:pt x="9855200" y="159258"/>
                    <a:pt x="9855200" y="355600"/>
                  </a:cubicBezTo>
                  <a:lnTo>
                    <a:pt x="9855200" y="2857500"/>
                  </a:lnTo>
                  <a:cubicBezTo>
                    <a:pt x="9855200" y="3053842"/>
                    <a:pt x="9695942" y="3213100"/>
                    <a:pt x="9499600" y="3213100"/>
                  </a:cubicBezTo>
                  <a:lnTo>
                    <a:pt x="355600" y="3213100"/>
                  </a:lnTo>
                  <a:cubicBezTo>
                    <a:pt x="159258" y="3213100"/>
                    <a:pt x="0" y="3053842"/>
                    <a:pt x="0" y="2857500"/>
                  </a:cubicBezTo>
                  <a:lnTo>
                    <a:pt x="0" y="355600"/>
                  </a:lnTo>
                  <a:cubicBezTo>
                    <a:pt x="0" y="159258"/>
                    <a:pt x="159258" y="0"/>
                    <a:pt x="355600" y="0"/>
                  </a:cubicBezTo>
                  <a:close/>
                </a:path>
              </a:pathLst>
            </a:custGeom>
            <a:solidFill>
              <a:srgbClr val="000000">
                <a:alpha val="0"/>
              </a:srgbClr>
            </a:solidFill>
            <a:ln w="28575" cap="sq">
              <a:solidFill>
                <a:srgbClr val="FFC6A5"/>
              </a:solidFill>
              <a:prstDash val="solid"/>
              <a:miter/>
            </a:ln>
          </p:spPr>
        </p:sp>
      </p:grpSp>
      <p:grpSp>
        <p:nvGrpSpPr>
          <p:cNvPr name="Group 17" id="17"/>
          <p:cNvGrpSpPr/>
          <p:nvPr/>
        </p:nvGrpSpPr>
        <p:grpSpPr>
          <a:xfrm rot="0">
            <a:off x="1208818" y="2407444"/>
            <a:ext cx="1676400" cy="400050"/>
            <a:chOff x="0" y="0"/>
            <a:chExt cx="2235200" cy="533400"/>
          </a:xfrm>
        </p:grpSpPr>
        <p:sp>
          <p:nvSpPr>
            <p:cNvPr name="Freeform 18" id="18"/>
            <p:cNvSpPr/>
            <p:nvPr/>
          </p:nvSpPr>
          <p:spPr>
            <a:xfrm flipH="false" flipV="false" rot="0">
              <a:off x="0" y="0"/>
              <a:ext cx="2235200" cy="533400"/>
            </a:xfrm>
            <a:custGeom>
              <a:avLst/>
              <a:gdLst/>
              <a:ahLst/>
              <a:cxnLst/>
              <a:rect r="r" b="b" t="t" l="l"/>
              <a:pathLst>
                <a:path h="533400" w="2235200">
                  <a:moveTo>
                    <a:pt x="266700" y="0"/>
                  </a:moveTo>
                  <a:lnTo>
                    <a:pt x="1968500" y="0"/>
                  </a:lnTo>
                  <a:cubicBezTo>
                    <a:pt x="2115820" y="0"/>
                    <a:pt x="2235200" y="119380"/>
                    <a:pt x="2235200" y="266700"/>
                  </a:cubicBezTo>
                  <a:cubicBezTo>
                    <a:pt x="2235200" y="414020"/>
                    <a:pt x="2115820" y="533400"/>
                    <a:pt x="1968500" y="533400"/>
                  </a:cubicBezTo>
                  <a:lnTo>
                    <a:pt x="266700" y="533400"/>
                  </a:lnTo>
                  <a:cubicBezTo>
                    <a:pt x="119380" y="533400"/>
                    <a:pt x="0" y="414020"/>
                    <a:pt x="0" y="266700"/>
                  </a:cubicBezTo>
                  <a:cubicBezTo>
                    <a:pt x="0" y="119380"/>
                    <a:pt x="119380" y="0"/>
                    <a:pt x="266700" y="0"/>
                  </a:cubicBezTo>
                  <a:close/>
                </a:path>
              </a:pathLst>
            </a:custGeom>
            <a:solidFill>
              <a:srgbClr val="C67139"/>
            </a:solidFill>
          </p:spPr>
        </p:sp>
        <p:sp>
          <p:nvSpPr>
            <p:cNvPr name="TextBox 19" id="19"/>
            <p:cNvSpPr txBox="true"/>
            <p:nvPr/>
          </p:nvSpPr>
          <p:spPr>
            <a:xfrm>
              <a:off x="0" y="-76200"/>
              <a:ext cx="2235200" cy="609600"/>
            </a:xfrm>
            <a:prstGeom prst="rect">
              <a:avLst/>
            </a:prstGeom>
          </p:spPr>
          <p:txBody>
            <a:bodyPr anchor="t" rtlCol="false" tIns="88265" lIns="88265" bIns="88265" rIns="88265"/>
            <a:lstStyle/>
            <a:p>
              <a:pPr algn="l">
                <a:lnSpc>
                  <a:spcPts val="2557"/>
                </a:lnSpc>
              </a:pPr>
              <a:r>
                <a:rPr lang="en-US" b="true" sz="1650" spc="165">
                  <a:solidFill>
                    <a:srgbClr val="F5EAD8"/>
                  </a:solidFill>
                  <a:latin typeface="Arimo Bold"/>
                  <a:ea typeface="Arimo Bold"/>
                  <a:cs typeface="Arimo Bold"/>
                  <a:sym typeface="Arimo Bold"/>
                </a:rPr>
                <a:t>NEW WORD</a:t>
              </a:r>
            </a:p>
          </p:txBody>
        </p:sp>
      </p:grpSp>
      <p:sp>
        <p:nvSpPr>
          <p:cNvPr name="TextBox 20" id="20"/>
          <p:cNvSpPr txBox="true"/>
          <p:nvPr/>
        </p:nvSpPr>
        <p:spPr>
          <a:xfrm rot="0">
            <a:off x="1209675" y="2704052"/>
            <a:ext cx="6800850" cy="790575"/>
          </a:xfrm>
          <a:prstGeom prst="rect">
            <a:avLst/>
          </a:prstGeom>
        </p:spPr>
        <p:txBody>
          <a:bodyPr anchor="t" rtlCol="false" tIns="0" lIns="0" bIns="0" rIns="0">
            <a:spAutoFit/>
          </a:bodyPr>
          <a:lstStyle/>
          <a:p>
            <a:pPr algn="l">
              <a:lnSpc>
                <a:spcPts val="5115"/>
              </a:lnSpc>
            </a:pPr>
            <a:r>
              <a:rPr lang="en-US" b="true" sz="3300" spc="-66">
                <a:solidFill>
                  <a:srgbClr val="643312"/>
                </a:solidFill>
                <a:latin typeface="Arimo Bold"/>
                <a:ea typeface="Arimo Bold"/>
                <a:cs typeface="Arimo Bold"/>
                <a:sym typeface="Arimo Bold"/>
              </a:rPr>
              <a:t>Exponential equation</a:t>
            </a:r>
          </a:p>
        </p:txBody>
      </p:sp>
      <p:sp>
        <p:nvSpPr>
          <p:cNvPr name="TextBox 21" id="21"/>
          <p:cNvSpPr txBox="true"/>
          <p:nvPr/>
        </p:nvSpPr>
        <p:spPr>
          <a:xfrm rot="0">
            <a:off x="1209675" y="3475768"/>
            <a:ext cx="6800850" cy="942975"/>
          </a:xfrm>
          <a:prstGeom prst="rect">
            <a:avLst/>
          </a:prstGeom>
        </p:spPr>
        <p:txBody>
          <a:bodyPr anchor="t" rtlCol="false" tIns="0" lIns="0" bIns="0" rIns="0">
            <a:spAutoFit/>
          </a:bodyPr>
          <a:lstStyle/>
          <a:p>
            <a:pPr algn="l">
              <a:lnSpc>
                <a:spcPts val="3208"/>
              </a:lnSpc>
            </a:pPr>
            <a:r>
              <a:rPr lang="en-US" b="true" sz="2325">
                <a:solidFill>
                  <a:srgbClr val="201E1D"/>
                </a:solidFill>
                <a:latin typeface="Arimo Bold"/>
                <a:ea typeface="Arimo Bold"/>
                <a:cs typeface="Arimo Bold"/>
                <a:sym typeface="Arimo Bold"/>
              </a:rPr>
              <a:t>An equation with the unknown in the power, such as 3</a:t>
            </a:r>
            <a:r>
              <a:rPr lang="en-US" b="true" sz="2325">
                <a:solidFill>
                  <a:srgbClr val="201E1D"/>
                </a:solidFill>
                <a:latin typeface="Arimo Bold"/>
                <a:ea typeface="Arimo Bold"/>
                <a:cs typeface="Arimo Bold"/>
                <a:sym typeface="Arimo Bold"/>
              </a:rPr>
              <a:t>3x+1</a:t>
            </a:r>
            <a:r>
              <a:rPr lang="en-US" b="true" sz="2325">
                <a:solidFill>
                  <a:srgbClr val="201E1D"/>
                </a:solidFill>
                <a:latin typeface="Arimo Bold"/>
                <a:ea typeface="Arimo Bold"/>
                <a:cs typeface="Arimo Bold"/>
                <a:sym typeface="Arimo Bold"/>
              </a:rPr>
              <a:t> = 81.</a:t>
            </a:r>
          </a:p>
        </p:txBody>
      </p:sp>
      <p:sp>
        <p:nvSpPr>
          <p:cNvPr name="TextBox 22" id="22"/>
          <p:cNvSpPr txBox="true"/>
          <p:nvPr/>
        </p:nvSpPr>
        <p:spPr>
          <a:xfrm rot="0">
            <a:off x="914400" y="4760309"/>
            <a:ext cx="7391400" cy="647700"/>
          </a:xfrm>
          <a:prstGeom prst="rect">
            <a:avLst/>
          </a:prstGeom>
        </p:spPr>
        <p:txBody>
          <a:bodyPr anchor="t" rtlCol="false" tIns="0" lIns="0" bIns="0" rIns="0">
            <a:spAutoFit/>
          </a:bodyPr>
          <a:lstStyle/>
          <a:p>
            <a:pPr algn="l">
              <a:lnSpc>
                <a:spcPts val="3990"/>
              </a:lnSpc>
            </a:pPr>
            <a:r>
              <a:rPr lang="en-US" b="true" sz="2850">
                <a:solidFill>
                  <a:srgbClr val="201E1D"/>
                </a:solidFill>
                <a:latin typeface="Arimo Bold"/>
                <a:ea typeface="Arimo Bold"/>
                <a:cs typeface="Arimo Bold"/>
                <a:sym typeface="Arimo Bold"/>
              </a:rPr>
              <a:t>Solve 3</a:t>
            </a:r>
            <a:r>
              <a:rPr lang="en-US" b="true" sz="2850">
                <a:solidFill>
                  <a:srgbClr val="201E1D"/>
                </a:solidFill>
                <a:latin typeface="Arimo Bold"/>
                <a:ea typeface="Arimo Bold"/>
                <a:cs typeface="Arimo Bold"/>
                <a:sym typeface="Arimo Bold"/>
              </a:rPr>
              <a:t>3x+1</a:t>
            </a:r>
            <a:r>
              <a:rPr lang="en-US" b="true" sz="2850">
                <a:solidFill>
                  <a:srgbClr val="201E1D"/>
                </a:solidFill>
                <a:latin typeface="Arimo Bold"/>
                <a:ea typeface="Arimo Bold"/>
                <a:cs typeface="Arimo Bold"/>
                <a:sym typeface="Arimo Bold"/>
              </a:rPr>
              <a:t> = 81</a:t>
            </a:r>
          </a:p>
        </p:txBody>
      </p:sp>
      <p:grpSp>
        <p:nvGrpSpPr>
          <p:cNvPr name="Group 23" id="23"/>
          <p:cNvGrpSpPr/>
          <p:nvPr/>
        </p:nvGrpSpPr>
        <p:grpSpPr>
          <a:xfrm rot="0">
            <a:off x="916495" y="9010650"/>
            <a:ext cx="2333625" cy="666750"/>
            <a:chOff x="0" y="0"/>
            <a:chExt cx="3111500" cy="889000"/>
          </a:xfrm>
        </p:grpSpPr>
        <p:sp>
          <p:nvSpPr>
            <p:cNvPr name="Freeform 24" id="24"/>
            <p:cNvSpPr/>
            <p:nvPr/>
          </p:nvSpPr>
          <p:spPr>
            <a:xfrm flipH="false" flipV="false" rot="0">
              <a:off x="0" y="0"/>
              <a:ext cx="3111500" cy="889000"/>
            </a:xfrm>
            <a:custGeom>
              <a:avLst/>
              <a:gdLst/>
              <a:ahLst/>
              <a:cxnLst/>
              <a:rect r="r" b="b" t="t" l="l"/>
              <a:pathLst>
                <a:path h="889000" w="3111500">
                  <a:moveTo>
                    <a:pt x="444500" y="0"/>
                  </a:moveTo>
                  <a:lnTo>
                    <a:pt x="2667000" y="0"/>
                  </a:lnTo>
                  <a:cubicBezTo>
                    <a:pt x="2912491" y="0"/>
                    <a:pt x="3111500" y="199009"/>
                    <a:pt x="3111500" y="444500"/>
                  </a:cubicBezTo>
                  <a:cubicBezTo>
                    <a:pt x="3111500" y="689991"/>
                    <a:pt x="2912491" y="889000"/>
                    <a:pt x="26670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sp>
          <p:nvSpPr>
            <p:cNvPr name="TextBox 25" id="25"/>
            <p:cNvSpPr txBox="true"/>
            <p:nvPr/>
          </p:nvSpPr>
          <p:spPr>
            <a:xfrm>
              <a:off x="0" y="-19050"/>
              <a:ext cx="3111500" cy="908050"/>
            </a:xfrm>
            <a:prstGeom prst="rect">
              <a:avLst/>
            </a:prstGeom>
          </p:spPr>
          <p:txBody>
            <a:bodyPr anchor="t" rtlCol="false" tIns="203200" lIns="203200" bIns="203200" rIns="203200"/>
            <a:lstStyle/>
            <a:p>
              <a:pPr algn="ctr">
                <a:lnSpc>
                  <a:spcPts val="2700"/>
                </a:lnSpc>
              </a:pPr>
              <a:r>
                <a:rPr lang="en-US" b="true" sz="2250" spc="-44">
                  <a:solidFill>
                    <a:srgbClr val="F5EAD8"/>
                  </a:solidFill>
                  <a:latin typeface="Arimo Bold"/>
                  <a:ea typeface="Arimo Bold"/>
                  <a:cs typeface="Arimo Bold"/>
                  <a:sym typeface="Arimo Bold"/>
                </a:rPr>
                <a:t>Next step →</a:t>
              </a:r>
            </a:p>
          </p:txBody>
        </p:sp>
      </p:grpSp>
      <p:sp>
        <p:nvSpPr>
          <p:cNvPr name="TextBox 26" id="26"/>
          <p:cNvSpPr txBox="true"/>
          <p:nvPr/>
        </p:nvSpPr>
        <p:spPr>
          <a:xfrm rot="0">
            <a:off x="3405759" y="8991600"/>
            <a:ext cx="2143125" cy="685800"/>
          </a:xfrm>
          <a:prstGeom prst="rect">
            <a:avLst/>
          </a:prstGeom>
        </p:spPr>
        <p:txBody>
          <a:bodyPr anchor="t" rtlCol="false" tIns="0" lIns="0" bIns="0" rIns="0">
            <a:spAutoFit/>
          </a:bodyPr>
          <a:lstStyle/>
          <a:p>
            <a:pPr algn="ctr">
              <a:lnSpc>
                <a:spcPts val="2700"/>
              </a:lnSpc>
            </a:pPr>
            <a:r>
              <a:rPr lang="en-US" b="true" sz="2250" spc="-44">
                <a:solidFill>
                  <a:srgbClr val="201E1D"/>
                </a:solidFill>
                <a:latin typeface="Arimo Bold"/>
                <a:ea typeface="Arimo Bold"/>
                <a:cs typeface="Arimo Bold"/>
                <a:sym typeface="Arimo Bold"/>
              </a:rPr>
              <a:t>Start again</a:t>
            </a:r>
          </a:p>
        </p:txBody>
      </p:sp>
      <p:grpSp>
        <p:nvGrpSpPr>
          <p:cNvPr name="Group 27" id="27"/>
          <p:cNvGrpSpPr/>
          <p:nvPr/>
        </p:nvGrpSpPr>
        <p:grpSpPr>
          <a:xfrm rot="0">
            <a:off x="1062228" y="5836253"/>
            <a:ext cx="475488" cy="475488"/>
            <a:chOff x="0" y="0"/>
            <a:chExt cx="633984" cy="633984"/>
          </a:xfrm>
        </p:grpSpPr>
        <p:sp>
          <p:nvSpPr>
            <p:cNvPr name="Freeform 28" id="28"/>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C67139"/>
            </a:solidFill>
          </p:spPr>
        </p:sp>
      </p:grpSp>
      <p:sp>
        <p:nvSpPr>
          <p:cNvPr name="TextBox 29" id="29"/>
          <p:cNvSpPr txBox="true"/>
          <p:nvPr/>
        </p:nvSpPr>
        <p:spPr>
          <a:xfrm rot="0">
            <a:off x="1062228" y="5807678"/>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1</a:t>
            </a:r>
          </a:p>
        </p:txBody>
      </p:sp>
      <p:sp>
        <p:nvSpPr>
          <p:cNvPr name="TextBox 30" id="30"/>
          <p:cNvSpPr txBox="true"/>
          <p:nvPr/>
        </p:nvSpPr>
        <p:spPr>
          <a:xfrm rot="0">
            <a:off x="1703832" y="5806821"/>
            <a:ext cx="4590288" cy="486537"/>
          </a:xfrm>
          <a:prstGeom prst="rect">
            <a:avLst/>
          </a:prstGeom>
        </p:spPr>
        <p:txBody>
          <a:bodyPr anchor="t" rtlCol="false" tIns="0" lIns="0" bIns="0" rIns="0">
            <a:spAutoFit/>
          </a:bodyPr>
          <a:lstStyle/>
          <a:p>
            <a:pPr algn="l">
              <a:lnSpc>
                <a:spcPts val="3041"/>
              </a:lnSpc>
            </a:pPr>
            <a:r>
              <a:rPr lang="en-US" b="true" sz="2304">
                <a:solidFill>
                  <a:srgbClr val="201E1D"/>
                </a:solidFill>
                <a:latin typeface="Arimo Bold"/>
                <a:ea typeface="Arimo Bold"/>
                <a:cs typeface="Arimo Bold"/>
                <a:sym typeface="Arimo Bold"/>
              </a:rPr>
              <a:t>81 is the 4th power of 3: 3</a:t>
            </a:r>
            <a:r>
              <a:rPr lang="en-US" b="true" sz="2304">
                <a:solidFill>
                  <a:srgbClr val="201E1D"/>
                </a:solidFill>
                <a:latin typeface="Arimo Bold"/>
                <a:ea typeface="Arimo Bold"/>
                <a:cs typeface="Arimo Bold"/>
                <a:sym typeface="Arimo Bold"/>
              </a:rPr>
              <a:t>3x+1</a:t>
            </a:r>
            <a:r>
              <a:rPr lang="en-US" b="true" sz="2304">
                <a:solidFill>
                  <a:srgbClr val="201E1D"/>
                </a:solidFill>
                <a:latin typeface="Arimo Bold"/>
                <a:ea typeface="Arimo Bold"/>
                <a:cs typeface="Arimo Bold"/>
                <a:sym typeface="Arimo Bold"/>
              </a:rPr>
              <a:t> = 3</a:t>
            </a:r>
            <a:r>
              <a:rPr lang="en-US" b="true" sz="2304">
                <a:solidFill>
                  <a:srgbClr val="201E1D"/>
                </a:solidFill>
                <a:latin typeface="Arimo Bold"/>
                <a:ea typeface="Arimo Bold"/>
                <a:cs typeface="Arimo Bold"/>
                <a:sym typeface="Arimo Bold"/>
              </a:rPr>
              <a:t>4</a:t>
            </a:r>
          </a:p>
        </p:txBody>
      </p:sp>
      <p:grpSp>
        <p:nvGrpSpPr>
          <p:cNvPr name="Group 31" id="31"/>
          <p:cNvGrpSpPr/>
          <p:nvPr/>
        </p:nvGrpSpPr>
        <p:grpSpPr>
          <a:xfrm rot="0">
            <a:off x="1062228" y="6445853"/>
            <a:ext cx="475488" cy="475488"/>
            <a:chOff x="0" y="0"/>
            <a:chExt cx="633984" cy="633984"/>
          </a:xfrm>
        </p:grpSpPr>
        <p:sp>
          <p:nvSpPr>
            <p:cNvPr name="Freeform 32" id="32"/>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7A8A5E"/>
            </a:solidFill>
          </p:spPr>
        </p:sp>
      </p:grpSp>
      <p:sp>
        <p:nvSpPr>
          <p:cNvPr name="TextBox 33" id="33"/>
          <p:cNvSpPr txBox="true"/>
          <p:nvPr/>
        </p:nvSpPr>
        <p:spPr>
          <a:xfrm rot="0">
            <a:off x="1062228" y="6417278"/>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2</a:t>
            </a:r>
          </a:p>
        </p:txBody>
      </p:sp>
      <p:sp>
        <p:nvSpPr>
          <p:cNvPr name="TextBox 34" id="34"/>
          <p:cNvSpPr txBox="true"/>
          <p:nvPr/>
        </p:nvSpPr>
        <p:spPr>
          <a:xfrm rot="0">
            <a:off x="1701641" y="6443853"/>
            <a:ext cx="5394960" cy="431673"/>
          </a:xfrm>
          <a:prstGeom prst="rect">
            <a:avLst/>
          </a:prstGeom>
        </p:spPr>
        <p:txBody>
          <a:bodyPr anchor="t" rtlCol="false" tIns="0" lIns="0" bIns="0" rIns="0">
            <a:spAutoFit/>
          </a:bodyPr>
          <a:lstStyle/>
          <a:p>
            <a:pPr algn="l">
              <a:lnSpc>
                <a:spcPts val="3041"/>
              </a:lnSpc>
            </a:pPr>
            <a:r>
              <a:rPr lang="en-US" b="true" sz="2304">
                <a:solidFill>
                  <a:srgbClr val="201E1D"/>
                </a:solidFill>
                <a:latin typeface="Arimo Bold"/>
                <a:ea typeface="Arimo Bold"/>
                <a:cs typeface="Arimo Bold"/>
                <a:sym typeface="Arimo Bold"/>
              </a:rPr>
              <a:t>The powers must be the same: 3x + 1 = 4</a:t>
            </a:r>
          </a:p>
        </p:txBody>
      </p:sp>
      <p:grpSp>
        <p:nvGrpSpPr>
          <p:cNvPr name="Group 35" id="35"/>
          <p:cNvGrpSpPr/>
          <p:nvPr/>
        </p:nvGrpSpPr>
        <p:grpSpPr>
          <a:xfrm rot="0">
            <a:off x="1062228" y="7055453"/>
            <a:ext cx="475488" cy="475488"/>
            <a:chOff x="0" y="0"/>
            <a:chExt cx="633984" cy="633984"/>
          </a:xfrm>
        </p:grpSpPr>
        <p:sp>
          <p:nvSpPr>
            <p:cNvPr name="Freeform 36" id="36"/>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C67139"/>
            </a:solidFill>
          </p:spPr>
        </p:sp>
      </p:grpSp>
      <p:sp>
        <p:nvSpPr>
          <p:cNvPr name="TextBox 37" id="37"/>
          <p:cNvSpPr txBox="true"/>
          <p:nvPr/>
        </p:nvSpPr>
        <p:spPr>
          <a:xfrm rot="0">
            <a:off x="1062228" y="7026878"/>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3</a:t>
            </a:r>
          </a:p>
        </p:txBody>
      </p:sp>
      <p:sp>
        <p:nvSpPr>
          <p:cNvPr name="TextBox 38" id="38"/>
          <p:cNvSpPr txBox="true"/>
          <p:nvPr/>
        </p:nvSpPr>
        <p:spPr>
          <a:xfrm rot="0">
            <a:off x="1703546" y="7053453"/>
            <a:ext cx="4370832" cy="431673"/>
          </a:xfrm>
          <a:prstGeom prst="rect">
            <a:avLst/>
          </a:prstGeom>
        </p:spPr>
        <p:txBody>
          <a:bodyPr anchor="t" rtlCol="false" tIns="0" lIns="0" bIns="0" rIns="0">
            <a:spAutoFit/>
          </a:bodyPr>
          <a:lstStyle/>
          <a:p>
            <a:pPr algn="l">
              <a:lnSpc>
                <a:spcPts val="3041"/>
              </a:lnSpc>
            </a:pPr>
            <a:r>
              <a:rPr lang="en-US" b="true" sz="2304">
                <a:solidFill>
                  <a:srgbClr val="201E1D"/>
                </a:solidFill>
                <a:latin typeface="Arimo Bold"/>
                <a:ea typeface="Arimo Bold"/>
                <a:cs typeface="Arimo Bold"/>
                <a:sym typeface="Arimo Bold"/>
              </a:rPr>
              <a:t>Subtract 1, then divide by 3: x = 1</a:t>
            </a:r>
          </a:p>
        </p:txBody>
      </p:sp>
      <p:grpSp>
        <p:nvGrpSpPr>
          <p:cNvPr name="Group 39" id="39"/>
          <p:cNvGrpSpPr/>
          <p:nvPr/>
        </p:nvGrpSpPr>
        <p:grpSpPr>
          <a:xfrm rot="0">
            <a:off x="8801100" y="609600"/>
            <a:ext cx="8572500" cy="9067800"/>
            <a:chOff x="0" y="0"/>
            <a:chExt cx="11430000" cy="12090400"/>
          </a:xfrm>
        </p:grpSpPr>
        <p:sp>
          <p:nvSpPr>
            <p:cNvPr name="Freeform 40" id="40"/>
            <p:cNvSpPr/>
            <p:nvPr/>
          </p:nvSpPr>
          <p:spPr>
            <a:xfrm flipH="false" flipV="false" rot="0">
              <a:off x="0" y="0"/>
              <a:ext cx="11430000" cy="12090400"/>
            </a:xfrm>
            <a:custGeom>
              <a:avLst/>
              <a:gdLst/>
              <a:ahLst/>
              <a:cxnLst/>
              <a:rect r="r" b="b" t="t" l="l"/>
              <a:pathLst>
                <a:path h="12090400" w="11430000">
                  <a:moveTo>
                    <a:pt x="711200" y="0"/>
                  </a:moveTo>
                  <a:lnTo>
                    <a:pt x="10718800" y="0"/>
                  </a:lnTo>
                  <a:cubicBezTo>
                    <a:pt x="11111611" y="0"/>
                    <a:pt x="11430000" y="318389"/>
                    <a:pt x="11430000" y="711200"/>
                  </a:cubicBezTo>
                  <a:lnTo>
                    <a:pt x="11430000" y="11379200"/>
                  </a:lnTo>
                  <a:cubicBezTo>
                    <a:pt x="11430000" y="11772011"/>
                    <a:pt x="11111611" y="12090400"/>
                    <a:pt x="10718800" y="12090400"/>
                  </a:cubicBezTo>
                  <a:lnTo>
                    <a:pt x="711200" y="12090400"/>
                  </a:lnTo>
                  <a:cubicBezTo>
                    <a:pt x="318389" y="12090400"/>
                    <a:pt x="0" y="11772011"/>
                    <a:pt x="0" y="11379200"/>
                  </a:cubicBezTo>
                  <a:lnTo>
                    <a:pt x="0" y="711200"/>
                  </a:lnTo>
                  <a:cubicBezTo>
                    <a:pt x="0" y="318389"/>
                    <a:pt x="318389" y="0"/>
                    <a:pt x="711200" y="0"/>
                  </a:cubicBezTo>
                  <a:close/>
                </a:path>
              </a:pathLst>
            </a:custGeom>
            <a:solidFill>
              <a:srgbClr val="EBDDC5"/>
            </a:solidFill>
          </p:spPr>
        </p:sp>
      </p:gr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FFE1D0"/>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CCDBB2"/>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FFC6A5"/>
            </a:solidFill>
          </p:spPr>
        </p:sp>
      </p:grpSp>
      <p:grpSp>
        <p:nvGrpSpPr>
          <p:cNvPr name="Group 9" id="9"/>
          <p:cNvGrpSpPr/>
          <p:nvPr/>
        </p:nvGrpSpPr>
        <p:grpSpPr>
          <a:xfrm rot="0">
            <a:off x="912305" y="611505"/>
            <a:ext cx="4362450" cy="600075"/>
            <a:chOff x="0" y="0"/>
            <a:chExt cx="5816600" cy="800100"/>
          </a:xfrm>
        </p:grpSpPr>
        <p:sp>
          <p:nvSpPr>
            <p:cNvPr name="Freeform 10" id="10"/>
            <p:cNvSpPr/>
            <p:nvPr/>
          </p:nvSpPr>
          <p:spPr>
            <a:xfrm flipH="false" flipV="false" rot="0">
              <a:off x="0" y="0"/>
              <a:ext cx="5816600" cy="800100"/>
            </a:xfrm>
            <a:custGeom>
              <a:avLst/>
              <a:gdLst/>
              <a:ahLst/>
              <a:cxnLst/>
              <a:rect r="r" b="b" t="t" l="l"/>
              <a:pathLst>
                <a:path h="800100" w="5816600">
                  <a:moveTo>
                    <a:pt x="400050" y="0"/>
                  </a:moveTo>
                  <a:lnTo>
                    <a:pt x="5416550" y="0"/>
                  </a:lnTo>
                  <a:cubicBezTo>
                    <a:pt x="5637530" y="0"/>
                    <a:pt x="5816600" y="179070"/>
                    <a:pt x="5816600" y="400050"/>
                  </a:cubicBezTo>
                  <a:cubicBezTo>
                    <a:pt x="5816600" y="621030"/>
                    <a:pt x="5637530" y="800100"/>
                    <a:pt x="5416550" y="800100"/>
                  </a:cubicBezTo>
                  <a:lnTo>
                    <a:pt x="400050" y="800100"/>
                  </a:lnTo>
                  <a:cubicBezTo>
                    <a:pt x="179070" y="800100"/>
                    <a:pt x="0" y="621030"/>
                    <a:pt x="0" y="400050"/>
                  </a:cubicBezTo>
                  <a:cubicBezTo>
                    <a:pt x="0" y="179070"/>
                    <a:pt x="179070" y="0"/>
                    <a:pt x="400050" y="0"/>
                  </a:cubicBezTo>
                  <a:close/>
                </a:path>
              </a:pathLst>
            </a:custGeom>
            <a:solidFill>
              <a:srgbClr val="8C491A"/>
            </a:solidFill>
          </p:spPr>
        </p:sp>
        <p:sp>
          <p:nvSpPr>
            <p:cNvPr name="TextBox 11" id="11"/>
            <p:cNvSpPr txBox="true"/>
            <p:nvPr/>
          </p:nvSpPr>
          <p:spPr>
            <a:xfrm>
              <a:off x="0" y="-76200"/>
              <a:ext cx="58166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WORKED EXAMPLE 2B &amp; 2C</a:t>
              </a:r>
            </a:p>
          </p:txBody>
        </p:sp>
      </p:grpSp>
      <p:sp>
        <p:nvSpPr>
          <p:cNvPr name="TextBox 12" id="12"/>
          <p:cNvSpPr txBox="true"/>
          <p:nvPr/>
        </p:nvSpPr>
        <p:spPr>
          <a:xfrm rot="0">
            <a:off x="5464778" y="630555"/>
            <a:ext cx="1743075" cy="485775"/>
          </a:xfrm>
          <a:prstGeom prst="rect">
            <a:avLst/>
          </a:prstGeom>
        </p:spPr>
        <p:txBody>
          <a:bodyPr anchor="t" rtlCol="false" tIns="0" lIns="0" bIns="0" rIns="0">
            <a:spAutoFit/>
          </a:bodyPr>
          <a:lstStyle/>
          <a:p>
            <a:pPr algn="l">
              <a:lnSpc>
                <a:spcPts val="3255"/>
              </a:lnSpc>
            </a:pPr>
            <a:r>
              <a:rPr lang="en-US" b="true" sz="2100">
                <a:solidFill>
                  <a:srgbClr val="3D472B"/>
                </a:solidFill>
                <a:latin typeface="Arimo Bold"/>
                <a:ea typeface="Arimo Bold"/>
                <a:cs typeface="Arimo Bold"/>
                <a:sym typeface="Arimo Bold"/>
              </a:rPr>
              <a:t>6.1 · Equations</a:t>
            </a:r>
          </a:p>
        </p:txBody>
      </p:sp>
      <p:sp>
        <p:nvSpPr>
          <p:cNvPr name="TextBox 13" id="13"/>
          <p:cNvSpPr txBox="true"/>
          <p:nvPr/>
        </p:nvSpPr>
        <p:spPr>
          <a:xfrm rot="0">
            <a:off x="914400" y="1471708"/>
            <a:ext cx="8153400" cy="504825"/>
          </a:xfrm>
          <a:prstGeom prst="rect">
            <a:avLst/>
          </a:prstGeom>
        </p:spPr>
        <p:txBody>
          <a:bodyPr anchor="t" rtlCol="false" tIns="0" lIns="0" bIns="0" rIns="0">
            <a:spAutoFit/>
          </a:bodyPr>
          <a:lstStyle/>
          <a:p>
            <a:pPr algn="l">
              <a:lnSpc>
                <a:spcPts val="4368"/>
              </a:lnSpc>
            </a:pPr>
            <a:r>
              <a:rPr lang="en-US" b="true" sz="4200" spc="-84">
                <a:solidFill>
                  <a:srgbClr val="201E1D"/>
                </a:solidFill>
                <a:latin typeface="Arimo Bold"/>
                <a:ea typeface="Arimo Bold"/>
                <a:cs typeface="Arimo Bold"/>
                <a:sym typeface="Arimo Bold"/>
              </a:rPr>
              <a:t>Make the bases match</a:t>
            </a:r>
          </a:p>
        </p:txBody>
      </p:sp>
      <p:sp>
        <p:nvSpPr>
          <p:cNvPr name="TextBox 14" id="14"/>
          <p:cNvSpPr txBox="true"/>
          <p:nvPr/>
        </p:nvSpPr>
        <p:spPr>
          <a:xfrm rot="0">
            <a:off x="914400" y="2122361"/>
            <a:ext cx="3933825" cy="609600"/>
          </a:xfrm>
          <a:prstGeom prst="rect">
            <a:avLst/>
          </a:prstGeom>
        </p:spPr>
        <p:txBody>
          <a:bodyPr anchor="t" rtlCol="false" tIns="0" lIns="0" bIns="0" rIns="0">
            <a:spAutoFit/>
          </a:bodyPr>
          <a:lstStyle/>
          <a:p>
            <a:pPr algn="l">
              <a:lnSpc>
                <a:spcPts val="3779"/>
              </a:lnSpc>
            </a:pPr>
            <a:r>
              <a:rPr lang="en-US" b="true" sz="2700">
                <a:solidFill>
                  <a:srgbClr val="201E1D"/>
                </a:solidFill>
                <a:latin typeface="Arimo Bold"/>
                <a:ea typeface="Arimo Bold"/>
                <a:cs typeface="Arimo Bold"/>
                <a:sym typeface="Arimo Bold"/>
              </a:rPr>
              <a:t>b</a:t>
            </a:r>
            <a:r>
              <a:rPr lang="en-US" b="true" sz="2700">
                <a:solidFill>
                  <a:srgbClr val="201E1D"/>
                </a:solidFill>
                <a:latin typeface="Arimo Bold"/>
                <a:ea typeface="Arimo Bold"/>
                <a:cs typeface="Arimo Bold"/>
                <a:sym typeface="Arimo Bold"/>
              </a:rPr>
              <a:t> 32</a:t>
            </a:r>
            <a:r>
              <a:rPr lang="en-US" b="true" sz="2700">
                <a:solidFill>
                  <a:srgbClr val="201E1D"/>
                </a:solidFill>
                <a:latin typeface="Arimo Bold"/>
                <a:ea typeface="Arimo Bold"/>
                <a:cs typeface="Arimo Bold"/>
                <a:sym typeface="Arimo Bold"/>
              </a:rPr>
              <a:t>x</a:t>
            </a:r>
            <a:r>
              <a:rPr lang="en-US" b="true" sz="2700">
                <a:solidFill>
                  <a:srgbClr val="201E1D"/>
                </a:solidFill>
                <a:latin typeface="Arimo Bold"/>
                <a:ea typeface="Arimo Bold"/>
                <a:cs typeface="Arimo Bold"/>
                <a:sym typeface="Arimo Bold"/>
              </a:rPr>
              <a:t> = 2</a:t>
            </a:r>
          </a:p>
        </p:txBody>
      </p:sp>
      <p:sp>
        <p:nvSpPr>
          <p:cNvPr name="TextBox 15" id="15"/>
          <p:cNvSpPr txBox="true"/>
          <p:nvPr/>
        </p:nvSpPr>
        <p:spPr>
          <a:xfrm rot="0">
            <a:off x="5133975" y="2122361"/>
            <a:ext cx="3933825" cy="609600"/>
          </a:xfrm>
          <a:prstGeom prst="rect">
            <a:avLst/>
          </a:prstGeom>
        </p:spPr>
        <p:txBody>
          <a:bodyPr anchor="t" rtlCol="false" tIns="0" lIns="0" bIns="0" rIns="0">
            <a:spAutoFit/>
          </a:bodyPr>
          <a:lstStyle/>
          <a:p>
            <a:pPr algn="l">
              <a:lnSpc>
                <a:spcPts val="3779"/>
              </a:lnSpc>
            </a:pPr>
            <a:r>
              <a:rPr lang="en-US" b="true" sz="2700">
                <a:solidFill>
                  <a:srgbClr val="201E1D"/>
                </a:solidFill>
                <a:latin typeface="Arimo Bold"/>
                <a:ea typeface="Arimo Bold"/>
                <a:cs typeface="Arimo Bold"/>
                <a:sym typeface="Arimo Bold"/>
              </a:rPr>
              <a:t>c</a:t>
            </a:r>
            <a:r>
              <a:rPr lang="en-US" b="true" sz="2700">
                <a:solidFill>
                  <a:srgbClr val="201E1D"/>
                </a:solidFill>
                <a:latin typeface="Arimo Bold"/>
                <a:ea typeface="Arimo Bold"/>
                <a:cs typeface="Arimo Bold"/>
                <a:sym typeface="Arimo Bold"/>
              </a:rPr>
              <a:t> 3</a:t>
            </a:r>
            <a:r>
              <a:rPr lang="en-US" b="true" sz="2700">
                <a:solidFill>
                  <a:srgbClr val="201E1D"/>
                </a:solidFill>
                <a:latin typeface="Arimo Bold"/>
                <a:ea typeface="Arimo Bold"/>
                <a:cs typeface="Arimo Bold"/>
                <a:sym typeface="Arimo Bold"/>
              </a:rPr>
              <a:t>x+1</a:t>
            </a:r>
            <a:r>
              <a:rPr lang="en-US" b="true" sz="2700">
                <a:solidFill>
                  <a:srgbClr val="201E1D"/>
                </a:solidFill>
                <a:latin typeface="Arimo Bold"/>
                <a:ea typeface="Arimo Bold"/>
                <a:cs typeface="Arimo Bold"/>
                <a:sym typeface="Arimo Bold"/>
              </a:rPr>
              <a:t> = 9</a:t>
            </a:r>
            <a:r>
              <a:rPr lang="en-US" b="true" sz="2700">
                <a:solidFill>
                  <a:srgbClr val="201E1D"/>
                </a:solidFill>
                <a:latin typeface="Arimo Bold"/>
                <a:ea typeface="Arimo Bold"/>
                <a:cs typeface="Arimo Bold"/>
                <a:sym typeface="Arimo Bold"/>
              </a:rPr>
              <a:t>x</a:t>
            </a:r>
          </a:p>
        </p:txBody>
      </p:sp>
      <p:grpSp>
        <p:nvGrpSpPr>
          <p:cNvPr name="Group 16" id="16"/>
          <p:cNvGrpSpPr/>
          <p:nvPr/>
        </p:nvGrpSpPr>
        <p:grpSpPr>
          <a:xfrm rot="0">
            <a:off x="914400" y="5253228"/>
            <a:ext cx="8153400" cy="1076325"/>
            <a:chOff x="0" y="0"/>
            <a:chExt cx="10871200" cy="1435100"/>
          </a:xfrm>
        </p:grpSpPr>
        <p:sp>
          <p:nvSpPr>
            <p:cNvPr name="Freeform 17" id="17"/>
            <p:cNvSpPr/>
            <p:nvPr/>
          </p:nvSpPr>
          <p:spPr>
            <a:xfrm flipH="false" flipV="false" rot="0">
              <a:off x="0" y="0"/>
              <a:ext cx="10871200" cy="1435100"/>
            </a:xfrm>
            <a:custGeom>
              <a:avLst/>
              <a:gdLst/>
              <a:ahLst/>
              <a:cxnLst/>
              <a:rect r="r" b="b" t="t" l="l"/>
              <a:pathLst>
                <a:path h="1435100" w="10871200">
                  <a:moveTo>
                    <a:pt x="355600" y="0"/>
                  </a:moveTo>
                  <a:lnTo>
                    <a:pt x="10515600" y="0"/>
                  </a:lnTo>
                  <a:cubicBezTo>
                    <a:pt x="10711942" y="0"/>
                    <a:pt x="10871200" y="159258"/>
                    <a:pt x="10871200" y="355600"/>
                  </a:cubicBezTo>
                  <a:lnTo>
                    <a:pt x="10871200" y="1079500"/>
                  </a:lnTo>
                  <a:cubicBezTo>
                    <a:pt x="10871200" y="1275842"/>
                    <a:pt x="10711942" y="1435100"/>
                    <a:pt x="10515600" y="1435100"/>
                  </a:cubicBezTo>
                  <a:lnTo>
                    <a:pt x="355600" y="1435100"/>
                  </a:lnTo>
                  <a:cubicBezTo>
                    <a:pt x="159258" y="1435100"/>
                    <a:pt x="0" y="1275842"/>
                    <a:pt x="0" y="1079500"/>
                  </a:cubicBezTo>
                  <a:lnTo>
                    <a:pt x="0" y="355600"/>
                  </a:lnTo>
                  <a:cubicBezTo>
                    <a:pt x="0" y="159258"/>
                    <a:pt x="159258" y="0"/>
                    <a:pt x="355600" y="0"/>
                  </a:cubicBezTo>
                  <a:close/>
                </a:path>
              </a:pathLst>
            </a:custGeom>
            <a:solidFill>
              <a:srgbClr val="FFE1D0"/>
            </a:solidFill>
          </p:spPr>
        </p:sp>
      </p:grpSp>
      <p:sp>
        <p:nvSpPr>
          <p:cNvPr name="TextBox 18" id="18"/>
          <p:cNvSpPr txBox="true"/>
          <p:nvPr/>
        </p:nvSpPr>
        <p:spPr>
          <a:xfrm rot="0">
            <a:off x="914400" y="5196078"/>
            <a:ext cx="8153400" cy="1133475"/>
          </a:xfrm>
          <a:prstGeom prst="rect">
            <a:avLst/>
          </a:prstGeom>
        </p:spPr>
        <p:txBody>
          <a:bodyPr anchor="t" rtlCol="false" tIns="0" lIns="0" bIns="0" rIns="0">
            <a:spAutoFit/>
          </a:bodyPr>
          <a:lstStyle/>
          <a:p>
            <a:pPr algn="l">
              <a:lnSpc>
                <a:spcPts val="3045"/>
              </a:lnSpc>
            </a:pPr>
            <a:r>
              <a:rPr lang="en-US" b="true" sz="2175">
                <a:solidFill>
                  <a:srgbClr val="643312"/>
                </a:solidFill>
                <a:latin typeface="Arimo Bold"/>
                <a:ea typeface="Arimo Bold"/>
                <a:cs typeface="Arimo Bold"/>
                <a:sym typeface="Arimo Bold"/>
              </a:rPr>
              <a:t>Tip </a:t>
            </a:r>
            <a:r>
              <a:rPr lang="en-US" b="true" sz="2175">
                <a:solidFill>
                  <a:srgbClr val="201E1D"/>
                </a:solidFill>
                <a:latin typeface="Arimo Bold"/>
                <a:ea typeface="Arimo Bold"/>
                <a:cs typeface="Arimo Bold"/>
                <a:sym typeface="Arimo Bold"/>
              </a:rPr>
              <a:t>Look for a base that every number is a power of: 2, 4, 8, 16, 32 are all powers of 2.</a:t>
            </a:r>
          </a:p>
        </p:txBody>
      </p:sp>
      <p:grpSp>
        <p:nvGrpSpPr>
          <p:cNvPr name="Group 19" id="19"/>
          <p:cNvGrpSpPr/>
          <p:nvPr/>
        </p:nvGrpSpPr>
        <p:grpSpPr>
          <a:xfrm rot="0">
            <a:off x="916495" y="9010650"/>
            <a:ext cx="2333625" cy="666750"/>
            <a:chOff x="0" y="0"/>
            <a:chExt cx="3111500" cy="889000"/>
          </a:xfrm>
        </p:grpSpPr>
        <p:sp>
          <p:nvSpPr>
            <p:cNvPr name="Freeform 20" id="20"/>
            <p:cNvSpPr/>
            <p:nvPr/>
          </p:nvSpPr>
          <p:spPr>
            <a:xfrm flipH="false" flipV="false" rot="0">
              <a:off x="0" y="0"/>
              <a:ext cx="3111500" cy="889000"/>
            </a:xfrm>
            <a:custGeom>
              <a:avLst/>
              <a:gdLst/>
              <a:ahLst/>
              <a:cxnLst/>
              <a:rect r="r" b="b" t="t" l="l"/>
              <a:pathLst>
                <a:path h="889000" w="3111500">
                  <a:moveTo>
                    <a:pt x="444500" y="0"/>
                  </a:moveTo>
                  <a:lnTo>
                    <a:pt x="2667000" y="0"/>
                  </a:lnTo>
                  <a:cubicBezTo>
                    <a:pt x="2912491" y="0"/>
                    <a:pt x="3111500" y="199009"/>
                    <a:pt x="3111500" y="444500"/>
                  </a:cubicBezTo>
                  <a:cubicBezTo>
                    <a:pt x="3111500" y="689991"/>
                    <a:pt x="2912491" y="889000"/>
                    <a:pt x="26670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sp>
          <p:nvSpPr>
            <p:cNvPr name="TextBox 21" id="21"/>
            <p:cNvSpPr txBox="true"/>
            <p:nvPr/>
          </p:nvSpPr>
          <p:spPr>
            <a:xfrm>
              <a:off x="0" y="-19050"/>
              <a:ext cx="3111500" cy="908050"/>
            </a:xfrm>
            <a:prstGeom prst="rect">
              <a:avLst/>
            </a:prstGeom>
          </p:spPr>
          <p:txBody>
            <a:bodyPr anchor="t" rtlCol="false" tIns="203200" lIns="203200" bIns="203200" rIns="203200"/>
            <a:lstStyle/>
            <a:p>
              <a:pPr algn="ctr">
                <a:lnSpc>
                  <a:spcPts val="2700"/>
                </a:lnSpc>
              </a:pPr>
              <a:r>
                <a:rPr lang="en-US" b="true" sz="2250" spc="-44">
                  <a:solidFill>
                    <a:srgbClr val="F5EAD8"/>
                  </a:solidFill>
                  <a:latin typeface="Arimo Bold"/>
                  <a:ea typeface="Arimo Bold"/>
                  <a:cs typeface="Arimo Bold"/>
                  <a:sym typeface="Arimo Bold"/>
                </a:rPr>
                <a:t>Next step →</a:t>
              </a:r>
            </a:p>
          </p:txBody>
        </p:sp>
      </p:grpSp>
      <p:sp>
        <p:nvSpPr>
          <p:cNvPr name="TextBox 22" id="22"/>
          <p:cNvSpPr txBox="true"/>
          <p:nvPr/>
        </p:nvSpPr>
        <p:spPr>
          <a:xfrm rot="0">
            <a:off x="3405759" y="8991600"/>
            <a:ext cx="2143125" cy="685800"/>
          </a:xfrm>
          <a:prstGeom prst="rect">
            <a:avLst/>
          </a:prstGeom>
        </p:spPr>
        <p:txBody>
          <a:bodyPr anchor="t" rtlCol="false" tIns="0" lIns="0" bIns="0" rIns="0">
            <a:spAutoFit/>
          </a:bodyPr>
          <a:lstStyle/>
          <a:p>
            <a:pPr algn="ctr">
              <a:lnSpc>
                <a:spcPts val="2700"/>
              </a:lnSpc>
            </a:pPr>
            <a:r>
              <a:rPr lang="en-US" b="true" sz="2250" spc="-44">
                <a:solidFill>
                  <a:srgbClr val="201E1D"/>
                </a:solidFill>
                <a:latin typeface="Arimo Bold"/>
                <a:ea typeface="Arimo Bold"/>
                <a:cs typeface="Arimo Bold"/>
                <a:sym typeface="Arimo Bold"/>
              </a:rPr>
              <a:t>Start again</a:t>
            </a:r>
          </a:p>
        </p:txBody>
      </p:sp>
      <p:sp>
        <p:nvSpPr>
          <p:cNvPr name="TextBox 23" id="23"/>
          <p:cNvSpPr txBox="true"/>
          <p:nvPr/>
        </p:nvSpPr>
        <p:spPr>
          <a:xfrm rot="0">
            <a:off x="943166" y="4222242"/>
            <a:ext cx="1362456" cy="430911"/>
          </a:xfrm>
          <a:prstGeom prst="rect">
            <a:avLst/>
          </a:prstGeom>
        </p:spPr>
        <p:txBody>
          <a:bodyPr anchor="t" rtlCol="false" tIns="0" lIns="0" bIns="0" rIns="0">
            <a:spAutoFit/>
          </a:bodyPr>
          <a:lstStyle/>
          <a:p>
            <a:pPr algn="l">
              <a:lnSpc>
                <a:spcPts val="3182"/>
              </a:lnSpc>
            </a:pPr>
            <a:r>
              <a:rPr lang="en-US" b="true" sz="2448">
                <a:solidFill>
                  <a:srgbClr val="201E1D"/>
                </a:solidFill>
                <a:latin typeface="Arimo Bold"/>
                <a:ea typeface="Arimo Bold"/>
                <a:cs typeface="Arimo Bold"/>
                <a:sym typeface="Arimo Bold"/>
              </a:rPr>
              <a:t>x =</a:t>
            </a:r>
          </a:p>
        </p:txBody>
      </p:sp>
      <p:sp>
        <p:nvSpPr>
          <p:cNvPr name="AutoShape 24" id="24"/>
          <p:cNvSpPr/>
          <p:nvPr/>
        </p:nvSpPr>
        <p:spPr>
          <a:xfrm rot="0">
            <a:off x="989838" y="4927664"/>
            <a:ext cx="201168" cy="28575"/>
          </a:xfrm>
          <a:prstGeom prst="rect">
            <a:avLst/>
          </a:prstGeom>
          <a:solidFill>
            <a:srgbClr val="201E1D"/>
          </a:solidFill>
        </p:spPr>
      </p:sp>
      <p:sp>
        <p:nvSpPr>
          <p:cNvPr name="TextBox 25" id="25"/>
          <p:cNvSpPr txBox="true"/>
          <p:nvPr/>
        </p:nvSpPr>
        <p:spPr>
          <a:xfrm rot="0">
            <a:off x="989838" y="4673536"/>
            <a:ext cx="201168" cy="282702"/>
          </a:xfrm>
          <a:prstGeom prst="rect">
            <a:avLst/>
          </a:prstGeom>
        </p:spPr>
        <p:txBody>
          <a:bodyPr anchor="t" rtlCol="false" tIns="0" lIns="0" bIns="0" rIns="0">
            <a:spAutoFit/>
          </a:bodyPr>
          <a:lstStyle/>
          <a:p>
            <a:pPr algn="l">
              <a:lnSpc>
                <a:spcPts val="2167"/>
              </a:lnSpc>
            </a:pPr>
            <a:r>
              <a:rPr lang="en-US" b="true" sz="2007">
                <a:solidFill>
                  <a:srgbClr val="201E1D"/>
                </a:solidFill>
                <a:latin typeface="Arimo Bold"/>
                <a:ea typeface="Arimo Bold"/>
                <a:cs typeface="Arimo Bold"/>
                <a:sym typeface="Arimo Bold"/>
              </a:rPr>
              <a:t>1</a:t>
            </a:r>
          </a:p>
        </p:txBody>
      </p:sp>
      <p:sp>
        <p:nvSpPr>
          <p:cNvPr name="TextBox 26" id="26"/>
          <p:cNvSpPr txBox="true"/>
          <p:nvPr/>
        </p:nvSpPr>
        <p:spPr>
          <a:xfrm rot="0">
            <a:off x="971550" y="4976146"/>
            <a:ext cx="237744" cy="255270"/>
          </a:xfrm>
          <a:prstGeom prst="rect">
            <a:avLst/>
          </a:prstGeom>
        </p:spPr>
        <p:txBody>
          <a:bodyPr anchor="t" rtlCol="false" tIns="0" lIns="0" bIns="0" rIns="0">
            <a:spAutoFit/>
          </a:bodyPr>
          <a:lstStyle/>
          <a:p>
            <a:pPr algn="l">
              <a:lnSpc>
                <a:spcPts val="2167"/>
              </a:lnSpc>
            </a:pPr>
            <a:r>
              <a:rPr lang="en-US" b="true" sz="2007">
                <a:solidFill>
                  <a:srgbClr val="201E1D"/>
                </a:solidFill>
                <a:latin typeface="Arimo Bold"/>
                <a:ea typeface="Arimo Bold"/>
                <a:cs typeface="Arimo Bold"/>
                <a:sym typeface="Arimo Bold"/>
              </a:rPr>
              <a:t>5</a:t>
            </a:r>
          </a:p>
        </p:txBody>
      </p:sp>
      <p:grpSp>
        <p:nvGrpSpPr>
          <p:cNvPr name="Group 27" id="27"/>
          <p:cNvGrpSpPr/>
          <p:nvPr/>
        </p:nvGrpSpPr>
        <p:grpSpPr>
          <a:xfrm rot="0">
            <a:off x="9563100" y="609600"/>
            <a:ext cx="7810500" cy="9067800"/>
            <a:chOff x="0" y="0"/>
            <a:chExt cx="10414000" cy="12090400"/>
          </a:xfrm>
        </p:grpSpPr>
        <p:sp>
          <p:nvSpPr>
            <p:cNvPr name="Freeform 28" id="28"/>
            <p:cNvSpPr/>
            <p:nvPr/>
          </p:nvSpPr>
          <p:spPr>
            <a:xfrm flipH="false" flipV="false" rot="0">
              <a:off x="0" y="0"/>
              <a:ext cx="10414000" cy="12090400"/>
            </a:xfrm>
            <a:custGeom>
              <a:avLst/>
              <a:gdLst/>
              <a:ahLst/>
              <a:cxnLst/>
              <a:rect r="r" b="b" t="t" l="l"/>
              <a:pathLst>
                <a:path h="12090400" w="10414000">
                  <a:moveTo>
                    <a:pt x="711200" y="0"/>
                  </a:moveTo>
                  <a:lnTo>
                    <a:pt x="9702800" y="0"/>
                  </a:lnTo>
                  <a:cubicBezTo>
                    <a:pt x="10095611" y="0"/>
                    <a:pt x="10414000" y="318389"/>
                    <a:pt x="10414000" y="711200"/>
                  </a:cubicBezTo>
                  <a:lnTo>
                    <a:pt x="10414000" y="11379200"/>
                  </a:lnTo>
                  <a:cubicBezTo>
                    <a:pt x="10414000" y="11772011"/>
                    <a:pt x="10095611" y="12090400"/>
                    <a:pt x="9702800" y="12090400"/>
                  </a:cubicBezTo>
                  <a:lnTo>
                    <a:pt x="711200" y="12090400"/>
                  </a:lnTo>
                  <a:cubicBezTo>
                    <a:pt x="318389" y="12090400"/>
                    <a:pt x="0" y="11772011"/>
                    <a:pt x="0" y="11379200"/>
                  </a:cubicBezTo>
                  <a:lnTo>
                    <a:pt x="0" y="711200"/>
                  </a:lnTo>
                  <a:cubicBezTo>
                    <a:pt x="0" y="318389"/>
                    <a:pt x="318389" y="0"/>
                    <a:pt x="711200" y="0"/>
                  </a:cubicBezTo>
                  <a:close/>
                </a:path>
              </a:pathLst>
            </a:custGeom>
            <a:solidFill>
              <a:srgbClr val="EBDDC5"/>
            </a:solidFill>
          </p:spPr>
        </p:sp>
      </p:gr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FFE1D0"/>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CCDBB2"/>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FFC6A5"/>
            </a:solidFill>
          </p:spPr>
        </p:sp>
      </p:grpSp>
      <p:grpSp>
        <p:nvGrpSpPr>
          <p:cNvPr name="Group 9" id="9"/>
          <p:cNvGrpSpPr/>
          <p:nvPr/>
        </p:nvGrpSpPr>
        <p:grpSpPr>
          <a:xfrm rot="0">
            <a:off x="988409" y="611505"/>
            <a:ext cx="3019425" cy="600075"/>
            <a:chOff x="0" y="0"/>
            <a:chExt cx="4025900" cy="800100"/>
          </a:xfrm>
        </p:grpSpPr>
        <p:sp>
          <p:nvSpPr>
            <p:cNvPr name="Freeform 10" id="10"/>
            <p:cNvSpPr/>
            <p:nvPr/>
          </p:nvSpPr>
          <p:spPr>
            <a:xfrm flipH="false" flipV="false" rot="0">
              <a:off x="0" y="0"/>
              <a:ext cx="4025900" cy="800100"/>
            </a:xfrm>
            <a:custGeom>
              <a:avLst/>
              <a:gdLst/>
              <a:ahLst/>
              <a:cxnLst/>
              <a:rect r="r" b="b" t="t" l="l"/>
              <a:pathLst>
                <a:path h="800100" w="4025900">
                  <a:moveTo>
                    <a:pt x="400050" y="0"/>
                  </a:moveTo>
                  <a:lnTo>
                    <a:pt x="3625850" y="0"/>
                  </a:lnTo>
                  <a:cubicBezTo>
                    <a:pt x="3846830" y="0"/>
                    <a:pt x="4025900" y="179070"/>
                    <a:pt x="4025900" y="400050"/>
                  </a:cubicBezTo>
                  <a:cubicBezTo>
                    <a:pt x="4025900" y="621030"/>
                    <a:pt x="3846830" y="800100"/>
                    <a:pt x="3625850" y="800100"/>
                  </a:cubicBezTo>
                  <a:lnTo>
                    <a:pt x="400050" y="800100"/>
                  </a:lnTo>
                  <a:cubicBezTo>
                    <a:pt x="179070" y="800100"/>
                    <a:pt x="0" y="621030"/>
                    <a:pt x="0" y="400050"/>
                  </a:cubicBezTo>
                  <a:cubicBezTo>
                    <a:pt x="0" y="179070"/>
                    <a:pt x="179070" y="0"/>
                    <a:pt x="400050" y="0"/>
                  </a:cubicBezTo>
                  <a:close/>
                </a:path>
              </a:pathLst>
            </a:custGeom>
            <a:solidFill>
              <a:srgbClr val="8C491A"/>
            </a:solidFill>
          </p:spPr>
        </p:sp>
        <p:sp>
          <p:nvSpPr>
            <p:cNvPr name="TextBox 11" id="11"/>
            <p:cNvSpPr txBox="true"/>
            <p:nvPr/>
          </p:nvSpPr>
          <p:spPr>
            <a:xfrm>
              <a:off x="0" y="-76200"/>
              <a:ext cx="40259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EXERCISE 6.1 · Q4</a:t>
              </a:r>
            </a:p>
          </p:txBody>
        </p:sp>
      </p:grpSp>
      <p:sp>
        <p:nvSpPr>
          <p:cNvPr name="TextBox 12" id="12"/>
          <p:cNvSpPr txBox="true"/>
          <p:nvPr/>
        </p:nvSpPr>
        <p:spPr>
          <a:xfrm rot="0">
            <a:off x="4194429" y="630555"/>
            <a:ext cx="1552575" cy="485775"/>
          </a:xfrm>
          <a:prstGeom prst="rect">
            <a:avLst/>
          </a:prstGeom>
        </p:spPr>
        <p:txBody>
          <a:bodyPr anchor="t" rtlCol="false" tIns="0" lIns="0" bIns="0" rIns="0">
            <a:spAutoFit/>
          </a:bodyPr>
          <a:lstStyle/>
          <a:p>
            <a:pPr algn="l">
              <a:lnSpc>
                <a:spcPts val="3255"/>
              </a:lnSpc>
            </a:pPr>
            <a:r>
              <a:rPr lang="en-US" b="true" sz="2100">
                <a:solidFill>
                  <a:srgbClr val="3D472B"/>
                </a:solidFill>
                <a:latin typeface="Arimo Bold"/>
                <a:ea typeface="Arimo Bold"/>
                <a:cs typeface="Arimo Bold"/>
                <a:sym typeface="Arimo Bold"/>
              </a:rPr>
              <a:t>6.1 · Practice</a:t>
            </a:r>
          </a:p>
        </p:txBody>
      </p:sp>
      <p:sp>
        <p:nvSpPr>
          <p:cNvPr name="TextBox 13" id="13"/>
          <p:cNvSpPr txBox="true"/>
          <p:nvPr/>
        </p:nvSpPr>
        <p:spPr>
          <a:xfrm rot="0">
            <a:off x="990600" y="1510189"/>
            <a:ext cx="16306800" cy="523875"/>
          </a:xfrm>
          <a:prstGeom prst="rect">
            <a:avLst/>
          </a:prstGeom>
        </p:spPr>
        <p:txBody>
          <a:bodyPr anchor="t" rtlCol="false" tIns="0" lIns="0" bIns="0" rIns="0">
            <a:spAutoFit/>
          </a:bodyPr>
          <a:lstStyle/>
          <a:p>
            <a:pPr algn="l">
              <a:lnSpc>
                <a:spcPts val="4524"/>
              </a:lnSpc>
            </a:pPr>
            <a:r>
              <a:rPr lang="en-US" b="true" sz="4350" spc="-86">
                <a:solidFill>
                  <a:srgbClr val="201E1D"/>
                </a:solidFill>
                <a:latin typeface="Arimo Bold"/>
                <a:ea typeface="Arimo Bold"/>
                <a:cs typeface="Arimo Bold"/>
                <a:sym typeface="Arimo Bold"/>
              </a:rPr>
              <a:t>Brackets on both sides</a:t>
            </a:r>
          </a:p>
        </p:txBody>
      </p:sp>
      <p:sp>
        <p:nvSpPr>
          <p:cNvPr name="TextBox 14" id="14"/>
          <p:cNvSpPr txBox="true"/>
          <p:nvPr/>
        </p:nvSpPr>
        <p:spPr>
          <a:xfrm rot="0">
            <a:off x="990600" y="2214943"/>
            <a:ext cx="342900" cy="542925"/>
          </a:xfrm>
          <a:prstGeom prst="rect">
            <a:avLst/>
          </a:prstGeom>
        </p:spPr>
        <p:txBody>
          <a:bodyPr anchor="t" rtlCol="false" tIns="0" lIns="0" bIns="0" rIns="0">
            <a:spAutoFit/>
          </a:bodyPr>
          <a:lstStyle/>
          <a:p>
            <a:pPr algn="l">
              <a:lnSpc>
                <a:spcPts val="3726"/>
              </a:lnSpc>
            </a:pPr>
            <a:r>
              <a:rPr lang="en-US" b="true" sz="2700">
                <a:solidFill>
                  <a:srgbClr val="8C491A"/>
                </a:solidFill>
                <a:latin typeface="Arimo Bold"/>
                <a:ea typeface="Arimo Bold"/>
                <a:cs typeface="Arimo Bold"/>
                <a:sym typeface="Arimo Bold"/>
              </a:rPr>
              <a:t>c</a:t>
            </a:r>
          </a:p>
        </p:txBody>
      </p:sp>
      <p:sp>
        <p:nvSpPr>
          <p:cNvPr name="TextBox 15" id="15"/>
          <p:cNvSpPr txBox="true"/>
          <p:nvPr/>
        </p:nvSpPr>
        <p:spPr>
          <a:xfrm rot="0">
            <a:off x="1483995" y="2214943"/>
            <a:ext cx="4191000" cy="542925"/>
          </a:xfrm>
          <a:prstGeom prst="rect">
            <a:avLst/>
          </a:prstGeom>
        </p:spPr>
        <p:txBody>
          <a:bodyPr anchor="t" rtlCol="false" tIns="0" lIns="0" bIns="0" rIns="0">
            <a:spAutoFit/>
          </a:bodyPr>
          <a:lstStyle/>
          <a:p>
            <a:pPr algn="l">
              <a:lnSpc>
                <a:spcPts val="3726"/>
              </a:lnSpc>
            </a:pPr>
            <a:r>
              <a:rPr lang="en-US" b="true" sz="2700">
                <a:solidFill>
                  <a:srgbClr val="201E1D"/>
                </a:solidFill>
                <a:latin typeface="Arimo Bold"/>
                <a:ea typeface="Arimo Bold"/>
                <a:cs typeface="Arimo Bold"/>
                <a:sym typeface="Arimo Bold"/>
              </a:rPr>
              <a:t>7x − (3x + 11) = 6 − (5 − 3x)</a:t>
            </a:r>
          </a:p>
        </p:txBody>
      </p:sp>
      <p:sp>
        <p:nvSpPr>
          <p:cNvPr name="TextBox 16" id="16"/>
          <p:cNvSpPr txBox="true"/>
          <p:nvPr/>
        </p:nvSpPr>
        <p:spPr>
          <a:xfrm rot="0">
            <a:off x="990600" y="2783300"/>
            <a:ext cx="342900" cy="542925"/>
          </a:xfrm>
          <a:prstGeom prst="rect">
            <a:avLst/>
          </a:prstGeom>
        </p:spPr>
        <p:txBody>
          <a:bodyPr anchor="t" rtlCol="false" tIns="0" lIns="0" bIns="0" rIns="0">
            <a:spAutoFit/>
          </a:bodyPr>
          <a:lstStyle/>
          <a:p>
            <a:pPr algn="l">
              <a:lnSpc>
                <a:spcPts val="3726"/>
              </a:lnSpc>
            </a:pPr>
            <a:r>
              <a:rPr lang="en-US" b="true" sz="2700">
                <a:solidFill>
                  <a:srgbClr val="8C491A"/>
                </a:solidFill>
                <a:latin typeface="Arimo Bold"/>
                <a:ea typeface="Arimo Bold"/>
                <a:cs typeface="Arimo Bold"/>
                <a:sym typeface="Arimo Bold"/>
              </a:rPr>
              <a:t>e</a:t>
            </a:r>
          </a:p>
        </p:txBody>
      </p:sp>
      <p:sp>
        <p:nvSpPr>
          <p:cNvPr name="TextBox 17" id="17"/>
          <p:cNvSpPr txBox="true"/>
          <p:nvPr/>
        </p:nvSpPr>
        <p:spPr>
          <a:xfrm rot="0">
            <a:off x="1486091" y="2783300"/>
            <a:ext cx="3952875" cy="542925"/>
          </a:xfrm>
          <a:prstGeom prst="rect">
            <a:avLst/>
          </a:prstGeom>
        </p:spPr>
        <p:txBody>
          <a:bodyPr anchor="t" rtlCol="false" tIns="0" lIns="0" bIns="0" rIns="0">
            <a:spAutoFit/>
          </a:bodyPr>
          <a:lstStyle/>
          <a:p>
            <a:pPr algn="l">
              <a:lnSpc>
                <a:spcPts val="3726"/>
              </a:lnSpc>
            </a:pPr>
            <a:r>
              <a:rPr lang="en-US" b="true" sz="2700">
                <a:solidFill>
                  <a:srgbClr val="201E1D"/>
                </a:solidFill>
                <a:latin typeface="Arimo Bold"/>
                <a:ea typeface="Arimo Bold"/>
                <a:cs typeface="Arimo Bold"/>
                <a:sym typeface="Arimo Bold"/>
              </a:rPr>
              <a:t>4 + 2(2 − x) = 3 − 2(5 − x)</a:t>
            </a:r>
          </a:p>
        </p:txBody>
      </p:sp>
      <p:sp>
        <p:nvSpPr>
          <p:cNvPr name="TextBox 18" id="18"/>
          <p:cNvSpPr txBox="true"/>
          <p:nvPr/>
        </p:nvSpPr>
        <p:spPr>
          <a:xfrm rot="0">
            <a:off x="9334500" y="2214943"/>
            <a:ext cx="342900" cy="542925"/>
          </a:xfrm>
          <a:prstGeom prst="rect">
            <a:avLst/>
          </a:prstGeom>
        </p:spPr>
        <p:txBody>
          <a:bodyPr anchor="t" rtlCol="false" tIns="0" lIns="0" bIns="0" rIns="0">
            <a:spAutoFit/>
          </a:bodyPr>
          <a:lstStyle/>
          <a:p>
            <a:pPr algn="l">
              <a:lnSpc>
                <a:spcPts val="3726"/>
              </a:lnSpc>
            </a:pPr>
            <a:r>
              <a:rPr lang="en-US" b="true" sz="2700">
                <a:solidFill>
                  <a:srgbClr val="8C491A"/>
                </a:solidFill>
                <a:latin typeface="Arimo Bold"/>
                <a:ea typeface="Arimo Bold"/>
                <a:cs typeface="Arimo Bold"/>
                <a:sym typeface="Arimo Bold"/>
              </a:rPr>
              <a:t>g</a:t>
            </a:r>
          </a:p>
        </p:txBody>
      </p:sp>
      <p:sp>
        <p:nvSpPr>
          <p:cNvPr name="TextBox 19" id="19"/>
          <p:cNvSpPr txBox="true"/>
          <p:nvPr/>
        </p:nvSpPr>
        <p:spPr>
          <a:xfrm rot="0">
            <a:off x="9830657" y="2214943"/>
            <a:ext cx="4591050" cy="542925"/>
          </a:xfrm>
          <a:prstGeom prst="rect">
            <a:avLst/>
          </a:prstGeom>
        </p:spPr>
        <p:txBody>
          <a:bodyPr anchor="t" rtlCol="false" tIns="0" lIns="0" bIns="0" rIns="0">
            <a:spAutoFit/>
          </a:bodyPr>
          <a:lstStyle/>
          <a:p>
            <a:pPr algn="l">
              <a:lnSpc>
                <a:spcPts val="3726"/>
              </a:lnSpc>
            </a:pPr>
            <a:r>
              <a:rPr lang="en-US" b="true" sz="2700">
                <a:solidFill>
                  <a:srgbClr val="201E1D"/>
                </a:solidFill>
                <a:latin typeface="Arimo Bold"/>
                <a:ea typeface="Arimo Bold"/>
                <a:cs typeface="Arimo Bold"/>
                <a:sym typeface="Arimo Bold"/>
              </a:rPr>
              <a:t>2(p − 1) − 7(3p − 2) = 7(p − 4)</a:t>
            </a:r>
          </a:p>
        </p:txBody>
      </p:sp>
      <p:sp>
        <p:nvSpPr>
          <p:cNvPr name="TextBox 20" id="20"/>
          <p:cNvSpPr txBox="true"/>
          <p:nvPr/>
        </p:nvSpPr>
        <p:spPr>
          <a:xfrm rot="0">
            <a:off x="9334500" y="2783300"/>
            <a:ext cx="342900" cy="542925"/>
          </a:xfrm>
          <a:prstGeom prst="rect">
            <a:avLst/>
          </a:prstGeom>
        </p:spPr>
        <p:txBody>
          <a:bodyPr anchor="t" rtlCol="false" tIns="0" lIns="0" bIns="0" rIns="0">
            <a:spAutoFit/>
          </a:bodyPr>
          <a:lstStyle/>
          <a:p>
            <a:pPr algn="l">
              <a:lnSpc>
                <a:spcPts val="3726"/>
              </a:lnSpc>
            </a:pPr>
            <a:r>
              <a:rPr lang="en-US" b="true" sz="2700">
                <a:solidFill>
                  <a:srgbClr val="8C491A"/>
                </a:solidFill>
                <a:latin typeface="Arimo Bold"/>
                <a:ea typeface="Arimo Bold"/>
                <a:cs typeface="Arimo Bold"/>
                <a:sym typeface="Arimo Bold"/>
              </a:rPr>
              <a:t>h</a:t>
            </a:r>
          </a:p>
        </p:txBody>
      </p:sp>
      <p:sp>
        <p:nvSpPr>
          <p:cNvPr name="TextBox 21" id="21"/>
          <p:cNvSpPr txBox="true"/>
          <p:nvPr/>
        </p:nvSpPr>
        <p:spPr>
          <a:xfrm rot="0">
            <a:off x="9829990" y="2783300"/>
            <a:ext cx="3714750" cy="542925"/>
          </a:xfrm>
          <a:prstGeom prst="rect">
            <a:avLst/>
          </a:prstGeom>
        </p:spPr>
        <p:txBody>
          <a:bodyPr anchor="t" rtlCol="false" tIns="0" lIns="0" bIns="0" rIns="0">
            <a:spAutoFit/>
          </a:bodyPr>
          <a:lstStyle/>
          <a:p>
            <a:pPr algn="l">
              <a:lnSpc>
                <a:spcPts val="3726"/>
              </a:lnSpc>
            </a:pPr>
            <a:r>
              <a:rPr lang="en-US" b="true" sz="2700">
                <a:solidFill>
                  <a:srgbClr val="201E1D"/>
                </a:solidFill>
                <a:latin typeface="Arimo Bold"/>
                <a:ea typeface="Arimo Bold"/>
                <a:cs typeface="Arimo Bold"/>
                <a:sym typeface="Arimo Bold"/>
              </a:rPr>
              <a:t>3(2x + 5) − (3x + 2) = 10</a:t>
            </a:r>
          </a:p>
        </p:txBody>
      </p:sp>
      <p:grpSp>
        <p:nvGrpSpPr>
          <p:cNvPr name="Group 22" id="22"/>
          <p:cNvGrpSpPr/>
          <p:nvPr/>
        </p:nvGrpSpPr>
        <p:grpSpPr>
          <a:xfrm rot="0">
            <a:off x="1316736" y="3813429"/>
            <a:ext cx="7699248" cy="1591056"/>
            <a:chOff x="0" y="0"/>
            <a:chExt cx="10265664" cy="2121408"/>
          </a:xfrm>
        </p:grpSpPr>
        <p:sp>
          <p:nvSpPr>
            <p:cNvPr name="Freeform 23" id="23"/>
            <p:cNvSpPr/>
            <p:nvPr/>
          </p:nvSpPr>
          <p:spPr>
            <a:xfrm flipH="false" flipV="false" rot="0">
              <a:off x="0" y="0"/>
              <a:ext cx="10265664" cy="2121408"/>
            </a:xfrm>
            <a:custGeom>
              <a:avLst/>
              <a:gdLst/>
              <a:ahLst/>
              <a:cxnLst/>
              <a:rect r="r" b="b" t="t" l="l"/>
              <a:pathLst>
                <a:path h="2121408" w="10265664">
                  <a:moveTo>
                    <a:pt x="355600" y="0"/>
                  </a:moveTo>
                  <a:lnTo>
                    <a:pt x="9910064" y="0"/>
                  </a:lnTo>
                  <a:cubicBezTo>
                    <a:pt x="10106406" y="0"/>
                    <a:pt x="10265664" y="159258"/>
                    <a:pt x="10265664" y="355600"/>
                  </a:cubicBezTo>
                  <a:lnTo>
                    <a:pt x="10265664" y="1765808"/>
                  </a:lnTo>
                  <a:cubicBezTo>
                    <a:pt x="10265664" y="1962150"/>
                    <a:pt x="10106406" y="2121408"/>
                    <a:pt x="9910064" y="2121408"/>
                  </a:cubicBezTo>
                  <a:lnTo>
                    <a:pt x="355600" y="2121408"/>
                  </a:lnTo>
                  <a:cubicBezTo>
                    <a:pt x="159258" y="2121408"/>
                    <a:pt x="0" y="1962150"/>
                    <a:pt x="0" y="1765808"/>
                  </a:cubicBezTo>
                  <a:lnTo>
                    <a:pt x="0" y="355600"/>
                  </a:lnTo>
                  <a:cubicBezTo>
                    <a:pt x="0" y="159258"/>
                    <a:pt x="159258" y="0"/>
                    <a:pt x="355600" y="0"/>
                  </a:cubicBezTo>
                  <a:close/>
                </a:path>
              </a:pathLst>
            </a:custGeom>
            <a:solidFill>
              <a:srgbClr val="F0FAE1"/>
            </a:solidFill>
          </p:spPr>
        </p:sp>
        <p:sp>
          <p:nvSpPr>
            <p:cNvPr name="Freeform 24" id="24"/>
            <p:cNvSpPr/>
            <p:nvPr/>
          </p:nvSpPr>
          <p:spPr>
            <a:xfrm flipH="false" flipV="false" rot="0">
              <a:off x="0" y="0"/>
              <a:ext cx="10265664" cy="2121408"/>
            </a:xfrm>
            <a:custGeom>
              <a:avLst/>
              <a:gdLst/>
              <a:ahLst/>
              <a:cxnLst/>
              <a:rect r="r" b="b" t="t" l="l"/>
              <a:pathLst>
                <a:path h="2121408" w="10265664">
                  <a:moveTo>
                    <a:pt x="355600" y="0"/>
                  </a:moveTo>
                  <a:lnTo>
                    <a:pt x="9910064" y="0"/>
                  </a:lnTo>
                  <a:cubicBezTo>
                    <a:pt x="10106406" y="0"/>
                    <a:pt x="10265664" y="159258"/>
                    <a:pt x="10265664" y="355600"/>
                  </a:cubicBezTo>
                  <a:lnTo>
                    <a:pt x="10265664" y="1765808"/>
                  </a:lnTo>
                  <a:cubicBezTo>
                    <a:pt x="10265664" y="1962150"/>
                    <a:pt x="10106406" y="2121408"/>
                    <a:pt x="9910064" y="2121408"/>
                  </a:cubicBezTo>
                  <a:lnTo>
                    <a:pt x="355600" y="2121408"/>
                  </a:lnTo>
                  <a:cubicBezTo>
                    <a:pt x="159258" y="2121408"/>
                    <a:pt x="0" y="1962150"/>
                    <a:pt x="0" y="1765808"/>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25" id="25"/>
          <p:cNvSpPr txBox="true"/>
          <p:nvPr/>
        </p:nvSpPr>
        <p:spPr>
          <a:xfrm rot="0">
            <a:off x="1600200" y="3957637"/>
            <a:ext cx="7132320"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26" id="26"/>
          <p:cNvSpPr txBox="true"/>
          <p:nvPr/>
        </p:nvSpPr>
        <p:spPr>
          <a:xfrm rot="0">
            <a:off x="1600200" y="4300823"/>
            <a:ext cx="329184" cy="459486"/>
          </a:xfrm>
          <a:prstGeom prst="rect">
            <a:avLst/>
          </a:prstGeom>
        </p:spPr>
        <p:txBody>
          <a:bodyPr anchor="t" rtlCol="false" tIns="0" lIns="0" bIns="0" rIns="0">
            <a:spAutoFit/>
          </a:bodyPr>
          <a:lstStyle/>
          <a:p>
            <a:pPr algn="l">
              <a:lnSpc>
                <a:spcPts val="3133"/>
              </a:lnSpc>
            </a:pPr>
            <a:r>
              <a:rPr lang="en-US" b="true" sz="2304">
                <a:solidFill>
                  <a:srgbClr val="3D472B"/>
                </a:solidFill>
                <a:latin typeface="Arimo Bold"/>
                <a:ea typeface="Arimo Bold"/>
                <a:cs typeface="Arimo Bold"/>
                <a:sym typeface="Arimo Bold"/>
              </a:rPr>
              <a:t>c</a:t>
            </a:r>
          </a:p>
        </p:txBody>
      </p:sp>
      <p:sp>
        <p:nvSpPr>
          <p:cNvPr name="TextBox 27" id="27"/>
          <p:cNvSpPr txBox="true"/>
          <p:nvPr/>
        </p:nvSpPr>
        <p:spPr>
          <a:xfrm rot="0">
            <a:off x="2077593" y="4300823"/>
            <a:ext cx="3182112" cy="459486"/>
          </a:xfrm>
          <a:prstGeom prst="rect">
            <a:avLst/>
          </a:prstGeom>
        </p:spPr>
        <p:txBody>
          <a:bodyPr anchor="t" rtlCol="false" tIns="0" lIns="0" bIns="0" rIns="0">
            <a:spAutoFit/>
          </a:bodyPr>
          <a:lstStyle/>
          <a:p>
            <a:pPr algn="l">
              <a:lnSpc>
                <a:spcPts val="3133"/>
              </a:lnSpc>
            </a:pPr>
            <a:r>
              <a:rPr lang="en-US" b="true" sz="2304">
                <a:solidFill>
                  <a:srgbClr val="201E1D"/>
                </a:solidFill>
                <a:latin typeface="Arimo Bold"/>
                <a:ea typeface="Arimo Bold"/>
                <a:cs typeface="Arimo Bold"/>
                <a:sym typeface="Arimo Bold"/>
              </a:rPr>
              <a:t>4x − 11 = 1 + 3x ⇒ x = 12</a:t>
            </a:r>
          </a:p>
        </p:txBody>
      </p:sp>
      <p:sp>
        <p:nvSpPr>
          <p:cNvPr name="TextBox 28" id="28"/>
          <p:cNvSpPr txBox="true"/>
          <p:nvPr/>
        </p:nvSpPr>
        <p:spPr>
          <a:xfrm rot="0">
            <a:off x="1600200" y="4753546"/>
            <a:ext cx="329184" cy="459486"/>
          </a:xfrm>
          <a:prstGeom prst="rect">
            <a:avLst/>
          </a:prstGeom>
        </p:spPr>
        <p:txBody>
          <a:bodyPr anchor="t" rtlCol="false" tIns="0" lIns="0" bIns="0" rIns="0">
            <a:spAutoFit/>
          </a:bodyPr>
          <a:lstStyle/>
          <a:p>
            <a:pPr algn="l">
              <a:lnSpc>
                <a:spcPts val="3133"/>
              </a:lnSpc>
            </a:pPr>
            <a:r>
              <a:rPr lang="en-US" b="true" sz="2304">
                <a:solidFill>
                  <a:srgbClr val="3D472B"/>
                </a:solidFill>
                <a:latin typeface="Arimo Bold"/>
                <a:ea typeface="Arimo Bold"/>
                <a:cs typeface="Arimo Bold"/>
                <a:sym typeface="Arimo Bold"/>
              </a:rPr>
              <a:t>e</a:t>
            </a:r>
          </a:p>
        </p:txBody>
      </p:sp>
      <p:sp>
        <p:nvSpPr>
          <p:cNvPr name="TextBox 29" id="29"/>
          <p:cNvSpPr txBox="true"/>
          <p:nvPr/>
        </p:nvSpPr>
        <p:spPr>
          <a:xfrm rot="0">
            <a:off x="2076831" y="4753546"/>
            <a:ext cx="5020056" cy="459486"/>
          </a:xfrm>
          <a:prstGeom prst="rect">
            <a:avLst/>
          </a:prstGeom>
        </p:spPr>
        <p:txBody>
          <a:bodyPr anchor="t" rtlCol="false" tIns="0" lIns="0" bIns="0" rIns="0">
            <a:spAutoFit/>
          </a:bodyPr>
          <a:lstStyle/>
          <a:p>
            <a:pPr algn="l">
              <a:lnSpc>
                <a:spcPts val="3133"/>
              </a:lnSpc>
            </a:pPr>
            <a:r>
              <a:rPr lang="en-US" b="true" sz="2304">
                <a:solidFill>
                  <a:srgbClr val="201E1D"/>
                </a:solidFill>
                <a:latin typeface="Arimo Bold"/>
                <a:ea typeface="Arimo Bold"/>
                <a:cs typeface="Arimo Bold"/>
                <a:sym typeface="Arimo Bold"/>
              </a:rPr>
              <a:t>8 − 2x = −7 + 2x ⇒ 4x = 15 ⇒ x = 15/4</a:t>
            </a:r>
          </a:p>
        </p:txBody>
      </p:sp>
      <p:grpSp>
        <p:nvGrpSpPr>
          <p:cNvPr name="Group 30" id="30"/>
          <p:cNvGrpSpPr/>
          <p:nvPr/>
        </p:nvGrpSpPr>
        <p:grpSpPr>
          <a:xfrm rot="0">
            <a:off x="9272016" y="3813429"/>
            <a:ext cx="7699248" cy="1591056"/>
            <a:chOff x="0" y="0"/>
            <a:chExt cx="10265664" cy="2121408"/>
          </a:xfrm>
        </p:grpSpPr>
        <p:sp>
          <p:nvSpPr>
            <p:cNvPr name="Freeform 31" id="31"/>
            <p:cNvSpPr/>
            <p:nvPr/>
          </p:nvSpPr>
          <p:spPr>
            <a:xfrm flipH="false" flipV="false" rot="0">
              <a:off x="0" y="0"/>
              <a:ext cx="10265664" cy="2121408"/>
            </a:xfrm>
            <a:custGeom>
              <a:avLst/>
              <a:gdLst/>
              <a:ahLst/>
              <a:cxnLst/>
              <a:rect r="r" b="b" t="t" l="l"/>
              <a:pathLst>
                <a:path h="2121408" w="10265664">
                  <a:moveTo>
                    <a:pt x="355600" y="0"/>
                  </a:moveTo>
                  <a:lnTo>
                    <a:pt x="9910064" y="0"/>
                  </a:lnTo>
                  <a:cubicBezTo>
                    <a:pt x="10106406" y="0"/>
                    <a:pt x="10265664" y="159258"/>
                    <a:pt x="10265664" y="355600"/>
                  </a:cubicBezTo>
                  <a:lnTo>
                    <a:pt x="10265664" y="1765808"/>
                  </a:lnTo>
                  <a:cubicBezTo>
                    <a:pt x="10265664" y="1962150"/>
                    <a:pt x="10106406" y="2121408"/>
                    <a:pt x="9910064" y="2121408"/>
                  </a:cubicBezTo>
                  <a:lnTo>
                    <a:pt x="355600" y="2121408"/>
                  </a:lnTo>
                  <a:cubicBezTo>
                    <a:pt x="159258" y="2121408"/>
                    <a:pt x="0" y="1962150"/>
                    <a:pt x="0" y="1765808"/>
                  </a:cubicBezTo>
                  <a:lnTo>
                    <a:pt x="0" y="355600"/>
                  </a:lnTo>
                  <a:cubicBezTo>
                    <a:pt x="0" y="159258"/>
                    <a:pt x="159258" y="0"/>
                    <a:pt x="355600" y="0"/>
                  </a:cubicBezTo>
                  <a:close/>
                </a:path>
              </a:pathLst>
            </a:custGeom>
            <a:solidFill>
              <a:srgbClr val="F0FAE1"/>
            </a:solidFill>
          </p:spPr>
        </p:sp>
        <p:sp>
          <p:nvSpPr>
            <p:cNvPr name="Freeform 32" id="32"/>
            <p:cNvSpPr/>
            <p:nvPr/>
          </p:nvSpPr>
          <p:spPr>
            <a:xfrm flipH="false" flipV="false" rot="0">
              <a:off x="0" y="0"/>
              <a:ext cx="10265664" cy="2121408"/>
            </a:xfrm>
            <a:custGeom>
              <a:avLst/>
              <a:gdLst/>
              <a:ahLst/>
              <a:cxnLst/>
              <a:rect r="r" b="b" t="t" l="l"/>
              <a:pathLst>
                <a:path h="2121408" w="10265664">
                  <a:moveTo>
                    <a:pt x="355600" y="0"/>
                  </a:moveTo>
                  <a:lnTo>
                    <a:pt x="9910064" y="0"/>
                  </a:lnTo>
                  <a:cubicBezTo>
                    <a:pt x="10106406" y="0"/>
                    <a:pt x="10265664" y="159258"/>
                    <a:pt x="10265664" y="355600"/>
                  </a:cubicBezTo>
                  <a:lnTo>
                    <a:pt x="10265664" y="1765808"/>
                  </a:lnTo>
                  <a:cubicBezTo>
                    <a:pt x="10265664" y="1962150"/>
                    <a:pt x="10106406" y="2121408"/>
                    <a:pt x="9910064" y="2121408"/>
                  </a:cubicBezTo>
                  <a:lnTo>
                    <a:pt x="355600" y="2121408"/>
                  </a:lnTo>
                  <a:cubicBezTo>
                    <a:pt x="159258" y="2121408"/>
                    <a:pt x="0" y="1962150"/>
                    <a:pt x="0" y="1765808"/>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33" id="33"/>
          <p:cNvSpPr txBox="true"/>
          <p:nvPr/>
        </p:nvSpPr>
        <p:spPr>
          <a:xfrm rot="0">
            <a:off x="9555480" y="3957637"/>
            <a:ext cx="7132320"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34" id="34"/>
          <p:cNvSpPr txBox="true"/>
          <p:nvPr/>
        </p:nvSpPr>
        <p:spPr>
          <a:xfrm rot="0">
            <a:off x="9555480" y="4300823"/>
            <a:ext cx="329184" cy="459486"/>
          </a:xfrm>
          <a:prstGeom prst="rect">
            <a:avLst/>
          </a:prstGeom>
        </p:spPr>
        <p:txBody>
          <a:bodyPr anchor="t" rtlCol="false" tIns="0" lIns="0" bIns="0" rIns="0">
            <a:spAutoFit/>
          </a:bodyPr>
          <a:lstStyle/>
          <a:p>
            <a:pPr algn="l">
              <a:lnSpc>
                <a:spcPts val="3133"/>
              </a:lnSpc>
            </a:pPr>
            <a:r>
              <a:rPr lang="en-US" b="true" sz="2304">
                <a:solidFill>
                  <a:srgbClr val="3D472B"/>
                </a:solidFill>
                <a:latin typeface="Arimo Bold"/>
                <a:ea typeface="Arimo Bold"/>
                <a:cs typeface="Arimo Bold"/>
                <a:sym typeface="Arimo Bold"/>
              </a:rPr>
              <a:t>g</a:t>
            </a:r>
          </a:p>
        </p:txBody>
      </p:sp>
      <p:sp>
        <p:nvSpPr>
          <p:cNvPr name="TextBox 35" id="35"/>
          <p:cNvSpPr txBox="true"/>
          <p:nvPr/>
        </p:nvSpPr>
        <p:spPr>
          <a:xfrm rot="0">
            <a:off x="10029349" y="4300823"/>
            <a:ext cx="5934456" cy="459486"/>
          </a:xfrm>
          <a:prstGeom prst="rect">
            <a:avLst/>
          </a:prstGeom>
        </p:spPr>
        <p:txBody>
          <a:bodyPr anchor="t" rtlCol="false" tIns="0" lIns="0" bIns="0" rIns="0">
            <a:spAutoFit/>
          </a:bodyPr>
          <a:lstStyle/>
          <a:p>
            <a:pPr algn="l">
              <a:lnSpc>
                <a:spcPts val="3133"/>
              </a:lnSpc>
            </a:pPr>
            <a:r>
              <a:rPr lang="en-US" b="true" sz="2304">
                <a:solidFill>
                  <a:srgbClr val="201E1D"/>
                </a:solidFill>
                <a:latin typeface="Arimo Bold"/>
                <a:ea typeface="Arimo Bold"/>
                <a:cs typeface="Arimo Bold"/>
                <a:sym typeface="Arimo Bold"/>
              </a:rPr>
              <a:t>−19p + 12 = 7p − 28 ⇒ 26p = 40 ⇒ p = 20/13</a:t>
            </a:r>
          </a:p>
        </p:txBody>
      </p:sp>
      <p:sp>
        <p:nvSpPr>
          <p:cNvPr name="TextBox 36" id="36"/>
          <p:cNvSpPr txBox="true"/>
          <p:nvPr/>
        </p:nvSpPr>
        <p:spPr>
          <a:xfrm rot="0">
            <a:off x="9555480" y="4753546"/>
            <a:ext cx="329184" cy="459486"/>
          </a:xfrm>
          <a:prstGeom prst="rect">
            <a:avLst/>
          </a:prstGeom>
        </p:spPr>
        <p:txBody>
          <a:bodyPr anchor="t" rtlCol="false" tIns="0" lIns="0" bIns="0" rIns="0">
            <a:spAutoFit/>
          </a:bodyPr>
          <a:lstStyle/>
          <a:p>
            <a:pPr algn="l">
              <a:lnSpc>
                <a:spcPts val="3133"/>
              </a:lnSpc>
            </a:pPr>
            <a:r>
              <a:rPr lang="en-US" b="true" sz="2304">
                <a:solidFill>
                  <a:srgbClr val="3D472B"/>
                </a:solidFill>
                <a:latin typeface="Arimo Bold"/>
                <a:ea typeface="Arimo Bold"/>
                <a:cs typeface="Arimo Bold"/>
                <a:sym typeface="Arimo Bold"/>
              </a:rPr>
              <a:t>h</a:t>
            </a:r>
          </a:p>
        </p:txBody>
      </p:sp>
      <p:sp>
        <p:nvSpPr>
          <p:cNvPr name="TextBox 37" id="37"/>
          <p:cNvSpPr txBox="true"/>
          <p:nvPr/>
        </p:nvSpPr>
        <p:spPr>
          <a:xfrm rot="0">
            <a:off x="10031444" y="4753546"/>
            <a:ext cx="2770632" cy="459486"/>
          </a:xfrm>
          <a:prstGeom prst="rect">
            <a:avLst/>
          </a:prstGeom>
        </p:spPr>
        <p:txBody>
          <a:bodyPr anchor="t" rtlCol="false" tIns="0" lIns="0" bIns="0" rIns="0">
            <a:spAutoFit/>
          </a:bodyPr>
          <a:lstStyle/>
          <a:p>
            <a:pPr algn="l">
              <a:lnSpc>
                <a:spcPts val="3133"/>
              </a:lnSpc>
            </a:pPr>
            <a:r>
              <a:rPr lang="en-US" b="true" sz="2304">
                <a:solidFill>
                  <a:srgbClr val="201E1D"/>
                </a:solidFill>
                <a:latin typeface="Arimo Bold"/>
                <a:ea typeface="Arimo Bold"/>
                <a:cs typeface="Arimo Bold"/>
                <a:sym typeface="Arimo Bold"/>
              </a:rPr>
              <a:t>3x + 13 = 10 ⇒ x = −1</a:t>
            </a:r>
          </a:p>
        </p:txBody>
      </p:sp>
      <p:grpSp>
        <p:nvGrpSpPr>
          <p:cNvPr name="Group 38" id="38"/>
          <p:cNvGrpSpPr/>
          <p:nvPr/>
        </p:nvGrpSpPr>
        <p:grpSpPr>
          <a:xfrm rot="0">
            <a:off x="989838" y="9010650"/>
            <a:ext cx="3209925" cy="666750"/>
            <a:chOff x="0" y="0"/>
            <a:chExt cx="4279900" cy="889000"/>
          </a:xfrm>
        </p:grpSpPr>
        <p:sp>
          <p:nvSpPr>
            <p:cNvPr name="Freeform 39" id="39"/>
            <p:cNvSpPr/>
            <p:nvPr/>
          </p:nvSpPr>
          <p:spPr>
            <a:xfrm flipH="false" flipV="false" rot="0">
              <a:off x="0" y="0"/>
              <a:ext cx="4279900" cy="889000"/>
            </a:xfrm>
            <a:custGeom>
              <a:avLst/>
              <a:gdLst/>
              <a:ahLst/>
              <a:cxnLst/>
              <a:rect r="r" b="b" t="t" l="l"/>
              <a:pathLst>
                <a:path h="889000" w="4279900">
                  <a:moveTo>
                    <a:pt x="444500" y="0"/>
                  </a:moveTo>
                  <a:lnTo>
                    <a:pt x="3835400" y="0"/>
                  </a:lnTo>
                  <a:cubicBezTo>
                    <a:pt x="4080891" y="0"/>
                    <a:pt x="4279900" y="199009"/>
                    <a:pt x="4279900" y="444500"/>
                  </a:cubicBezTo>
                  <a:cubicBezTo>
                    <a:pt x="4279900" y="689991"/>
                    <a:pt x="4080891" y="889000"/>
                    <a:pt x="38354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grpSp>
      <p:sp>
        <p:nvSpPr>
          <p:cNvPr name="TextBox 40" id="40"/>
          <p:cNvSpPr txBox="true"/>
          <p:nvPr/>
        </p:nvSpPr>
        <p:spPr>
          <a:xfrm rot="0">
            <a:off x="1361313" y="9153525"/>
            <a:ext cx="2466975" cy="361950"/>
          </a:xfrm>
          <a:prstGeom prst="rect">
            <a:avLst/>
          </a:prstGeom>
        </p:spPr>
        <p:txBody>
          <a:bodyPr anchor="t" rtlCol="false" tIns="0" lIns="0" bIns="0" rIns="0">
            <a:spAutoFit/>
          </a:bodyPr>
          <a:lstStyle/>
          <a:p>
            <a:pPr algn="ctr">
              <a:lnSpc>
                <a:spcPts val="2700"/>
              </a:lnSpc>
            </a:pPr>
            <a:r>
              <a:rPr lang="en-US" b="true" sz="2250" spc="-44">
                <a:solidFill>
                  <a:srgbClr val="F5EAD8"/>
                </a:solidFill>
                <a:latin typeface="Arimo Bold"/>
                <a:ea typeface="Arimo Bold"/>
                <a:cs typeface="Arimo Bold"/>
                <a:sym typeface="Arimo Bold"/>
              </a:rPr>
              <a:t>Reveal the answers</a:t>
            </a: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FFE1D0"/>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CCDBB2"/>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FFC6A5"/>
            </a:solidFill>
          </p:spPr>
        </p:sp>
      </p:grpSp>
      <p:grpSp>
        <p:nvGrpSpPr>
          <p:cNvPr name="Group 9" id="9"/>
          <p:cNvGrpSpPr/>
          <p:nvPr/>
        </p:nvGrpSpPr>
        <p:grpSpPr>
          <a:xfrm rot="0">
            <a:off x="991838" y="611505"/>
            <a:ext cx="3743325" cy="600075"/>
            <a:chOff x="0" y="0"/>
            <a:chExt cx="4991100" cy="800100"/>
          </a:xfrm>
        </p:grpSpPr>
        <p:sp>
          <p:nvSpPr>
            <p:cNvPr name="Freeform 10" id="10"/>
            <p:cNvSpPr/>
            <p:nvPr/>
          </p:nvSpPr>
          <p:spPr>
            <a:xfrm flipH="false" flipV="false" rot="0">
              <a:off x="0" y="0"/>
              <a:ext cx="4991100" cy="800100"/>
            </a:xfrm>
            <a:custGeom>
              <a:avLst/>
              <a:gdLst/>
              <a:ahLst/>
              <a:cxnLst/>
              <a:rect r="r" b="b" t="t" l="l"/>
              <a:pathLst>
                <a:path h="800100" w="4991100">
                  <a:moveTo>
                    <a:pt x="400050" y="0"/>
                  </a:moveTo>
                  <a:lnTo>
                    <a:pt x="4591050" y="0"/>
                  </a:lnTo>
                  <a:cubicBezTo>
                    <a:pt x="4812030" y="0"/>
                    <a:pt x="4991100" y="179070"/>
                    <a:pt x="4991100" y="400050"/>
                  </a:cubicBezTo>
                  <a:cubicBezTo>
                    <a:pt x="4991100" y="621030"/>
                    <a:pt x="4812030" y="800100"/>
                    <a:pt x="4591050" y="800100"/>
                  </a:cubicBezTo>
                  <a:lnTo>
                    <a:pt x="400050" y="800100"/>
                  </a:lnTo>
                  <a:cubicBezTo>
                    <a:pt x="179070" y="800100"/>
                    <a:pt x="0" y="621030"/>
                    <a:pt x="0" y="400050"/>
                  </a:cubicBezTo>
                  <a:cubicBezTo>
                    <a:pt x="0" y="179070"/>
                    <a:pt x="179070" y="0"/>
                    <a:pt x="400050" y="0"/>
                  </a:cubicBezTo>
                  <a:close/>
                </a:path>
              </a:pathLst>
            </a:custGeom>
            <a:solidFill>
              <a:srgbClr val="8C491A"/>
            </a:solidFill>
          </p:spPr>
        </p:sp>
        <p:sp>
          <p:nvSpPr>
            <p:cNvPr name="TextBox 11" id="11"/>
            <p:cNvSpPr txBox="true"/>
            <p:nvPr/>
          </p:nvSpPr>
          <p:spPr>
            <a:xfrm>
              <a:off x="0" y="-76200"/>
              <a:ext cx="49911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EXERCISE 6.1 · Q5 &amp; Q6</a:t>
              </a:r>
            </a:p>
          </p:txBody>
        </p:sp>
      </p:grpSp>
      <p:sp>
        <p:nvSpPr>
          <p:cNvPr name="TextBox 12" id="12"/>
          <p:cNvSpPr txBox="true"/>
          <p:nvPr/>
        </p:nvSpPr>
        <p:spPr>
          <a:xfrm rot="0">
            <a:off x="4925282" y="630555"/>
            <a:ext cx="1552575" cy="485775"/>
          </a:xfrm>
          <a:prstGeom prst="rect">
            <a:avLst/>
          </a:prstGeom>
        </p:spPr>
        <p:txBody>
          <a:bodyPr anchor="t" rtlCol="false" tIns="0" lIns="0" bIns="0" rIns="0">
            <a:spAutoFit/>
          </a:bodyPr>
          <a:lstStyle/>
          <a:p>
            <a:pPr algn="l">
              <a:lnSpc>
                <a:spcPts val="3255"/>
              </a:lnSpc>
            </a:pPr>
            <a:r>
              <a:rPr lang="en-US" b="true" sz="2100">
                <a:solidFill>
                  <a:srgbClr val="3D472B"/>
                </a:solidFill>
                <a:latin typeface="Arimo Bold"/>
                <a:ea typeface="Arimo Bold"/>
                <a:cs typeface="Arimo Bold"/>
                <a:sym typeface="Arimo Bold"/>
              </a:rPr>
              <a:t>6.1 · Practice</a:t>
            </a:r>
          </a:p>
        </p:txBody>
      </p:sp>
      <p:sp>
        <p:nvSpPr>
          <p:cNvPr name="TextBox 13" id="13"/>
          <p:cNvSpPr txBox="true"/>
          <p:nvPr/>
        </p:nvSpPr>
        <p:spPr>
          <a:xfrm rot="0">
            <a:off x="990600" y="1510189"/>
            <a:ext cx="16306800" cy="523875"/>
          </a:xfrm>
          <a:prstGeom prst="rect">
            <a:avLst/>
          </a:prstGeom>
        </p:spPr>
        <p:txBody>
          <a:bodyPr anchor="t" rtlCol="false" tIns="0" lIns="0" bIns="0" rIns="0">
            <a:spAutoFit/>
          </a:bodyPr>
          <a:lstStyle/>
          <a:p>
            <a:pPr algn="l">
              <a:lnSpc>
                <a:spcPts val="4524"/>
              </a:lnSpc>
            </a:pPr>
            <a:r>
              <a:rPr lang="en-US" b="true" sz="4350" spc="-86">
                <a:solidFill>
                  <a:srgbClr val="201E1D"/>
                </a:solidFill>
                <a:latin typeface="Arimo Bold"/>
                <a:ea typeface="Arimo Bold"/>
                <a:cs typeface="Arimo Bold"/>
                <a:sym typeface="Arimo Bold"/>
              </a:rPr>
              <a:t>Clear the fractions first</a:t>
            </a:r>
          </a:p>
        </p:txBody>
      </p:sp>
      <p:sp>
        <p:nvSpPr>
          <p:cNvPr name="TextBox 14" id="14"/>
          <p:cNvSpPr txBox="true"/>
          <p:nvPr/>
        </p:nvSpPr>
        <p:spPr>
          <a:xfrm rot="0">
            <a:off x="991838" y="2272284"/>
            <a:ext cx="428625" cy="561975"/>
          </a:xfrm>
          <a:prstGeom prst="rect">
            <a:avLst/>
          </a:prstGeom>
        </p:spPr>
        <p:txBody>
          <a:bodyPr anchor="t" rtlCol="false" tIns="0" lIns="0" bIns="0" rIns="0">
            <a:spAutoFit/>
          </a:bodyPr>
          <a:lstStyle/>
          <a:p>
            <a:pPr algn="l">
              <a:lnSpc>
                <a:spcPts val="3933"/>
              </a:lnSpc>
            </a:pPr>
            <a:r>
              <a:rPr lang="en-US" b="true" sz="2850">
                <a:solidFill>
                  <a:srgbClr val="8C491A"/>
                </a:solidFill>
                <a:latin typeface="Arimo Bold"/>
                <a:ea typeface="Arimo Bold"/>
                <a:cs typeface="Arimo Bold"/>
                <a:sym typeface="Arimo Bold"/>
              </a:rPr>
              <a:t>5d</a:t>
            </a:r>
          </a:p>
        </p:txBody>
      </p:sp>
      <p:sp>
        <p:nvSpPr>
          <p:cNvPr name="AutoShape 15" id="15"/>
          <p:cNvSpPr/>
          <p:nvPr/>
        </p:nvSpPr>
        <p:spPr>
          <a:xfrm rot="0">
            <a:off x="1601438" y="2605278"/>
            <a:ext cx="742950" cy="28575"/>
          </a:xfrm>
          <a:prstGeom prst="rect">
            <a:avLst/>
          </a:prstGeom>
          <a:solidFill>
            <a:srgbClr val="201E1D"/>
          </a:solidFill>
        </p:spPr>
      </p:sp>
      <p:sp>
        <p:nvSpPr>
          <p:cNvPr name="TextBox 16" id="16"/>
          <p:cNvSpPr txBox="true"/>
          <p:nvPr/>
        </p:nvSpPr>
        <p:spPr>
          <a:xfrm rot="0">
            <a:off x="1601438" y="2290953"/>
            <a:ext cx="742950" cy="342900"/>
          </a:xfrm>
          <a:prstGeom prst="rect">
            <a:avLst/>
          </a:prstGeom>
        </p:spPr>
        <p:txBody>
          <a:bodyPr anchor="t" rtlCol="false" tIns="0" lIns="0" bIns="0" rIns="0">
            <a:spAutoFit/>
          </a:bodyPr>
          <a:lstStyle/>
          <a:p>
            <a:pPr algn="l">
              <a:lnSpc>
                <a:spcPts val="2523"/>
              </a:lnSpc>
            </a:pPr>
            <a:r>
              <a:rPr lang="en-US" b="true" sz="2337">
                <a:solidFill>
                  <a:srgbClr val="201E1D"/>
                </a:solidFill>
                <a:latin typeface="Arimo Bold"/>
                <a:ea typeface="Arimo Bold"/>
                <a:cs typeface="Arimo Bold"/>
                <a:sym typeface="Arimo Bold"/>
              </a:rPr>
              <a:t>x + 3</a:t>
            </a:r>
          </a:p>
        </p:txBody>
      </p:sp>
      <p:sp>
        <p:nvSpPr>
          <p:cNvPr name="TextBox 17" id="17"/>
          <p:cNvSpPr txBox="true"/>
          <p:nvPr/>
        </p:nvSpPr>
        <p:spPr>
          <a:xfrm rot="0">
            <a:off x="1839563" y="2639949"/>
            <a:ext cx="266700" cy="314325"/>
          </a:xfrm>
          <a:prstGeom prst="rect">
            <a:avLst/>
          </a:prstGeom>
        </p:spPr>
        <p:txBody>
          <a:bodyPr anchor="t" rtlCol="false" tIns="0" lIns="0" bIns="0" rIns="0">
            <a:spAutoFit/>
          </a:bodyPr>
          <a:lstStyle/>
          <a:p>
            <a:pPr algn="l">
              <a:lnSpc>
                <a:spcPts val="2523"/>
              </a:lnSpc>
            </a:pPr>
            <a:r>
              <a:rPr lang="en-US" b="true" sz="2337">
                <a:solidFill>
                  <a:srgbClr val="201E1D"/>
                </a:solidFill>
                <a:latin typeface="Arimo Bold"/>
                <a:ea typeface="Arimo Bold"/>
                <a:cs typeface="Arimo Bold"/>
                <a:sym typeface="Arimo Bold"/>
              </a:rPr>
              <a:t>2</a:t>
            </a:r>
          </a:p>
        </p:txBody>
      </p:sp>
      <p:sp>
        <p:nvSpPr>
          <p:cNvPr name="TextBox 18" id="18"/>
          <p:cNvSpPr txBox="true"/>
          <p:nvPr/>
        </p:nvSpPr>
        <p:spPr>
          <a:xfrm rot="0">
            <a:off x="1572863" y="2887980"/>
            <a:ext cx="800100" cy="561975"/>
          </a:xfrm>
          <a:prstGeom prst="rect">
            <a:avLst/>
          </a:prstGeom>
        </p:spPr>
        <p:txBody>
          <a:bodyPr anchor="t" rtlCol="false" tIns="0" lIns="0" bIns="0" rIns="0">
            <a:spAutoFit/>
          </a:bodyPr>
          <a:lstStyle/>
          <a:p>
            <a:pPr algn="l">
              <a:lnSpc>
                <a:spcPts val="3933"/>
              </a:lnSpc>
            </a:pPr>
            <a:r>
              <a:rPr lang="en-US" b="true" sz="2850">
                <a:solidFill>
                  <a:srgbClr val="201E1D"/>
                </a:solidFill>
                <a:latin typeface="Arimo Bold"/>
                <a:ea typeface="Arimo Bold"/>
                <a:cs typeface="Arimo Bold"/>
                <a:sym typeface="Arimo Bold"/>
              </a:rPr>
              <a:t>= x</a:t>
            </a:r>
          </a:p>
        </p:txBody>
      </p:sp>
      <p:sp>
        <p:nvSpPr>
          <p:cNvPr name="TextBox 19" id="19"/>
          <p:cNvSpPr txBox="true"/>
          <p:nvPr/>
        </p:nvSpPr>
        <p:spPr>
          <a:xfrm rot="0">
            <a:off x="989743" y="3536442"/>
            <a:ext cx="419100" cy="561975"/>
          </a:xfrm>
          <a:prstGeom prst="rect">
            <a:avLst/>
          </a:prstGeom>
        </p:spPr>
        <p:txBody>
          <a:bodyPr anchor="t" rtlCol="false" tIns="0" lIns="0" bIns="0" rIns="0">
            <a:spAutoFit/>
          </a:bodyPr>
          <a:lstStyle/>
          <a:p>
            <a:pPr algn="l">
              <a:lnSpc>
                <a:spcPts val="3933"/>
              </a:lnSpc>
            </a:pPr>
            <a:r>
              <a:rPr lang="en-US" b="true" sz="2850">
                <a:solidFill>
                  <a:srgbClr val="8C491A"/>
                </a:solidFill>
                <a:latin typeface="Arimo Bold"/>
                <a:ea typeface="Arimo Bold"/>
                <a:cs typeface="Arimo Bold"/>
                <a:sym typeface="Arimo Bold"/>
              </a:rPr>
              <a:t>5e</a:t>
            </a:r>
          </a:p>
        </p:txBody>
      </p:sp>
      <p:sp>
        <p:nvSpPr>
          <p:cNvPr name="AutoShape 20" id="20"/>
          <p:cNvSpPr/>
          <p:nvPr/>
        </p:nvSpPr>
        <p:spPr>
          <a:xfrm rot="0">
            <a:off x="1591056" y="3869436"/>
            <a:ext cx="866775" cy="28575"/>
          </a:xfrm>
          <a:prstGeom prst="rect">
            <a:avLst/>
          </a:prstGeom>
          <a:solidFill>
            <a:srgbClr val="201E1D"/>
          </a:solidFill>
        </p:spPr>
      </p:sp>
      <p:sp>
        <p:nvSpPr>
          <p:cNvPr name="TextBox 21" id="21"/>
          <p:cNvSpPr txBox="true"/>
          <p:nvPr/>
        </p:nvSpPr>
        <p:spPr>
          <a:xfrm rot="0">
            <a:off x="1591056" y="3555111"/>
            <a:ext cx="866775" cy="342900"/>
          </a:xfrm>
          <a:prstGeom prst="rect">
            <a:avLst/>
          </a:prstGeom>
        </p:spPr>
        <p:txBody>
          <a:bodyPr anchor="t" rtlCol="false" tIns="0" lIns="0" bIns="0" rIns="0">
            <a:spAutoFit/>
          </a:bodyPr>
          <a:lstStyle/>
          <a:p>
            <a:pPr algn="l">
              <a:lnSpc>
                <a:spcPts val="2523"/>
              </a:lnSpc>
            </a:pPr>
            <a:r>
              <a:rPr lang="en-US" b="true" sz="2337">
                <a:solidFill>
                  <a:srgbClr val="201E1D"/>
                </a:solidFill>
                <a:latin typeface="Arimo Bold"/>
                <a:ea typeface="Arimo Bold"/>
                <a:cs typeface="Arimo Bold"/>
                <a:sym typeface="Arimo Bold"/>
              </a:rPr>
              <a:t>2x − 1</a:t>
            </a:r>
          </a:p>
        </p:txBody>
      </p:sp>
      <p:sp>
        <p:nvSpPr>
          <p:cNvPr name="TextBox 22" id="22"/>
          <p:cNvSpPr txBox="true"/>
          <p:nvPr/>
        </p:nvSpPr>
        <p:spPr>
          <a:xfrm rot="0">
            <a:off x="1895856" y="3904107"/>
            <a:ext cx="257175" cy="314325"/>
          </a:xfrm>
          <a:prstGeom prst="rect">
            <a:avLst/>
          </a:prstGeom>
        </p:spPr>
        <p:txBody>
          <a:bodyPr anchor="t" rtlCol="false" tIns="0" lIns="0" bIns="0" rIns="0">
            <a:spAutoFit/>
          </a:bodyPr>
          <a:lstStyle/>
          <a:p>
            <a:pPr algn="l">
              <a:lnSpc>
                <a:spcPts val="2523"/>
              </a:lnSpc>
            </a:pPr>
            <a:r>
              <a:rPr lang="en-US" b="true" sz="2337">
                <a:solidFill>
                  <a:srgbClr val="201E1D"/>
                </a:solidFill>
                <a:latin typeface="Arimo Bold"/>
                <a:ea typeface="Arimo Bold"/>
                <a:cs typeface="Arimo Bold"/>
                <a:sym typeface="Arimo Bold"/>
              </a:rPr>
              <a:t>3</a:t>
            </a:r>
          </a:p>
        </p:txBody>
      </p:sp>
      <p:sp>
        <p:nvSpPr>
          <p:cNvPr name="TextBox 23" id="23"/>
          <p:cNvSpPr txBox="true"/>
          <p:nvPr/>
        </p:nvSpPr>
        <p:spPr>
          <a:xfrm rot="0">
            <a:off x="1562481" y="4152138"/>
            <a:ext cx="923925" cy="561975"/>
          </a:xfrm>
          <a:prstGeom prst="rect">
            <a:avLst/>
          </a:prstGeom>
        </p:spPr>
        <p:txBody>
          <a:bodyPr anchor="t" rtlCol="false" tIns="0" lIns="0" bIns="0" rIns="0">
            <a:spAutoFit/>
          </a:bodyPr>
          <a:lstStyle/>
          <a:p>
            <a:pPr algn="l">
              <a:lnSpc>
                <a:spcPts val="3933"/>
              </a:lnSpc>
            </a:pPr>
            <a:r>
              <a:rPr lang="en-US" b="true" sz="2850">
                <a:solidFill>
                  <a:srgbClr val="201E1D"/>
                </a:solidFill>
                <a:latin typeface="Arimo Bold"/>
                <a:ea typeface="Arimo Bold"/>
                <a:cs typeface="Arimo Bold"/>
                <a:sym typeface="Arimo Bold"/>
              </a:rPr>
              <a:t>= 3x</a:t>
            </a:r>
          </a:p>
        </p:txBody>
      </p:sp>
      <p:sp>
        <p:nvSpPr>
          <p:cNvPr name="TextBox 24" id="24"/>
          <p:cNvSpPr txBox="true"/>
          <p:nvPr/>
        </p:nvSpPr>
        <p:spPr>
          <a:xfrm rot="0">
            <a:off x="6541770" y="2272284"/>
            <a:ext cx="409575" cy="561975"/>
          </a:xfrm>
          <a:prstGeom prst="rect">
            <a:avLst/>
          </a:prstGeom>
        </p:spPr>
        <p:txBody>
          <a:bodyPr anchor="t" rtlCol="false" tIns="0" lIns="0" bIns="0" rIns="0">
            <a:spAutoFit/>
          </a:bodyPr>
          <a:lstStyle/>
          <a:p>
            <a:pPr algn="l">
              <a:lnSpc>
                <a:spcPts val="3933"/>
              </a:lnSpc>
            </a:pPr>
            <a:r>
              <a:rPr lang="en-US" b="true" sz="2850">
                <a:solidFill>
                  <a:srgbClr val="8C491A"/>
                </a:solidFill>
                <a:latin typeface="Arimo Bold"/>
                <a:ea typeface="Arimo Bold"/>
                <a:cs typeface="Arimo Bold"/>
                <a:sym typeface="Arimo Bold"/>
              </a:rPr>
              <a:t>6a</a:t>
            </a:r>
          </a:p>
        </p:txBody>
      </p:sp>
      <p:sp>
        <p:nvSpPr>
          <p:cNvPr name="AutoShape 25" id="25"/>
          <p:cNvSpPr/>
          <p:nvPr/>
        </p:nvSpPr>
        <p:spPr>
          <a:xfrm rot="0">
            <a:off x="7134606" y="2605278"/>
            <a:ext cx="257175" cy="28575"/>
          </a:xfrm>
          <a:prstGeom prst="rect">
            <a:avLst/>
          </a:prstGeom>
          <a:solidFill>
            <a:srgbClr val="201E1D"/>
          </a:solidFill>
        </p:spPr>
      </p:sp>
      <p:sp>
        <p:nvSpPr>
          <p:cNvPr name="TextBox 26" id="26"/>
          <p:cNvSpPr txBox="true"/>
          <p:nvPr/>
        </p:nvSpPr>
        <p:spPr>
          <a:xfrm rot="0">
            <a:off x="7134606" y="2290953"/>
            <a:ext cx="257175" cy="342900"/>
          </a:xfrm>
          <a:prstGeom prst="rect">
            <a:avLst/>
          </a:prstGeom>
        </p:spPr>
        <p:txBody>
          <a:bodyPr anchor="t" rtlCol="false" tIns="0" lIns="0" bIns="0" rIns="0">
            <a:spAutoFit/>
          </a:bodyPr>
          <a:lstStyle/>
          <a:p>
            <a:pPr algn="l">
              <a:lnSpc>
                <a:spcPts val="2523"/>
              </a:lnSpc>
            </a:pPr>
            <a:r>
              <a:rPr lang="en-US" b="true" sz="2337">
                <a:solidFill>
                  <a:srgbClr val="201E1D"/>
                </a:solidFill>
                <a:latin typeface="Arimo Bold"/>
                <a:ea typeface="Arimo Bold"/>
                <a:cs typeface="Arimo Bold"/>
                <a:sym typeface="Arimo Bold"/>
              </a:rPr>
              <a:t>3</a:t>
            </a:r>
          </a:p>
        </p:txBody>
      </p:sp>
      <p:sp>
        <p:nvSpPr>
          <p:cNvPr name="TextBox 27" id="27"/>
          <p:cNvSpPr txBox="true"/>
          <p:nvPr/>
        </p:nvSpPr>
        <p:spPr>
          <a:xfrm rot="0">
            <a:off x="7139368" y="2639949"/>
            <a:ext cx="247650" cy="314325"/>
          </a:xfrm>
          <a:prstGeom prst="rect">
            <a:avLst/>
          </a:prstGeom>
        </p:spPr>
        <p:txBody>
          <a:bodyPr anchor="t" rtlCol="false" tIns="0" lIns="0" bIns="0" rIns="0">
            <a:spAutoFit/>
          </a:bodyPr>
          <a:lstStyle/>
          <a:p>
            <a:pPr algn="l">
              <a:lnSpc>
                <a:spcPts val="2523"/>
              </a:lnSpc>
            </a:pPr>
            <a:r>
              <a:rPr lang="en-US" b="true" sz="2337">
                <a:solidFill>
                  <a:srgbClr val="201E1D"/>
                </a:solidFill>
                <a:latin typeface="Arimo Bold"/>
                <a:ea typeface="Arimo Bold"/>
                <a:cs typeface="Arimo Bold"/>
                <a:sym typeface="Arimo Bold"/>
              </a:rPr>
              <a:t>x</a:t>
            </a:r>
          </a:p>
        </p:txBody>
      </p:sp>
      <p:sp>
        <p:nvSpPr>
          <p:cNvPr name="TextBox 28" id="28"/>
          <p:cNvSpPr txBox="true"/>
          <p:nvPr/>
        </p:nvSpPr>
        <p:spPr>
          <a:xfrm rot="0">
            <a:off x="7104412" y="2887980"/>
            <a:ext cx="838200" cy="561975"/>
          </a:xfrm>
          <a:prstGeom prst="rect">
            <a:avLst/>
          </a:prstGeom>
        </p:spPr>
        <p:txBody>
          <a:bodyPr anchor="t" rtlCol="false" tIns="0" lIns="0" bIns="0" rIns="0">
            <a:spAutoFit/>
          </a:bodyPr>
          <a:lstStyle/>
          <a:p>
            <a:pPr algn="l">
              <a:lnSpc>
                <a:spcPts val="3933"/>
              </a:lnSpc>
            </a:pPr>
            <a:r>
              <a:rPr lang="en-US" b="true" sz="2850">
                <a:solidFill>
                  <a:srgbClr val="201E1D"/>
                </a:solidFill>
                <a:latin typeface="Arimo Bold"/>
                <a:ea typeface="Arimo Bold"/>
                <a:cs typeface="Arimo Bold"/>
                <a:sym typeface="Arimo Bold"/>
              </a:rPr>
              <a:t>− 2 =</a:t>
            </a:r>
          </a:p>
        </p:txBody>
      </p:sp>
      <p:sp>
        <p:nvSpPr>
          <p:cNvPr name="AutoShape 29" id="29"/>
          <p:cNvSpPr/>
          <p:nvPr/>
        </p:nvSpPr>
        <p:spPr>
          <a:xfrm rot="0">
            <a:off x="7156514" y="3774186"/>
            <a:ext cx="219075" cy="28575"/>
          </a:xfrm>
          <a:prstGeom prst="rect">
            <a:avLst/>
          </a:prstGeom>
          <a:solidFill>
            <a:srgbClr val="201E1D"/>
          </a:solidFill>
        </p:spPr>
      </p:sp>
      <p:sp>
        <p:nvSpPr>
          <p:cNvPr name="TextBox 30" id="30"/>
          <p:cNvSpPr txBox="true"/>
          <p:nvPr/>
        </p:nvSpPr>
        <p:spPr>
          <a:xfrm rot="0">
            <a:off x="7156514" y="3459861"/>
            <a:ext cx="219075" cy="342900"/>
          </a:xfrm>
          <a:prstGeom prst="rect">
            <a:avLst/>
          </a:prstGeom>
        </p:spPr>
        <p:txBody>
          <a:bodyPr anchor="t" rtlCol="false" tIns="0" lIns="0" bIns="0" rIns="0">
            <a:spAutoFit/>
          </a:bodyPr>
          <a:lstStyle/>
          <a:p>
            <a:pPr algn="l">
              <a:lnSpc>
                <a:spcPts val="2523"/>
              </a:lnSpc>
            </a:pPr>
            <a:r>
              <a:rPr lang="en-US" b="true" sz="2337">
                <a:solidFill>
                  <a:srgbClr val="201E1D"/>
                </a:solidFill>
                <a:latin typeface="Arimo Bold"/>
                <a:ea typeface="Arimo Bold"/>
                <a:cs typeface="Arimo Bold"/>
                <a:sym typeface="Arimo Bold"/>
              </a:rPr>
              <a:t>1</a:t>
            </a:r>
          </a:p>
        </p:txBody>
      </p:sp>
      <p:sp>
        <p:nvSpPr>
          <p:cNvPr name="TextBox 31" id="31"/>
          <p:cNvSpPr txBox="true"/>
          <p:nvPr/>
        </p:nvSpPr>
        <p:spPr>
          <a:xfrm rot="0">
            <a:off x="7132796" y="3808857"/>
            <a:ext cx="266700" cy="314325"/>
          </a:xfrm>
          <a:prstGeom prst="rect">
            <a:avLst/>
          </a:prstGeom>
        </p:spPr>
        <p:txBody>
          <a:bodyPr anchor="t" rtlCol="false" tIns="0" lIns="0" bIns="0" rIns="0">
            <a:spAutoFit/>
          </a:bodyPr>
          <a:lstStyle/>
          <a:p>
            <a:pPr algn="l">
              <a:lnSpc>
                <a:spcPts val="2523"/>
              </a:lnSpc>
            </a:pPr>
            <a:r>
              <a:rPr lang="en-US" b="true" sz="2337">
                <a:solidFill>
                  <a:srgbClr val="201E1D"/>
                </a:solidFill>
                <a:latin typeface="Arimo Bold"/>
                <a:ea typeface="Arimo Bold"/>
                <a:cs typeface="Arimo Bold"/>
                <a:sym typeface="Arimo Bold"/>
              </a:rPr>
              <a:t>2</a:t>
            </a:r>
          </a:p>
        </p:txBody>
      </p:sp>
      <p:sp>
        <p:nvSpPr>
          <p:cNvPr name="TextBox 32" id="32"/>
          <p:cNvSpPr txBox="true"/>
          <p:nvPr/>
        </p:nvSpPr>
        <p:spPr>
          <a:xfrm rot="0">
            <a:off x="7104412" y="4056888"/>
            <a:ext cx="838200" cy="561975"/>
          </a:xfrm>
          <a:prstGeom prst="rect">
            <a:avLst/>
          </a:prstGeom>
        </p:spPr>
        <p:txBody>
          <a:bodyPr anchor="t" rtlCol="false" tIns="0" lIns="0" bIns="0" rIns="0">
            <a:spAutoFit/>
          </a:bodyPr>
          <a:lstStyle/>
          <a:p>
            <a:pPr algn="l">
              <a:lnSpc>
                <a:spcPts val="3933"/>
              </a:lnSpc>
            </a:pPr>
            <a:r>
              <a:rPr lang="en-US" b="true" sz="2850">
                <a:solidFill>
                  <a:srgbClr val="201E1D"/>
                </a:solidFill>
                <a:latin typeface="Arimo Bold"/>
                <a:ea typeface="Arimo Bold"/>
                <a:cs typeface="Arimo Bold"/>
                <a:sym typeface="Arimo Bold"/>
              </a:rPr>
              <a:t>−</a:t>
            </a:r>
          </a:p>
        </p:txBody>
      </p:sp>
      <p:sp>
        <p:nvSpPr>
          <p:cNvPr name="AutoShape 33" id="33"/>
          <p:cNvSpPr/>
          <p:nvPr/>
        </p:nvSpPr>
        <p:spPr>
          <a:xfrm rot="0">
            <a:off x="7208710" y="4943094"/>
            <a:ext cx="266700" cy="28575"/>
          </a:xfrm>
          <a:prstGeom prst="rect">
            <a:avLst/>
          </a:prstGeom>
          <a:solidFill>
            <a:srgbClr val="201E1D"/>
          </a:solidFill>
        </p:spPr>
      </p:sp>
      <p:sp>
        <p:nvSpPr>
          <p:cNvPr name="TextBox 34" id="34"/>
          <p:cNvSpPr txBox="true"/>
          <p:nvPr/>
        </p:nvSpPr>
        <p:spPr>
          <a:xfrm rot="0">
            <a:off x="7208710" y="4628769"/>
            <a:ext cx="266700" cy="342900"/>
          </a:xfrm>
          <a:prstGeom prst="rect">
            <a:avLst/>
          </a:prstGeom>
        </p:spPr>
        <p:txBody>
          <a:bodyPr anchor="t" rtlCol="false" tIns="0" lIns="0" bIns="0" rIns="0">
            <a:spAutoFit/>
          </a:bodyPr>
          <a:lstStyle/>
          <a:p>
            <a:pPr algn="l">
              <a:lnSpc>
                <a:spcPts val="2523"/>
              </a:lnSpc>
            </a:pPr>
            <a:r>
              <a:rPr lang="en-US" b="true" sz="2337">
                <a:solidFill>
                  <a:srgbClr val="201E1D"/>
                </a:solidFill>
                <a:latin typeface="Arimo Bold"/>
                <a:ea typeface="Arimo Bold"/>
                <a:cs typeface="Arimo Bold"/>
                <a:sym typeface="Arimo Bold"/>
              </a:rPr>
              <a:t>9</a:t>
            </a:r>
          </a:p>
        </p:txBody>
      </p:sp>
      <p:sp>
        <p:nvSpPr>
          <p:cNvPr name="TextBox 35" id="35"/>
          <p:cNvSpPr txBox="true"/>
          <p:nvPr/>
        </p:nvSpPr>
        <p:spPr>
          <a:xfrm rot="0">
            <a:off x="7132606" y="4977765"/>
            <a:ext cx="419100" cy="314325"/>
          </a:xfrm>
          <a:prstGeom prst="rect">
            <a:avLst/>
          </a:prstGeom>
        </p:spPr>
        <p:txBody>
          <a:bodyPr anchor="t" rtlCol="false" tIns="0" lIns="0" bIns="0" rIns="0">
            <a:spAutoFit/>
          </a:bodyPr>
          <a:lstStyle/>
          <a:p>
            <a:pPr algn="l">
              <a:lnSpc>
                <a:spcPts val="2523"/>
              </a:lnSpc>
            </a:pPr>
            <a:r>
              <a:rPr lang="en-US" b="true" sz="2337">
                <a:solidFill>
                  <a:srgbClr val="201E1D"/>
                </a:solidFill>
                <a:latin typeface="Arimo Bold"/>
                <a:ea typeface="Arimo Bold"/>
                <a:cs typeface="Arimo Bold"/>
                <a:sym typeface="Arimo Bold"/>
              </a:rPr>
              <a:t>2x</a:t>
            </a:r>
          </a:p>
        </p:txBody>
      </p:sp>
      <p:sp>
        <p:nvSpPr>
          <p:cNvPr name="TextBox 36" id="36"/>
          <p:cNvSpPr txBox="true"/>
          <p:nvPr/>
        </p:nvSpPr>
        <p:spPr>
          <a:xfrm rot="0">
            <a:off x="6538150" y="5374767"/>
            <a:ext cx="438150" cy="561975"/>
          </a:xfrm>
          <a:prstGeom prst="rect">
            <a:avLst/>
          </a:prstGeom>
        </p:spPr>
        <p:txBody>
          <a:bodyPr anchor="t" rtlCol="false" tIns="0" lIns="0" bIns="0" rIns="0">
            <a:spAutoFit/>
          </a:bodyPr>
          <a:lstStyle/>
          <a:p>
            <a:pPr algn="l">
              <a:lnSpc>
                <a:spcPts val="3933"/>
              </a:lnSpc>
            </a:pPr>
            <a:r>
              <a:rPr lang="en-US" b="true" sz="2850">
                <a:solidFill>
                  <a:srgbClr val="8C491A"/>
                </a:solidFill>
                <a:latin typeface="Arimo Bold"/>
                <a:ea typeface="Arimo Bold"/>
                <a:cs typeface="Arimo Bold"/>
                <a:sym typeface="Arimo Bold"/>
              </a:rPr>
              <a:t>6b</a:t>
            </a:r>
          </a:p>
        </p:txBody>
      </p:sp>
      <p:sp>
        <p:nvSpPr>
          <p:cNvPr name="AutoShape 37" id="37"/>
          <p:cNvSpPr/>
          <p:nvPr/>
        </p:nvSpPr>
        <p:spPr>
          <a:xfrm rot="0">
            <a:off x="7154132" y="5707761"/>
            <a:ext cx="266700" cy="28575"/>
          </a:xfrm>
          <a:prstGeom prst="rect">
            <a:avLst/>
          </a:prstGeom>
          <a:solidFill>
            <a:srgbClr val="201E1D"/>
          </a:solidFill>
        </p:spPr>
      </p:sp>
      <p:sp>
        <p:nvSpPr>
          <p:cNvPr name="TextBox 38" id="38"/>
          <p:cNvSpPr txBox="true"/>
          <p:nvPr/>
        </p:nvSpPr>
        <p:spPr>
          <a:xfrm rot="0">
            <a:off x="7154132" y="5393436"/>
            <a:ext cx="266700" cy="342900"/>
          </a:xfrm>
          <a:prstGeom prst="rect">
            <a:avLst/>
          </a:prstGeom>
        </p:spPr>
        <p:txBody>
          <a:bodyPr anchor="t" rtlCol="false" tIns="0" lIns="0" bIns="0" rIns="0">
            <a:spAutoFit/>
          </a:bodyPr>
          <a:lstStyle/>
          <a:p>
            <a:pPr algn="l">
              <a:lnSpc>
                <a:spcPts val="2523"/>
              </a:lnSpc>
            </a:pPr>
            <a:r>
              <a:rPr lang="en-US" b="true" sz="2337">
                <a:solidFill>
                  <a:srgbClr val="201E1D"/>
                </a:solidFill>
                <a:latin typeface="Arimo Bold"/>
                <a:ea typeface="Arimo Bold"/>
                <a:cs typeface="Arimo Bold"/>
                <a:sym typeface="Arimo Bold"/>
              </a:rPr>
              <a:t>2</a:t>
            </a:r>
          </a:p>
        </p:txBody>
      </p:sp>
      <p:sp>
        <p:nvSpPr>
          <p:cNvPr name="TextBox 39" id="39"/>
          <p:cNvSpPr txBox="true"/>
          <p:nvPr/>
        </p:nvSpPr>
        <p:spPr>
          <a:xfrm rot="0">
            <a:off x="7163657" y="5742432"/>
            <a:ext cx="247650" cy="314325"/>
          </a:xfrm>
          <a:prstGeom prst="rect">
            <a:avLst/>
          </a:prstGeom>
        </p:spPr>
        <p:txBody>
          <a:bodyPr anchor="t" rtlCol="false" tIns="0" lIns="0" bIns="0" rIns="0">
            <a:spAutoFit/>
          </a:bodyPr>
          <a:lstStyle/>
          <a:p>
            <a:pPr algn="l">
              <a:lnSpc>
                <a:spcPts val="2523"/>
              </a:lnSpc>
            </a:pPr>
            <a:r>
              <a:rPr lang="en-US" b="true" sz="2337">
                <a:solidFill>
                  <a:srgbClr val="201E1D"/>
                </a:solidFill>
                <a:latin typeface="Arimo Bold"/>
                <a:ea typeface="Arimo Bold"/>
                <a:cs typeface="Arimo Bold"/>
                <a:sym typeface="Arimo Bold"/>
              </a:rPr>
              <a:t>x</a:t>
            </a:r>
          </a:p>
        </p:txBody>
      </p:sp>
      <p:sp>
        <p:nvSpPr>
          <p:cNvPr name="TextBox 40" id="40"/>
          <p:cNvSpPr txBox="true"/>
          <p:nvPr/>
        </p:nvSpPr>
        <p:spPr>
          <a:xfrm rot="0">
            <a:off x="7125938" y="5990463"/>
            <a:ext cx="514350" cy="561975"/>
          </a:xfrm>
          <a:prstGeom prst="rect">
            <a:avLst/>
          </a:prstGeom>
        </p:spPr>
        <p:txBody>
          <a:bodyPr anchor="t" rtlCol="false" tIns="0" lIns="0" bIns="0" rIns="0">
            <a:spAutoFit/>
          </a:bodyPr>
          <a:lstStyle/>
          <a:p>
            <a:pPr algn="l">
              <a:lnSpc>
                <a:spcPts val="3933"/>
              </a:lnSpc>
            </a:pPr>
            <a:r>
              <a:rPr lang="en-US" b="true" sz="2850">
                <a:solidFill>
                  <a:srgbClr val="201E1D"/>
                </a:solidFill>
                <a:latin typeface="Arimo Bold"/>
                <a:ea typeface="Arimo Bold"/>
                <a:cs typeface="Arimo Bold"/>
                <a:sym typeface="Arimo Bold"/>
              </a:rPr>
              <a:t>+</a:t>
            </a:r>
          </a:p>
        </p:txBody>
      </p:sp>
      <p:sp>
        <p:nvSpPr>
          <p:cNvPr name="AutoShape 41" id="41"/>
          <p:cNvSpPr/>
          <p:nvPr/>
        </p:nvSpPr>
        <p:spPr>
          <a:xfrm rot="0">
            <a:off x="7234714" y="6876669"/>
            <a:ext cx="257175" cy="28575"/>
          </a:xfrm>
          <a:prstGeom prst="rect">
            <a:avLst/>
          </a:prstGeom>
          <a:solidFill>
            <a:srgbClr val="201E1D"/>
          </a:solidFill>
        </p:spPr>
      </p:sp>
      <p:sp>
        <p:nvSpPr>
          <p:cNvPr name="TextBox 42" id="42"/>
          <p:cNvSpPr txBox="true"/>
          <p:nvPr/>
        </p:nvSpPr>
        <p:spPr>
          <a:xfrm rot="0">
            <a:off x="7234714" y="6562344"/>
            <a:ext cx="257175" cy="342900"/>
          </a:xfrm>
          <a:prstGeom prst="rect">
            <a:avLst/>
          </a:prstGeom>
        </p:spPr>
        <p:txBody>
          <a:bodyPr anchor="t" rtlCol="false" tIns="0" lIns="0" bIns="0" rIns="0">
            <a:spAutoFit/>
          </a:bodyPr>
          <a:lstStyle/>
          <a:p>
            <a:pPr algn="l">
              <a:lnSpc>
                <a:spcPts val="2523"/>
              </a:lnSpc>
            </a:pPr>
            <a:r>
              <a:rPr lang="en-US" b="true" sz="2337">
                <a:solidFill>
                  <a:srgbClr val="201E1D"/>
                </a:solidFill>
                <a:latin typeface="Arimo Bold"/>
                <a:ea typeface="Arimo Bold"/>
                <a:cs typeface="Arimo Bold"/>
                <a:sym typeface="Arimo Bold"/>
              </a:rPr>
              <a:t>3</a:t>
            </a:r>
          </a:p>
        </p:txBody>
      </p:sp>
      <p:sp>
        <p:nvSpPr>
          <p:cNvPr name="TextBox 43" id="43"/>
          <p:cNvSpPr txBox="true"/>
          <p:nvPr/>
        </p:nvSpPr>
        <p:spPr>
          <a:xfrm rot="0">
            <a:off x="7153846" y="6911340"/>
            <a:ext cx="419100" cy="314325"/>
          </a:xfrm>
          <a:prstGeom prst="rect">
            <a:avLst/>
          </a:prstGeom>
        </p:spPr>
        <p:txBody>
          <a:bodyPr anchor="t" rtlCol="false" tIns="0" lIns="0" bIns="0" rIns="0">
            <a:spAutoFit/>
          </a:bodyPr>
          <a:lstStyle/>
          <a:p>
            <a:pPr algn="l">
              <a:lnSpc>
                <a:spcPts val="2523"/>
              </a:lnSpc>
            </a:pPr>
            <a:r>
              <a:rPr lang="en-US" b="true" sz="2337">
                <a:solidFill>
                  <a:srgbClr val="201E1D"/>
                </a:solidFill>
                <a:latin typeface="Arimo Bold"/>
                <a:ea typeface="Arimo Bold"/>
                <a:cs typeface="Arimo Bold"/>
                <a:sym typeface="Arimo Bold"/>
              </a:rPr>
              <a:t>2x</a:t>
            </a:r>
          </a:p>
        </p:txBody>
      </p:sp>
      <p:sp>
        <p:nvSpPr>
          <p:cNvPr name="TextBox 44" id="44"/>
          <p:cNvSpPr txBox="true"/>
          <p:nvPr/>
        </p:nvSpPr>
        <p:spPr>
          <a:xfrm rot="0">
            <a:off x="7125938" y="7159371"/>
            <a:ext cx="514350" cy="561975"/>
          </a:xfrm>
          <a:prstGeom prst="rect">
            <a:avLst/>
          </a:prstGeom>
        </p:spPr>
        <p:txBody>
          <a:bodyPr anchor="t" rtlCol="false" tIns="0" lIns="0" bIns="0" rIns="0">
            <a:spAutoFit/>
          </a:bodyPr>
          <a:lstStyle/>
          <a:p>
            <a:pPr algn="l">
              <a:lnSpc>
                <a:spcPts val="3933"/>
              </a:lnSpc>
            </a:pPr>
            <a:r>
              <a:rPr lang="en-US" b="true" sz="2850">
                <a:solidFill>
                  <a:srgbClr val="201E1D"/>
                </a:solidFill>
                <a:latin typeface="Arimo Bold"/>
                <a:ea typeface="Arimo Bold"/>
                <a:cs typeface="Arimo Bold"/>
                <a:sym typeface="Arimo Bold"/>
              </a:rPr>
              <a:t>= 7</a:t>
            </a:r>
          </a:p>
        </p:txBody>
      </p:sp>
      <p:sp>
        <p:nvSpPr>
          <p:cNvPr name="TextBox 45" id="45"/>
          <p:cNvSpPr txBox="true"/>
          <p:nvPr/>
        </p:nvSpPr>
        <p:spPr>
          <a:xfrm rot="0">
            <a:off x="12087987" y="2272284"/>
            <a:ext cx="438150" cy="561975"/>
          </a:xfrm>
          <a:prstGeom prst="rect">
            <a:avLst/>
          </a:prstGeom>
        </p:spPr>
        <p:txBody>
          <a:bodyPr anchor="t" rtlCol="false" tIns="0" lIns="0" bIns="0" rIns="0">
            <a:spAutoFit/>
          </a:bodyPr>
          <a:lstStyle/>
          <a:p>
            <a:pPr algn="l">
              <a:lnSpc>
                <a:spcPts val="3933"/>
              </a:lnSpc>
            </a:pPr>
            <a:r>
              <a:rPr lang="en-US" b="true" sz="2850">
                <a:solidFill>
                  <a:srgbClr val="8C491A"/>
                </a:solidFill>
                <a:latin typeface="Arimo Bold"/>
                <a:ea typeface="Arimo Bold"/>
                <a:cs typeface="Arimo Bold"/>
                <a:sym typeface="Arimo Bold"/>
              </a:rPr>
              <a:t>6d</a:t>
            </a:r>
          </a:p>
        </p:txBody>
      </p:sp>
      <p:sp>
        <p:nvSpPr>
          <p:cNvPr name="AutoShape 46" id="46"/>
          <p:cNvSpPr/>
          <p:nvPr/>
        </p:nvSpPr>
        <p:spPr>
          <a:xfrm rot="0">
            <a:off x="12702921" y="2605278"/>
            <a:ext cx="704850" cy="28575"/>
          </a:xfrm>
          <a:prstGeom prst="rect">
            <a:avLst/>
          </a:prstGeom>
          <a:solidFill>
            <a:srgbClr val="201E1D"/>
          </a:solidFill>
        </p:spPr>
      </p:sp>
      <p:sp>
        <p:nvSpPr>
          <p:cNvPr name="TextBox 47" id="47"/>
          <p:cNvSpPr txBox="true"/>
          <p:nvPr/>
        </p:nvSpPr>
        <p:spPr>
          <a:xfrm rot="0">
            <a:off x="12702921" y="2290953"/>
            <a:ext cx="704850" cy="342900"/>
          </a:xfrm>
          <a:prstGeom prst="rect">
            <a:avLst/>
          </a:prstGeom>
        </p:spPr>
        <p:txBody>
          <a:bodyPr anchor="t" rtlCol="false" tIns="0" lIns="0" bIns="0" rIns="0">
            <a:spAutoFit/>
          </a:bodyPr>
          <a:lstStyle/>
          <a:p>
            <a:pPr algn="l">
              <a:lnSpc>
                <a:spcPts val="2523"/>
              </a:lnSpc>
            </a:pPr>
            <a:r>
              <a:rPr lang="en-US" b="true" sz="2337">
                <a:solidFill>
                  <a:srgbClr val="201E1D"/>
                </a:solidFill>
                <a:latin typeface="Arimo Bold"/>
                <a:ea typeface="Arimo Bold"/>
                <a:cs typeface="Arimo Bold"/>
                <a:sym typeface="Arimo Bold"/>
              </a:rPr>
              <a:t>x − 1</a:t>
            </a:r>
          </a:p>
        </p:txBody>
      </p:sp>
      <p:sp>
        <p:nvSpPr>
          <p:cNvPr name="TextBox 48" id="48"/>
          <p:cNvSpPr txBox="true"/>
          <p:nvPr/>
        </p:nvSpPr>
        <p:spPr>
          <a:xfrm rot="0">
            <a:off x="12850558" y="2639949"/>
            <a:ext cx="409575" cy="314325"/>
          </a:xfrm>
          <a:prstGeom prst="rect">
            <a:avLst/>
          </a:prstGeom>
        </p:spPr>
        <p:txBody>
          <a:bodyPr anchor="t" rtlCol="false" tIns="0" lIns="0" bIns="0" rIns="0">
            <a:spAutoFit/>
          </a:bodyPr>
          <a:lstStyle/>
          <a:p>
            <a:pPr algn="l">
              <a:lnSpc>
                <a:spcPts val="2523"/>
              </a:lnSpc>
            </a:pPr>
            <a:r>
              <a:rPr lang="en-US" b="true" sz="2337">
                <a:solidFill>
                  <a:srgbClr val="201E1D"/>
                </a:solidFill>
                <a:latin typeface="Arimo Bold"/>
                <a:ea typeface="Arimo Bold"/>
                <a:cs typeface="Arimo Bold"/>
                <a:sym typeface="Arimo Bold"/>
              </a:rPr>
              <a:t>3x</a:t>
            </a:r>
          </a:p>
        </p:txBody>
      </p:sp>
      <p:sp>
        <p:nvSpPr>
          <p:cNvPr name="TextBox 49" id="49"/>
          <p:cNvSpPr txBox="true"/>
          <p:nvPr/>
        </p:nvSpPr>
        <p:spPr>
          <a:xfrm rot="0">
            <a:off x="12674918" y="2887980"/>
            <a:ext cx="800100" cy="561975"/>
          </a:xfrm>
          <a:prstGeom prst="rect">
            <a:avLst/>
          </a:prstGeom>
        </p:spPr>
        <p:txBody>
          <a:bodyPr anchor="t" rtlCol="false" tIns="0" lIns="0" bIns="0" rIns="0">
            <a:spAutoFit/>
          </a:bodyPr>
          <a:lstStyle/>
          <a:p>
            <a:pPr algn="l">
              <a:lnSpc>
                <a:spcPts val="3933"/>
              </a:lnSpc>
            </a:pPr>
            <a:r>
              <a:rPr lang="en-US" b="true" sz="2850">
                <a:solidFill>
                  <a:srgbClr val="201E1D"/>
                </a:solidFill>
                <a:latin typeface="Arimo Bold"/>
                <a:ea typeface="Arimo Bold"/>
                <a:cs typeface="Arimo Bold"/>
                <a:sym typeface="Arimo Bold"/>
              </a:rPr>
              <a:t>−</a:t>
            </a:r>
          </a:p>
        </p:txBody>
      </p:sp>
      <p:sp>
        <p:nvSpPr>
          <p:cNvPr name="AutoShape 50" id="50"/>
          <p:cNvSpPr/>
          <p:nvPr/>
        </p:nvSpPr>
        <p:spPr>
          <a:xfrm rot="0">
            <a:off x="12727972" y="3774186"/>
            <a:ext cx="219075" cy="28575"/>
          </a:xfrm>
          <a:prstGeom prst="rect">
            <a:avLst/>
          </a:prstGeom>
          <a:solidFill>
            <a:srgbClr val="201E1D"/>
          </a:solidFill>
        </p:spPr>
      </p:sp>
      <p:sp>
        <p:nvSpPr>
          <p:cNvPr name="TextBox 51" id="51"/>
          <p:cNvSpPr txBox="true"/>
          <p:nvPr/>
        </p:nvSpPr>
        <p:spPr>
          <a:xfrm rot="0">
            <a:off x="12727972" y="3459861"/>
            <a:ext cx="219075" cy="342900"/>
          </a:xfrm>
          <a:prstGeom prst="rect">
            <a:avLst/>
          </a:prstGeom>
        </p:spPr>
        <p:txBody>
          <a:bodyPr anchor="t" rtlCol="false" tIns="0" lIns="0" bIns="0" rIns="0">
            <a:spAutoFit/>
          </a:bodyPr>
          <a:lstStyle/>
          <a:p>
            <a:pPr algn="l">
              <a:lnSpc>
                <a:spcPts val="2523"/>
              </a:lnSpc>
            </a:pPr>
            <a:r>
              <a:rPr lang="en-US" b="true" sz="2337">
                <a:solidFill>
                  <a:srgbClr val="201E1D"/>
                </a:solidFill>
                <a:latin typeface="Arimo Bold"/>
                <a:ea typeface="Arimo Bold"/>
                <a:cs typeface="Arimo Bold"/>
                <a:sym typeface="Arimo Bold"/>
              </a:rPr>
              <a:t>1</a:t>
            </a:r>
          </a:p>
        </p:txBody>
      </p:sp>
      <p:sp>
        <p:nvSpPr>
          <p:cNvPr name="TextBox 52" id="52"/>
          <p:cNvSpPr txBox="true"/>
          <p:nvPr/>
        </p:nvSpPr>
        <p:spPr>
          <a:xfrm rot="0">
            <a:off x="12704159" y="3808857"/>
            <a:ext cx="266700" cy="314325"/>
          </a:xfrm>
          <a:prstGeom prst="rect">
            <a:avLst/>
          </a:prstGeom>
        </p:spPr>
        <p:txBody>
          <a:bodyPr anchor="t" rtlCol="false" tIns="0" lIns="0" bIns="0" rIns="0">
            <a:spAutoFit/>
          </a:bodyPr>
          <a:lstStyle/>
          <a:p>
            <a:pPr algn="l">
              <a:lnSpc>
                <a:spcPts val="2523"/>
              </a:lnSpc>
            </a:pPr>
            <a:r>
              <a:rPr lang="en-US" b="true" sz="2337">
                <a:solidFill>
                  <a:srgbClr val="201E1D"/>
                </a:solidFill>
                <a:latin typeface="Arimo Bold"/>
                <a:ea typeface="Arimo Bold"/>
                <a:cs typeface="Arimo Bold"/>
                <a:sym typeface="Arimo Bold"/>
              </a:rPr>
              <a:t>9</a:t>
            </a:r>
          </a:p>
        </p:txBody>
      </p:sp>
      <p:sp>
        <p:nvSpPr>
          <p:cNvPr name="TextBox 53" id="53"/>
          <p:cNvSpPr txBox="true"/>
          <p:nvPr/>
        </p:nvSpPr>
        <p:spPr>
          <a:xfrm rot="0">
            <a:off x="12674918" y="4056888"/>
            <a:ext cx="800100" cy="561975"/>
          </a:xfrm>
          <a:prstGeom prst="rect">
            <a:avLst/>
          </a:prstGeom>
        </p:spPr>
        <p:txBody>
          <a:bodyPr anchor="t" rtlCol="false" tIns="0" lIns="0" bIns="0" rIns="0">
            <a:spAutoFit/>
          </a:bodyPr>
          <a:lstStyle/>
          <a:p>
            <a:pPr algn="l">
              <a:lnSpc>
                <a:spcPts val="3933"/>
              </a:lnSpc>
            </a:pPr>
            <a:r>
              <a:rPr lang="en-US" b="true" sz="2850">
                <a:solidFill>
                  <a:srgbClr val="201E1D"/>
                </a:solidFill>
                <a:latin typeface="Arimo Bold"/>
                <a:ea typeface="Arimo Bold"/>
                <a:cs typeface="Arimo Bold"/>
                <a:sym typeface="Arimo Bold"/>
              </a:rPr>
              <a:t>=</a:t>
            </a:r>
          </a:p>
        </p:txBody>
      </p:sp>
      <p:sp>
        <p:nvSpPr>
          <p:cNvPr name="AutoShape 54" id="54"/>
          <p:cNvSpPr/>
          <p:nvPr/>
        </p:nvSpPr>
        <p:spPr>
          <a:xfrm rot="0">
            <a:off x="12703493" y="4943094"/>
            <a:ext cx="742950" cy="28575"/>
          </a:xfrm>
          <a:prstGeom prst="rect">
            <a:avLst/>
          </a:prstGeom>
          <a:solidFill>
            <a:srgbClr val="201E1D"/>
          </a:solidFill>
        </p:spPr>
      </p:sp>
      <p:sp>
        <p:nvSpPr>
          <p:cNvPr name="TextBox 55" id="55"/>
          <p:cNvSpPr txBox="true"/>
          <p:nvPr/>
        </p:nvSpPr>
        <p:spPr>
          <a:xfrm rot="0">
            <a:off x="12703493" y="4628769"/>
            <a:ext cx="742950" cy="342900"/>
          </a:xfrm>
          <a:prstGeom prst="rect">
            <a:avLst/>
          </a:prstGeom>
        </p:spPr>
        <p:txBody>
          <a:bodyPr anchor="t" rtlCol="false" tIns="0" lIns="0" bIns="0" rIns="0">
            <a:spAutoFit/>
          </a:bodyPr>
          <a:lstStyle/>
          <a:p>
            <a:pPr algn="l">
              <a:lnSpc>
                <a:spcPts val="2523"/>
              </a:lnSpc>
            </a:pPr>
            <a:r>
              <a:rPr lang="en-US" b="true" sz="2337">
                <a:solidFill>
                  <a:srgbClr val="201E1D"/>
                </a:solidFill>
                <a:latin typeface="Arimo Bold"/>
                <a:ea typeface="Arimo Bold"/>
                <a:cs typeface="Arimo Bold"/>
                <a:sym typeface="Arimo Bold"/>
              </a:rPr>
              <a:t>x − 3</a:t>
            </a:r>
          </a:p>
        </p:txBody>
      </p:sp>
      <p:sp>
        <p:nvSpPr>
          <p:cNvPr name="TextBox 56" id="56"/>
          <p:cNvSpPr txBox="true"/>
          <p:nvPr/>
        </p:nvSpPr>
        <p:spPr>
          <a:xfrm rot="0">
            <a:off x="12865322" y="4977765"/>
            <a:ext cx="419100" cy="314325"/>
          </a:xfrm>
          <a:prstGeom prst="rect">
            <a:avLst/>
          </a:prstGeom>
        </p:spPr>
        <p:txBody>
          <a:bodyPr anchor="t" rtlCol="false" tIns="0" lIns="0" bIns="0" rIns="0">
            <a:spAutoFit/>
          </a:bodyPr>
          <a:lstStyle/>
          <a:p>
            <a:pPr algn="l">
              <a:lnSpc>
                <a:spcPts val="2523"/>
              </a:lnSpc>
            </a:pPr>
            <a:r>
              <a:rPr lang="en-US" b="true" sz="2337">
                <a:solidFill>
                  <a:srgbClr val="201E1D"/>
                </a:solidFill>
                <a:latin typeface="Arimo Bold"/>
                <a:ea typeface="Arimo Bold"/>
                <a:cs typeface="Arimo Bold"/>
                <a:sym typeface="Arimo Bold"/>
              </a:rPr>
              <a:t>9x</a:t>
            </a:r>
          </a:p>
        </p:txBody>
      </p:sp>
      <p:sp>
        <p:nvSpPr>
          <p:cNvPr name="TextBox 57" id="57"/>
          <p:cNvSpPr txBox="true"/>
          <p:nvPr/>
        </p:nvSpPr>
        <p:spPr>
          <a:xfrm rot="0">
            <a:off x="12091797" y="5374767"/>
            <a:ext cx="361950" cy="561975"/>
          </a:xfrm>
          <a:prstGeom prst="rect">
            <a:avLst/>
          </a:prstGeom>
        </p:spPr>
        <p:txBody>
          <a:bodyPr anchor="t" rtlCol="false" tIns="0" lIns="0" bIns="0" rIns="0">
            <a:spAutoFit/>
          </a:bodyPr>
          <a:lstStyle/>
          <a:p>
            <a:pPr algn="l">
              <a:lnSpc>
                <a:spcPts val="3933"/>
              </a:lnSpc>
            </a:pPr>
            <a:r>
              <a:rPr lang="en-US" b="true" sz="2850">
                <a:solidFill>
                  <a:srgbClr val="8C491A"/>
                </a:solidFill>
                <a:latin typeface="Arimo Bold"/>
                <a:ea typeface="Arimo Bold"/>
                <a:cs typeface="Arimo Bold"/>
                <a:sym typeface="Arimo Bold"/>
              </a:rPr>
              <a:t>6f</a:t>
            </a:r>
          </a:p>
        </p:txBody>
      </p:sp>
      <p:sp>
        <p:nvSpPr>
          <p:cNvPr name="AutoShape 58" id="58"/>
          <p:cNvSpPr/>
          <p:nvPr/>
        </p:nvSpPr>
        <p:spPr>
          <a:xfrm rot="0">
            <a:off x="12843986" y="5707761"/>
            <a:ext cx="285750" cy="28575"/>
          </a:xfrm>
          <a:prstGeom prst="rect">
            <a:avLst/>
          </a:prstGeom>
          <a:solidFill>
            <a:srgbClr val="201E1D"/>
          </a:solidFill>
        </p:spPr>
      </p:sp>
      <p:sp>
        <p:nvSpPr>
          <p:cNvPr name="TextBox 59" id="59"/>
          <p:cNvSpPr txBox="true"/>
          <p:nvPr/>
        </p:nvSpPr>
        <p:spPr>
          <a:xfrm rot="0">
            <a:off x="12843986" y="5393436"/>
            <a:ext cx="285750" cy="342900"/>
          </a:xfrm>
          <a:prstGeom prst="rect">
            <a:avLst/>
          </a:prstGeom>
        </p:spPr>
        <p:txBody>
          <a:bodyPr anchor="t" rtlCol="false" tIns="0" lIns="0" bIns="0" rIns="0">
            <a:spAutoFit/>
          </a:bodyPr>
          <a:lstStyle/>
          <a:p>
            <a:pPr algn="l">
              <a:lnSpc>
                <a:spcPts val="2523"/>
              </a:lnSpc>
            </a:pPr>
            <a:r>
              <a:rPr lang="en-US" b="true" sz="2337">
                <a:solidFill>
                  <a:srgbClr val="201E1D"/>
                </a:solidFill>
                <a:latin typeface="Arimo Bold"/>
                <a:ea typeface="Arimo Bold"/>
                <a:cs typeface="Arimo Bold"/>
                <a:sym typeface="Arimo Bold"/>
              </a:rPr>
              <a:t>4</a:t>
            </a:r>
          </a:p>
        </p:txBody>
      </p:sp>
      <p:sp>
        <p:nvSpPr>
          <p:cNvPr name="TextBox 60" id="60"/>
          <p:cNvSpPr txBox="true"/>
          <p:nvPr/>
        </p:nvSpPr>
        <p:spPr>
          <a:xfrm rot="0">
            <a:off x="12634436" y="5742432"/>
            <a:ext cx="704850" cy="314325"/>
          </a:xfrm>
          <a:prstGeom prst="rect">
            <a:avLst/>
          </a:prstGeom>
        </p:spPr>
        <p:txBody>
          <a:bodyPr anchor="t" rtlCol="false" tIns="0" lIns="0" bIns="0" rIns="0">
            <a:spAutoFit/>
          </a:bodyPr>
          <a:lstStyle/>
          <a:p>
            <a:pPr algn="l">
              <a:lnSpc>
                <a:spcPts val="2523"/>
              </a:lnSpc>
            </a:pPr>
            <a:r>
              <a:rPr lang="en-US" b="true" sz="2337">
                <a:solidFill>
                  <a:srgbClr val="201E1D"/>
                </a:solidFill>
                <a:latin typeface="Arimo Bold"/>
                <a:ea typeface="Arimo Bold"/>
                <a:cs typeface="Arimo Bold"/>
                <a:sym typeface="Arimo Bold"/>
              </a:rPr>
              <a:t>x + 1</a:t>
            </a:r>
          </a:p>
        </p:txBody>
      </p:sp>
      <p:sp>
        <p:nvSpPr>
          <p:cNvPr name="TextBox 61" id="61"/>
          <p:cNvSpPr txBox="true"/>
          <p:nvPr/>
        </p:nvSpPr>
        <p:spPr>
          <a:xfrm rot="0">
            <a:off x="12609386" y="5990463"/>
            <a:ext cx="800100" cy="561975"/>
          </a:xfrm>
          <a:prstGeom prst="rect">
            <a:avLst/>
          </a:prstGeom>
        </p:spPr>
        <p:txBody>
          <a:bodyPr anchor="t" rtlCol="false" tIns="0" lIns="0" bIns="0" rIns="0">
            <a:spAutoFit/>
          </a:bodyPr>
          <a:lstStyle/>
          <a:p>
            <a:pPr algn="l">
              <a:lnSpc>
                <a:spcPts val="3933"/>
              </a:lnSpc>
            </a:pPr>
            <a:r>
              <a:rPr lang="en-US" b="true" sz="2850">
                <a:solidFill>
                  <a:srgbClr val="201E1D"/>
                </a:solidFill>
                <a:latin typeface="Arimo Bold"/>
                <a:ea typeface="Arimo Bold"/>
                <a:cs typeface="Arimo Bold"/>
                <a:sym typeface="Arimo Bold"/>
              </a:rPr>
              <a:t>=</a:t>
            </a:r>
          </a:p>
        </p:txBody>
      </p:sp>
      <p:sp>
        <p:nvSpPr>
          <p:cNvPr name="AutoShape 62" id="62"/>
          <p:cNvSpPr/>
          <p:nvPr/>
        </p:nvSpPr>
        <p:spPr>
          <a:xfrm rot="0">
            <a:off x="12876086" y="6876669"/>
            <a:ext cx="266700" cy="28575"/>
          </a:xfrm>
          <a:prstGeom prst="rect">
            <a:avLst/>
          </a:prstGeom>
          <a:solidFill>
            <a:srgbClr val="201E1D"/>
          </a:solidFill>
        </p:spPr>
      </p:sp>
      <p:sp>
        <p:nvSpPr>
          <p:cNvPr name="TextBox 63" id="63"/>
          <p:cNvSpPr txBox="true"/>
          <p:nvPr/>
        </p:nvSpPr>
        <p:spPr>
          <a:xfrm rot="0">
            <a:off x="12876086" y="6562344"/>
            <a:ext cx="266700" cy="342900"/>
          </a:xfrm>
          <a:prstGeom prst="rect">
            <a:avLst/>
          </a:prstGeom>
        </p:spPr>
        <p:txBody>
          <a:bodyPr anchor="t" rtlCol="false" tIns="0" lIns="0" bIns="0" rIns="0">
            <a:spAutoFit/>
          </a:bodyPr>
          <a:lstStyle/>
          <a:p>
            <a:pPr algn="l">
              <a:lnSpc>
                <a:spcPts val="2523"/>
              </a:lnSpc>
            </a:pPr>
            <a:r>
              <a:rPr lang="en-US" b="true" sz="2337">
                <a:solidFill>
                  <a:srgbClr val="201E1D"/>
                </a:solidFill>
                <a:latin typeface="Arimo Bold"/>
                <a:ea typeface="Arimo Bold"/>
                <a:cs typeface="Arimo Bold"/>
                <a:sym typeface="Arimo Bold"/>
              </a:rPr>
              <a:t>5</a:t>
            </a:r>
          </a:p>
        </p:txBody>
      </p:sp>
      <p:sp>
        <p:nvSpPr>
          <p:cNvPr name="TextBox 64" id="64"/>
          <p:cNvSpPr txBox="true"/>
          <p:nvPr/>
        </p:nvSpPr>
        <p:spPr>
          <a:xfrm rot="0">
            <a:off x="12637960" y="6911340"/>
            <a:ext cx="742950" cy="314325"/>
          </a:xfrm>
          <a:prstGeom prst="rect">
            <a:avLst/>
          </a:prstGeom>
        </p:spPr>
        <p:txBody>
          <a:bodyPr anchor="t" rtlCol="false" tIns="0" lIns="0" bIns="0" rIns="0">
            <a:spAutoFit/>
          </a:bodyPr>
          <a:lstStyle/>
          <a:p>
            <a:pPr algn="l">
              <a:lnSpc>
                <a:spcPts val="2523"/>
              </a:lnSpc>
            </a:pPr>
            <a:r>
              <a:rPr lang="en-US" b="true" sz="2337">
                <a:solidFill>
                  <a:srgbClr val="201E1D"/>
                </a:solidFill>
                <a:latin typeface="Arimo Bold"/>
                <a:ea typeface="Arimo Bold"/>
                <a:cs typeface="Arimo Bold"/>
                <a:sym typeface="Arimo Bold"/>
              </a:rPr>
              <a:t>x − 2</a:t>
            </a:r>
          </a:p>
        </p:txBody>
      </p:sp>
      <p:grpSp>
        <p:nvGrpSpPr>
          <p:cNvPr name="Group 65" id="65"/>
          <p:cNvGrpSpPr/>
          <p:nvPr/>
        </p:nvGrpSpPr>
        <p:grpSpPr>
          <a:xfrm rot="0">
            <a:off x="1315117" y="8227409"/>
            <a:ext cx="5074920" cy="2286000"/>
            <a:chOff x="0" y="0"/>
            <a:chExt cx="6766560" cy="3048000"/>
          </a:xfrm>
        </p:grpSpPr>
        <p:sp>
          <p:nvSpPr>
            <p:cNvPr name="Freeform 66" id="66"/>
            <p:cNvSpPr/>
            <p:nvPr/>
          </p:nvSpPr>
          <p:spPr>
            <a:xfrm flipH="false" flipV="false" rot="0">
              <a:off x="0" y="0"/>
              <a:ext cx="6766560" cy="3048000"/>
            </a:xfrm>
            <a:custGeom>
              <a:avLst/>
              <a:gdLst/>
              <a:ahLst/>
              <a:cxnLst/>
              <a:rect r="r" b="b" t="t" l="l"/>
              <a:pathLst>
                <a:path h="3048000" w="6766560">
                  <a:moveTo>
                    <a:pt x="355600" y="0"/>
                  </a:moveTo>
                  <a:lnTo>
                    <a:pt x="6410960" y="0"/>
                  </a:lnTo>
                  <a:cubicBezTo>
                    <a:pt x="6607302" y="0"/>
                    <a:pt x="6766560" y="159258"/>
                    <a:pt x="6766560" y="355600"/>
                  </a:cubicBezTo>
                  <a:lnTo>
                    <a:pt x="6766560" y="2692400"/>
                  </a:lnTo>
                  <a:cubicBezTo>
                    <a:pt x="6766560" y="2888742"/>
                    <a:pt x="6607302" y="3048000"/>
                    <a:pt x="6410960" y="3048000"/>
                  </a:cubicBezTo>
                  <a:lnTo>
                    <a:pt x="355600" y="3048000"/>
                  </a:lnTo>
                  <a:cubicBezTo>
                    <a:pt x="159258" y="3048000"/>
                    <a:pt x="0" y="2888742"/>
                    <a:pt x="0" y="2692400"/>
                  </a:cubicBezTo>
                  <a:lnTo>
                    <a:pt x="0" y="355600"/>
                  </a:lnTo>
                  <a:cubicBezTo>
                    <a:pt x="0" y="159258"/>
                    <a:pt x="159258" y="0"/>
                    <a:pt x="355600" y="0"/>
                  </a:cubicBezTo>
                  <a:close/>
                </a:path>
              </a:pathLst>
            </a:custGeom>
            <a:solidFill>
              <a:srgbClr val="F0FAE1"/>
            </a:solidFill>
          </p:spPr>
        </p:sp>
        <p:sp>
          <p:nvSpPr>
            <p:cNvPr name="Freeform 67" id="67"/>
            <p:cNvSpPr/>
            <p:nvPr/>
          </p:nvSpPr>
          <p:spPr>
            <a:xfrm flipH="false" flipV="false" rot="0">
              <a:off x="0" y="0"/>
              <a:ext cx="6766560" cy="3048000"/>
            </a:xfrm>
            <a:custGeom>
              <a:avLst/>
              <a:gdLst/>
              <a:ahLst/>
              <a:cxnLst/>
              <a:rect r="r" b="b" t="t" l="l"/>
              <a:pathLst>
                <a:path h="3048000" w="6766560">
                  <a:moveTo>
                    <a:pt x="355600" y="0"/>
                  </a:moveTo>
                  <a:lnTo>
                    <a:pt x="6410960" y="0"/>
                  </a:lnTo>
                  <a:cubicBezTo>
                    <a:pt x="6607302" y="0"/>
                    <a:pt x="6766560" y="159258"/>
                    <a:pt x="6766560" y="355600"/>
                  </a:cubicBezTo>
                  <a:lnTo>
                    <a:pt x="6766560" y="2692400"/>
                  </a:lnTo>
                  <a:cubicBezTo>
                    <a:pt x="6766560" y="2888742"/>
                    <a:pt x="6607302" y="3048000"/>
                    <a:pt x="6410960" y="3048000"/>
                  </a:cubicBezTo>
                  <a:lnTo>
                    <a:pt x="355600" y="3048000"/>
                  </a:lnTo>
                  <a:cubicBezTo>
                    <a:pt x="159258" y="3048000"/>
                    <a:pt x="0" y="2888742"/>
                    <a:pt x="0" y="2692400"/>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68" id="68"/>
          <p:cNvSpPr txBox="true"/>
          <p:nvPr/>
        </p:nvSpPr>
        <p:spPr>
          <a:xfrm rot="0">
            <a:off x="1598581" y="8370951"/>
            <a:ext cx="4507992"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69" id="69"/>
          <p:cNvSpPr txBox="true"/>
          <p:nvPr/>
        </p:nvSpPr>
        <p:spPr>
          <a:xfrm rot="0">
            <a:off x="1600200" y="8724900"/>
            <a:ext cx="329184" cy="422529"/>
          </a:xfrm>
          <a:prstGeom prst="rect">
            <a:avLst/>
          </a:prstGeom>
        </p:spPr>
        <p:txBody>
          <a:bodyPr anchor="t" rtlCol="false" tIns="0" lIns="0" bIns="0" rIns="0">
            <a:spAutoFit/>
          </a:bodyPr>
          <a:lstStyle/>
          <a:p>
            <a:pPr algn="l">
              <a:lnSpc>
                <a:spcPts val="2937"/>
              </a:lnSpc>
            </a:pPr>
            <a:r>
              <a:rPr lang="en-US" b="true" sz="2160">
                <a:solidFill>
                  <a:srgbClr val="3D472B"/>
                </a:solidFill>
                <a:latin typeface="Arimo Bold"/>
                <a:ea typeface="Arimo Bold"/>
                <a:cs typeface="Arimo Bold"/>
                <a:sym typeface="Arimo Bold"/>
              </a:rPr>
              <a:t>5d</a:t>
            </a:r>
          </a:p>
        </p:txBody>
      </p:sp>
      <p:sp>
        <p:nvSpPr>
          <p:cNvPr name="TextBox 70" id="70"/>
          <p:cNvSpPr txBox="true"/>
          <p:nvPr/>
        </p:nvSpPr>
        <p:spPr>
          <a:xfrm rot="0">
            <a:off x="2074450" y="8724900"/>
            <a:ext cx="2203704" cy="422529"/>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x + 3 = 2x ⇒ x = 3</a:t>
            </a:r>
          </a:p>
        </p:txBody>
      </p:sp>
      <p:sp>
        <p:nvSpPr>
          <p:cNvPr name="TextBox 71" id="71"/>
          <p:cNvSpPr txBox="true"/>
          <p:nvPr/>
        </p:nvSpPr>
        <p:spPr>
          <a:xfrm rot="0">
            <a:off x="1600200" y="9152763"/>
            <a:ext cx="329184" cy="422529"/>
          </a:xfrm>
          <a:prstGeom prst="rect">
            <a:avLst/>
          </a:prstGeom>
        </p:spPr>
        <p:txBody>
          <a:bodyPr anchor="t" rtlCol="false" tIns="0" lIns="0" bIns="0" rIns="0">
            <a:spAutoFit/>
          </a:bodyPr>
          <a:lstStyle/>
          <a:p>
            <a:pPr algn="l">
              <a:lnSpc>
                <a:spcPts val="2937"/>
              </a:lnSpc>
            </a:pPr>
            <a:r>
              <a:rPr lang="en-US" b="true" sz="2160">
                <a:solidFill>
                  <a:srgbClr val="3D472B"/>
                </a:solidFill>
                <a:latin typeface="Arimo Bold"/>
                <a:ea typeface="Arimo Bold"/>
                <a:cs typeface="Arimo Bold"/>
                <a:sym typeface="Arimo Bold"/>
              </a:rPr>
              <a:t>5e</a:t>
            </a:r>
          </a:p>
        </p:txBody>
      </p:sp>
      <p:sp>
        <p:nvSpPr>
          <p:cNvPr name="TextBox 72" id="72"/>
          <p:cNvSpPr txBox="true"/>
          <p:nvPr/>
        </p:nvSpPr>
        <p:spPr>
          <a:xfrm rot="0">
            <a:off x="2074640" y="9152763"/>
            <a:ext cx="2724912" cy="422529"/>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2x − 1 = 9x ⇒ x = −1/7</a:t>
            </a:r>
          </a:p>
        </p:txBody>
      </p:sp>
      <p:grpSp>
        <p:nvGrpSpPr>
          <p:cNvPr name="Group 73" id="73"/>
          <p:cNvGrpSpPr/>
          <p:nvPr/>
        </p:nvGrpSpPr>
        <p:grpSpPr>
          <a:xfrm rot="0">
            <a:off x="6606445" y="8227409"/>
            <a:ext cx="5074920" cy="2286000"/>
            <a:chOff x="0" y="0"/>
            <a:chExt cx="6766560" cy="3048000"/>
          </a:xfrm>
        </p:grpSpPr>
        <p:sp>
          <p:nvSpPr>
            <p:cNvPr name="Freeform 74" id="74"/>
            <p:cNvSpPr/>
            <p:nvPr/>
          </p:nvSpPr>
          <p:spPr>
            <a:xfrm flipH="false" flipV="false" rot="0">
              <a:off x="0" y="0"/>
              <a:ext cx="6766560" cy="3048000"/>
            </a:xfrm>
            <a:custGeom>
              <a:avLst/>
              <a:gdLst/>
              <a:ahLst/>
              <a:cxnLst/>
              <a:rect r="r" b="b" t="t" l="l"/>
              <a:pathLst>
                <a:path h="3048000" w="6766560">
                  <a:moveTo>
                    <a:pt x="355600" y="0"/>
                  </a:moveTo>
                  <a:lnTo>
                    <a:pt x="6410960" y="0"/>
                  </a:lnTo>
                  <a:cubicBezTo>
                    <a:pt x="6607302" y="0"/>
                    <a:pt x="6766560" y="159258"/>
                    <a:pt x="6766560" y="355600"/>
                  </a:cubicBezTo>
                  <a:lnTo>
                    <a:pt x="6766560" y="2692400"/>
                  </a:lnTo>
                  <a:cubicBezTo>
                    <a:pt x="6766560" y="2888742"/>
                    <a:pt x="6607302" y="3048000"/>
                    <a:pt x="6410960" y="3048000"/>
                  </a:cubicBezTo>
                  <a:lnTo>
                    <a:pt x="355600" y="3048000"/>
                  </a:lnTo>
                  <a:cubicBezTo>
                    <a:pt x="159258" y="3048000"/>
                    <a:pt x="0" y="2888742"/>
                    <a:pt x="0" y="2692400"/>
                  </a:cubicBezTo>
                  <a:lnTo>
                    <a:pt x="0" y="355600"/>
                  </a:lnTo>
                  <a:cubicBezTo>
                    <a:pt x="0" y="159258"/>
                    <a:pt x="159258" y="0"/>
                    <a:pt x="355600" y="0"/>
                  </a:cubicBezTo>
                  <a:close/>
                </a:path>
              </a:pathLst>
            </a:custGeom>
            <a:solidFill>
              <a:srgbClr val="F0FAE1"/>
            </a:solidFill>
          </p:spPr>
        </p:sp>
        <p:sp>
          <p:nvSpPr>
            <p:cNvPr name="Freeform 75" id="75"/>
            <p:cNvSpPr/>
            <p:nvPr/>
          </p:nvSpPr>
          <p:spPr>
            <a:xfrm flipH="false" flipV="false" rot="0">
              <a:off x="0" y="0"/>
              <a:ext cx="6766560" cy="3048000"/>
            </a:xfrm>
            <a:custGeom>
              <a:avLst/>
              <a:gdLst/>
              <a:ahLst/>
              <a:cxnLst/>
              <a:rect r="r" b="b" t="t" l="l"/>
              <a:pathLst>
                <a:path h="3048000" w="6766560">
                  <a:moveTo>
                    <a:pt x="355600" y="0"/>
                  </a:moveTo>
                  <a:lnTo>
                    <a:pt x="6410960" y="0"/>
                  </a:lnTo>
                  <a:cubicBezTo>
                    <a:pt x="6607302" y="0"/>
                    <a:pt x="6766560" y="159258"/>
                    <a:pt x="6766560" y="355600"/>
                  </a:cubicBezTo>
                  <a:lnTo>
                    <a:pt x="6766560" y="2692400"/>
                  </a:lnTo>
                  <a:cubicBezTo>
                    <a:pt x="6766560" y="2888742"/>
                    <a:pt x="6607302" y="3048000"/>
                    <a:pt x="6410960" y="3048000"/>
                  </a:cubicBezTo>
                  <a:lnTo>
                    <a:pt x="355600" y="3048000"/>
                  </a:lnTo>
                  <a:cubicBezTo>
                    <a:pt x="159258" y="3048000"/>
                    <a:pt x="0" y="2888742"/>
                    <a:pt x="0" y="2692400"/>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76" id="76"/>
          <p:cNvSpPr txBox="true"/>
          <p:nvPr/>
        </p:nvSpPr>
        <p:spPr>
          <a:xfrm rot="0">
            <a:off x="6889909" y="8370951"/>
            <a:ext cx="4507992"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77" id="77"/>
          <p:cNvSpPr txBox="true"/>
          <p:nvPr/>
        </p:nvSpPr>
        <p:spPr>
          <a:xfrm rot="0">
            <a:off x="6891433" y="8724900"/>
            <a:ext cx="329184" cy="422529"/>
          </a:xfrm>
          <a:prstGeom prst="rect">
            <a:avLst/>
          </a:prstGeom>
        </p:spPr>
        <p:txBody>
          <a:bodyPr anchor="t" rtlCol="false" tIns="0" lIns="0" bIns="0" rIns="0">
            <a:spAutoFit/>
          </a:bodyPr>
          <a:lstStyle/>
          <a:p>
            <a:pPr algn="l">
              <a:lnSpc>
                <a:spcPts val="2937"/>
              </a:lnSpc>
            </a:pPr>
            <a:r>
              <a:rPr lang="en-US" b="true" sz="2160">
                <a:solidFill>
                  <a:srgbClr val="3D472B"/>
                </a:solidFill>
                <a:latin typeface="Arimo Bold"/>
                <a:ea typeface="Arimo Bold"/>
                <a:cs typeface="Arimo Bold"/>
                <a:sym typeface="Arimo Bold"/>
              </a:rPr>
              <a:t>6a</a:t>
            </a:r>
          </a:p>
        </p:txBody>
      </p:sp>
      <p:sp>
        <p:nvSpPr>
          <p:cNvPr name="TextBox 78" id="78"/>
          <p:cNvSpPr txBox="true"/>
          <p:nvPr/>
        </p:nvSpPr>
        <p:spPr>
          <a:xfrm rot="0">
            <a:off x="7366730" y="8724900"/>
            <a:ext cx="3364992" cy="422529"/>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 2x: 6 − 4x = x − 9 ⇒ x = 3</a:t>
            </a:r>
          </a:p>
        </p:txBody>
      </p:sp>
      <p:sp>
        <p:nvSpPr>
          <p:cNvPr name="TextBox 79" id="79"/>
          <p:cNvSpPr txBox="true"/>
          <p:nvPr/>
        </p:nvSpPr>
        <p:spPr>
          <a:xfrm rot="0">
            <a:off x="6891433" y="9152763"/>
            <a:ext cx="329184" cy="422529"/>
          </a:xfrm>
          <a:prstGeom prst="rect">
            <a:avLst/>
          </a:prstGeom>
        </p:spPr>
        <p:txBody>
          <a:bodyPr anchor="t" rtlCol="false" tIns="0" lIns="0" bIns="0" rIns="0">
            <a:spAutoFit/>
          </a:bodyPr>
          <a:lstStyle/>
          <a:p>
            <a:pPr algn="l">
              <a:lnSpc>
                <a:spcPts val="2937"/>
              </a:lnSpc>
            </a:pPr>
            <a:r>
              <a:rPr lang="en-US" b="true" sz="2160">
                <a:solidFill>
                  <a:srgbClr val="3D472B"/>
                </a:solidFill>
                <a:latin typeface="Arimo Bold"/>
                <a:ea typeface="Arimo Bold"/>
                <a:cs typeface="Arimo Bold"/>
                <a:sym typeface="Arimo Bold"/>
              </a:rPr>
              <a:t>6b</a:t>
            </a:r>
          </a:p>
        </p:txBody>
      </p:sp>
      <p:sp>
        <p:nvSpPr>
          <p:cNvPr name="TextBox 80" id="80"/>
          <p:cNvSpPr txBox="true"/>
          <p:nvPr/>
        </p:nvSpPr>
        <p:spPr>
          <a:xfrm rot="0">
            <a:off x="7367873" y="9152763"/>
            <a:ext cx="3127248" cy="422529"/>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 2x: 4 + 3 = 14x ⇒ x = ½</a:t>
            </a:r>
          </a:p>
        </p:txBody>
      </p:sp>
      <p:grpSp>
        <p:nvGrpSpPr>
          <p:cNvPr name="Group 81" id="81"/>
          <p:cNvGrpSpPr/>
          <p:nvPr/>
        </p:nvGrpSpPr>
        <p:grpSpPr>
          <a:xfrm rot="0">
            <a:off x="11897868" y="8227409"/>
            <a:ext cx="5074920" cy="2286000"/>
            <a:chOff x="0" y="0"/>
            <a:chExt cx="6766560" cy="3048000"/>
          </a:xfrm>
        </p:grpSpPr>
        <p:sp>
          <p:nvSpPr>
            <p:cNvPr name="Freeform 82" id="82"/>
            <p:cNvSpPr/>
            <p:nvPr/>
          </p:nvSpPr>
          <p:spPr>
            <a:xfrm flipH="false" flipV="false" rot="0">
              <a:off x="0" y="0"/>
              <a:ext cx="6766560" cy="3048000"/>
            </a:xfrm>
            <a:custGeom>
              <a:avLst/>
              <a:gdLst/>
              <a:ahLst/>
              <a:cxnLst/>
              <a:rect r="r" b="b" t="t" l="l"/>
              <a:pathLst>
                <a:path h="3048000" w="6766560">
                  <a:moveTo>
                    <a:pt x="355600" y="0"/>
                  </a:moveTo>
                  <a:lnTo>
                    <a:pt x="6410960" y="0"/>
                  </a:lnTo>
                  <a:cubicBezTo>
                    <a:pt x="6607302" y="0"/>
                    <a:pt x="6766560" y="159258"/>
                    <a:pt x="6766560" y="355600"/>
                  </a:cubicBezTo>
                  <a:lnTo>
                    <a:pt x="6766560" y="2692400"/>
                  </a:lnTo>
                  <a:cubicBezTo>
                    <a:pt x="6766560" y="2888742"/>
                    <a:pt x="6607302" y="3048000"/>
                    <a:pt x="6410960" y="3048000"/>
                  </a:cubicBezTo>
                  <a:lnTo>
                    <a:pt x="355600" y="3048000"/>
                  </a:lnTo>
                  <a:cubicBezTo>
                    <a:pt x="159258" y="3048000"/>
                    <a:pt x="0" y="2888742"/>
                    <a:pt x="0" y="2692400"/>
                  </a:cubicBezTo>
                  <a:lnTo>
                    <a:pt x="0" y="355600"/>
                  </a:lnTo>
                  <a:cubicBezTo>
                    <a:pt x="0" y="159258"/>
                    <a:pt x="159258" y="0"/>
                    <a:pt x="355600" y="0"/>
                  </a:cubicBezTo>
                  <a:close/>
                </a:path>
              </a:pathLst>
            </a:custGeom>
            <a:solidFill>
              <a:srgbClr val="F0FAE1"/>
            </a:solidFill>
          </p:spPr>
        </p:sp>
        <p:sp>
          <p:nvSpPr>
            <p:cNvPr name="Freeform 83" id="83"/>
            <p:cNvSpPr/>
            <p:nvPr/>
          </p:nvSpPr>
          <p:spPr>
            <a:xfrm flipH="false" flipV="false" rot="0">
              <a:off x="0" y="0"/>
              <a:ext cx="6766560" cy="3048000"/>
            </a:xfrm>
            <a:custGeom>
              <a:avLst/>
              <a:gdLst/>
              <a:ahLst/>
              <a:cxnLst/>
              <a:rect r="r" b="b" t="t" l="l"/>
              <a:pathLst>
                <a:path h="3048000" w="6766560">
                  <a:moveTo>
                    <a:pt x="355600" y="0"/>
                  </a:moveTo>
                  <a:lnTo>
                    <a:pt x="6410960" y="0"/>
                  </a:lnTo>
                  <a:cubicBezTo>
                    <a:pt x="6607302" y="0"/>
                    <a:pt x="6766560" y="159258"/>
                    <a:pt x="6766560" y="355600"/>
                  </a:cubicBezTo>
                  <a:lnTo>
                    <a:pt x="6766560" y="2692400"/>
                  </a:lnTo>
                  <a:cubicBezTo>
                    <a:pt x="6766560" y="2888742"/>
                    <a:pt x="6607302" y="3048000"/>
                    <a:pt x="6410960" y="3048000"/>
                  </a:cubicBezTo>
                  <a:lnTo>
                    <a:pt x="355600" y="3048000"/>
                  </a:lnTo>
                  <a:cubicBezTo>
                    <a:pt x="159258" y="3048000"/>
                    <a:pt x="0" y="2888742"/>
                    <a:pt x="0" y="2692400"/>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84" id="84"/>
          <p:cNvSpPr txBox="true"/>
          <p:nvPr/>
        </p:nvSpPr>
        <p:spPr>
          <a:xfrm rot="0">
            <a:off x="12181332" y="8370951"/>
            <a:ext cx="4507992"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85" id="85"/>
          <p:cNvSpPr txBox="true"/>
          <p:nvPr/>
        </p:nvSpPr>
        <p:spPr>
          <a:xfrm rot="0">
            <a:off x="12182761" y="8724900"/>
            <a:ext cx="329184" cy="422529"/>
          </a:xfrm>
          <a:prstGeom prst="rect">
            <a:avLst/>
          </a:prstGeom>
        </p:spPr>
        <p:txBody>
          <a:bodyPr anchor="t" rtlCol="false" tIns="0" lIns="0" bIns="0" rIns="0">
            <a:spAutoFit/>
          </a:bodyPr>
          <a:lstStyle/>
          <a:p>
            <a:pPr algn="l">
              <a:lnSpc>
                <a:spcPts val="2937"/>
              </a:lnSpc>
            </a:pPr>
            <a:r>
              <a:rPr lang="en-US" b="true" sz="2160">
                <a:solidFill>
                  <a:srgbClr val="3D472B"/>
                </a:solidFill>
                <a:latin typeface="Arimo Bold"/>
                <a:ea typeface="Arimo Bold"/>
                <a:cs typeface="Arimo Bold"/>
                <a:sym typeface="Arimo Bold"/>
              </a:rPr>
              <a:t>6d</a:t>
            </a:r>
          </a:p>
        </p:txBody>
      </p:sp>
      <p:sp>
        <p:nvSpPr>
          <p:cNvPr name="TextBox 86" id="86"/>
          <p:cNvSpPr txBox="true"/>
          <p:nvPr/>
        </p:nvSpPr>
        <p:spPr>
          <a:xfrm rot="0">
            <a:off x="12656820" y="8727567"/>
            <a:ext cx="4032504" cy="1163193"/>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 9x: 2x − 3 = x − 3 ⇒ x = 0, but x = 0 is not allowed, so no solution</a:t>
            </a:r>
          </a:p>
        </p:txBody>
      </p:sp>
      <p:sp>
        <p:nvSpPr>
          <p:cNvPr name="TextBox 87" id="87"/>
          <p:cNvSpPr txBox="true"/>
          <p:nvPr/>
        </p:nvSpPr>
        <p:spPr>
          <a:xfrm rot="0">
            <a:off x="12182761" y="9898856"/>
            <a:ext cx="329184" cy="422529"/>
          </a:xfrm>
          <a:prstGeom prst="rect">
            <a:avLst/>
          </a:prstGeom>
        </p:spPr>
        <p:txBody>
          <a:bodyPr anchor="t" rtlCol="false" tIns="0" lIns="0" bIns="0" rIns="0">
            <a:spAutoFit/>
          </a:bodyPr>
          <a:lstStyle/>
          <a:p>
            <a:pPr algn="l">
              <a:lnSpc>
                <a:spcPts val="2937"/>
              </a:lnSpc>
            </a:pPr>
            <a:r>
              <a:rPr lang="en-US" b="true" sz="2160">
                <a:solidFill>
                  <a:srgbClr val="3D472B"/>
                </a:solidFill>
                <a:latin typeface="Arimo Bold"/>
                <a:ea typeface="Arimo Bold"/>
                <a:cs typeface="Arimo Bold"/>
                <a:sym typeface="Arimo Bold"/>
              </a:rPr>
              <a:t>6f</a:t>
            </a:r>
          </a:p>
        </p:txBody>
      </p:sp>
      <p:sp>
        <p:nvSpPr>
          <p:cNvPr name="TextBox 88" id="88"/>
          <p:cNvSpPr txBox="true"/>
          <p:nvPr/>
        </p:nvSpPr>
        <p:spPr>
          <a:xfrm rot="0">
            <a:off x="12657106" y="9898856"/>
            <a:ext cx="3145536" cy="422529"/>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4x − 8 = 5x + 5 ⇒ x = −13</a:t>
            </a: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FFE1D0"/>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CCDBB2"/>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FFC6A5"/>
            </a:solidFill>
          </p:spPr>
        </p:sp>
      </p:grpSp>
      <p:grpSp>
        <p:nvGrpSpPr>
          <p:cNvPr name="Group 9" id="9"/>
          <p:cNvGrpSpPr/>
          <p:nvPr/>
        </p:nvGrpSpPr>
        <p:grpSpPr>
          <a:xfrm rot="0">
            <a:off x="992600" y="611505"/>
            <a:ext cx="2990850" cy="600075"/>
            <a:chOff x="0" y="0"/>
            <a:chExt cx="3987800" cy="800100"/>
          </a:xfrm>
        </p:grpSpPr>
        <p:sp>
          <p:nvSpPr>
            <p:cNvPr name="Freeform 10" id="10"/>
            <p:cNvSpPr/>
            <p:nvPr/>
          </p:nvSpPr>
          <p:spPr>
            <a:xfrm flipH="false" flipV="false" rot="0">
              <a:off x="0" y="0"/>
              <a:ext cx="3987800" cy="800100"/>
            </a:xfrm>
            <a:custGeom>
              <a:avLst/>
              <a:gdLst/>
              <a:ahLst/>
              <a:cxnLst/>
              <a:rect r="r" b="b" t="t" l="l"/>
              <a:pathLst>
                <a:path h="800100" w="3987800">
                  <a:moveTo>
                    <a:pt x="400050" y="0"/>
                  </a:moveTo>
                  <a:lnTo>
                    <a:pt x="3587750" y="0"/>
                  </a:lnTo>
                  <a:cubicBezTo>
                    <a:pt x="3808730" y="0"/>
                    <a:pt x="3987800" y="179070"/>
                    <a:pt x="3987800" y="400050"/>
                  </a:cubicBezTo>
                  <a:cubicBezTo>
                    <a:pt x="3987800" y="621030"/>
                    <a:pt x="3808730" y="800100"/>
                    <a:pt x="3587750" y="800100"/>
                  </a:cubicBezTo>
                  <a:lnTo>
                    <a:pt x="400050" y="800100"/>
                  </a:lnTo>
                  <a:cubicBezTo>
                    <a:pt x="179070" y="800100"/>
                    <a:pt x="0" y="621030"/>
                    <a:pt x="0" y="400050"/>
                  </a:cubicBezTo>
                  <a:cubicBezTo>
                    <a:pt x="0" y="179070"/>
                    <a:pt x="179070" y="0"/>
                    <a:pt x="400050" y="0"/>
                  </a:cubicBezTo>
                  <a:close/>
                </a:path>
              </a:pathLst>
            </a:custGeom>
            <a:solidFill>
              <a:srgbClr val="8C491A"/>
            </a:solidFill>
          </p:spPr>
        </p:sp>
        <p:sp>
          <p:nvSpPr>
            <p:cNvPr name="TextBox 11" id="11"/>
            <p:cNvSpPr txBox="true"/>
            <p:nvPr/>
          </p:nvSpPr>
          <p:spPr>
            <a:xfrm>
              <a:off x="0" y="-76200"/>
              <a:ext cx="39878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EXERCISE 6.1 · Q7</a:t>
              </a:r>
            </a:p>
          </p:txBody>
        </p:sp>
      </p:grpSp>
      <p:sp>
        <p:nvSpPr>
          <p:cNvPr name="TextBox 12" id="12"/>
          <p:cNvSpPr txBox="true"/>
          <p:nvPr/>
        </p:nvSpPr>
        <p:spPr>
          <a:xfrm rot="0">
            <a:off x="4174331" y="630555"/>
            <a:ext cx="1552575" cy="485775"/>
          </a:xfrm>
          <a:prstGeom prst="rect">
            <a:avLst/>
          </a:prstGeom>
        </p:spPr>
        <p:txBody>
          <a:bodyPr anchor="t" rtlCol="false" tIns="0" lIns="0" bIns="0" rIns="0">
            <a:spAutoFit/>
          </a:bodyPr>
          <a:lstStyle/>
          <a:p>
            <a:pPr algn="l">
              <a:lnSpc>
                <a:spcPts val="3255"/>
              </a:lnSpc>
            </a:pPr>
            <a:r>
              <a:rPr lang="en-US" b="true" sz="2100">
                <a:solidFill>
                  <a:srgbClr val="3D472B"/>
                </a:solidFill>
                <a:latin typeface="Arimo Bold"/>
                <a:ea typeface="Arimo Bold"/>
                <a:cs typeface="Arimo Bold"/>
                <a:sym typeface="Arimo Bold"/>
              </a:rPr>
              <a:t>6.1 · Practice</a:t>
            </a:r>
          </a:p>
        </p:txBody>
      </p:sp>
      <p:sp>
        <p:nvSpPr>
          <p:cNvPr name="TextBox 13" id="13"/>
          <p:cNvSpPr txBox="true"/>
          <p:nvPr/>
        </p:nvSpPr>
        <p:spPr>
          <a:xfrm rot="0">
            <a:off x="990600" y="1510189"/>
            <a:ext cx="16306800" cy="523875"/>
          </a:xfrm>
          <a:prstGeom prst="rect">
            <a:avLst/>
          </a:prstGeom>
        </p:spPr>
        <p:txBody>
          <a:bodyPr anchor="t" rtlCol="false" tIns="0" lIns="0" bIns="0" rIns="0">
            <a:spAutoFit/>
          </a:bodyPr>
          <a:lstStyle/>
          <a:p>
            <a:pPr algn="l">
              <a:lnSpc>
                <a:spcPts val="4524"/>
              </a:lnSpc>
            </a:pPr>
            <a:r>
              <a:rPr lang="en-US" b="true" sz="4350" spc="-86">
                <a:solidFill>
                  <a:srgbClr val="201E1D"/>
                </a:solidFill>
                <a:latin typeface="Arimo Bold"/>
                <a:ea typeface="Arimo Bold"/>
                <a:cs typeface="Arimo Bold"/>
                <a:sym typeface="Arimo Bold"/>
              </a:rPr>
              <a:t>Exponential equations</a:t>
            </a:r>
          </a:p>
        </p:txBody>
      </p:sp>
      <p:grpSp>
        <p:nvGrpSpPr>
          <p:cNvPr name="Group 14" id="14"/>
          <p:cNvGrpSpPr/>
          <p:nvPr/>
        </p:nvGrpSpPr>
        <p:grpSpPr>
          <a:xfrm rot="0">
            <a:off x="990600" y="2284095"/>
            <a:ext cx="3905250" cy="1647825"/>
            <a:chOff x="0" y="0"/>
            <a:chExt cx="5207000" cy="2197100"/>
          </a:xfrm>
        </p:grpSpPr>
        <p:sp>
          <p:nvSpPr>
            <p:cNvPr name="Freeform 15" id="15"/>
            <p:cNvSpPr/>
            <p:nvPr/>
          </p:nvSpPr>
          <p:spPr>
            <a:xfrm flipH="false" flipV="false" rot="0">
              <a:off x="0" y="0"/>
              <a:ext cx="5207000" cy="2197100"/>
            </a:xfrm>
            <a:custGeom>
              <a:avLst/>
              <a:gdLst/>
              <a:ahLst/>
              <a:cxnLst/>
              <a:rect r="r" b="b" t="t" l="l"/>
              <a:pathLst>
                <a:path h="2197100" w="5207000">
                  <a:moveTo>
                    <a:pt x="355600" y="0"/>
                  </a:moveTo>
                  <a:lnTo>
                    <a:pt x="4851400" y="0"/>
                  </a:lnTo>
                  <a:cubicBezTo>
                    <a:pt x="5047742" y="0"/>
                    <a:pt x="5207000" y="159258"/>
                    <a:pt x="5207000" y="355600"/>
                  </a:cubicBezTo>
                  <a:lnTo>
                    <a:pt x="5207000" y="1841500"/>
                  </a:lnTo>
                  <a:cubicBezTo>
                    <a:pt x="5207000" y="2037842"/>
                    <a:pt x="5047742" y="2197100"/>
                    <a:pt x="4851400" y="2197100"/>
                  </a:cubicBezTo>
                  <a:lnTo>
                    <a:pt x="355600" y="2197100"/>
                  </a:lnTo>
                  <a:cubicBezTo>
                    <a:pt x="159258" y="2197100"/>
                    <a:pt x="0" y="2037842"/>
                    <a:pt x="0" y="1841500"/>
                  </a:cubicBezTo>
                  <a:lnTo>
                    <a:pt x="0" y="355600"/>
                  </a:lnTo>
                  <a:cubicBezTo>
                    <a:pt x="0" y="159258"/>
                    <a:pt x="159258" y="0"/>
                    <a:pt x="355600" y="0"/>
                  </a:cubicBezTo>
                  <a:close/>
                </a:path>
              </a:pathLst>
            </a:custGeom>
            <a:solidFill>
              <a:srgbClr val="FFF2EB"/>
            </a:solidFill>
          </p:spPr>
        </p:sp>
        <p:sp>
          <p:nvSpPr>
            <p:cNvPr name="Freeform 16" id="16"/>
            <p:cNvSpPr/>
            <p:nvPr/>
          </p:nvSpPr>
          <p:spPr>
            <a:xfrm flipH="false" flipV="false" rot="0">
              <a:off x="0" y="0"/>
              <a:ext cx="5207000" cy="2197100"/>
            </a:xfrm>
            <a:custGeom>
              <a:avLst/>
              <a:gdLst/>
              <a:ahLst/>
              <a:cxnLst/>
              <a:rect r="r" b="b" t="t" l="l"/>
              <a:pathLst>
                <a:path h="2197100" w="5207000">
                  <a:moveTo>
                    <a:pt x="355600" y="0"/>
                  </a:moveTo>
                  <a:lnTo>
                    <a:pt x="4851400" y="0"/>
                  </a:lnTo>
                  <a:cubicBezTo>
                    <a:pt x="5047742" y="0"/>
                    <a:pt x="5207000" y="159258"/>
                    <a:pt x="5207000" y="355600"/>
                  </a:cubicBezTo>
                  <a:lnTo>
                    <a:pt x="5207000" y="1841500"/>
                  </a:lnTo>
                  <a:cubicBezTo>
                    <a:pt x="5207000" y="2037842"/>
                    <a:pt x="5047742" y="2197100"/>
                    <a:pt x="4851400" y="2197100"/>
                  </a:cubicBezTo>
                  <a:lnTo>
                    <a:pt x="355600" y="2197100"/>
                  </a:lnTo>
                  <a:cubicBezTo>
                    <a:pt x="159258" y="2197100"/>
                    <a:pt x="0" y="2037842"/>
                    <a:pt x="0" y="1841500"/>
                  </a:cubicBezTo>
                  <a:lnTo>
                    <a:pt x="0" y="355600"/>
                  </a:lnTo>
                  <a:cubicBezTo>
                    <a:pt x="0" y="159258"/>
                    <a:pt x="159258" y="0"/>
                    <a:pt x="355600" y="0"/>
                  </a:cubicBezTo>
                  <a:close/>
                </a:path>
              </a:pathLst>
            </a:custGeom>
            <a:solidFill>
              <a:srgbClr val="000000">
                <a:alpha val="0"/>
              </a:srgbClr>
            </a:solidFill>
            <a:ln w="28575" cap="sq">
              <a:solidFill>
                <a:srgbClr val="FFC6A5"/>
              </a:solidFill>
              <a:prstDash val="solid"/>
              <a:miter/>
            </a:ln>
          </p:spPr>
        </p:sp>
      </p:grpSp>
      <p:sp>
        <p:nvSpPr>
          <p:cNvPr name="TextBox 17" id="17"/>
          <p:cNvSpPr txBox="true"/>
          <p:nvPr/>
        </p:nvSpPr>
        <p:spPr>
          <a:xfrm rot="0">
            <a:off x="1285875" y="2424589"/>
            <a:ext cx="3314700" cy="600075"/>
          </a:xfrm>
          <a:prstGeom prst="rect">
            <a:avLst/>
          </a:prstGeom>
        </p:spPr>
        <p:txBody>
          <a:bodyPr anchor="t" rtlCol="false" tIns="0" lIns="0" bIns="0" rIns="0">
            <a:spAutoFit/>
          </a:bodyPr>
          <a:lstStyle/>
          <a:p>
            <a:pPr algn="l">
              <a:lnSpc>
                <a:spcPts val="3952"/>
              </a:lnSpc>
            </a:pPr>
            <a:r>
              <a:rPr lang="en-US" b="true" sz="2550" spc="-51">
                <a:solidFill>
                  <a:srgbClr val="643312"/>
                </a:solidFill>
                <a:latin typeface="Arimo Bold"/>
                <a:ea typeface="Arimo Bold"/>
                <a:cs typeface="Arimo Bold"/>
                <a:sym typeface="Arimo Bold"/>
              </a:rPr>
              <a:t>c</a:t>
            </a:r>
          </a:p>
        </p:txBody>
      </p:sp>
      <p:sp>
        <p:nvSpPr>
          <p:cNvPr name="TextBox 18" id="18"/>
          <p:cNvSpPr txBox="true"/>
          <p:nvPr/>
        </p:nvSpPr>
        <p:spPr>
          <a:xfrm rot="0">
            <a:off x="1285875" y="3030379"/>
            <a:ext cx="3314700" cy="666750"/>
          </a:xfrm>
          <a:prstGeom prst="rect">
            <a:avLst/>
          </a:prstGeom>
        </p:spPr>
        <p:txBody>
          <a:bodyPr anchor="t" rtlCol="false" tIns="0" lIns="0" bIns="0" rIns="0">
            <a:spAutoFit/>
          </a:bodyPr>
          <a:lstStyle/>
          <a:p>
            <a:pPr algn="l">
              <a:lnSpc>
                <a:spcPts val="4140"/>
              </a:lnSpc>
            </a:pPr>
            <a:r>
              <a:rPr lang="en-US" b="true" sz="3000">
                <a:solidFill>
                  <a:srgbClr val="201E1D"/>
                </a:solidFill>
                <a:latin typeface="Arimo Bold"/>
                <a:ea typeface="Arimo Bold"/>
                <a:cs typeface="Arimo Bold"/>
                <a:sym typeface="Arimo Bold"/>
              </a:rPr>
              <a:t>8.1</a:t>
            </a:r>
            <a:r>
              <a:rPr lang="en-US" b="true" sz="3000">
                <a:solidFill>
                  <a:srgbClr val="201E1D"/>
                </a:solidFill>
                <a:latin typeface="Arimo Bold"/>
                <a:ea typeface="Arimo Bold"/>
                <a:cs typeface="Arimo Bold"/>
                <a:sym typeface="Arimo Bold"/>
              </a:rPr>
              <a:t>4x+3</a:t>
            </a:r>
            <a:r>
              <a:rPr lang="en-US" b="true" sz="3000">
                <a:solidFill>
                  <a:srgbClr val="201E1D"/>
                </a:solidFill>
                <a:latin typeface="Arimo Bold"/>
                <a:ea typeface="Arimo Bold"/>
                <a:cs typeface="Arimo Bold"/>
                <a:sym typeface="Arimo Bold"/>
              </a:rPr>
              <a:t> = 1</a:t>
            </a:r>
          </a:p>
        </p:txBody>
      </p:sp>
      <p:grpSp>
        <p:nvGrpSpPr>
          <p:cNvPr name="Group 19" id="19"/>
          <p:cNvGrpSpPr/>
          <p:nvPr/>
        </p:nvGrpSpPr>
        <p:grpSpPr>
          <a:xfrm rot="0">
            <a:off x="5124450" y="2284095"/>
            <a:ext cx="3905250" cy="1647825"/>
            <a:chOff x="0" y="0"/>
            <a:chExt cx="5207000" cy="2197100"/>
          </a:xfrm>
        </p:grpSpPr>
        <p:sp>
          <p:nvSpPr>
            <p:cNvPr name="Freeform 20" id="20"/>
            <p:cNvSpPr/>
            <p:nvPr/>
          </p:nvSpPr>
          <p:spPr>
            <a:xfrm flipH="false" flipV="false" rot="0">
              <a:off x="0" y="0"/>
              <a:ext cx="5207000" cy="2197100"/>
            </a:xfrm>
            <a:custGeom>
              <a:avLst/>
              <a:gdLst/>
              <a:ahLst/>
              <a:cxnLst/>
              <a:rect r="r" b="b" t="t" l="l"/>
              <a:pathLst>
                <a:path h="2197100" w="5207000">
                  <a:moveTo>
                    <a:pt x="355600" y="0"/>
                  </a:moveTo>
                  <a:lnTo>
                    <a:pt x="4851400" y="0"/>
                  </a:lnTo>
                  <a:cubicBezTo>
                    <a:pt x="5047742" y="0"/>
                    <a:pt x="5207000" y="159258"/>
                    <a:pt x="5207000" y="355600"/>
                  </a:cubicBezTo>
                  <a:lnTo>
                    <a:pt x="5207000" y="1841500"/>
                  </a:lnTo>
                  <a:cubicBezTo>
                    <a:pt x="5207000" y="2037842"/>
                    <a:pt x="5047742" y="2197100"/>
                    <a:pt x="4851400" y="2197100"/>
                  </a:cubicBezTo>
                  <a:lnTo>
                    <a:pt x="355600" y="2197100"/>
                  </a:lnTo>
                  <a:cubicBezTo>
                    <a:pt x="159258" y="2197100"/>
                    <a:pt x="0" y="2037842"/>
                    <a:pt x="0" y="1841500"/>
                  </a:cubicBezTo>
                  <a:lnTo>
                    <a:pt x="0" y="355600"/>
                  </a:lnTo>
                  <a:cubicBezTo>
                    <a:pt x="0" y="159258"/>
                    <a:pt x="159258" y="0"/>
                    <a:pt x="355600" y="0"/>
                  </a:cubicBezTo>
                  <a:close/>
                </a:path>
              </a:pathLst>
            </a:custGeom>
            <a:solidFill>
              <a:srgbClr val="F0FAE1"/>
            </a:solidFill>
          </p:spPr>
        </p:sp>
        <p:sp>
          <p:nvSpPr>
            <p:cNvPr name="Freeform 21" id="21"/>
            <p:cNvSpPr/>
            <p:nvPr/>
          </p:nvSpPr>
          <p:spPr>
            <a:xfrm flipH="false" flipV="false" rot="0">
              <a:off x="0" y="0"/>
              <a:ext cx="5207000" cy="2197100"/>
            </a:xfrm>
            <a:custGeom>
              <a:avLst/>
              <a:gdLst/>
              <a:ahLst/>
              <a:cxnLst/>
              <a:rect r="r" b="b" t="t" l="l"/>
              <a:pathLst>
                <a:path h="2197100" w="5207000">
                  <a:moveTo>
                    <a:pt x="355600" y="0"/>
                  </a:moveTo>
                  <a:lnTo>
                    <a:pt x="4851400" y="0"/>
                  </a:lnTo>
                  <a:cubicBezTo>
                    <a:pt x="5047742" y="0"/>
                    <a:pt x="5207000" y="159258"/>
                    <a:pt x="5207000" y="355600"/>
                  </a:cubicBezTo>
                  <a:lnTo>
                    <a:pt x="5207000" y="1841500"/>
                  </a:lnTo>
                  <a:cubicBezTo>
                    <a:pt x="5207000" y="2037842"/>
                    <a:pt x="5047742" y="2197100"/>
                    <a:pt x="4851400" y="2197100"/>
                  </a:cubicBezTo>
                  <a:lnTo>
                    <a:pt x="355600" y="2197100"/>
                  </a:lnTo>
                  <a:cubicBezTo>
                    <a:pt x="159258" y="2197100"/>
                    <a:pt x="0" y="2037842"/>
                    <a:pt x="0" y="1841500"/>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22" id="22"/>
          <p:cNvSpPr txBox="true"/>
          <p:nvPr/>
        </p:nvSpPr>
        <p:spPr>
          <a:xfrm rot="0">
            <a:off x="5419725" y="2424589"/>
            <a:ext cx="3314700" cy="600075"/>
          </a:xfrm>
          <a:prstGeom prst="rect">
            <a:avLst/>
          </a:prstGeom>
        </p:spPr>
        <p:txBody>
          <a:bodyPr anchor="t" rtlCol="false" tIns="0" lIns="0" bIns="0" rIns="0">
            <a:spAutoFit/>
          </a:bodyPr>
          <a:lstStyle/>
          <a:p>
            <a:pPr algn="l">
              <a:lnSpc>
                <a:spcPts val="3952"/>
              </a:lnSpc>
            </a:pPr>
            <a:r>
              <a:rPr lang="en-US" b="true" sz="2550" spc="-51">
                <a:solidFill>
                  <a:srgbClr val="3D472B"/>
                </a:solidFill>
                <a:latin typeface="Arimo Bold"/>
                <a:ea typeface="Arimo Bold"/>
                <a:cs typeface="Arimo Bold"/>
                <a:sym typeface="Arimo Bold"/>
              </a:rPr>
              <a:t>d</a:t>
            </a:r>
          </a:p>
        </p:txBody>
      </p:sp>
      <p:sp>
        <p:nvSpPr>
          <p:cNvPr name="TextBox 23" id="23"/>
          <p:cNvSpPr txBox="true"/>
          <p:nvPr/>
        </p:nvSpPr>
        <p:spPr>
          <a:xfrm rot="0">
            <a:off x="5419725" y="3030379"/>
            <a:ext cx="3314700" cy="666750"/>
          </a:xfrm>
          <a:prstGeom prst="rect">
            <a:avLst/>
          </a:prstGeom>
        </p:spPr>
        <p:txBody>
          <a:bodyPr anchor="t" rtlCol="false" tIns="0" lIns="0" bIns="0" rIns="0">
            <a:spAutoFit/>
          </a:bodyPr>
          <a:lstStyle/>
          <a:p>
            <a:pPr algn="l">
              <a:lnSpc>
                <a:spcPts val="4140"/>
              </a:lnSpc>
            </a:pPr>
            <a:r>
              <a:rPr lang="en-US" b="true" sz="3000">
                <a:solidFill>
                  <a:srgbClr val="201E1D"/>
                </a:solidFill>
                <a:latin typeface="Arimo Bold"/>
                <a:ea typeface="Arimo Bold"/>
                <a:cs typeface="Arimo Bold"/>
                <a:sym typeface="Arimo Bold"/>
              </a:rPr>
              <a:t>5</a:t>
            </a:r>
            <a:r>
              <a:rPr lang="en-US" b="true" sz="3000">
                <a:solidFill>
                  <a:srgbClr val="201E1D"/>
                </a:solidFill>
                <a:latin typeface="Arimo Bold"/>
                <a:ea typeface="Arimo Bold"/>
                <a:cs typeface="Arimo Bold"/>
                <a:sym typeface="Arimo Bold"/>
              </a:rPr>
              <a:t>2(3x+1)</a:t>
            </a:r>
            <a:r>
              <a:rPr lang="en-US" b="true" sz="3000">
                <a:solidFill>
                  <a:srgbClr val="201E1D"/>
                </a:solidFill>
                <a:latin typeface="Arimo Bold"/>
                <a:ea typeface="Arimo Bold"/>
                <a:cs typeface="Arimo Bold"/>
                <a:sym typeface="Arimo Bold"/>
              </a:rPr>
              <a:t> = 625</a:t>
            </a:r>
          </a:p>
        </p:txBody>
      </p:sp>
      <p:grpSp>
        <p:nvGrpSpPr>
          <p:cNvPr name="Group 24" id="24"/>
          <p:cNvGrpSpPr/>
          <p:nvPr/>
        </p:nvGrpSpPr>
        <p:grpSpPr>
          <a:xfrm rot="0">
            <a:off x="9258300" y="2284095"/>
            <a:ext cx="3905250" cy="1647825"/>
            <a:chOff x="0" y="0"/>
            <a:chExt cx="5207000" cy="2197100"/>
          </a:xfrm>
        </p:grpSpPr>
        <p:sp>
          <p:nvSpPr>
            <p:cNvPr name="Freeform 25" id="25"/>
            <p:cNvSpPr/>
            <p:nvPr/>
          </p:nvSpPr>
          <p:spPr>
            <a:xfrm flipH="false" flipV="false" rot="0">
              <a:off x="0" y="0"/>
              <a:ext cx="5207000" cy="2197100"/>
            </a:xfrm>
            <a:custGeom>
              <a:avLst/>
              <a:gdLst/>
              <a:ahLst/>
              <a:cxnLst/>
              <a:rect r="r" b="b" t="t" l="l"/>
              <a:pathLst>
                <a:path h="2197100" w="5207000">
                  <a:moveTo>
                    <a:pt x="355600" y="0"/>
                  </a:moveTo>
                  <a:lnTo>
                    <a:pt x="4851400" y="0"/>
                  </a:lnTo>
                  <a:cubicBezTo>
                    <a:pt x="5047742" y="0"/>
                    <a:pt x="5207000" y="159258"/>
                    <a:pt x="5207000" y="355600"/>
                  </a:cubicBezTo>
                  <a:lnTo>
                    <a:pt x="5207000" y="1841500"/>
                  </a:lnTo>
                  <a:cubicBezTo>
                    <a:pt x="5207000" y="2037842"/>
                    <a:pt x="5047742" y="2197100"/>
                    <a:pt x="4851400" y="2197100"/>
                  </a:cubicBezTo>
                  <a:lnTo>
                    <a:pt x="355600" y="2197100"/>
                  </a:lnTo>
                  <a:cubicBezTo>
                    <a:pt x="159258" y="2197100"/>
                    <a:pt x="0" y="2037842"/>
                    <a:pt x="0" y="1841500"/>
                  </a:cubicBezTo>
                  <a:lnTo>
                    <a:pt x="0" y="355600"/>
                  </a:lnTo>
                  <a:cubicBezTo>
                    <a:pt x="0" y="159258"/>
                    <a:pt x="159258" y="0"/>
                    <a:pt x="355600" y="0"/>
                  </a:cubicBezTo>
                  <a:close/>
                </a:path>
              </a:pathLst>
            </a:custGeom>
            <a:solidFill>
              <a:srgbClr val="FFF2EB"/>
            </a:solidFill>
          </p:spPr>
        </p:sp>
        <p:sp>
          <p:nvSpPr>
            <p:cNvPr name="Freeform 26" id="26"/>
            <p:cNvSpPr/>
            <p:nvPr/>
          </p:nvSpPr>
          <p:spPr>
            <a:xfrm flipH="false" flipV="false" rot="0">
              <a:off x="0" y="0"/>
              <a:ext cx="5207000" cy="2197100"/>
            </a:xfrm>
            <a:custGeom>
              <a:avLst/>
              <a:gdLst/>
              <a:ahLst/>
              <a:cxnLst/>
              <a:rect r="r" b="b" t="t" l="l"/>
              <a:pathLst>
                <a:path h="2197100" w="5207000">
                  <a:moveTo>
                    <a:pt x="355600" y="0"/>
                  </a:moveTo>
                  <a:lnTo>
                    <a:pt x="4851400" y="0"/>
                  </a:lnTo>
                  <a:cubicBezTo>
                    <a:pt x="5047742" y="0"/>
                    <a:pt x="5207000" y="159258"/>
                    <a:pt x="5207000" y="355600"/>
                  </a:cubicBezTo>
                  <a:lnTo>
                    <a:pt x="5207000" y="1841500"/>
                  </a:lnTo>
                  <a:cubicBezTo>
                    <a:pt x="5207000" y="2037842"/>
                    <a:pt x="5047742" y="2197100"/>
                    <a:pt x="4851400" y="2197100"/>
                  </a:cubicBezTo>
                  <a:lnTo>
                    <a:pt x="355600" y="2197100"/>
                  </a:lnTo>
                  <a:cubicBezTo>
                    <a:pt x="159258" y="2197100"/>
                    <a:pt x="0" y="2037842"/>
                    <a:pt x="0" y="1841500"/>
                  </a:cubicBezTo>
                  <a:lnTo>
                    <a:pt x="0" y="355600"/>
                  </a:lnTo>
                  <a:cubicBezTo>
                    <a:pt x="0" y="159258"/>
                    <a:pt x="159258" y="0"/>
                    <a:pt x="355600" y="0"/>
                  </a:cubicBezTo>
                  <a:close/>
                </a:path>
              </a:pathLst>
            </a:custGeom>
            <a:solidFill>
              <a:srgbClr val="000000">
                <a:alpha val="0"/>
              </a:srgbClr>
            </a:solidFill>
            <a:ln w="28575" cap="sq">
              <a:solidFill>
                <a:srgbClr val="FFC6A5"/>
              </a:solidFill>
              <a:prstDash val="solid"/>
              <a:miter/>
            </a:ln>
          </p:spPr>
        </p:sp>
      </p:grpSp>
      <p:sp>
        <p:nvSpPr>
          <p:cNvPr name="TextBox 27" id="27"/>
          <p:cNvSpPr txBox="true"/>
          <p:nvPr/>
        </p:nvSpPr>
        <p:spPr>
          <a:xfrm rot="0">
            <a:off x="9553575" y="2424589"/>
            <a:ext cx="3314700" cy="600075"/>
          </a:xfrm>
          <a:prstGeom prst="rect">
            <a:avLst/>
          </a:prstGeom>
        </p:spPr>
        <p:txBody>
          <a:bodyPr anchor="t" rtlCol="false" tIns="0" lIns="0" bIns="0" rIns="0">
            <a:spAutoFit/>
          </a:bodyPr>
          <a:lstStyle/>
          <a:p>
            <a:pPr algn="l">
              <a:lnSpc>
                <a:spcPts val="3952"/>
              </a:lnSpc>
            </a:pPr>
            <a:r>
              <a:rPr lang="en-US" b="true" sz="2550" spc="-51">
                <a:solidFill>
                  <a:srgbClr val="643312"/>
                </a:solidFill>
                <a:latin typeface="Arimo Bold"/>
                <a:ea typeface="Arimo Bold"/>
                <a:cs typeface="Arimo Bold"/>
                <a:sym typeface="Arimo Bold"/>
              </a:rPr>
              <a:t>e</a:t>
            </a:r>
          </a:p>
        </p:txBody>
      </p:sp>
      <p:sp>
        <p:nvSpPr>
          <p:cNvPr name="TextBox 28" id="28"/>
          <p:cNvSpPr txBox="true"/>
          <p:nvPr/>
        </p:nvSpPr>
        <p:spPr>
          <a:xfrm rot="0">
            <a:off x="9553575" y="3030379"/>
            <a:ext cx="3314700" cy="666750"/>
          </a:xfrm>
          <a:prstGeom prst="rect">
            <a:avLst/>
          </a:prstGeom>
        </p:spPr>
        <p:txBody>
          <a:bodyPr anchor="t" rtlCol="false" tIns="0" lIns="0" bIns="0" rIns="0">
            <a:spAutoFit/>
          </a:bodyPr>
          <a:lstStyle/>
          <a:p>
            <a:pPr algn="l">
              <a:lnSpc>
                <a:spcPts val="4140"/>
              </a:lnSpc>
            </a:pPr>
            <a:r>
              <a:rPr lang="en-US" b="true" sz="3000">
                <a:solidFill>
                  <a:srgbClr val="201E1D"/>
                </a:solidFill>
                <a:latin typeface="Arimo Bold"/>
                <a:ea typeface="Arimo Bold"/>
                <a:cs typeface="Arimo Bold"/>
                <a:sym typeface="Arimo Bold"/>
              </a:rPr>
              <a:t>4</a:t>
            </a:r>
            <a:r>
              <a:rPr lang="en-US" b="true" sz="3000">
                <a:solidFill>
                  <a:srgbClr val="201E1D"/>
                </a:solidFill>
                <a:latin typeface="Arimo Bold"/>
                <a:ea typeface="Arimo Bold"/>
                <a:cs typeface="Arimo Bold"/>
                <a:sym typeface="Arimo Bold"/>
              </a:rPr>
              <a:t>3x</a:t>
            </a:r>
            <a:r>
              <a:rPr lang="en-US" b="true" sz="3000">
                <a:solidFill>
                  <a:srgbClr val="201E1D"/>
                </a:solidFill>
                <a:latin typeface="Arimo Bold"/>
                <a:ea typeface="Arimo Bold"/>
                <a:cs typeface="Arimo Bold"/>
                <a:sym typeface="Arimo Bold"/>
              </a:rPr>
              <a:t> = 2</a:t>
            </a:r>
            <a:r>
              <a:rPr lang="en-US" b="true" sz="3000">
                <a:solidFill>
                  <a:srgbClr val="201E1D"/>
                </a:solidFill>
                <a:latin typeface="Arimo Bold"/>
                <a:ea typeface="Arimo Bold"/>
                <a:cs typeface="Arimo Bold"/>
                <a:sym typeface="Arimo Bold"/>
              </a:rPr>
              <a:t>x+1</a:t>
            </a:r>
          </a:p>
        </p:txBody>
      </p:sp>
      <p:grpSp>
        <p:nvGrpSpPr>
          <p:cNvPr name="Group 29" id="29"/>
          <p:cNvGrpSpPr/>
          <p:nvPr/>
        </p:nvGrpSpPr>
        <p:grpSpPr>
          <a:xfrm rot="0">
            <a:off x="13392150" y="2284095"/>
            <a:ext cx="3905250" cy="1647825"/>
            <a:chOff x="0" y="0"/>
            <a:chExt cx="5207000" cy="2197100"/>
          </a:xfrm>
        </p:grpSpPr>
        <p:sp>
          <p:nvSpPr>
            <p:cNvPr name="Freeform 30" id="30"/>
            <p:cNvSpPr/>
            <p:nvPr/>
          </p:nvSpPr>
          <p:spPr>
            <a:xfrm flipH="false" flipV="false" rot="0">
              <a:off x="0" y="0"/>
              <a:ext cx="5207000" cy="2197100"/>
            </a:xfrm>
            <a:custGeom>
              <a:avLst/>
              <a:gdLst/>
              <a:ahLst/>
              <a:cxnLst/>
              <a:rect r="r" b="b" t="t" l="l"/>
              <a:pathLst>
                <a:path h="2197100" w="5207000">
                  <a:moveTo>
                    <a:pt x="355600" y="0"/>
                  </a:moveTo>
                  <a:lnTo>
                    <a:pt x="4851400" y="0"/>
                  </a:lnTo>
                  <a:cubicBezTo>
                    <a:pt x="5047742" y="0"/>
                    <a:pt x="5207000" y="159258"/>
                    <a:pt x="5207000" y="355600"/>
                  </a:cubicBezTo>
                  <a:lnTo>
                    <a:pt x="5207000" y="1841500"/>
                  </a:lnTo>
                  <a:cubicBezTo>
                    <a:pt x="5207000" y="2037842"/>
                    <a:pt x="5047742" y="2197100"/>
                    <a:pt x="4851400" y="2197100"/>
                  </a:cubicBezTo>
                  <a:lnTo>
                    <a:pt x="355600" y="2197100"/>
                  </a:lnTo>
                  <a:cubicBezTo>
                    <a:pt x="159258" y="2197100"/>
                    <a:pt x="0" y="2037842"/>
                    <a:pt x="0" y="1841500"/>
                  </a:cubicBezTo>
                  <a:lnTo>
                    <a:pt x="0" y="355600"/>
                  </a:lnTo>
                  <a:cubicBezTo>
                    <a:pt x="0" y="159258"/>
                    <a:pt x="159258" y="0"/>
                    <a:pt x="355600" y="0"/>
                  </a:cubicBezTo>
                  <a:close/>
                </a:path>
              </a:pathLst>
            </a:custGeom>
            <a:solidFill>
              <a:srgbClr val="F0FAE1"/>
            </a:solidFill>
          </p:spPr>
        </p:sp>
        <p:sp>
          <p:nvSpPr>
            <p:cNvPr name="Freeform 31" id="31"/>
            <p:cNvSpPr/>
            <p:nvPr/>
          </p:nvSpPr>
          <p:spPr>
            <a:xfrm flipH="false" flipV="false" rot="0">
              <a:off x="0" y="0"/>
              <a:ext cx="5207000" cy="2197100"/>
            </a:xfrm>
            <a:custGeom>
              <a:avLst/>
              <a:gdLst/>
              <a:ahLst/>
              <a:cxnLst/>
              <a:rect r="r" b="b" t="t" l="l"/>
              <a:pathLst>
                <a:path h="2197100" w="5207000">
                  <a:moveTo>
                    <a:pt x="355600" y="0"/>
                  </a:moveTo>
                  <a:lnTo>
                    <a:pt x="4851400" y="0"/>
                  </a:lnTo>
                  <a:cubicBezTo>
                    <a:pt x="5047742" y="0"/>
                    <a:pt x="5207000" y="159258"/>
                    <a:pt x="5207000" y="355600"/>
                  </a:cubicBezTo>
                  <a:lnTo>
                    <a:pt x="5207000" y="1841500"/>
                  </a:lnTo>
                  <a:cubicBezTo>
                    <a:pt x="5207000" y="2037842"/>
                    <a:pt x="5047742" y="2197100"/>
                    <a:pt x="4851400" y="2197100"/>
                  </a:cubicBezTo>
                  <a:lnTo>
                    <a:pt x="355600" y="2197100"/>
                  </a:lnTo>
                  <a:cubicBezTo>
                    <a:pt x="159258" y="2197100"/>
                    <a:pt x="0" y="2037842"/>
                    <a:pt x="0" y="1841500"/>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32" id="32"/>
          <p:cNvSpPr txBox="true"/>
          <p:nvPr/>
        </p:nvSpPr>
        <p:spPr>
          <a:xfrm rot="0">
            <a:off x="13687425" y="2424589"/>
            <a:ext cx="3314700" cy="600075"/>
          </a:xfrm>
          <a:prstGeom prst="rect">
            <a:avLst/>
          </a:prstGeom>
        </p:spPr>
        <p:txBody>
          <a:bodyPr anchor="t" rtlCol="false" tIns="0" lIns="0" bIns="0" rIns="0">
            <a:spAutoFit/>
          </a:bodyPr>
          <a:lstStyle/>
          <a:p>
            <a:pPr algn="l">
              <a:lnSpc>
                <a:spcPts val="3952"/>
              </a:lnSpc>
            </a:pPr>
            <a:r>
              <a:rPr lang="en-US" b="true" sz="2550" spc="-51">
                <a:solidFill>
                  <a:srgbClr val="3D472B"/>
                </a:solidFill>
                <a:latin typeface="Arimo Bold"/>
                <a:ea typeface="Arimo Bold"/>
                <a:cs typeface="Arimo Bold"/>
                <a:sym typeface="Arimo Bold"/>
              </a:rPr>
              <a:t>f</a:t>
            </a:r>
          </a:p>
        </p:txBody>
      </p:sp>
      <p:sp>
        <p:nvSpPr>
          <p:cNvPr name="TextBox 33" id="33"/>
          <p:cNvSpPr txBox="true"/>
          <p:nvPr/>
        </p:nvSpPr>
        <p:spPr>
          <a:xfrm rot="0">
            <a:off x="13687425" y="3030379"/>
            <a:ext cx="3314700" cy="666750"/>
          </a:xfrm>
          <a:prstGeom prst="rect">
            <a:avLst/>
          </a:prstGeom>
        </p:spPr>
        <p:txBody>
          <a:bodyPr anchor="t" rtlCol="false" tIns="0" lIns="0" bIns="0" rIns="0">
            <a:spAutoFit/>
          </a:bodyPr>
          <a:lstStyle/>
          <a:p>
            <a:pPr algn="l">
              <a:lnSpc>
                <a:spcPts val="4140"/>
              </a:lnSpc>
            </a:pPr>
            <a:r>
              <a:rPr lang="en-US" b="true" sz="3000">
                <a:solidFill>
                  <a:srgbClr val="201E1D"/>
                </a:solidFill>
                <a:latin typeface="Arimo Bold"/>
                <a:ea typeface="Arimo Bold"/>
                <a:cs typeface="Arimo Bold"/>
                <a:sym typeface="Arimo Bold"/>
              </a:rPr>
              <a:t>9</a:t>
            </a:r>
            <a:r>
              <a:rPr lang="en-US" b="true" sz="3000">
                <a:solidFill>
                  <a:srgbClr val="201E1D"/>
                </a:solidFill>
                <a:latin typeface="Arimo Bold"/>
                <a:ea typeface="Arimo Bold"/>
                <a:cs typeface="Arimo Bold"/>
                <a:sym typeface="Arimo Bold"/>
              </a:rPr>
              <a:t>3x+4</a:t>
            </a:r>
            <a:r>
              <a:rPr lang="en-US" b="true" sz="3000">
                <a:solidFill>
                  <a:srgbClr val="201E1D"/>
                </a:solidFill>
                <a:latin typeface="Arimo Bold"/>
                <a:ea typeface="Arimo Bold"/>
                <a:cs typeface="Arimo Bold"/>
                <a:sym typeface="Arimo Bold"/>
              </a:rPr>
              <a:t> = 27</a:t>
            </a:r>
            <a:r>
              <a:rPr lang="en-US" b="true" sz="3000">
                <a:solidFill>
                  <a:srgbClr val="201E1D"/>
                </a:solidFill>
                <a:latin typeface="Arimo Bold"/>
                <a:ea typeface="Arimo Bold"/>
                <a:cs typeface="Arimo Bold"/>
                <a:sym typeface="Arimo Bold"/>
              </a:rPr>
              <a:t>4x+3</a:t>
            </a:r>
          </a:p>
        </p:txBody>
      </p:sp>
      <p:grpSp>
        <p:nvGrpSpPr>
          <p:cNvPr name="Group 34" id="34"/>
          <p:cNvGrpSpPr/>
          <p:nvPr/>
        </p:nvGrpSpPr>
        <p:grpSpPr>
          <a:xfrm rot="0">
            <a:off x="1316736" y="4423410"/>
            <a:ext cx="3749040" cy="1545336"/>
            <a:chOff x="0" y="0"/>
            <a:chExt cx="4998720" cy="2060448"/>
          </a:xfrm>
        </p:grpSpPr>
        <p:sp>
          <p:nvSpPr>
            <p:cNvPr name="Freeform 35" id="35"/>
            <p:cNvSpPr/>
            <p:nvPr/>
          </p:nvSpPr>
          <p:spPr>
            <a:xfrm flipH="false" flipV="false" rot="0">
              <a:off x="0" y="0"/>
              <a:ext cx="4998720" cy="2060448"/>
            </a:xfrm>
            <a:custGeom>
              <a:avLst/>
              <a:gdLst/>
              <a:ahLst/>
              <a:cxnLst/>
              <a:rect r="r" b="b" t="t" l="l"/>
              <a:pathLst>
                <a:path h="2060448" w="4998720">
                  <a:moveTo>
                    <a:pt x="355600" y="0"/>
                  </a:moveTo>
                  <a:lnTo>
                    <a:pt x="4643120" y="0"/>
                  </a:lnTo>
                  <a:cubicBezTo>
                    <a:pt x="4839462" y="0"/>
                    <a:pt x="4998720" y="159258"/>
                    <a:pt x="4998720" y="355600"/>
                  </a:cubicBezTo>
                  <a:lnTo>
                    <a:pt x="4998720" y="1704848"/>
                  </a:lnTo>
                  <a:cubicBezTo>
                    <a:pt x="4998720" y="1901190"/>
                    <a:pt x="4839462" y="2060448"/>
                    <a:pt x="4643120" y="2060448"/>
                  </a:cubicBezTo>
                  <a:lnTo>
                    <a:pt x="355600" y="2060448"/>
                  </a:lnTo>
                  <a:cubicBezTo>
                    <a:pt x="159258" y="2060448"/>
                    <a:pt x="0" y="1901190"/>
                    <a:pt x="0" y="1704848"/>
                  </a:cubicBezTo>
                  <a:lnTo>
                    <a:pt x="0" y="355600"/>
                  </a:lnTo>
                  <a:cubicBezTo>
                    <a:pt x="0" y="159258"/>
                    <a:pt x="159258" y="0"/>
                    <a:pt x="355600" y="0"/>
                  </a:cubicBezTo>
                  <a:close/>
                </a:path>
              </a:pathLst>
            </a:custGeom>
            <a:solidFill>
              <a:srgbClr val="F0FAE1"/>
            </a:solidFill>
          </p:spPr>
        </p:sp>
        <p:sp>
          <p:nvSpPr>
            <p:cNvPr name="Freeform 36" id="36"/>
            <p:cNvSpPr/>
            <p:nvPr/>
          </p:nvSpPr>
          <p:spPr>
            <a:xfrm flipH="false" flipV="false" rot="0">
              <a:off x="0" y="0"/>
              <a:ext cx="4998720" cy="2060448"/>
            </a:xfrm>
            <a:custGeom>
              <a:avLst/>
              <a:gdLst/>
              <a:ahLst/>
              <a:cxnLst/>
              <a:rect r="r" b="b" t="t" l="l"/>
              <a:pathLst>
                <a:path h="2060448" w="4998720">
                  <a:moveTo>
                    <a:pt x="355600" y="0"/>
                  </a:moveTo>
                  <a:lnTo>
                    <a:pt x="4643120" y="0"/>
                  </a:lnTo>
                  <a:cubicBezTo>
                    <a:pt x="4839462" y="0"/>
                    <a:pt x="4998720" y="159258"/>
                    <a:pt x="4998720" y="355600"/>
                  </a:cubicBezTo>
                  <a:lnTo>
                    <a:pt x="4998720" y="1704848"/>
                  </a:lnTo>
                  <a:cubicBezTo>
                    <a:pt x="4998720" y="1901190"/>
                    <a:pt x="4839462" y="2060448"/>
                    <a:pt x="4643120" y="2060448"/>
                  </a:cubicBezTo>
                  <a:lnTo>
                    <a:pt x="355600" y="2060448"/>
                  </a:lnTo>
                  <a:cubicBezTo>
                    <a:pt x="159258" y="2060448"/>
                    <a:pt x="0" y="1901190"/>
                    <a:pt x="0" y="1704848"/>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37" id="37"/>
          <p:cNvSpPr txBox="true"/>
          <p:nvPr/>
        </p:nvSpPr>
        <p:spPr>
          <a:xfrm rot="0">
            <a:off x="1600200" y="4565047"/>
            <a:ext cx="3182112"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38" id="38"/>
          <p:cNvSpPr txBox="true"/>
          <p:nvPr/>
        </p:nvSpPr>
        <p:spPr>
          <a:xfrm rot="0">
            <a:off x="1600200" y="4918996"/>
            <a:ext cx="329184" cy="422529"/>
          </a:xfrm>
          <a:prstGeom prst="rect">
            <a:avLst/>
          </a:prstGeom>
        </p:spPr>
        <p:txBody>
          <a:bodyPr anchor="t" rtlCol="false" tIns="0" lIns="0" bIns="0" rIns="0">
            <a:spAutoFit/>
          </a:bodyPr>
          <a:lstStyle/>
          <a:p>
            <a:pPr algn="l">
              <a:lnSpc>
                <a:spcPts val="2937"/>
              </a:lnSpc>
            </a:pPr>
            <a:r>
              <a:rPr lang="en-US" b="true" sz="2160">
                <a:solidFill>
                  <a:srgbClr val="3D472B"/>
                </a:solidFill>
                <a:latin typeface="Arimo Bold"/>
                <a:ea typeface="Arimo Bold"/>
                <a:cs typeface="Arimo Bold"/>
                <a:sym typeface="Arimo Bold"/>
              </a:rPr>
              <a:t>c</a:t>
            </a:r>
          </a:p>
        </p:txBody>
      </p:sp>
      <p:sp>
        <p:nvSpPr>
          <p:cNvPr name="TextBox 39" id="39"/>
          <p:cNvSpPr txBox="true"/>
          <p:nvPr/>
        </p:nvSpPr>
        <p:spPr>
          <a:xfrm rot="0">
            <a:off x="2075688" y="4918139"/>
            <a:ext cx="2706624" cy="797433"/>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1 = 8.1⁰ ⇒ 4x + 3 = 0 ⇒ x = −¾</a:t>
            </a:r>
          </a:p>
        </p:txBody>
      </p:sp>
      <p:grpSp>
        <p:nvGrpSpPr>
          <p:cNvPr name="Group 40" id="40"/>
          <p:cNvGrpSpPr/>
          <p:nvPr/>
        </p:nvGrpSpPr>
        <p:grpSpPr>
          <a:xfrm rot="0">
            <a:off x="5285232" y="4423410"/>
            <a:ext cx="3749040" cy="1545336"/>
            <a:chOff x="0" y="0"/>
            <a:chExt cx="4998720" cy="2060448"/>
          </a:xfrm>
        </p:grpSpPr>
        <p:sp>
          <p:nvSpPr>
            <p:cNvPr name="Freeform 41" id="41"/>
            <p:cNvSpPr/>
            <p:nvPr/>
          </p:nvSpPr>
          <p:spPr>
            <a:xfrm flipH="false" flipV="false" rot="0">
              <a:off x="0" y="0"/>
              <a:ext cx="4998720" cy="2060448"/>
            </a:xfrm>
            <a:custGeom>
              <a:avLst/>
              <a:gdLst/>
              <a:ahLst/>
              <a:cxnLst/>
              <a:rect r="r" b="b" t="t" l="l"/>
              <a:pathLst>
                <a:path h="2060448" w="4998720">
                  <a:moveTo>
                    <a:pt x="355600" y="0"/>
                  </a:moveTo>
                  <a:lnTo>
                    <a:pt x="4643120" y="0"/>
                  </a:lnTo>
                  <a:cubicBezTo>
                    <a:pt x="4839462" y="0"/>
                    <a:pt x="4998720" y="159258"/>
                    <a:pt x="4998720" y="355600"/>
                  </a:cubicBezTo>
                  <a:lnTo>
                    <a:pt x="4998720" y="1704848"/>
                  </a:lnTo>
                  <a:cubicBezTo>
                    <a:pt x="4998720" y="1901190"/>
                    <a:pt x="4839462" y="2060448"/>
                    <a:pt x="4643120" y="2060448"/>
                  </a:cubicBezTo>
                  <a:lnTo>
                    <a:pt x="355600" y="2060448"/>
                  </a:lnTo>
                  <a:cubicBezTo>
                    <a:pt x="159258" y="2060448"/>
                    <a:pt x="0" y="1901190"/>
                    <a:pt x="0" y="1704848"/>
                  </a:cubicBezTo>
                  <a:lnTo>
                    <a:pt x="0" y="355600"/>
                  </a:lnTo>
                  <a:cubicBezTo>
                    <a:pt x="0" y="159258"/>
                    <a:pt x="159258" y="0"/>
                    <a:pt x="355600" y="0"/>
                  </a:cubicBezTo>
                  <a:close/>
                </a:path>
              </a:pathLst>
            </a:custGeom>
            <a:solidFill>
              <a:srgbClr val="F0FAE1"/>
            </a:solidFill>
          </p:spPr>
        </p:sp>
        <p:sp>
          <p:nvSpPr>
            <p:cNvPr name="Freeform 42" id="42"/>
            <p:cNvSpPr/>
            <p:nvPr/>
          </p:nvSpPr>
          <p:spPr>
            <a:xfrm flipH="false" flipV="false" rot="0">
              <a:off x="0" y="0"/>
              <a:ext cx="4998720" cy="2060448"/>
            </a:xfrm>
            <a:custGeom>
              <a:avLst/>
              <a:gdLst/>
              <a:ahLst/>
              <a:cxnLst/>
              <a:rect r="r" b="b" t="t" l="l"/>
              <a:pathLst>
                <a:path h="2060448" w="4998720">
                  <a:moveTo>
                    <a:pt x="355600" y="0"/>
                  </a:moveTo>
                  <a:lnTo>
                    <a:pt x="4643120" y="0"/>
                  </a:lnTo>
                  <a:cubicBezTo>
                    <a:pt x="4839462" y="0"/>
                    <a:pt x="4998720" y="159258"/>
                    <a:pt x="4998720" y="355600"/>
                  </a:cubicBezTo>
                  <a:lnTo>
                    <a:pt x="4998720" y="1704848"/>
                  </a:lnTo>
                  <a:cubicBezTo>
                    <a:pt x="4998720" y="1901190"/>
                    <a:pt x="4839462" y="2060448"/>
                    <a:pt x="4643120" y="2060448"/>
                  </a:cubicBezTo>
                  <a:lnTo>
                    <a:pt x="355600" y="2060448"/>
                  </a:lnTo>
                  <a:cubicBezTo>
                    <a:pt x="159258" y="2060448"/>
                    <a:pt x="0" y="1901190"/>
                    <a:pt x="0" y="1704848"/>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43" id="43"/>
          <p:cNvSpPr txBox="true"/>
          <p:nvPr/>
        </p:nvSpPr>
        <p:spPr>
          <a:xfrm rot="0">
            <a:off x="5568696" y="4565047"/>
            <a:ext cx="3182112"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44" id="44"/>
          <p:cNvSpPr txBox="true"/>
          <p:nvPr/>
        </p:nvSpPr>
        <p:spPr>
          <a:xfrm rot="0">
            <a:off x="5568696" y="4918996"/>
            <a:ext cx="329184" cy="422529"/>
          </a:xfrm>
          <a:prstGeom prst="rect">
            <a:avLst/>
          </a:prstGeom>
        </p:spPr>
        <p:txBody>
          <a:bodyPr anchor="t" rtlCol="false" tIns="0" lIns="0" bIns="0" rIns="0">
            <a:spAutoFit/>
          </a:bodyPr>
          <a:lstStyle/>
          <a:p>
            <a:pPr algn="l">
              <a:lnSpc>
                <a:spcPts val="2937"/>
              </a:lnSpc>
            </a:pPr>
            <a:r>
              <a:rPr lang="en-US" b="true" sz="2160">
                <a:solidFill>
                  <a:srgbClr val="3D472B"/>
                </a:solidFill>
                <a:latin typeface="Arimo Bold"/>
                <a:ea typeface="Arimo Bold"/>
                <a:cs typeface="Arimo Bold"/>
                <a:sym typeface="Arimo Bold"/>
              </a:rPr>
              <a:t>d</a:t>
            </a:r>
          </a:p>
        </p:txBody>
      </p:sp>
      <p:sp>
        <p:nvSpPr>
          <p:cNvPr name="TextBox 45" id="45"/>
          <p:cNvSpPr txBox="true"/>
          <p:nvPr/>
        </p:nvSpPr>
        <p:spPr>
          <a:xfrm rot="0">
            <a:off x="6044184" y="4918139"/>
            <a:ext cx="2706624" cy="797433"/>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625 = 5⁴ ⇒ 6x + 2 = 4 ⇒ x = ⅓</a:t>
            </a:r>
          </a:p>
        </p:txBody>
      </p:sp>
      <p:grpSp>
        <p:nvGrpSpPr>
          <p:cNvPr name="Group 46" id="46"/>
          <p:cNvGrpSpPr/>
          <p:nvPr/>
        </p:nvGrpSpPr>
        <p:grpSpPr>
          <a:xfrm rot="0">
            <a:off x="9253728" y="4423410"/>
            <a:ext cx="3749040" cy="1545336"/>
            <a:chOff x="0" y="0"/>
            <a:chExt cx="4998720" cy="2060448"/>
          </a:xfrm>
        </p:grpSpPr>
        <p:sp>
          <p:nvSpPr>
            <p:cNvPr name="Freeform 47" id="47"/>
            <p:cNvSpPr/>
            <p:nvPr/>
          </p:nvSpPr>
          <p:spPr>
            <a:xfrm flipH="false" flipV="false" rot="0">
              <a:off x="0" y="0"/>
              <a:ext cx="4998720" cy="2060448"/>
            </a:xfrm>
            <a:custGeom>
              <a:avLst/>
              <a:gdLst/>
              <a:ahLst/>
              <a:cxnLst/>
              <a:rect r="r" b="b" t="t" l="l"/>
              <a:pathLst>
                <a:path h="2060448" w="4998720">
                  <a:moveTo>
                    <a:pt x="355600" y="0"/>
                  </a:moveTo>
                  <a:lnTo>
                    <a:pt x="4643120" y="0"/>
                  </a:lnTo>
                  <a:cubicBezTo>
                    <a:pt x="4839462" y="0"/>
                    <a:pt x="4998720" y="159258"/>
                    <a:pt x="4998720" y="355600"/>
                  </a:cubicBezTo>
                  <a:lnTo>
                    <a:pt x="4998720" y="1704848"/>
                  </a:lnTo>
                  <a:cubicBezTo>
                    <a:pt x="4998720" y="1901190"/>
                    <a:pt x="4839462" y="2060448"/>
                    <a:pt x="4643120" y="2060448"/>
                  </a:cubicBezTo>
                  <a:lnTo>
                    <a:pt x="355600" y="2060448"/>
                  </a:lnTo>
                  <a:cubicBezTo>
                    <a:pt x="159258" y="2060448"/>
                    <a:pt x="0" y="1901190"/>
                    <a:pt x="0" y="1704848"/>
                  </a:cubicBezTo>
                  <a:lnTo>
                    <a:pt x="0" y="355600"/>
                  </a:lnTo>
                  <a:cubicBezTo>
                    <a:pt x="0" y="159258"/>
                    <a:pt x="159258" y="0"/>
                    <a:pt x="355600" y="0"/>
                  </a:cubicBezTo>
                  <a:close/>
                </a:path>
              </a:pathLst>
            </a:custGeom>
            <a:solidFill>
              <a:srgbClr val="F0FAE1"/>
            </a:solidFill>
          </p:spPr>
        </p:sp>
        <p:sp>
          <p:nvSpPr>
            <p:cNvPr name="Freeform 48" id="48"/>
            <p:cNvSpPr/>
            <p:nvPr/>
          </p:nvSpPr>
          <p:spPr>
            <a:xfrm flipH="false" flipV="false" rot="0">
              <a:off x="0" y="0"/>
              <a:ext cx="4998720" cy="2060448"/>
            </a:xfrm>
            <a:custGeom>
              <a:avLst/>
              <a:gdLst/>
              <a:ahLst/>
              <a:cxnLst/>
              <a:rect r="r" b="b" t="t" l="l"/>
              <a:pathLst>
                <a:path h="2060448" w="4998720">
                  <a:moveTo>
                    <a:pt x="355600" y="0"/>
                  </a:moveTo>
                  <a:lnTo>
                    <a:pt x="4643120" y="0"/>
                  </a:lnTo>
                  <a:cubicBezTo>
                    <a:pt x="4839462" y="0"/>
                    <a:pt x="4998720" y="159258"/>
                    <a:pt x="4998720" y="355600"/>
                  </a:cubicBezTo>
                  <a:lnTo>
                    <a:pt x="4998720" y="1704848"/>
                  </a:lnTo>
                  <a:cubicBezTo>
                    <a:pt x="4998720" y="1901190"/>
                    <a:pt x="4839462" y="2060448"/>
                    <a:pt x="4643120" y="2060448"/>
                  </a:cubicBezTo>
                  <a:lnTo>
                    <a:pt x="355600" y="2060448"/>
                  </a:lnTo>
                  <a:cubicBezTo>
                    <a:pt x="159258" y="2060448"/>
                    <a:pt x="0" y="1901190"/>
                    <a:pt x="0" y="1704848"/>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49" id="49"/>
          <p:cNvSpPr txBox="true"/>
          <p:nvPr/>
        </p:nvSpPr>
        <p:spPr>
          <a:xfrm rot="0">
            <a:off x="9537192" y="4565047"/>
            <a:ext cx="3182112"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50" id="50"/>
          <p:cNvSpPr txBox="true"/>
          <p:nvPr/>
        </p:nvSpPr>
        <p:spPr>
          <a:xfrm rot="0">
            <a:off x="9537192" y="4983004"/>
            <a:ext cx="329184" cy="422529"/>
          </a:xfrm>
          <a:prstGeom prst="rect">
            <a:avLst/>
          </a:prstGeom>
        </p:spPr>
        <p:txBody>
          <a:bodyPr anchor="t" rtlCol="false" tIns="0" lIns="0" bIns="0" rIns="0">
            <a:spAutoFit/>
          </a:bodyPr>
          <a:lstStyle/>
          <a:p>
            <a:pPr algn="l">
              <a:lnSpc>
                <a:spcPts val="2937"/>
              </a:lnSpc>
            </a:pPr>
            <a:r>
              <a:rPr lang="en-US" b="true" sz="2160">
                <a:solidFill>
                  <a:srgbClr val="3D472B"/>
                </a:solidFill>
                <a:latin typeface="Arimo Bold"/>
                <a:ea typeface="Arimo Bold"/>
                <a:cs typeface="Arimo Bold"/>
                <a:sym typeface="Arimo Bold"/>
              </a:rPr>
              <a:t>e</a:t>
            </a:r>
          </a:p>
        </p:txBody>
      </p:sp>
      <p:sp>
        <p:nvSpPr>
          <p:cNvPr name="TextBox 51" id="51"/>
          <p:cNvSpPr txBox="true"/>
          <p:nvPr/>
        </p:nvSpPr>
        <p:spPr>
          <a:xfrm rot="0">
            <a:off x="10012680" y="4918139"/>
            <a:ext cx="2706624" cy="861441"/>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2</a:t>
            </a:r>
            <a:r>
              <a:rPr lang="en-US" b="true" sz="2160">
                <a:solidFill>
                  <a:srgbClr val="201E1D"/>
                </a:solidFill>
                <a:latin typeface="Arimo Bold"/>
                <a:ea typeface="Arimo Bold"/>
                <a:cs typeface="Arimo Bold"/>
                <a:sym typeface="Arimo Bold"/>
              </a:rPr>
              <a:t>6x</a:t>
            </a:r>
            <a:r>
              <a:rPr lang="en-US" b="true" sz="2160">
                <a:solidFill>
                  <a:srgbClr val="201E1D"/>
                </a:solidFill>
                <a:latin typeface="Arimo Bold"/>
                <a:ea typeface="Arimo Bold"/>
                <a:cs typeface="Arimo Bold"/>
                <a:sym typeface="Arimo Bold"/>
              </a:rPr>
              <a:t> = 2</a:t>
            </a:r>
            <a:r>
              <a:rPr lang="en-US" b="true" sz="2160">
                <a:solidFill>
                  <a:srgbClr val="201E1D"/>
                </a:solidFill>
                <a:latin typeface="Arimo Bold"/>
                <a:ea typeface="Arimo Bold"/>
                <a:cs typeface="Arimo Bold"/>
                <a:sym typeface="Arimo Bold"/>
              </a:rPr>
              <a:t>x+1</a:t>
            </a:r>
            <a:r>
              <a:rPr lang="en-US" b="true" sz="2160">
                <a:solidFill>
                  <a:srgbClr val="201E1D"/>
                </a:solidFill>
                <a:latin typeface="Arimo Bold"/>
                <a:ea typeface="Arimo Bold"/>
                <a:cs typeface="Arimo Bold"/>
                <a:sym typeface="Arimo Bold"/>
              </a:rPr>
              <a:t> ⇒ 5x = 1 ⇒ x = ⅕</a:t>
            </a:r>
          </a:p>
        </p:txBody>
      </p:sp>
      <p:grpSp>
        <p:nvGrpSpPr>
          <p:cNvPr name="Group 52" id="52"/>
          <p:cNvGrpSpPr/>
          <p:nvPr/>
        </p:nvGrpSpPr>
        <p:grpSpPr>
          <a:xfrm rot="0">
            <a:off x="13222224" y="4423410"/>
            <a:ext cx="3749040" cy="1545336"/>
            <a:chOff x="0" y="0"/>
            <a:chExt cx="4998720" cy="2060448"/>
          </a:xfrm>
        </p:grpSpPr>
        <p:sp>
          <p:nvSpPr>
            <p:cNvPr name="Freeform 53" id="53"/>
            <p:cNvSpPr/>
            <p:nvPr/>
          </p:nvSpPr>
          <p:spPr>
            <a:xfrm flipH="false" flipV="false" rot="0">
              <a:off x="0" y="0"/>
              <a:ext cx="4998720" cy="2060448"/>
            </a:xfrm>
            <a:custGeom>
              <a:avLst/>
              <a:gdLst/>
              <a:ahLst/>
              <a:cxnLst/>
              <a:rect r="r" b="b" t="t" l="l"/>
              <a:pathLst>
                <a:path h="2060448" w="4998720">
                  <a:moveTo>
                    <a:pt x="355600" y="0"/>
                  </a:moveTo>
                  <a:lnTo>
                    <a:pt x="4643120" y="0"/>
                  </a:lnTo>
                  <a:cubicBezTo>
                    <a:pt x="4839462" y="0"/>
                    <a:pt x="4998720" y="159258"/>
                    <a:pt x="4998720" y="355600"/>
                  </a:cubicBezTo>
                  <a:lnTo>
                    <a:pt x="4998720" y="1704848"/>
                  </a:lnTo>
                  <a:cubicBezTo>
                    <a:pt x="4998720" y="1901190"/>
                    <a:pt x="4839462" y="2060448"/>
                    <a:pt x="4643120" y="2060448"/>
                  </a:cubicBezTo>
                  <a:lnTo>
                    <a:pt x="355600" y="2060448"/>
                  </a:lnTo>
                  <a:cubicBezTo>
                    <a:pt x="159258" y="2060448"/>
                    <a:pt x="0" y="1901190"/>
                    <a:pt x="0" y="1704848"/>
                  </a:cubicBezTo>
                  <a:lnTo>
                    <a:pt x="0" y="355600"/>
                  </a:lnTo>
                  <a:cubicBezTo>
                    <a:pt x="0" y="159258"/>
                    <a:pt x="159258" y="0"/>
                    <a:pt x="355600" y="0"/>
                  </a:cubicBezTo>
                  <a:close/>
                </a:path>
              </a:pathLst>
            </a:custGeom>
            <a:solidFill>
              <a:srgbClr val="F0FAE1"/>
            </a:solidFill>
          </p:spPr>
        </p:sp>
        <p:sp>
          <p:nvSpPr>
            <p:cNvPr name="Freeform 54" id="54"/>
            <p:cNvSpPr/>
            <p:nvPr/>
          </p:nvSpPr>
          <p:spPr>
            <a:xfrm flipH="false" flipV="false" rot="0">
              <a:off x="0" y="0"/>
              <a:ext cx="4998720" cy="2060448"/>
            </a:xfrm>
            <a:custGeom>
              <a:avLst/>
              <a:gdLst/>
              <a:ahLst/>
              <a:cxnLst/>
              <a:rect r="r" b="b" t="t" l="l"/>
              <a:pathLst>
                <a:path h="2060448" w="4998720">
                  <a:moveTo>
                    <a:pt x="355600" y="0"/>
                  </a:moveTo>
                  <a:lnTo>
                    <a:pt x="4643120" y="0"/>
                  </a:lnTo>
                  <a:cubicBezTo>
                    <a:pt x="4839462" y="0"/>
                    <a:pt x="4998720" y="159258"/>
                    <a:pt x="4998720" y="355600"/>
                  </a:cubicBezTo>
                  <a:lnTo>
                    <a:pt x="4998720" y="1704848"/>
                  </a:lnTo>
                  <a:cubicBezTo>
                    <a:pt x="4998720" y="1901190"/>
                    <a:pt x="4839462" y="2060448"/>
                    <a:pt x="4643120" y="2060448"/>
                  </a:cubicBezTo>
                  <a:lnTo>
                    <a:pt x="355600" y="2060448"/>
                  </a:lnTo>
                  <a:cubicBezTo>
                    <a:pt x="159258" y="2060448"/>
                    <a:pt x="0" y="1901190"/>
                    <a:pt x="0" y="1704848"/>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55" id="55"/>
          <p:cNvSpPr txBox="true"/>
          <p:nvPr/>
        </p:nvSpPr>
        <p:spPr>
          <a:xfrm rot="0">
            <a:off x="13505688" y="4565047"/>
            <a:ext cx="3182112"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56" id="56"/>
          <p:cNvSpPr txBox="true"/>
          <p:nvPr/>
        </p:nvSpPr>
        <p:spPr>
          <a:xfrm rot="0">
            <a:off x="13505688" y="4983004"/>
            <a:ext cx="329184" cy="422529"/>
          </a:xfrm>
          <a:prstGeom prst="rect">
            <a:avLst/>
          </a:prstGeom>
        </p:spPr>
        <p:txBody>
          <a:bodyPr anchor="t" rtlCol="false" tIns="0" lIns="0" bIns="0" rIns="0">
            <a:spAutoFit/>
          </a:bodyPr>
          <a:lstStyle/>
          <a:p>
            <a:pPr algn="l">
              <a:lnSpc>
                <a:spcPts val="2937"/>
              </a:lnSpc>
            </a:pPr>
            <a:r>
              <a:rPr lang="en-US" b="true" sz="2160">
                <a:solidFill>
                  <a:srgbClr val="3D472B"/>
                </a:solidFill>
                <a:latin typeface="Arimo Bold"/>
                <a:ea typeface="Arimo Bold"/>
                <a:cs typeface="Arimo Bold"/>
                <a:sym typeface="Arimo Bold"/>
              </a:rPr>
              <a:t>f</a:t>
            </a:r>
          </a:p>
        </p:txBody>
      </p:sp>
      <p:sp>
        <p:nvSpPr>
          <p:cNvPr name="TextBox 57" id="57"/>
          <p:cNvSpPr txBox="true"/>
          <p:nvPr/>
        </p:nvSpPr>
        <p:spPr>
          <a:xfrm rot="0">
            <a:off x="13981176" y="4918139"/>
            <a:ext cx="2706624" cy="861441"/>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3</a:t>
            </a:r>
            <a:r>
              <a:rPr lang="en-US" b="true" sz="2160">
                <a:solidFill>
                  <a:srgbClr val="201E1D"/>
                </a:solidFill>
                <a:latin typeface="Arimo Bold"/>
                <a:ea typeface="Arimo Bold"/>
                <a:cs typeface="Arimo Bold"/>
                <a:sym typeface="Arimo Bold"/>
              </a:rPr>
              <a:t>6x+8</a:t>
            </a:r>
            <a:r>
              <a:rPr lang="en-US" b="true" sz="2160">
                <a:solidFill>
                  <a:srgbClr val="201E1D"/>
                </a:solidFill>
                <a:latin typeface="Arimo Bold"/>
                <a:ea typeface="Arimo Bold"/>
                <a:cs typeface="Arimo Bold"/>
                <a:sym typeface="Arimo Bold"/>
              </a:rPr>
              <a:t> = 3</a:t>
            </a:r>
            <a:r>
              <a:rPr lang="en-US" b="true" sz="2160">
                <a:solidFill>
                  <a:srgbClr val="201E1D"/>
                </a:solidFill>
                <a:latin typeface="Arimo Bold"/>
                <a:ea typeface="Arimo Bold"/>
                <a:cs typeface="Arimo Bold"/>
                <a:sym typeface="Arimo Bold"/>
              </a:rPr>
              <a:t>12x+9</a:t>
            </a:r>
            <a:r>
              <a:rPr lang="en-US" b="true" sz="2160">
                <a:solidFill>
                  <a:srgbClr val="201E1D"/>
                </a:solidFill>
                <a:latin typeface="Arimo Bold"/>
                <a:ea typeface="Arimo Bold"/>
                <a:cs typeface="Arimo Bold"/>
                <a:sym typeface="Arimo Bold"/>
              </a:rPr>
              <a:t> ⇒ x = −⅙</a:t>
            </a:r>
          </a:p>
        </p:txBody>
      </p:sp>
      <p:sp>
        <p:nvSpPr>
          <p:cNvPr name="TextBox 58" id="58"/>
          <p:cNvSpPr txBox="true"/>
          <p:nvPr/>
        </p:nvSpPr>
        <p:spPr>
          <a:xfrm rot="0">
            <a:off x="990600" y="5982938"/>
            <a:ext cx="16306800" cy="457200"/>
          </a:xfrm>
          <a:prstGeom prst="rect">
            <a:avLst/>
          </a:prstGeom>
        </p:spPr>
        <p:txBody>
          <a:bodyPr anchor="t" rtlCol="false" tIns="0" lIns="0" bIns="0" rIns="0">
            <a:spAutoFit/>
          </a:bodyPr>
          <a:lstStyle/>
          <a:p>
            <a:pPr algn="l">
              <a:lnSpc>
                <a:spcPts val="3149"/>
              </a:lnSpc>
            </a:pPr>
            <a:r>
              <a:rPr lang="en-US" b="true" sz="2250">
                <a:solidFill>
                  <a:srgbClr val="474238"/>
                </a:solidFill>
                <a:latin typeface="Arimo Bold"/>
                <a:ea typeface="Arimo Bold"/>
                <a:cs typeface="Arimo Bold"/>
                <a:sym typeface="Arimo Bold"/>
              </a:rPr>
              <a:t>Reflection: how can you make sure you are ready to spot connections between powers when they come up?</a:t>
            </a:r>
          </a:p>
        </p:txBody>
      </p:sp>
      <p:grpSp>
        <p:nvGrpSpPr>
          <p:cNvPr name="Group 59" id="59"/>
          <p:cNvGrpSpPr/>
          <p:nvPr/>
        </p:nvGrpSpPr>
        <p:grpSpPr>
          <a:xfrm rot="0">
            <a:off x="989838" y="9010650"/>
            <a:ext cx="3209925" cy="666750"/>
            <a:chOff x="0" y="0"/>
            <a:chExt cx="4279900" cy="889000"/>
          </a:xfrm>
        </p:grpSpPr>
        <p:sp>
          <p:nvSpPr>
            <p:cNvPr name="Freeform 60" id="60"/>
            <p:cNvSpPr/>
            <p:nvPr/>
          </p:nvSpPr>
          <p:spPr>
            <a:xfrm flipH="false" flipV="false" rot="0">
              <a:off x="0" y="0"/>
              <a:ext cx="4279900" cy="889000"/>
            </a:xfrm>
            <a:custGeom>
              <a:avLst/>
              <a:gdLst/>
              <a:ahLst/>
              <a:cxnLst/>
              <a:rect r="r" b="b" t="t" l="l"/>
              <a:pathLst>
                <a:path h="889000" w="4279900">
                  <a:moveTo>
                    <a:pt x="444500" y="0"/>
                  </a:moveTo>
                  <a:lnTo>
                    <a:pt x="3835400" y="0"/>
                  </a:lnTo>
                  <a:cubicBezTo>
                    <a:pt x="4080891" y="0"/>
                    <a:pt x="4279900" y="199009"/>
                    <a:pt x="4279900" y="444500"/>
                  </a:cubicBezTo>
                  <a:cubicBezTo>
                    <a:pt x="4279900" y="689991"/>
                    <a:pt x="4080891" y="889000"/>
                    <a:pt x="38354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grpSp>
      <p:sp>
        <p:nvSpPr>
          <p:cNvPr name="TextBox 61" id="61"/>
          <p:cNvSpPr txBox="true"/>
          <p:nvPr/>
        </p:nvSpPr>
        <p:spPr>
          <a:xfrm rot="0">
            <a:off x="1361313" y="9153525"/>
            <a:ext cx="2466975" cy="361950"/>
          </a:xfrm>
          <a:prstGeom prst="rect">
            <a:avLst/>
          </a:prstGeom>
        </p:spPr>
        <p:txBody>
          <a:bodyPr anchor="t" rtlCol="false" tIns="0" lIns="0" bIns="0" rIns="0">
            <a:spAutoFit/>
          </a:bodyPr>
          <a:lstStyle/>
          <a:p>
            <a:pPr algn="ctr">
              <a:lnSpc>
                <a:spcPts val="2700"/>
              </a:lnSpc>
            </a:pPr>
            <a:r>
              <a:rPr lang="en-US" b="true" sz="2250" spc="-44">
                <a:solidFill>
                  <a:srgbClr val="F5EAD8"/>
                </a:solidFill>
                <a:latin typeface="Arimo Bold"/>
                <a:ea typeface="Arimo Bold"/>
                <a:cs typeface="Arimo Bold"/>
                <a:sym typeface="Arimo Bold"/>
              </a:rPr>
              <a:t>Reveal the answers</a:t>
            </a: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FFE1D0"/>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CCDBB2"/>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FFC6A5"/>
            </a:solidFill>
          </p:spPr>
        </p:sp>
      </p:grpSp>
      <p:grpSp>
        <p:nvGrpSpPr>
          <p:cNvPr name="Group 9" id="9"/>
          <p:cNvGrpSpPr/>
          <p:nvPr/>
        </p:nvGrpSpPr>
        <p:grpSpPr>
          <a:xfrm rot="0">
            <a:off x="992695" y="611505"/>
            <a:ext cx="2514600" cy="600075"/>
            <a:chOff x="0" y="0"/>
            <a:chExt cx="3352800" cy="800100"/>
          </a:xfrm>
        </p:grpSpPr>
        <p:sp>
          <p:nvSpPr>
            <p:cNvPr name="Freeform 10" id="10"/>
            <p:cNvSpPr/>
            <p:nvPr/>
          </p:nvSpPr>
          <p:spPr>
            <a:xfrm flipH="false" flipV="false" rot="0">
              <a:off x="0" y="0"/>
              <a:ext cx="3352800" cy="800100"/>
            </a:xfrm>
            <a:custGeom>
              <a:avLst/>
              <a:gdLst/>
              <a:ahLst/>
              <a:cxnLst/>
              <a:rect r="r" b="b" t="t" l="l"/>
              <a:pathLst>
                <a:path h="800100" w="3352800">
                  <a:moveTo>
                    <a:pt x="400050" y="0"/>
                  </a:moveTo>
                  <a:lnTo>
                    <a:pt x="2952750" y="0"/>
                  </a:lnTo>
                  <a:cubicBezTo>
                    <a:pt x="3173730" y="0"/>
                    <a:pt x="3352800" y="179070"/>
                    <a:pt x="3352800" y="400050"/>
                  </a:cubicBezTo>
                  <a:cubicBezTo>
                    <a:pt x="3352800" y="621030"/>
                    <a:pt x="3173730" y="800100"/>
                    <a:pt x="2952750" y="800100"/>
                  </a:cubicBezTo>
                  <a:lnTo>
                    <a:pt x="400050" y="800100"/>
                  </a:lnTo>
                  <a:cubicBezTo>
                    <a:pt x="179070" y="800100"/>
                    <a:pt x="0" y="621030"/>
                    <a:pt x="0" y="400050"/>
                  </a:cubicBezTo>
                  <a:cubicBezTo>
                    <a:pt x="0" y="179070"/>
                    <a:pt x="179070" y="0"/>
                    <a:pt x="400050" y="0"/>
                  </a:cubicBezTo>
                  <a:close/>
                </a:path>
              </a:pathLst>
            </a:custGeom>
            <a:solidFill>
              <a:srgbClr val="8C491A"/>
            </a:solidFill>
          </p:spPr>
        </p:sp>
        <p:sp>
          <p:nvSpPr>
            <p:cNvPr name="TextBox 11" id="11"/>
            <p:cNvSpPr txBox="true"/>
            <p:nvPr/>
          </p:nvSpPr>
          <p:spPr>
            <a:xfrm>
              <a:off x="0" y="-76200"/>
              <a:ext cx="33528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QUICK CHECK</a:t>
              </a:r>
            </a:p>
          </p:txBody>
        </p:sp>
      </p:grpSp>
      <p:sp>
        <p:nvSpPr>
          <p:cNvPr name="TextBox 12" id="12"/>
          <p:cNvSpPr txBox="true"/>
          <p:nvPr/>
        </p:nvSpPr>
        <p:spPr>
          <a:xfrm rot="0">
            <a:off x="3699986" y="630555"/>
            <a:ext cx="333375" cy="485775"/>
          </a:xfrm>
          <a:prstGeom prst="rect">
            <a:avLst/>
          </a:prstGeom>
        </p:spPr>
        <p:txBody>
          <a:bodyPr anchor="t" rtlCol="false" tIns="0" lIns="0" bIns="0" rIns="0">
            <a:spAutoFit/>
          </a:bodyPr>
          <a:lstStyle/>
          <a:p>
            <a:pPr algn="l">
              <a:lnSpc>
                <a:spcPts val="3255"/>
              </a:lnSpc>
            </a:pPr>
            <a:r>
              <a:rPr lang="en-US" b="true" sz="2100">
                <a:solidFill>
                  <a:srgbClr val="3D472B"/>
                </a:solidFill>
                <a:latin typeface="Arimo Bold"/>
                <a:ea typeface="Arimo Bold"/>
                <a:cs typeface="Arimo Bold"/>
                <a:sym typeface="Arimo Bold"/>
              </a:rPr>
              <a:t>6.1</a:t>
            </a:r>
          </a:p>
        </p:txBody>
      </p:sp>
      <p:sp>
        <p:nvSpPr>
          <p:cNvPr name="TextBox 13" id="13"/>
          <p:cNvSpPr txBox="true"/>
          <p:nvPr/>
        </p:nvSpPr>
        <p:spPr>
          <a:xfrm rot="0">
            <a:off x="990600" y="1510570"/>
            <a:ext cx="16306800" cy="542925"/>
          </a:xfrm>
          <a:prstGeom prst="rect">
            <a:avLst/>
          </a:prstGeom>
        </p:spPr>
        <p:txBody>
          <a:bodyPr anchor="t" rtlCol="false" tIns="0" lIns="0" bIns="0" rIns="0">
            <a:spAutoFit/>
          </a:bodyPr>
          <a:lstStyle/>
          <a:p>
            <a:pPr algn="l">
              <a:lnSpc>
                <a:spcPts val="4680"/>
              </a:lnSpc>
            </a:pPr>
            <a:r>
              <a:rPr lang="en-US" b="true" sz="4500" spc="-89">
                <a:solidFill>
                  <a:srgbClr val="201E1D"/>
                </a:solidFill>
                <a:latin typeface="Arimo Bold"/>
                <a:ea typeface="Arimo Bold"/>
                <a:cs typeface="Arimo Bold"/>
                <a:sym typeface="Arimo Bold"/>
              </a:rPr>
              <a:t>Check your understanding</a:t>
            </a:r>
          </a:p>
        </p:txBody>
      </p:sp>
      <p:grpSp>
        <p:nvGrpSpPr>
          <p:cNvPr name="Group 14" id="14"/>
          <p:cNvGrpSpPr/>
          <p:nvPr/>
        </p:nvGrpSpPr>
        <p:grpSpPr>
          <a:xfrm rot="0">
            <a:off x="990600" y="2303240"/>
            <a:ext cx="8048625" cy="2066925"/>
            <a:chOff x="0" y="0"/>
            <a:chExt cx="10731500" cy="2755900"/>
          </a:xfrm>
        </p:grpSpPr>
        <p:sp>
          <p:nvSpPr>
            <p:cNvPr name="Freeform 15" id="15"/>
            <p:cNvSpPr/>
            <p:nvPr/>
          </p:nvSpPr>
          <p:spPr>
            <a:xfrm flipH="false" flipV="false" rot="0">
              <a:off x="0" y="0"/>
              <a:ext cx="10731500" cy="2755900"/>
            </a:xfrm>
            <a:custGeom>
              <a:avLst/>
              <a:gdLst/>
              <a:ahLst/>
              <a:cxnLst/>
              <a:rect r="r" b="b" t="t" l="l"/>
              <a:pathLst>
                <a:path h="2755900" w="10731500">
                  <a:moveTo>
                    <a:pt x="355600" y="0"/>
                  </a:moveTo>
                  <a:lnTo>
                    <a:pt x="10375900" y="0"/>
                  </a:lnTo>
                  <a:cubicBezTo>
                    <a:pt x="10572242" y="0"/>
                    <a:pt x="10731500" y="159258"/>
                    <a:pt x="10731500" y="355600"/>
                  </a:cubicBezTo>
                  <a:lnTo>
                    <a:pt x="10731500" y="2400300"/>
                  </a:lnTo>
                  <a:cubicBezTo>
                    <a:pt x="10731500" y="2596642"/>
                    <a:pt x="10572242" y="2755900"/>
                    <a:pt x="10375900" y="2755900"/>
                  </a:cubicBezTo>
                  <a:lnTo>
                    <a:pt x="355600" y="2755900"/>
                  </a:lnTo>
                  <a:cubicBezTo>
                    <a:pt x="159258" y="2755900"/>
                    <a:pt x="0" y="2596642"/>
                    <a:pt x="0" y="2400300"/>
                  </a:cubicBezTo>
                  <a:lnTo>
                    <a:pt x="0" y="355600"/>
                  </a:lnTo>
                  <a:cubicBezTo>
                    <a:pt x="0" y="159258"/>
                    <a:pt x="159258" y="0"/>
                    <a:pt x="355600" y="0"/>
                  </a:cubicBezTo>
                  <a:close/>
                </a:path>
              </a:pathLst>
            </a:custGeom>
            <a:solidFill>
              <a:srgbClr val="EBDDC5"/>
            </a:solidFill>
          </p:spPr>
        </p:sp>
      </p:grpSp>
      <p:sp>
        <p:nvSpPr>
          <p:cNvPr name="TextBox 16" id="16"/>
          <p:cNvSpPr txBox="true"/>
          <p:nvPr/>
        </p:nvSpPr>
        <p:spPr>
          <a:xfrm rot="0">
            <a:off x="1276350" y="2437257"/>
            <a:ext cx="7477125" cy="428625"/>
          </a:xfrm>
          <a:prstGeom prst="rect">
            <a:avLst/>
          </a:prstGeom>
        </p:spPr>
        <p:txBody>
          <a:bodyPr anchor="t" rtlCol="false" tIns="0" lIns="0" bIns="0" rIns="0">
            <a:spAutoFit/>
          </a:bodyPr>
          <a:lstStyle/>
          <a:p>
            <a:pPr algn="l">
              <a:lnSpc>
                <a:spcPts val="2790"/>
              </a:lnSpc>
            </a:pPr>
            <a:r>
              <a:rPr lang="en-US" b="true" sz="1800" spc="144">
                <a:solidFill>
                  <a:srgbClr val="8C491A"/>
                </a:solidFill>
                <a:latin typeface="Arimo Bold"/>
                <a:ea typeface="Arimo Bold"/>
                <a:cs typeface="Arimo Bold"/>
                <a:sym typeface="Arimo Bold"/>
              </a:rPr>
              <a:t>QUESTION 5</a:t>
            </a:r>
          </a:p>
        </p:txBody>
      </p:sp>
      <p:sp>
        <p:nvSpPr>
          <p:cNvPr name="TextBox 17" id="17"/>
          <p:cNvSpPr txBox="true"/>
          <p:nvPr/>
        </p:nvSpPr>
        <p:spPr>
          <a:xfrm rot="0">
            <a:off x="1276350" y="2932843"/>
            <a:ext cx="7477125" cy="476250"/>
          </a:xfrm>
          <a:prstGeom prst="rect">
            <a:avLst/>
          </a:prstGeom>
        </p:spPr>
        <p:txBody>
          <a:bodyPr anchor="t" rtlCol="false" tIns="0" lIns="0" bIns="0" rIns="0">
            <a:spAutoFit/>
          </a:bodyPr>
          <a:lstStyle/>
          <a:p>
            <a:pPr algn="l">
              <a:lnSpc>
                <a:spcPts val="3366"/>
              </a:lnSpc>
            </a:pPr>
            <a:r>
              <a:rPr lang="en-US" b="true" sz="2475">
                <a:solidFill>
                  <a:srgbClr val="201E1D"/>
                </a:solidFill>
                <a:latin typeface="Arimo Bold"/>
                <a:ea typeface="Arimo Bold"/>
                <a:cs typeface="Arimo Bold"/>
                <a:sym typeface="Arimo Bold"/>
              </a:rPr>
              <a:t>Solve 7x − 4 = 3x + 20</a:t>
            </a:r>
          </a:p>
        </p:txBody>
      </p:sp>
      <p:grpSp>
        <p:nvGrpSpPr>
          <p:cNvPr name="Group 18" id="18"/>
          <p:cNvGrpSpPr/>
          <p:nvPr/>
        </p:nvGrpSpPr>
        <p:grpSpPr>
          <a:xfrm rot="0">
            <a:off x="3884009" y="3565588"/>
            <a:ext cx="1333500" cy="552450"/>
            <a:chOff x="0" y="0"/>
            <a:chExt cx="1778000" cy="736600"/>
          </a:xfrm>
        </p:grpSpPr>
        <p:sp>
          <p:nvSpPr>
            <p:cNvPr name="Freeform 19" id="19"/>
            <p:cNvSpPr/>
            <p:nvPr/>
          </p:nvSpPr>
          <p:spPr>
            <a:xfrm flipH="false" flipV="false" rot="0">
              <a:off x="0" y="0"/>
              <a:ext cx="1778000" cy="736600"/>
            </a:xfrm>
            <a:custGeom>
              <a:avLst/>
              <a:gdLst/>
              <a:ahLst/>
              <a:cxnLst/>
              <a:rect r="r" b="b" t="t" l="l"/>
              <a:pathLst>
                <a:path h="736600" w="1778000">
                  <a:moveTo>
                    <a:pt x="368300" y="0"/>
                  </a:moveTo>
                  <a:lnTo>
                    <a:pt x="1409700" y="0"/>
                  </a:lnTo>
                  <a:cubicBezTo>
                    <a:pt x="1613154" y="0"/>
                    <a:pt x="1778000" y="164846"/>
                    <a:pt x="1778000" y="368300"/>
                  </a:cubicBezTo>
                  <a:cubicBezTo>
                    <a:pt x="1778000" y="571754"/>
                    <a:pt x="1613154" y="736600"/>
                    <a:pt x="1409700" y="736600"/>
                  </a:cubicBezTo>
                  <a:lnTo>
                    <a:pt x="368300" y="736600"/>
                  </a:lnTo>
                  <a:cubicBezTo>
                    <a:pt x="164846" y="736600"/>
                    <a:pt x="0" y="571754"/>
                    <a:pt x="0" y="368300"/>
                  </a:cubicBezTo>
                  <a:cubicBezTo>
                    <a:pt x="0" y="164846"/>
                    <a:pt x="164846" y="0"/>
                    <a:pt x="368300" y="0"/>
                  </a:cubicBezTo>
                  <a:close/>
                </a:path>
              </a:pathLst>
            </a:custGeom>
            <a:solidFill>
              <a:srgbClr val="C67139"/>
            </a:solidFill>
          </p:spPr>
        </p:sp>
        <p:sp>
          <p:nvSpPr>
            <p:cNvPr name="TextBox 20" id="20"/>
            <p:cNvSpPr txBox="true"/>
            <p:nvPr/>
          </p:nvSpPr>
          <p:spPr>
            <a:xfrm>
              <a:off x="0" y="-9525"/>
              <a:ext cx="1778000" cy="746125"/>
            </a:xfrm>
            <a:prstGeom prst="rect">
              <a:avLst/>
            </a:prstGeom>
          </p:spPr>
          <p:txBody>
            <a:bodyPr anchor="t" rtlCol="false" tIns="149860" lIns="149860" bIns="149860" rIns="149860"/>
            <a:lstStyle/>
            <a:p>
              <a:pPr algn="ctr">
                <a:lnSpc>
                  <a:spcPts val="2430"/>
                </a:lnSpc>
              </a:pPr>
              <a:r>
                <a:rPr lang="en-US" b="true" sz="2025" spc="-40">
                  <a:solidFill>
                    <a:srgbClr val="F5EAD8"/>
                  </a:solidFill>
                  <a:latin typeface="Arimo Bold"/>
                  <a:ea typeface="Arimo Bold"/>
                  <a:cs typeface="Arimo Bold"/>
                  <a:sym typeface="Arimo Bold"/>
                </a:rPr>
                <a:t>Check</a:t>
              </a:r>
            </a:p>
          </p:txBody>
        </p:sp>
      </p:grpSp>
      <p:sp>
        <p:nvSpPr>
          <p:cNvPr name="TextBox 21" id="21"/>
          <p:cNvSpPr txBox="true"/>
          <p:nvPr/>
        </p:nvSpPr>
        <p:spPr>
          <a:xfrm rot="0">
            <a:off x="5348478" y="3556063"/>
            <a:ext cx="1981200" cy="561975"/>
          </a:xfrm>
          <a:prstGeom prst="rect">
            <a:avLst/>
          </a:prstGeom>
        </p:spPr>
        <p:txBody>
          <a:bodyPr anchor="t" rtlCol="false" tIns="0" lIns="0" bIns="0" rIns="0">
            <a:spAutoFit/>
          </a:bodyPr>
          <a:lstStyle/>
          <a:p>
            <a:pPr algn="ctr">
              <a:lnSpc>
                <a:spcPts val="2430"/>
              </a:lnSpc>
            </a:pPr>
            <a:r>
              <a:rPr lang="en-US" b="true" sz="2025" spc="-40">
                <a:solidFill>
                  <a:srgbClr val="C67139"/>
                </a:solidFill>
                <a:latin typeface="Arimo Bold"/>
                <a:ea typeface="Arimo Bold"/>
                <a:cs typeface="Arimo Bold"/>
                <a:sym typeface="Arimo Bold"/>
              </a:rPr>
              <a:t>Show answer</a:t>
            </a:r>
          </a:p>
        </p:txBody>
      </p:sp>
      <p:grpSp>
        <p:nvGrpSpPr>
          <p:cNvPr name="Group 22" id="22"/>
          <p:cNvGrpSpPr/>
          <p:nvPr/>
        </p:nvGrpSpPr>
        <p:grpSpPr>
          <a:xfrm rot="0">
            <a:off x="9248775" y="2303240"/>
            <a:ext cx="8048625" cy="2066925"/>
            <a:chOff x="0" y="0"/>
            <a:chExt cx="10731500" cy="2755900"/>
          </a:xfrm>
        </p:grpSpPr>
        <p:sp>
          <p:nvSpPr>
            <p:cNvPr name="Freeform 23" id="23"/>
            <p:cNvSpPr/>
            <p:nvPr/>
          </p:nvSpPr>
          <p:spPr>
            <a:xfrm flipH="false" flipV="false" rot="0">
              <a:off x="0" y="0"/>
              <a:ext cx="10731500" cy="2755900"/>
            </a:xfrm>
            <a:custGeom>
              <a:avLst/>
              <a:gdLst/>
              <a:ahLst/>
              <a:cxnLst/>
              <a:rect r="r" b="b" t="t" l="l"/>
              <a:pathLst>
                <a:path h="2755900" w="10731500">
                  <a:moveTo>
                    <a:pt x="355600" y="0"/>
                  </a:moveTo>
                  <a:lnTo>
                    <a:pt x="10375900" y="0"/>
                  </a:lnTo>
                  <a:cubicBezTo>
                    <a:pt x="10572242" y="0"/>
                    <a:pt x="10731500" y="159258"/>
                    <a:pt x="10731500" y="355600"/>
                  </a:cubicBezTo>
                  <a:lnTo>
                    <a:pt x="10731500" y="2400300"/>
                  </a:lnTo>
                  <a:cubicBezTo>
                    <a:pt x="10731500" y="2596642"/>
                    <a:pt x="10572242" y="2755900"/>
                    <a:pt x="10375900" y="2755900"/>
                  </a:cubicBezTo>
                  <a:lnTo>
                    <a:pt x="355600" y="2755900"/>
                  </a:lnTo>
                  <a:cubicBezTo>
                    <a:pt x="159258" y="2755900"/>
                    <a:pt x="0" y="2596642"/>
                    <a:pt x="0" y="2400300"/>
                  </a:cubicBezTo>
                  <a:lnTo>
                    <a:pt x="0" y="355600"/>
                  </a:lnTo>
                  <a:cubicBezTo>
                    <a:pt x="0" y="159258"/>
                    <a:pt x="159258" y="0"/>
                    <a:pt x="355600" y="0"/>
                  </a:cubicBezTo>
                  <a:close/>
                </a:path>
              </a:pathLst>
            </a:custGeom>
            <a:solidFill>
              <a:srgbClr val="EBDDC5"/>
            </a:solidFill>
          </p:spPr>
        </p:sp>
      </p:grpSp>
      <p:sp>
        <p:nvSpPr>
          <p:cNvPr name="TextBox 24" id="24"/>
          <p:cNvSpPr txBox="true"/>
          <p:nvPr/>
        </p:nvSpPr>
        <p:spPr>
          <a:xfrm rot="0">
            <a:off x="9534525" y="2437257"/>
            <a:ext cx="7477125" cy="428625"/>
          </a:xfrm>
          <a:prstGeom prst="rect">
            <a:avLst/>
          </a:prstGeom>
        </p:spPr>
        <p:txBody>
          <a:bodyPr anchor="t" rtlCol="false" tIns="0" lIns="0" bIns="0" rIns="0">
            <a:spAutoFit/>
          </a:bodyPr>
          <a:lstStyle/>
          <a:p>
            <a:pPr algn="l">
              <a:lnSpc>
                <a:spcPts val="2790"/>
              </a:lnSpc>
            </a:pPr>
            <a:r>
              <a:rPr lang="en-US" b="true" sz="1800" spc="144">
                <a:solidFill>
                  <a:srgbClr val="56633F"/>
                </a:solidFill>
                <a:latin typeface="Arimo Bold"/>
                <a:ea typeface="Arimo Bold"/>
                <a:cs typeface="Arimo Bold"/>
                <a:sym typeface="Arimo Bold"/>
              </a:rPr>
              <a:t>QUESTION 6</a:t>
            </a:r>
          </a:p>
        </p:txBody>
      </p:sp>
      <p:sp>
        <p:nvSpPr>
          <p:cNvPr name="TextBox 25" id="25"/>
          <p:cNvSpPr txBox="true"/>
          <p:nvPr/>
        </p:nvSpPr>
        <p:spPr>
          <a:xfrm rot="0">
            <a:off x="9534525" y="2932843"/>
            <a:ext cx="7477125" cy="476250"/>
          </a:xfrm>
          <a:prstGeom prst="rect">
            <a:avLst/>
          </a:prstGeom>
        </p:spPr>
        <p:txBody>
          <a:bodyPr anchor="t" rtlCol="false" tIns="0" lIns="0" bIns="0" rIns="0">
            <a:spAutoFit/>
          </a:bodyPr>
          <a:lstStyle/>
          <a:p>
            <a:pPr algn="l">
              <a:lnSpc>
                <a:spcPts val="3366"/>
              </a:lnSpc>
            </a:pPr>
            <a:r>
              <a:rPr lang="en-US" b="true" sz="2475">
                <a:solidFill>
                  <a:srgbClr val="201E1D"/>
                </a:solidFill>
                <a:latin typeface="Arimo Bold"/>
                <a:ea typeface="Arimo Bold"/>
                <a:cs typeface="Arimo Bold"/>
                <a:sym typeface="Arimo Bold"/>
              </a:rPr>
              <a:t>Solve 3(x + 2) = 5x − 4</a:t>
            </a:r>
          </a:p>
        </p:txBody>
      </p:sp>
      <p:grpSp>
        <p:nvGrpSpPr>
          <p:cNvPr name="Group 26" id="26"/>
          <p:cNvGrpSpPr/>
          <p:nvPr/>
        </p:nvGrpSpPr>
        <p:grpSpPr>
          <a:xfrm rot="0">
            <a:off x="12142184" y="3565588"/>
            <a:ext cx="1333500" cy="552450"/>
            <a:chOff x="0" y="0"/>
            <a:chExt cx="1778000" cy="736600"/>
          </a:xfrm>
        </p:grpSpPr>
        <p:sp>
          <p:nvSpPr>
            <p:cNvPr name="Freeform 27" id="27"/>
            <p:cNvSpPr/>
            <p:nvPr/>
          </p:nvSpPr>
          <p:spPr>
            <a:xfrm flipH="false" flipV="false" rot="0">
              <a:off x="0" y="0"/>
              <a:ext cx="1778000" cy="736600"/>
            </a:xfrm>
            <a:custGeom>
              <a:avLst/>
              <a:gdLst/>
              <a:ahLst/>
              <a:cxnLst/>
              <a:rect r="r" b="b" t="t" l="l"/>
              <a:pathLst>
                <a:path h="736600" w="1778000">
                  <a:moveTo>
                    <a:pt x="368300" y="0"/>
                  </a:moveTo>
                  <a:lnTo>
                    <a:pt x="1409700" y="0"/>
                  </a:lnTo>
                  <a:cubicBezTo>
                    <a:pt x="1613154" y="0"/>
                    <a:pt x="1778000" y="164846"/>
                    <a:pt x="1778000" y="368300"/>
                  </a:cubicBezTo>
                  <a:cubicBezTo>
                    <a:pt x="1778000" y="571754"/>
                    <a:pt x="1613154" y="736600"/>
                    <a:pt x="1409700" y="736600"/>
                  </a:cubicBezTo>
                  <a:lnTo>
                    <a:pt x="368300" y="736600"/>
                  </a:lnTo>
                  <a:cubicBezTo>
                    <a:pt x="164846" y="736600"/>
                    <a:pt x="0" y="571754"/>
                    <a:pt x="0" y="368300"/>
                  </a:cubicBezTo>
                  <a:cubicBezTo>
                    <a:pt x="0" y="164846"/>
                    <a:pt x="164846" y="0"/>
                    <a:pt x="368300" y="0"/>
                  </a:cubicBezTo>
                  <a:close/>
                </a:path>
              </a:pathLst>
            </a:custGeom>
            <a:solidFill>
              <a:srgbClr val="C67139"/>
            </a:solidFill>
          </p:spPr>
        </p:sp>
        <p:sp>
          <p:nvSpPr>
            <p:cNvPr name="TextBox 28" id="28"/>
            <p:cNvSpPr txBox="true"/>
            <p:nvPr/>
          </p:nvSpPr>
          <p:spPr>
            <a:xfrm>
              <a:off x="0" y="-9525"/>
              <a:ext cx="1778000" cy="746125"/>
            </a:xfrm>
            <a:prstGeom prst="rect">
              <a:avLst/>
            </a:prstGeom>
          </p:spPr>
          <p:txBody>
            <a:bodyPr anchor="t" rtlCol="false" tIns="149860" lIns="149860" bIns="149860" rIns="149860"/>
            <a:lstStyle/>
            <a:p>
              <a:pPr algn="ctr">
                <a:lnSpc>
                  <a:spcPts val="2430"/>
                </a:lnSpc>
              </a:pPr>
              <a:r>
                <a:rPr lang="en-US" b="true" sz="2025" spc="-40">
                  <a:solidFill>
                    <a:srgbClr val="F5EAD8"/>
                  </a:solidFill>
                  <a:latin typeface="Arimo Bold"/>
                  <a:ea typeface="Arimo Bold"/>
                  <a:cs typeface="Arimo Bold"/>
                  <a:sym typeface="Arimo Bold"/>
                </a:rPr>
                <a:t>Check</a:t>
              </a:r>
            </a:p>
          </p:txBody>
        </p:sp>
      </p:grpSp>
      <p:sp>
        <p:nvSpPr>
          <p:cNvPr name="TextBox 29" id="29"/>
          <p:cNvSpPr txBox="true"/>
          <p:nvPr/>
        </p:nvSpPr>
        <p:spPr>
          <a:xfrm rot="0">
            <a:off x="13606653" y="3556063"/>
            <a:ext cx="1981200" cy="561975"/>
          </a:xfrm>
          <a:prstGeom prst="rect">
            <a:avLst/>
          </a:prstGeom>
        </p:spPr>
        <p:txBody>
          <a:bodyPr anchor="t" rtlCol="false" tIns="0" lIns="0" bIns="0" rIns="0">
            <a:spAutoFit/>
          </a:bodyPr>
          <a:lstStyle/>
          <a:p>
            <a:pPr algn="ctr">
              <a:lnSpc>
                <a:spcPts val="2430"/>
              </a:lnSpc>
            </a:pPr>
            <a:r>
              <a:rPr lang="en-US" b="true" sz="2025" spc="-40">
                <a:solidFill>
                  <a:srgbClr val="C67139"/>
                </a:solidFill>
                <a:latin typeface="Arimo Bold"/>
                <a:ea typeface="Arimo Bold"/>
                <a:cs typeface="Arimo Bold"/>
                <a:sym typeface="Arimo Bold"/>
              </a:rPr>
              <a:t>Show answer</a:t>
            </a:r>
          </a:p>
        </p:txBody>
      </p:sp>
      <p:grpSp>
        <p:nvGrpSpPr>
          <p:cNvPr name="Group 30" id="30"/>
          <p:cNvGrpSpPr/>
          <p:nvPr/>
        </p:nvGrpSpPr>
        <p:grpSpPr>
          <a:xfrm rot="0">
            <a:off x="990600" y="4581811"/>
            <a:ext cx="8048625" cy="3076575"/>
            <a:chOff x="0" y="0"/>
            <a:chExt cx="10731500" cy="4102100"/>
          </a:xfrm>
        </p:grpSpPr>
        <p:sp>
          <p:nvSpPr>
            <p:cNvPr name="Freeform 31" id="31"/>
            <p:cNvSpPr/>
            <p:nvPr/>
          </p:nvSpPr>
          <p:spPr>
            <a:xfrm flipH="false" flipV="false" rot="0">
              <a:off x="0" y="0"/>
              <a:ext cx="10731500" cy="4102100"/>
            </a:xfrm>
            <a:custGeom>
              <a:avLst/>
              <a:gdLst/>
              <a:ahLst/>
              <a:cxnLst/>
              <a:rect r="r" b="b" t="t" l="l"/>
              <a:pathLst>
                <a:path h="4102100" w="10731500">
                  <a:moveTo>
                    <a:pt x="355600" y="0"/>
                  </a:moveTo>
                  <a:lnTo>
                    <a:pt x="10375900" y="0"/>
                  </a:lnTo>
                  <a:cubicBezTo>
                    <a:pt x="10572242" y="0"/>
                    <a:pt x="10731500" y="159258"/>
                    <a:pt x="10731500" y="355600"/>
                  </a:cubicBezTo>
                  <a:lnTo>
                    <a:pt x="10731500" y="3746500"/>
                  </a:lnTo>
                  <a:cubicBezTo>
                    <a:pt x="10731500" y="3942842"/>
                    <a:pt x="10572242" y="4102100"/>
                    <a:pt x="10375900" y="4102100"/>
                  </a:cubicBezTo>
                  <a:lnTo>
                    <a:pt x="355600" y="4102100"/>
                  </a:lnTo>
                  <a:cubicBezTo>
                    <a:pt x="159258" y="4102100"/>
                    <a:pt x="0" y="3942842"/>
                    <a:pt x="0" y="3746500"/>
                  </a:cubicBezTo>
                  <a:lnTo>
                    <a:pt x="0" y="355600"/>
                  </a:lnTo>
                  <a:cubicBezTo>
                    <a:pt x="0" y="159258"/>
                    <a:pt x="159258" y="0"/>
                    <a:pt x="355600" y="0"/>
                  </a:cubicBezTo>
                  <a:close/>
                </a:path>
              </a:pathLst>
            </a:custGeom>
            <a:solidFill>
              <a:srgbClr val="EBDDC5"/>
            </a:solidFill>
          </p:spPr>
        </p:sp>
      </p:grpSp>
      <p:sp>
        <p:nvSpPr>
          <p:cNvPr name="TextBox 32" id="32"/>
          <p:cNvSpPr txBox="true"/>
          <p:nvPr/>
        </p:nvSpPr>
        <p:spPr>
          <a:xfrm rot="0">
            <a:off x="1276350" y="4714304"/>
            <a:ext cx="7477125" cy="428625"/>
          </a:xfrm>
          <a:prstGeom prst="rect">
            <a:avLst/>
          </a:prstGeom>
        </p:spPr>
        <p:txBody>
          <a:bodyPr anchor="t" rtlCol="false" tIns="0" lIns="0" bIns="0" rIns="0">
            <a:spAutoFit/>
          </a:bodyPr>
          <a:lstStyle/>
          <a:p>
            <a:pPr algn="l">
              <a:lnSpc>
                <a:spcPts val="2790"/>
              </a:lnSpc>
            </a:pPr>
            <a:r>
              <a:rPr lang="en-US" b="true" sz="1800" spc="144">
                <a:solidFill>
                  <a:srgbClr val="8C491A"/>
                </a:solidFill>
                <a:latin typeface="Arimo Bold"/>
                <a:ea typeface="Arimo Bold"/>
                <a:cs typeface="Arimo Bold"/>
                <a:sym typeface="Arimo Bold"/>
              </a:rPr>
              <a:t>QUESTION 7</a:t>
            </a:r>
          </a:p>
        </p:txBody>
      </p:sp>
      <p:sp>
        <p:nvSpPr>
          <p:cNvPr name="TextBox 33" id="33"/>
          <p:cNvSpPr txBox="true"/>
          <p:nvPr/>
        </p:nvSpPr>
        <p:spPr>
          <a:xfrm rot="0">
            <a:off x="1276350" y="5209889"/>
            <a:ext cx="7477125" cy="542925"/>
          </a:xfrm>
          <a:prstGeom prst="rect">
            <a:avLst/>
          </a:prstGeom>
        </p:spPr>
        <p:txBody>
          <a:bodyPr anchor="t" rtlCol="false" tIns="0" lIns="0" bIns="0" rIns="0">
            <a:spAutoFit/>
          </a:bodyPr>
          <a:lstStyle/>
          <a:p>
            <a:pPr algn="l">
              <a:lnSpc>
                <a:spcPts val="3366"/>
              </a:lnSpc>
            </a:pPr>
            <a:r>
              <a:rPr lang="en-US" b="true" sz="2475">
                <a:solidFill>
                  <a:srgbClr val="201E1D"/>
                </a:solidFill>
                <a:latin typeface="Arimo Bold"/>
                <a:ea typeface="Arimo Bold"/>
                <a:cs typeface="Arimo Bold"/>
                <a:sym typeface="Arimo Bold"/>
              </a:rPr>
              <a:t>Solve 2</a:t>
            </a:r>
            <a:r>
              <a:rPr lang="en-US" b="true" sz="2475">
                <a:solidFill>
                  <a:srgbClr val="201E1D"/>
                </a:solidFill>
                <a:latin typeface="Arimo Bold"/>
                <a:ea typeface="Arimo Bold"/>
                <a:cs typeface="Arimo Bold"/>
                <a:sym typeface="Arimo Bold"/>
              </a:rPr>
              <a:t>x+3</a:t>
            </a:r>
            <a:r>
              <a:rPr lang="en-US" b="true" sz="2475">
                <a:solidFill>
                  <a:srgbClr val="201E1D"/>
                </a:solidFill>
                <a:latin typeface="Arimo Bold"/>
                <a:ea typeface="Arimo Bold"/>
                <a:cs typeface="Arimo Bold"/>
                <a:sym typeface="Arimo Bold"/>
              </a:rPr>
              <a:t> = 32</a:t>
            </a:r>
          </a:p>
        </p:txBody>
      </p:sp>
      <p:grpSp>
        <p:nvGrpSpPr>
          <p:cNvPr name="Group 34" id="34"/>
          <p:cNvGrpSpPr/>
          <p:nvPr/>
        </p:nvGrpSpPr>
        <p:grpSpPr>
          <a:xfrm rot="0">
            <a:off x="3884009" y="5909310"/>
            <a:ext cx="1333500" cy="552450"/>
            <a:chOff x="0" y="0"/>
            <a:chExt cx="1778000" cy="736600"/>
          </a:xfrm>
        </p:grpSpPr>
        <p:sp>
          <p:nvSpPr>
            <p:cNvPr name="Freeform 35" id="35"/>
            <p:cNvSpPr/>
            <p:nvPr/>
          </p:nvSpPr>
          <p:spPr>
            <a:xfrm flipH="false" flipV="false" rot="0">
              <a:off x="0" y="0"/>
              <a:ext cx="1778000" cy="736600"/>
            </a:xfrm>
            <a:custGeom>
              <a:avLst/>
              <a:gdLst/>
              <a:ahLst/>
              <a:cxnLst/>
              <a:rect r="r" b="b" t="t" l="l"/>
              <a:pathLst>
                <a:path h="736600" w="1778000">
                  <a:moveTo>
                    <a:pt x="368300" y="0"/>
                  </a:moveTo>
                  <a:lnTo>
                    <a:pt x="1409700" y="0"/>
                  </a:lnTo>
                  <a:cubicBezTo>
                    <a:pt x="1613154" y="0"/>
                    <a:pt x="1778000" y="164846"/>
                    <a:pt x="1778000" y="368300"/>
                  </a:cubicBezTo>
                  <a:cubicBezTo>
                    <a:pt x="1778000" y="571754"/>
                    <a:pt x="1613154" y="736600"/>
                    <a:pt x="1409700" y="736600"/>
                  </a:cubicBezTo>
                  <a:lnTo>
                    <a:pt x="368300" y="736600"/>
                  </a:lnTo>
                  <a:cubicBezTo>
                    <a:pt x="164846" y="736600"/>
                    <a:pt x="0" y="571754"/>
                    <a:pt x="0" y="368300"/>
                  </a:cubicBezTo>
                  <a:cubicBezTo>
                    <a:pt x="0" y="164846"/>
                    <a:pt x="164846" y="0"/>
                    <a:pt x="368300" y="0"/>
                  </a:cubicBezTo>
                  <a:close/>
                </a:path>
              </a:pathLst>
            </a:custGeom>
            <a:solidFill>
              <a:srgbClr val="C67139"/>
            </a:solidFill>
          </p:spPr>
        </p:sp>
        <p:sp>
          <p:nvSpPr>
            <p:cNvPr name="TextBox 36" id="36"/>
            <p:cNvSpPr txBox="true"/>
            <p:nvPr/>
          </p:nvSpPr>
          <p:spPr>
            <a:xfrm>
              <a:off x="0" y="-9525"/>
              <a:ext cx="1778000" cy="746125"/>
            </a:xfrm>
            <a:prstGeom prst="rect">
              <a:avLst/>
            </a:prstGeom>
          </p:spPr>
          <p:txBody>
            <a:bodyPr anchor="t" rtlCol="false" tIns="149860" lIns="149860" bIns="149860" rIns="149860"/>
            <a:lstStyle/>
            <a:p>
              <a:pPr algn="ctr">
                <a:lnSpc>
                  <a:spcPts val="2430"/>
                </a:lnSpc>
              </a:pPr>
              <a:r>
                <a:rPr lang="en-US" b="true" sz="2025" spc="-40">
                  <a:solidFill>
                    <a:srgbClr val="F5EAD8"/>
                  </a:solidFill>
                  <a:latin typeface="Arimo Bold"/>
                  <a:ea typeface="Arimo Bold"/>
                  <a:cs typeface="Arimo Bold"/>
                  <a:sym typeface="Arimo Bold"/>
                </a:rPr>
                <a:t>Check</a:t>
              </a:r>
            </a:p>
          </p:txBody>
        </p:sp>
      </p:grpSp>
      <p:sp>
        <p:nvSpPr>
          <p:cNvPr name="TextBox 37" id="37"/>
          <p:cNvSpPr txBox="true"/>
          <p:nvPr/>
        </p:nvSpPr>
        <p:spPr>
          <a:xfrm rot="0">
            <a:off x="5348478" y="5899785"/>
            <a:ext cx="1981200" cy="561975"/>
          </a:xfrm>
          <a:prstGeom prst="rect">
            <a:avLst/>
          </a:prstGeom>
        </p:spPr>
        <p:txBody>
          <a:bodyPr anchor="t" rtlCol="false" tIns="0" lIns="0" bIns="0" rIns="0">
            <a:spAutoFit/>
          </a:bodyPr>
          <a:lstStyle/>
          <a:p>
            <a:pPr algn="ctr">
              <a:lnSpc>
                <a:spcPts val="2430"/>
              </a:lnSpc>
            </a:pPr>
            <a:r>
              <a:rPr lang="en-US" b="true" sz="2025" spc="-40">
                <a:solidFill>
                  <a:srgbClr val="C67139"/>
                </a:solidFill>
                <a:latin typeface="Arimo Bold"/>
                <a:ea typeface="Arimo Bold"/>
                <a:cs typeface="Arimo Bold"/>
                <a:sym typeface="Arimo Bold"/>
              </a:rPr>
              <a:t>Show answer</a:t>
            </a:r>
          </a:p>
        </p:txBody>
      </p:sp>
      <p:grpSp>
        <p:nvGrpSpPr>
          <p:cNvPr name="Group 38" id="38"/>
          <p:cNvGrpSpPr/>
          <p:nvPr/>
        </p:nvGrpSpPr>
        <p:grpSpPr>
          <a:xfrm rot="0">
            <a:off x="9248775" y="4581811"/>
            <a:ext cx="8048625" cy="3076575"/>
            <a:chOff x="0" y="0"/>
            <a:chExt cx="10731500" cy="4102100"/>
          </a:xfrm>
        </p:grpSpPr>
        <p:sp>
          <p:nvSpPr>
            <p:cNvPr name="Freeform 39" id="39"/>
            <p:cNvSpPr/>
            <p:nvPr/>
          </p:nvSpPr>
          <p:spPr>
            <a:xfrm flipH="false" flipV="false" rot="0">
              <a:off x="0" y="0"/>
              <a:ext cx="10731500" cy="4102100"/>
            </a:xfrm>
            <a:custGeom>
              <a:avLst/>
              <a:gdLst/>
              <a:ahLst/>
              <a:cxnLst/>
              <a:rect r="r" b="b" t="t" l="l"/>
              <a:pathLst>
                <a:path h="4102100" w="10731500">
                  <a:moveTo>
                    <a:pt x="355600" y="0"/>
                  </a:moveTo>
                  <a:lnTo>
                    <a:pt x="10375900" y="0"/>
                  </a:lnTo>
                  <a:cubicBezTo>
                    <a:pt x="10572242" y="0"/>
                    <a:pt x="10731500" y="159258"/>
                    <a:pt x="10731500" y="355600"/>
                  </a:cubicBezTo>
                  <a:lnTo>
                    <a:pt x="10731500" y="3746500"/>
                  </a:lnTo>
                  <a:cubicBezTo>
                    <a:pt x="10731500" y="3942842"/>
                    <a:pt x="10572242" y="4102100"/>
                    <a:pt x="10375900" y="4102100"/>
                  </a:cubicBezTo>
                  <a:lnTo>
                    <a:pt x="355600" y="4102100"/>
                  </a:lnTo>
                  <a:cubicBezTo>
                    <a:pt x="159258" y="4102100"/>
                    <a:pt x="0" y="3942842"/>
                    <a:pt x="0" y="3746500"/>
                  </a:cubicBezTo>
                  <a:lnTo>
                    <a:pt x="0" y="355600"/>
                  </a:lnTo>
                  <a:cubicBezTo>
                    <a:pt x="0" y="159258"/>
                    <a:pt x="159258" y="0"/>
                    <a:pt x="355600" y="0"/>
                  </a:cubicBezTo>
                  <a:close/>
                </a:path>
              </a:pathLst>
            </a:custGeom>
            <a:solidFill>
              <a:srgbClr val="EBDDC5"/>
            </a:solidFill>
          </p:spPr>
        </p:sp>
      </p:grpSp>
      <p:sp>
        <p:nvSpPr>
          <p:cNvPr name="TextBox 40" id="40"/>
          <p:cNvSpPr txBox="true"/>
          <p:nvPr/>
        </p:nvSpPr>
        <p:spPr>
          <a:xfrm rot="0">
            <a:off x="9534525" y="4714304"/>
            <a:ext cx="7477125" cy="428625"/>
          </a:xfrm>
          <a:prstGeom prst="rect">
            <a:avLst/>
          </a:prstGeom>
        </p:spPr>
        <p:txBody>
          <a:bodyPr anchor="t" rtlCol="false" tIns="0" lIns="0" bIns="0" rIns="0">
            <a:spAutoFit/>
          </a:bodyPr>
          <a:lstStyle/>
          <a:p>
            <a:pPr algn="l">
              <a:lnSpc>
                <a:spcPts val="2790"/>
              </a:lnSpc>
            </a:pPr>
            <a:r>
              <a:rPr lang="en-US" b="true" sz="1800" spc="144">
                <a:solidFill>
                  <a:srgbClr val="56633F"/>
                </a:solidFill>
                <a:latin typeface="Arimo Bold"/>
                <a:ea typeface="Arimo Bold"/>
                <a:cs typeface="Arimo Bold"/>
                <a:sym typeface="Arimo Bold"/>
              </a:rPr>
              <a:t>QUESTION 8</a:t>
            </a:r>
          </a:p>
        </p:txBody>
      </p:sp>
      <p:sp>
        <p:nvSpPr>
          <p:cNvPr name="TextBox 41" id="41"/>
          <p:cNvSpPr txBox="true"/>
          <p:nvPr/>
        </p:nvSpPr>
        <p:spPr>
          <a:xfrm rot="0">
            <a:off x="9534525" y="5209889"/>
            <a:ext cx="7477125" cy="476250"/>
          </a:xfrm>
          <a:prstGeom prst="rect">
            <a:avLst/>
          </a:prstGeom>
        </p:spPr>
        <p:txBody>
          <a:bodyPr anchor="t" rtlCol="false" tIns="0" lIns="0" bIns="0" rIns="0">
            <a:spAutoFit/>
          </a:bodyPr>
          <a:lstStyle/>
          <a:p>
            <a:pPr algn="l">
              <a:lnSpc>
                <a:spcPts val="3366"/>
              </a:lnSpc>
            </a:pPr>
            <a:r>
              <a:rPr lang="en-US" b="true" sz="2475">
                <a:solidFill>
                  <a:srgbClr val="201E1D"/>
                </a:solidFill>
                <a:latin typeface="Arimo Bold"/>
                <a:ea typeface="Arimo Bold"/>
                <a:cs typeface="Arimo Bold"/>
                <a:sym typeface="Arimo Bold"/>
              </a:rPr>
              <a:t>Solve</a:t>
            </a:r>
          </a:p>
        </p:txBody>
      </p:sp>
      <p:sp>
        <p:nvSpPr>
          <p:cNvPr name="AutoShape 42" id="42"/>
          <p:cNvSpPr/>
          <p:nvPr/>
        </p:nvSpPr>
        <p:spPr>
          <a:xfrm rot="0">
            <a:off x="9560909" y="5962840"/>
            <a:ext cx="666750" cy="28575"/>
          </a:xfrm>
          <a:prstGeom prst="rect">
            <a:avLst/>
          </a:prstGeom>
          <a:solidFill>
            <a:srgbClr val="201E1D"/>
          </a:solidFill>
        </p:spPr>
      </p:sp>
      <p:sp>
        <p:nvSpPr>
          <p:cNvPr name="TextBox 43" id="43"/>
          <p:cNvSpPr txBox="true"/>
          <p:nvPr/>
        </p:nvSpPr>
        <p:spPr>
          <a:xfrm rot="0">
            <a:off x="9560909" y="5705666"/>
            <a:ext cx="666750" cy="285750"/>
          </a:xfrm>
          <a:prstGeom prst="rect">
            <a:avLst/>
          </a:prstGeom>
        </p:spPr>
        <p:txBody>
          <a:bodyPr anchor="t" rtlCol="false" tIns="0" lIns="0" bIns="0" rIns="0">
            <a:spAutoFit/>
          </a:bodyPr>
          <a:lstStyle/>
          <a:p>
            <a:pPr algn="l">
              <a:lnSpc>
                <a:spcPts val="2191"/>
              </a:lnSpc>
            </a:pPr>
            <a:r>
              <a:rPr lang="en-US" b="true" sz="2029">
                <a:solidFill>
                  <a:srgbClr val="201E1D"/>
                </a:solidFill>
                <a:latin typeface="Arimo Bold"/>
                <a:ea typeface="Arimo Bold"/>
                <a:cs typeface="Arimo Bold"/>
                <a:sym typeface="Arimo Bold"/>
              </a:rPr>
              <a:t>x + 5</a:t>
            </a:r>
          </a:p>
        </p:txBody>
      </p:sp>
      <p:sp>
        <p:nvSpPr>
          <p:cNvPr name="TextBox 44" id="44"/>
          <p:cNvSpPr txBox="true"/>
          <p:nvPr/>
        </p:nvSpPr>
        <p:spPr>
          <a:xfrm rot="0">
            <a:off x="9775222" y="6012466"/>
            <a:ext cx="238125" cy="257175"/>
          </a:xfrm>
          <a:prstGeom prst="rect">
            <a:avLst/>
          </a:prstGeom>
        </p:spPr>
        <p:txBody>
          <a:bodyPr anchor="t" rtlCol="false" tIns="0" lIns="0" bIns="0" rIns="0">
            <a:spAutoFit/>
          </a:bodyPr>
          <a:lstStyle/>
          <a:p>
            <a:pPr algn="l">
              <a:lnSpc>
                <a:spcPts val="2191"/>
              </a:lnSpc>
            </a:pPr>
            <a:r>
              <a:rPr lang="en-US" b="true" sz="2029">
                <a:solidFill>
                  <a:srgbClr val="201E1D"/>
                </a:solidFill>
                <a:latin typeface="Arimo Bold"/>
                <a:ea typeface="Arimo Bold"/>
                <a:cs typeface="Arimo Bold"/>
                <a:sym typeface="Arimo Bold"/>
              </a:rPr>
              <a:t>3</a:t>
            </a:r>
          </a:p>
        </p:txBody>
      </p:sp>
      <p:sp>
        <p:nvSpPr>
          <p:cNvPr name="TextBox 45" id="45"/>
          <p:cNvSpPr txBox="true"/>
          <p:nvPr/>
        </p:nvSpPr>
        <p:spPr>
          <a:xfrm rot="0">
            <a:off x="9534525" y="6222492"/>
            <a:ext cx="7477125" cy="476250"/>
          </a:xfrm>
          <a:prstGeom prst="rect">
            <a:avLst/>
          </a:prstGeom>
        </p:spPr>
        <p:txBody>
          <a:bodyPr anchor="t" rtlCol="false" tIns="0" lIns="0" bIns="0" rIns="0">
            <a:spAutoFit/>
          </a:bodyPr>
          <a:lstStyle/>
          <a:p>
            <a:pPr algn="l">
              <a:lnSpc>
                <a:spcPts val="3366"/>
              </a:lnSpc>
            </a:pPr>
            <a:r>
              <a:rPr lang="en-US" b="true" sz="2475">
                <a:solidFill>
                  <a:srgbClr val="201E1D"/>
                </a:solidFill>
                <a:latin typeface="Arimo Bold"/>
                <a:ea typeface="Arimo Bold"/>
                <a:cs typeface="Arimo Bold"/>
                <a:sym typeface="Arimo Bold"/>
              </a:rPr>
              <a:t>= x − 1</a:t>
            </a:r>
          </a:p>
        </p:txBody>
      </p:sp>
      <p:grpSp>
        <p:nvGrpSpPr>
          <p:cNvPr name="Group 46" id="46"/>
          <p:cNvGrpSpPr/>
          <p:nvPr/>
        </p:nvGrpSpPr>
        <p:grpSpPr>
          <a:xfrm rot="0">
            <a:off x="12142184" y="6855238"/>
            <a:ext cx="1333500" cy="552450"/>
            <a:chOff x="0" y="0"/>
            <a:chExt cx="1778000" cy="736600"/>
          </a:xfrm>
        </p:grpSpPr>
        <p:sp>
          <p:nvSpPr>
            <p:cNvPr name="Freeform 47" id="47"/>
            <p:cNvSpPr/>
            <p:nvPr/>
          </p:nvSpPr>
          <p:spPr>
            <a:xfrm flipH="false" flipV="false" rot="0">
              <a:off x="0" y="0"/>
              <a:ext cx="1778000" cy="736600"/>
            </a:xfrm>
            <a:custGeom>
              <a:avLst/>
              <a:gdLst/>
              <a:ahLst/>
              <a:cxnLst/>
              <a:rect r="r" b="b" t="t" l="l"/>
              <a:pathLst>
                <a:path h="736600" w="1778000">
                  <a:moveTo>
                    <a:pt x="368300" y="0"/>
                  </a:moveTo>
                  <a:lnTo>
                    <a:pt x="1409700" y="0"/>
                  </a:lnTo>
                  <a:cubicBezTo>
                    <a:pt x="1613154" y="0"/>
                    <a:pt x="1778000" y="164846"/>
                    <a:pt x="1778000" y="368300"/>
                  </a:cubicBezTo>
                  <a:cubicBezTo>
                    <a:pt x="1778000" y="571754"/>
                    <a:pt x="1613154" y="736600"/>
                    <a:pt x="1409700" y="736600"/>
                  </a:cubicBezTo>
                  <a:lnTo>
                    <a:pt x="368300" y="736600"/>
                  </a:lnTo>
                  <a:cubicBezTo>
                    <a:pt x="164846" y="736600"/>
                    <a:pt x="0" y="571754"/>
                    <a:pt x="0" y="368300"/>
                  </a:cubicBezTo>
                  <a:cubicBezTo>
                    <a:pt x="0" y="164846"/>
                    <a:pt x="164846" y="0"/>
                    <a:pt x="368300" y="0"/>
                  </a:cubicBezTo>
                  <a:close/>
                </a:path>
              </a:pathLst>
            </a:custGeom>
            <a:solidFill>
              <a:srgbClr val="C67139"/>
            </a:solidFill>
          </p:spPr>
        </p:sp>
        <p:sp>
          <p:nvSpPr>
            <p:cNvPr name="TextBox 48" id="48"/>
            <p:cNvSpPr txBox="true"/>
            <p:nvPr/>
          </p:nvSpPr>
          <p:spPr>
            <a:xfrm>
              <a:off x="0" y="-9525"/>
              <a:ext cx="1778000" cy="746125"/>
            </a:xfrm>
            <a:prstGeom prst="rect">
              <a:avLst/>
            </a:prstGeom>
          </p:spPr>
          <p:txBody>
            <a:bodyPr anchor="t" rtlCol="false" tIns="149987" lIns="149987" bIns="149987" rIns="149987"/>
            <a:lstStyle/>
            <a:p>
              <a:pPr algn="ctr">
                <a:lnSpc>
                  <a:spcPts val="2430"/>
                </a:lnSpc>
              </a:pPr>
              <a:r>
                <a:rPr lang="en-US" b="true" sz="2025" spc="-40">
                  <a:solidFill>
                    <a:srgbClr val="F5EAD8"/>
                  </a:solidFill>
                  <a:latin typeface="Arimo Bold"/>
                  <a:ea typeface="Arimo Bold"/>
                  <a:cs typeface="Arimo Bold"/>
                  <a:sym typeface="Arimo Bold"/>
                </a:rPr>
                <a:t>Check</a:t>
              </a:r>
            </a:p>
          </p:txBody>
        </p:sp>
      </p:grpSp>
      <p:sp>
        <p:nvSpPr>
          <p:cNvPr name="TextBox 49" id="49"/>
          <p:cNvSpPr txBox="true"/>
          <p:nvPr/>
        </p:nvSpPr>
        <p:spPr>
          <a:xfrm rot="0">
            <a:off x="13606653" y="6845713"/>
            <a:ext cx="1981200" cy="561975"/>
          </a:xfrm>
          <a:prstGeom prst="rect">
            <a:avLst/>
          </a:prstGeom>
        </p:spPr>
        <p:txBody>
          <a:bodyPr anchor="t" rtlCol="false" tIns="0" lIns="0" bIns="0" rIns="0">
            <a:spAutoFit/>
          </a:bodyPr>
          <a:lstStyle/>
          <a:p>
            <a:pPr algn="ctr">
              <a:lnSpc>
                <a:spcPts val="2430"/>
              </a:lnSpc>
            </a:pPr>
            <a:r>
              <a:rPr lang="en-US" b="true" sz="2025" spc="-40">
                <a:solidFill>
                  <a:srgbClr val="C67139"/>
                </a:solidFill>
                <a:latin typeface="Arimo Bold"/>
                <a:ea typeface="Arimo Bold"/>
                <a:cs typeface="Arimo Bold"/>
                <a:sym typeface="Arimo Bold"/>
              </a:rPr>
              <a:t>Show answer</a:t>
            </a:r>
          </a:p>
        </p:txBody>
      </p:sp>
      <p:grpSp>
        <p:nvGrpSpPr>
          <p:cNvPr name="Group 50" id="50"/>
          <p:cNvGrpSpPr/>
          <p:nvPr/>
        </p:nvGrpSpPr>
        <p:grpSpPr>
          <a:xfrm rot="0">
            <a:off x="1276350" y="3522726"/>
            <a:ext cx="2476500" cy="638175"/>
            <a:chOff x="0" y="0"/>
            <a:chExt cx="3302000" cy="850900"/>
          </a:xfrm>
        </p:grpSpPr>
        <p:sp>
          <p:nvSpPr>
            <p:cNvPr name="Freeform 51" id="51"/>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F5EAD8"/>
            </a:solidFill>
          </p:spPr>
        </p:sp>
        <p:sp>
          <p:nvSpPr>
            <p:cNvPr name="Freeform 52" id="52"/>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000000">
                <a:alpha val="0"/>
              </a:srgbClr>
            </a:solidFill>
            <a:ln w="28575" cap="sq">
              <a:solidFill>
                <a:srgbClr val="FFC6A5"/>
              </a:solidFill>
              <a:prstDash val="solid"/>
              <a:miter/>
            </a:ln>
          </p:spPr>
        </p:sp>
      </p:grpSp>
      <p:grpSp>
        <p:nvGrpSpPr>
          <p:cNvPr name="Group 53" id="53"/>
          <p:cNvGrpSpPr/>
          <p:nvPr/>
        </p:nvGrpSpPr>
        <p:grpSpPr>
          <a:xfrm rot="0">
            <a:off x="9534525" y="3522726"/>
            <a:ext cx="2476500" cy="638175"/>
            <a:chOff x="0" y="0"/>
            <a:chExt cx="3302000" cy="850900"/>
          </a:xfrm>
        </p:grpSpPr>
        <p:sp>
          <p:nvSpPr>
            <p:cNvPr name="Freeform 54" id="54"/>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F5EAD8"/>
            </a:solidFill>
          </p:spPr>
        </p:sp>
        <p:sp>
          <p:nvSpPr>
            <p:cNvPr name="Freeform 55" id="55"/>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000000">
                <a:alpha val="0"/>
              </a:srgbClr>
            </a:solidFill>
            <a:ln w="28575" cap="sq">
              <a:solidFill>
                <a:srgbClr val="FFC6A5"/>
              </a:solidFill>
              <a:prstDash val="solid"/>
              <a:miter/>
            </a:ln>
          </p:spPr>
        </p:sp>
      </p:grpSp>
      <p:grpSp>
        <p:nvGrpSpPr>
          <p:cNvPr name="Group 56" id="56"/>
          <p:cNvGrpSpPr/>
          <p:nvPr/>
        </p:nvGrpSpPr>
        <p:grpSpPr>
          <a:xfrm rot="0">
            <a:off x="1276350" y="5866543"/>
            <a:ext cx="2476500" cy="638175"/>
            <a:chOff x="0" y="0"/>
            <a:chExt cx="3302000" cy="850900"/>
          </a:xfrm>
        </p:grpSpPr>
        <p:sp>
          <p:nvSpPr>
            <p:cNvPr name="Freeform 57" id="57"/>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F5EAD8"/>
            </a:solidFill>
          </p:spPr>
        </p:sp>
        <p:sp>
          <p:nvSpPr>
            <p:cNvPr name="Freeform 58" id="58"/>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000000">
                <a:alpha val="0"/>
              </a:srgbClr>
            </a:solidFill>
            <a:ln w="28575" cap="sq">
              <a:solidFill>
                <a:srgbClr val="FFC6A5"/>
              </a:solidFill>
              <a:prstDash val="solid"/>
              <a:miter/>
            </a:ln>
          </p:spPr>
        </p:sp>
      </p:grpSp>
      <p:grpSp>
        <p:nvGrpSpPr>
          <p:cNvPr name="Group 59" id="59"/>
          <p:cNvGrpSpPr/>
          <p:nvPr/>
        </p:nvGrpSpPr>
        <p:grpSpPr>
          <a:xfrm rot="0">
            <a:off x="9534525" y="6812470"/>
            <a:ext cx="2476500" cy="638175"/>
            <a:chOff x="0" y="0"/>
            <a:chExt cx="3302000" cy="850900"/>
          </a:xfrm>
        </p:grpSpPr>
        <p:sp>
          <p:nvSpPr>
            <p:cNvPr name="Freeform 60" id="60"/>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F5EAD8"/>
            </a:solidFill>
          </p:spPr>
        </p:sp>
        <p:sp>
          <p:nvSpPr>
            <p:cNvPr name="Freeform 61" id="61"/>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000000">
                <a:alpha val="0"/>
              </a:srgbClr>
            </a:solidFill>
            <a:ln w="28575" cap="sq">
              <a:solidFill>
                <a:srgbClr val="FFC6A5"/>
              </a:solidFill>
              <a:prstDash val="solid"/>
              <a:miter/>
            </a:ln>
          </p:spPr>
        </p:sp>
      </p:gr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E1EECC"/>
          </a:solidFill>
        </p:spPr>
      </p:sp>
      <p:grpSp>
        <p:nvGrpSpPr>
          <p:cNvPr name="Group 3" id="3"/>
          <p:cNvGrpSpPr/>
          <p:nvPr/>
        </p:nvGrpSpPr>
        <p:grpSpPr>
          <a:xfrm rot="0">
            <a:off x="12001500" y="-2095500"/>
            <a:ext cx="8191500" cy="8191500"/>
            <a:chOff x="0" y="0"/>
            <a:chExt cx="10922000" cy="10922000"/>
          </a:xfrm>
        </p:grpSpPr>
        <p:sp>
          <p:nvSpPr>
            <p:cNvPr name="Freeform 4" id="4"/>
            <p:cNvSpPr/>
            <p:nvPr/>
          </p:nvSpPr>
          <p:spPr>
            <a:xfrm flipH="false" flipV="false" rot="0">
              <a:off x="0" y="0"/>
              <a:ext cx="10922000" cy="10922000"/>
            </a:xfrm>
            <a:custGeom>
              <a:avLst/>
              <a:gdLst/>
              <a:ahLst/>
              <a:cxnLst/>
              <a:rect r="r" b="b" t="t" l="l"/>
              <a:pathLst>
                <a:path h="10922000" w="10922000">
                  <a:moveTo>
                    <a:pt x="5461000" y="0"/>
                  </a:moveTo>
                  <a:cubicBezTo>
                    <a:pt x="8476996" y="0"/>
                    <a:pt x="10922000" y="2445004"/>
                    <a:pt x="10922000" y="5461000"/>
                  </a:cubicBezTo>
                  <a:cubicBezTo>
                    <a:pt x="10922000" y="8476996"/>
                    <a:pt x="8476996" y="10922000"/>
                    <a:pt x="5461000" y="10922000"/>
                  </a:cubicBezTo>
                  <a:cubicBezTo>
                    <a:pt x="2445004" y="10922000"/>
                    <a:pt x="0" y="8476996"/>
                    <a:pt x="0" y="5461000"/>
                  </a:cubicBezTo>
                  <a:cubicBezTo>
                    <a:pt x="0" y="2445004"/>
                    <a:pt x="2445004" y="0"/>
                    <a:pt x="5461000" y="0"/>
                  </a:cubicBezTo>
                  <a:close/>
                </a:path>
              </a:pathLst>
            </a:custGeom>
            <a:solidFill>
              <a:srgbClr val="CCDBB2"/>
            </a:solidFill>
          </p:spPr>
        </p:sp>
      </p:grpSp>
      <p:grpSp>
        <p:nvGrpSpPr>
          <p:cNvPr name="Group 5" id="5"/>
          <p:cNvGrpSpPr/>
          <p:nvPr/>
        </p:nvGrpSpPr>
        <p:grpSpPr>
          <a:xfrm rot="0">
            <a:off x="10096500" y="7620000"/>
            <a:ext cx="5334000" cy="5334000"/>
            <a:chOff x="0" y="0"/>
            <a:chExt cx="7112000" cy="7112000"/>
          </a:xfrm>
        </p:grpSpPr>
        <p:sp>
          <p:nvSpPr>
            <p:cNvPr name="Freeform 6" id="6"/>
            <p:cNvSpPr/>
            <p:nvPr/>
          </p:nvSpPr>
          <p:spPr>
            <a:xfrm flipH="false" flipV="false" rot="0">
              <a:off x="0" y="0"/>
              <a:ext cx="7112000" cy="7112000"/>
            </a:xfrm>
            <a:custGeom>
              <a:avLst/>
              <a:gdLst/>
              <a:ahLst/>
              <a:cxnLst/>
              <a:rect r="r" b="b" t="t" l="l"/>
              <a:pathLst>
                <a:path h="7112000" w="7112000">
                  <a:moveTo>
                    <a:pt x="3556000" y="0"/>
                  </a:moveTo>
                  <a:cubicBezTo>
                    <a:pt x="5519928" y="0"/>
                    <a:pt x="7112000" y="1592072"/>
                    <a:pt x="7112000" y="3556000"/>
                  </a:cubicBezTo>
                  <a:cubicBezTo>
                    <a:pt x="7112000" y="5519928"/>
                    <a:pt x="5519928" y="7112000"/>
                    <a:pt x="3556000" y="7112000"/>
                  </a:cubicBezTo>
                  <a:cubicBezTo>
                    <a:pt x="1592072" y="7112000"/>
                    <a:pt x="0" y="5519928"/>
                    <a:pt x="0" y="3556000"/>
                  </a:cubicBezTo>
                  <a:cubicBezTo>
                    <a:pt x="0" y="1592072"/>
                    <a:pt x="1592072" y="0"/>
                    <a:pt x="3556000" y="0"/>
                  </a:cubicBezTo>
                  <a:close/>
                </a:path>
              </a:pathLst>
            </a:custGeom>
            <a:solidFill>
              <a:srgbClr val="FFC6A5"/>
            </a:solidFill>
          </p:spPr>
        </p:sp>
      </p:grpSp>
      <p:grpSp>
        <p:nvGrpSpPr>
          <p:cNvPr name="Group 7" id="7"/>
          <p:cNvGrpSpPr/>
          <p:nvPr/>
        </p:nvGrpSpPr>
        <p:grpSpPr>
          <a:xfrm rot="0">
            <a:off x="15144750" y="3143250"/>
            <a:ext cx="1428750" cy="1428750"/>
            <a:chOff x="0" y="0"/>
            <a:chExt cx="1905000" cy="1905000"/>
          </a:xfrm>
        </p:grpSpPr>
        <p:sp>
          <p:nvSpPr>
            <p:cNvPr name="Freeform 8" id="8"/>
            <p:cNvSpPr/>
            <p:nvPr/>
          </p:nvSpPr>
          <p:spPr>
            <a:xfrm flipH="false" flipV="false" rot="0">
              <a:off x="0" y="0"/>
              <a:ext cx="1905000" cy="1905000"/>
            </a:xfrm>
            <a:custGeom>
              <a:avLst/>
              <a:gdLst/>
              <a:ahLst/>
              <a:cxnLst/>
              <a:rect r="r" b="b" t="t" l="l"/>
              <a:pathLst>
                <a:path h="1905000" w="1905000">
                  <a:moveTo>
                    <a:pt x="952500" y="0"/>
                  </a:moveTo>
                  <a:cubicBezTo>
                    <a:pt x="1478534" y="0"/>
                    <a:pt x="1905000" y="426466"/>
                    <a:pt x="1905000" y="952500"/>
                  </a:cubicBezTo>
                  <a:cubicBezTo>
                    <a:pt x="1905000" y="1478534"/>
                    <a:pt x="1478534" y="1905000"/>
                    <a:pt x="952500" y="1905000"/>
                  </a:cubicBezTo>
                  <a:cubicBezTo>
                    <a:pt x="426466" y="1905000"/>
                    <a:pt x="0" y="1478534"/>
                    <a:pt x="0" y="952500"/>
                  </a:cubicBezTo>
                  <a:cubicBezTo>
                    <a:pt x="0" y="426466"/>
                    <a:pt x="426466" y="0"/>
                    <a:pt x="952500" y="0"/>
                  </a:cubicBezTo>
                  <a:close/>
                </a:path>
              </a:pathLst>
            </a:custGeom>
            <a:solidFill>
              <a:srgbClr val="D67F48"/>
            </a:solidFill>
          </p:spPr>
        </p:sp>
      </p:grpSp>
      <p:sp>
        <p:nvSpPr>
          <p:cNvPr name="TextBox 9" id="9"/>
          <p:cNvSpPr txBox="true"/>
          <p:nvPr/>
        </p:nvSpPr>
        <p:spPr>
          <a:xfrm rot="0">
            <a:off x="13725239" y="1438275"/>
            <a:ext cx="3419475" cy="2181225"/>
          </a:xfrm>
          <a:prstGeom prst="rect">
            <a:avLst/>
          </a:prstGeom>
        </p:spPr>
        <p:txBody>
          <a:bodyPr anchor="t" rtlCol="false" tIns="0" lIns="0" bIns="0" rIns="0">
            <a:spAutoFit/>
          </a:bodyPr>
          <a:lstStyle/>
          <a:p>
            <a:pPr algn="l">
              <a:lnSpc>
                <a:spcPts val="19500"/>
              </a:lnSpc>
            </a:pPr>
            <a:r>
              <a:rPr lang="en-US" b="true" sz="19500" spc="-390">
                <a:solidFill>
                  <a:srgbClr val="56633F"/>
                </a:solidFill>
                <a:latin typeface="Arimo Bold"/>
                <a:ea typeface="Arimo Bold"/>
                <a:cs typeface="Arimo Bold"/>
                <a:sym typeface="Arimo Bold"/>
              </a:rPr>
              <a:t>6.2</a:t>
            </a:r>
          </a:p>
        </p:txBody>
      </p:sp>
      <p:sp>
        <p:nvSpPr>
          <p:cNvPr name="TextBox 10" id="10"/>
          <p:cNvSpPr txBox="true"/>
          <p:nvPr/>
        </p:nvSpPr>
        <p:spPr>
          <a:xfrm rot="0">
            <a:off x="1143000" y="2747677"/>
            <a:ext cx="16002000" cy="600075"/>
          </a:xfrm>
          <a:prstGeom prst="rect">
            <a:avLst/>
          </a:prstGeom>
        </p:spPr>
        <p:txBody>
          <a:bodyPr anchor="t" rtlCol="false" tIns="0" lIns="0" bIns="0" rIns="0">
            <a:spAutoFit/>
          </a:bodyPr>
          <a:lstStyle/>
          <a:p>
            <a:pPr algn="l">
              <a:lnSpc>
                <a:spcPts val="3952"/>
              </a:lnSpc>
            </a:pPr>
            <a:r>
              <a:rPr lang="en-US" b="true" sz="2550" spc="254">
                <a:solidFill>
                  <a:srgbClr val="3D472B"/>
                </a:solidFill>
                <a:latin typeface="Arimo Bold"/>
                <a:ea typeface="Arimo Bold"/>
                <a:cs typeface="Arimo Bold"/>
                <a:sym typeface="Arimo Bold"/>
              </a:rPr>
              <a:t>LESSON 6.2</a:t>
            </a:r>
          </a:p>
        </p:txBody>
      </p:sp>
      <p:sp>
        <p:nvSpPr>
          <p:cNvPr name="TextBox 11" id="11"/>
          <p:cNvSpPr txBox="true"/>
          <p:nvPr/>
        </p:nvSpPr>
        <p:spPr>
          <a:xfrm rot="0">
            <a:off x="1143000" y="3803428"/>
            <a:ext cx="10953750" cy="1009650"/>
          </a:xfrm>
          <a:prstGeom prst="rect">
            <a:avLst/>
          </a:prstGeom>
        </p:spPr>
        <p:txBody>
          <a:bodyPr anchor="t" rtlCol="false" tIns="0" lIns="0" bIns="0" rIns="0">
            <a:spAutoFit/>
          </a:bodyPr>
          <a:lstStyle/>
          <a:p>
            <a:pPr algn="l">
              <a:lnSpc>
                <a:spcPts val="9000"/>
              </a:lnSpc>
            </a:pPr>
            <a:r>
              <a:rPr lang="en-US" b="true" sz="9000" spc="-179">
                <a:solidFill>
                  <a:srgbClr val="201E1D"/>
                </a:solidFill>
                <a:latin typeface="Arimo Bold"/>
                <a:ea typeface="Arimo Bold"/>
                <a:cs typeface="Arimo Bold"/>
                <a:sym typeface="Arimo Bold"/>
              </a:rPr>
              <a:t>Factorising</a:t>
            </a:r>
          </a:p>
        </p:txBody>
      </p:sp>
      <p:sp>
        <p:nvSpPr>
          <p:cNvPr name="TextBox 12" id="12"/>
          <p:cNvSpPr txBox="true"/>
          <p:nvPr/>
        </p:nvSpPr>
        <p:spPr>
          <a:xfrm rot="0">
            <a:off x="1143000" y="5039773"/>
            <a:ext cx="10477500" cy="571500"/>
          </a:xfrm>
          <a:prstGeom prst="rect">
            <a:avLst/>
          </a:prstGeom>
        </p:spPr>
        <p:txBody>
          <a:bodyPr anchor="t" rtlCol="false" tIns="0" lIns="0" bIns="0" rIns="0">
            <a:spAutoFit/>
          </a:bodyPr>
          <a:lstStyle/>
          <a:p>
            <a:pPr algn="l">
              <a:lnSpc>
                <a:spcPts val="3720"/>
              </a:lnSpc>
            </a:pPr>
            <a:r>
              <a:rPr lang="en-US" b="true" sz="2400">
                <a:solidFill>
                  <a:srgbClr val="3D472B"/>
                </a:solidFill>
                <a:latin typeface="Arimo Bold"/>
                <a:ea typeface="Arimo Bold"/>
                <a:cs typeface="Arimo Bold"/>
                <a:sym typeface="Arimo Bold"/>
              </a:rPr>
              <a:t>In this lesson you will</a:t>
            </a:r>
          </a:p>
        </p:txBody>
      </p:sp>
      <p:grpSp>
        <p:nvGrpSpPr>
          <p:cNvPr name="Group 13" id="13"/>
          <p:cNvGrpSpPr/>
          <p:nvPr/>
        </p:nvGrpSpPr>
        <p:grpSpPr>
          <a:xfrm rot="0">
            <a:off x="1143000" y="5876734"/>
            <a:ext cx="209550" cy="209550"/>
            <a:chOff x="0" y="0"/>
            <a:chExt cx="279400" cy="279400"/>
          </a:xfrm>
        </p:grpSpPr>
        <p:sp>
          <p:nvSpPr>
            <p:cNvPr name="Freeform 14" id="14"/>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7A8A5E"/>
            </a:solidFill>
          </p:spPr>
        </p:sp>
      </p:grpSp>
      <p:sp>
        <p:nvSpPr>
          <p:cNvPr name="TextBox 15" id="15"/>
          <p:cNvSpPr txBox="true"/>
          <p:nvPr/>
        </p:nvSpPr>
        <p:spPr>
          <a:xfrm rot="0">
            <a:off x="1524095" y="5695759"/>
            <a:ext cx="5924550" cy="523875"/>
          </a:xfrm>
          <a:prstGeom prst="rect">
            <a:avLst/>
          </a:prstGeom>
        </p:spPr>
        <p:txBody>
          <a:bodyPr anchor="t" rtlCol="false" tIns="0" lIns="0" bIns="0" rIns="0">
            <a:spAutoFit/>
          </a:bodyPr>
          <a:lstStyle/>
          <a:p>
            <a:pPr algn="l">
              <a:lnSpc>
                <a:spcPts val="3762"/>
              </a:lnSpc>
            </a:pPr>
            <a:r>
              <a:rPr lang="en-US" b="true" sz="2850">
                <a:solidFill>
                  <a:srgbClr val="201E1D"/>
                </a:solidFill>
                <a:latin typeface="Arimo Bold"/>
                <a:ea typeface="Arimo Bold"/>
                <a:cs typeface="Arimo Bold"/>
                <a:sym typeface="Arimo Bold"/>
              </a:rPr>
              <a:t>take out the highest common factor</a:t>
            </a:r>
          </a:p>
        </p:txBody>
      </p:sp>
      <p:grpSp>
        <p:nvGrpSpPr>
          <p:cNvPr name="Group 16" id="16"/>
          <p:cNvGrpSpPr/>
          <p:nvPr/>
        </p:nvGrpSpPr>
        <p:grpSpPr>
          <a:xfrm rot="0">
            <a:off x="1143000" y="6487858"/>
            <a:ext cx="209550" cy="209550"/>
            <a:chOff x="0" y="0"/>
            <a:chExt cx="279400" cy="279400"/>
          </a:xfrm>
        </p:grpSpPr>
        <p:sp>
          <p:nvSpPr>
            <p:cNvPr name="Freeform 17" id="17"/>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C67139"/>
            </a:solidFill>
          </p:spPr>
        </p:sp>
      </p:grpSp>
      <p:sp>
        <p:nvSpPr>
          <p:cNvPr name="TextBox 18" id="18"/>
          <p:cNvSpPr txBox="true"/>
          <p:nvPr/>
        </p:nvSpPr>
        <p:spPr>
          <a:xfrm rot="0">
            <a:off x="1522667" y="6306883"/>
            <a:ext cx="7810500" cy="523875"/>
          </a:xfrm>
          <a:prstGeom prst="rect">
            <a:avLst/>
          </a:prstGeom>
        </p:spPr>
        <p:txBody>
          <a:bodyPr anchor="t" rtlCol="false" tIns="0" lIns="0" bIns="0" rIns="0">
            <a:spAutoFit/>
          </a:bodyPr>
          <a:lstStyle/>
          <a:p>
            <a:pPr algn="l">
              <a:lnSpc>
                <a:spcPts val="3762"/>
              </a:lnSpc>
            </a:pPr>
            <a:r>
              <a:rPr lang="en-US" b="true" sz="2850">
                <a:solidFill>
                  <a:srgbClr val="201E1D"/>
                </a:solidFill>
                <a:latin typeface="Arimo Bold"/>
                <a:ea typeface="Arimo Bold"/>
                <a:cs typeface="Arimo Bold"/>
                <a:sym typeface="Arimo Bold"/>
              </a:rPr>
              <a:t>factorise expressions with powers and brackets</a:t>
            </a:r>
          </a:p>
        </p:txBody>
      </p:sp>
      <p:grpSp>
        <p:nvGrpSpPr>
          <p:cNvPr name="Group 19" id="19"/>
          <p:cNvGrpSpPr/>
          <p:nvPr/>
        </p:nvGrpSpPr>
        <p:grpSpPr>
          <a:xfrm rot="0">
            <a:off x="1143000" y="7098982"/>
            <a:ext cx="209550" cy="209550"/>
            <a:chOff x="0" y="0"/>
            <a:chExt cx="279400" cy="279400"/>
          </a:xfrm>
        </p:grpSpPr>
        <p:sp>
          <p:nvSpPr>
            <p:cNvPr name="Freeform 20" id="20"/>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7A8A5E"/>
            </a:solidFill>
          </p:spPr>
        </p:sp>
      </p:grpSp>
      <p:sp>
        <p:nvSpPr>
          <p:cNvPr name="TextBox 21" id="21"/>
          <p:cNvSpPr txBox="true"/>
          <p:nvPr/>
        </p:nvSpPr>
        <p:spPr>
          <a:xfrm rot="0">
            <a:off x="1523905" y="6918007"/>
            <a:ext cx="5838825" cy="523875"/>
          </a:xfrm>
          <a:prstGeom prst="rect">
            <a:avLst/>
          </a:prstGeom>
        </p:spPr>
        <p:txBody>
          <a:bodyPr anchor="t" rtlCol="false" tIns="0" lIns="0" bIns="0" rIns="0">
            <a:spAutoFit/>
          </a:bodyPr>
          <a:lstStyle/>
          <a:p>
            <a:pPr algn="l">
              <a:lnSpc>
                <a:spcPts val="3762"/>
              </a:lnSpc>
            </a:pPr>
            <a:r>
              <a:rPr lang="en-US" b="true" sz="2850">
                <a:solidFill>
                  <a:srgbClr val="201E1D"/>
                </a:solidFill>
                <a:latin typeface="Arimo Bold"/>
                <a:ea typeface="Arimo Bold"/>
                <a:cs typeface="Arimo Bold"/>
                <a:sym typeface="Arimo Bold"/>
              </a:rPr>
              <a:t>factorise by grouping terms in pairs</a:t>
            </a:r>
          </a:p>
        </p:txBody>
      </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E1EECC"/>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FFC6A5"/>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CCDBB2"/>
            </a:solidFill>
          </p:spPr>
        </p:sp>
      </p:grpSp>
      <p:grpSp>
        <p:nvGrpSpPr>
          <p:cNvPr name="Group 9" id="9"/>
          <p:cNvGrpSpPr/>
          <p:nvPr/>
        </p:nvGrpSpPr>
        <p:grpSpPr>
          <a:xfrm rot="0">
            <a:off x="914590" y="611505"/>
            <a:ext cx="2743200" cy="600075"/>
            <a:chOff x="0" y="0"/>
            <a:chExt cx="3657600" cy="800100"/>
          </a:xfrm>
        </p:grpSpPr>
        <p:sp>
          <p:nvSpPr>
            <p:cNvPr name="Freeform 10" id="10"/>
            <p:cNvSpPr/>
            <p:nvPr/>
          </p:nvSpPr>
          <p:spPr>
            <a:xfrm flipH="false" flipV="false" rot="0">
              <a:off x="0" y="0"/>
              <a:ext cx="3657600" cy="800100"/>
            </a:xfrm>
            <a:custGeom>
              <a:avLst/>
              <a:gdLst/>
              <a:ahLst/>
              <a:cxnLst/>
              <a:rect r="r" b="b" t="t" l="l"/>
              <a:pathLst>
                <a:path h="800100" w="3657600">
                  <a:moveTo>
                    <a:pt x="400050" y="0"/>
                  </a:moveTo>
                  <a:lnTo>
                    <a:pt x="3257550" y="0"/>
                  </a:lnTo>
                  <a:cubicBezTo>
                    <a:pt x="3478530" y="0"/>
                    <a:pt x="3657600" y="179070"/>
                    <a:pt x="3657600" y="400050"/>
                  </a:cubicBezTo>
                  <a:cubicBezTo>
                    <a:pt x="3657600" y="621030"/>
                    <a:pt x="3478530" y="800100"/>
                    <a:pt x="3257550" y="800100"/>
                  </a:cubicBezTo>
                  <a:lnTo>
                    <a:pt x="400050" y="800100"/>
                  </a:lnTo>
                  <a:cubicBezTo>
                    <a:pt x="179070" y="800100"/>
                    <a:pt x="0" y="621030"/>
                    <a:pt x="0" y="400050"/>
                  </a:cubicBezTo>
                  <a:cubicBezTo>
                    <a:pt x="0" y="179070"/>
                    <a:pt x="179070" y="0"/>
                    <a:pt x="400050" y="0"/>
                  </a:cubicBezTo>
                  <a:close/>
                </a:path>
              </a:pathLst>
            </a:custGeom>
            <a:solidFill>
              <a:srgbClr val="56633F"/>
            </a:solidFill>
          </p:spPr>
        </p:sp>
        <p:sp>
          <p:nvSpPr>
            <p:cNvPr name="TextBox 11" id="11"/>
            <p:cNvSpPr txBox="true"/>
            <p:nvPr/>
          </p:nvSpPr>
          <p:spPr>
            <a:xfrm>
              <a:off x="0" y="-76200"/>
              <a:ext cx="36576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INTRODUCTION</a:t>
              </a:r>
            </a:p>
          </p:txBody>
        </p:sp>
      </p:grpSp>
      <p:sp>
        <p:nvSpPr>
          <p:cNvPr name="TextBox 12" id="12"/>
          <p:cNvSpPr txBox="true"/>
          <p:nvPr/>
        </p:nvSpPr>
        <p:spPr>
          <a:xfrm rot="0">
            <a:off x="3847814" y="630555"/>
            <a:ext cx="1943100" cy="485775"/>
          </a:xfrm>
          <a:prstGeom prst="rect">
            <a:avLst/>
          </a:prstGeom>
        </p:spPr>
        <p:txBody>
          <a:bodyPr anchor="t" rtlCol="false" tIns="0" lIns="0" bIns="0" rIns="0">
            <a:spAutoFit/>
          </a:bodyPr>
          <a:lstStyle/>
          <a:p>
            <a:pPr algn="l">
              <a:lnSpc>
                <a:spcPts val="3255"/>
              </a:lnSpc>
            </a:pPr>
            <a:r>
              <a:rPr lang="en-US" b="true" sz="2100">
                <a:solidFill>
                  <a:srgbClr val="643312"/>
                </a:solidFill>
                <a:latin typeface="Arimo Bold"/>
                <a:ea typeface="Arimo Bold"/>
                <a:cs typeface="Arimo Bold"/>
                <a:sym typeface="Arimo Bold"/>
              </a:rPr>
              <a:t>6.2 · Factorising</a:t>
            </a:r>
          </a:p>
        </p:txBody>
      </p:sp>
      <p:sp>
        <p:nvSpPr>
          <p:cNvPr name="TextBox 13" id="13"/>
          <p:cNvSpPr txBox="true"/>
          <p:nvPr/>
        </p:nvSpPr>
        <p:spPr>
          <a:xfrm rot="0">
            <a:off x="914400" y="1472089"/>
            <a:ext cx="7010400" cy="523875"/>
          </a:xfrm>
          <a:prstGeom prst="rect">
            <a:avLst/>
          </a:prstGeom>
        </p:spPr>
        <p:txBody>
          <a:bodyPr anchor="t" rtlCol="false" tIns="0" lIns="0" bIns="0" rIns="0">
            <a:spAutoFit/>
          </a:bodyPr>
          <a:lstStyle/>
          <a:p>
            <a:pPr algn="l">
              <a:lnSpc>
                <a:spcPts val="4524"/>
              </a:lnSpc>
            </a:pPr>
            <a:r>
              <a:rPr lang="en-US" b="true" sz="4350" spc="-86">
                <a:solidFill>
                  <a:srgbClr val="201E1D"/>
                </a:solidFill>
                <a:latin typeface="Arimo Bold"/>
                <a:ea typeface="Arimo Bold"/>
                <a:cs typeface="Arimo Bold"/>
                <a:sym typeface="Arimo Bold"/>
              </a:rPr>
              <a:t>Undo the brackets</a:t>
            </a:r>
          </a:p>
        </p:txBody>
      </p:sp>
      <p:grpSp>
        <p:nvGrpSpPr>
          <p:cNvPr name="Group 14" id="14"/>
          <p:cNvGrpSpPr/>
          <p:nvPr/>
        </p:nvGrpSpPr>
        <p:grpSpPr>
          <a:xfrm rot="0">
            <a:off x="914400" y="2206085"/>
            <a:ext cx="7010400" cy="2343150"/>
            <a:chOff x="0" y="0"/>
            <a:chExt cx="9347200" cy="3124200"/>
          </a:xfrm>
        </p:grpSpPr>
        <p:sp>
          <p:nvSpPr>
            <p:cNvPr name="Freeform 15" id="15"/>
            <p:cNvSpPr/>
            <p:nvPr/>
          </p:nvSpPr>
          <p:spPr>
            <a:xfrm flipH="false" flipV="false" rot="0">
              <a:off x="0" y="0"/>
              <a:ext cx="9347200" cy="3124200"/>
            </a:xfrm>
            <a:custGeom>
              <a:avLst/>
              <a:gdLst/>
              <a:ahLst/>
              <a:cxnLst/>
              <a:rect r="r" b="b" t="t" l="l"/>
              <a:pathLst>
                <a:path h="3124200" w="9347200">
                  <a:moveTo>
                    <a:pt x="355600" y="0"/>
                  </a:moveTo>
                  <a:lnTo>
                    <a:pt x="8991600" y="0"/>
                  </a:lnTo>
                  <a:cubicBezTo>
                    <a:pt x="9187942" y="0"/>
                    <a:pt x="9347200" y="159258"/>
                    <a:pt x="9347200" y="355600"/>
                  </a:cubicBezTo>
                  <a:lnTo>
                    <a:pt x="9347200" y="2768600"/>
                  </a:lnTo>
                  <a:cubicBezTo>
                    <a:pt x="9347200" y="2964942"/>
                    <a:pt x="9187942" y="3124200"/>
                    <a:pt x="8991600" y="3124200"/>
                  </a:cubicBezTo>
                  <a:lnTo>
                    <a:pt x="355600" y="3124200"/>
                  </a:lnTo>
                  <a:cubicBezTo>
                    <a:pt x="159258" y="3124200"/>
                    <a:pt x="0" y="2964942"/>
                    <a:pt x="0" y="2768600"/>
                  </a:cubicBezTo>
                  <a:lnTo>
                    <a:pt x="0" y="355600"/>
                  </a:lnTo>
                  <a:cubicBezTo>
                    <a:pt x="0" y="159258"/>
                    <a:pt x="159258" y="0"/>
                    <a:pt x="355600" y="0"/>
                  </a:cubicBezTo>
                  <a:close/>
                </a:path>
              </a:pathLst>
            </a:custGeom>
            <a:solidFill>
              <a:srgbClr val="FFF2EB"/>
            </a:solidFill>
          </p:spPr>
        </p:sp>
        <p:sp>
          <p:nvSpPr>
            <p:cNvPr name="Freeform 16" id="16"/>
            <p:cNvSpPr/>
            <p:nvPr/>
          </p:nvSpPr>
          <p:spPr>
            <a:xfrm flipH="false" flipV="false" rot="0">
              <a:off x="0" y="0"/>
              <a:ext cx="9347200" cy="3124200"/>
            </a:xfrm>
            <a:custGeom>
              <a:avLst/>
              <a:gdLst/>
              <a:ahLst/>
              <a:cxnLst/>
              <a:rect r="r" b="b" t="t" l="l"/>
              <a:pathLst>
                <a:path h="3124200" w="9347200">
                  <a:moveTo>
                    <a:pt x="355600" y="0"/>
                  </a:moveTo>
                  <a:lnTo>
                    <a:pt x="8991600" y="0"/>
                  </a:lnTo>
                  <a:cubicBezTo>
                    <a:pt x="9187942" y="0"/>
                    <a:pt x="9347200" y="159258"/>
                    <a:pt x="9347200" y="355600"/>
                  </a:cubicBezTo>
                  <a:lnTo>
                    <a:pt x="9347200" y="2768600"/>
                  </a:lnTo>
                  <a:cubicBezTo>
                    <a:pt x="9347200" y="2964942"/>
                    <a:pt x="9187942" y="3124200"/>
                    <a:pt x="8991600" y="3124200"/>
                  </a:cubicBezTo>
                  <a:lnTo>
                    <a:pt x="355600" y="3124200"/>
                  </a:lnTo>
                  <a:cubicBezTo>
                    <a:pt x="159258" y="3124200"/>
                    <a:pt x="0" y="2964942"/>
                    <a:pt x="0" y="2768600"/>
                  </a:cubicBezTo>
                  <a:lnTo>
                    <a:pt x="0" y="355600"/>
                  </a:lnTo>
                  <a:cubicBezTo>
                    <a:pt x="0" y="159258"/>
                    <a:pt x="159258" y="0"/>
                    <a:pt x="355600" y="0"/>
                  </a:cubicBezTo>
                  <a:close/>
                </a:path>
              </a:pathLst>
            </a:custGeom>
            <a:solidFill>
              <a:srgbClr val="000000">
                <a:alpha val="0"/>
              </a:srgbClr>
            </a:solidFill>
            <a:ln w="28575" cap="sq">
              <a:solidFill>
                <a:srgbClr val="FFC6A5"/>
              </a:solidFill>
              <a:prstDash val="solid"/>
              <a:miter/>
            </a:ln>
          </p:spPr>
        </p:sp>
      </p:grpSp>
      <p:grpSp>
        <p:nvGrpSpPr>
          <p:cNvPr name="Group 17" id="17"/>
          <p:cNvGrpSpPr/>
          <p:nvPr/>
        </p:nvGrpSpPr>
        <p:grpSpPr>
          <a:xfrm rot="0">
            <a:off x="1208818" y="2407444"/>
            <a:ext cx="1676400" cy="400050"/>
            <a:chOff x="0" y="0"/>
            <a:chExt cx="2235200" cy="533400"/>
          </a:xfrm>
        </p:grpSpPr>
        <p:sp>
          <p:nvSpPr>
            <p:cNvPr name="Freeform 18" id="18"/>
            <p:cNvSpPr/>
            <p:nvPr/>
          </p:nvSpPr>
          <p:spPr>
            <a:xfrm flipH="false" flipV="false" rot="0">
              <a:off x="0" y="0"/>
              <a:ext cx="2235200" cy="533400"/>
            </a:xfrm>
            <a:custGeom>
              <a:avLst/>
              <a:gdLst/>
              <a:ahLst/>
              <a:cxnLst/>
              <a:rect r="r" b="b" t="t" l="l"/>
              <a:pathLst>
                <a:path h="533400" w="2235200">
                  <a:moveTo>
                    <a:pt x="266700" y="0"/>
                  </a:moveTo>
                  <a:lnTo>
                    <a:pt x="1968500" y="0"/>
                  </a:lnTo>
                  <a:cubicBezTo>
                    <a:pt x="2115820" y="0"/>
                    <a:pt x="2235200" y="119380"/>
                    <a:pt x="2235200" y="266700"/>
                  </a:cubicBezTo>
                  <a:cubicBezTo>
                    <a:pt x="2235200" y="414020"/>
                    <a:pt x="2115820" y="533400"/>
                    <a:pt x="1968500" y="533400"/>
                  </a:cubicBezTo>
                  <a:lnTo>
                    <a:pt x="266700" y="533400"/>
                  </a:lnTo>
                  <a:cubicBezTo>
                    <a:pt x="119380" y="533400"/>
                    <a:pt x="0" y="414020"/>
                    <a:pt x="0" y="266700"/>
                  </a:cubicBezTo>
                  <a:cubicBezTo>
                    <a:pt x="0" y="119380"/>
                    <a:pt x="119380" y="0"/>
                    <a:pt x="266700" y="0"/>
                  </a:cubicBezTo>
                  <a:close/>
                </a:path>
              </a:pathLst>
            </a:custGeom>
            <a:solidFill>
              <a:srgbClr val="C67139"/>
            </a:solidFill>
          </p:spPr>
        </p:sp>
        <p:sp>
          <p:nvSpPr>
            <p:cNvPr name="TextBox 19" id="19"/>
            <p:cNvSpPr txBox="true"/>
            <p:nvPr/>
          </p:nvSpPr>
          <p:spPr>
            <a:xfrm>
              <a:off x="0" y="-76200"/>
              <a:ext cx="2235200" cy="609600"/>
            </a:xfrm>
            <a:prstGeom prst="rect">
              <a:avLst/>
            </a:prstGeom>
          </p:spPr>
          <p:txBody>
            <a:bodyPr anchor="t" rtlCol="false" tIns="88265" lIns="88265" bIns="88265" rIns="88265"/>
            <a:lstStyle/>
            <a:p>
              <a:pPr algn="l">
                <a:lnSpc>
                  <a:spcPts val="2557"/>
                </a:lnSpc>
              </a:pPr>
              <a:r>
                <a:rPr lang="en-US" b="true" sz="1650" spc="165">
                  <a:solidFill>
                    <a:srgbClr val="F5EAD8"/>
                  </a:solidFill>
                  <a:latin typeface="Arimo Bold"/>
                  <a:ea typeface="Arimo Bold"/>
                  <a:cs typeface="Arimo Bold"/>
                  <a:sym typeface="Arimo Bold"/>
                </a:rPr>
                <a:t>NEW WORD</a:t>
              </a:r>
            </a:p>
          </p:txBody>
        </p:sp>
      </p:grpSp>
      <p:sp>
        <p:nvSpPr>
          <p:cNvPr name="TextBox 20" id="20"/>
          <p:cNvSpPr txBox="true"/>
          <p:nvPr/>
        </p:nvSpPr>
        <p:spPr>
          <a:xfrm rot="0">
            <a:off x="1209675" y="2704052"/>
            <a:ext cx="6419850" cy="790575"/>
          </a:xfrm>
          <a:prstGeom prst="rect">
            <a:avLst/>
          </a:prstGeom>
        </p:spPr>
        <p:txBody>
          <a:bodyPr anchor="t" rtlCol="false" tIns="0" lIns="0" bIns="0" rIns="0">
            <a:spAutoFit/>
          </a:bodyPr>
          <a:lstStyle/>
          <a:p>
            <a:pPr algn="l">
              <a:lnSpc>
                <a:spcPts val="5115"/>
              </a:lnSpc>
            </a:pPr>
            <a:r>
              <a:rPr lang="en-US" b="true" sz="3300" spc="-66">
                <a:solidFill>
                  <a:srgbClr val="643312"/>
                </a:solidFill>
                <a:latin typeface="Arimo Bold"/>
                <a:ea typeface="Arimo Bold"/>
                <a:cs typeface="Arimo Bold"/>
                <a:sym typeface="Arimo Bold"/>
              </a:rPr>
              <a:t>Factorisation</a:t>
            </a:r>
          </a:p>
        </p:txBody>
      </p:sp>
      <p:sp>
        <p:nvSpPr>
          <p:cNvPr name="TextBox 21" id="21"/>
          <p:cNvSpPr txBox="true"/>
          <p:nvPr/>
        </p:nvSpPr>
        <p:spPr>
          <a:xfrm rot="0">
            <a:off x="1209675" y="3474244"/>
            <a:ext cx="6419850" cy="876300"/>
          </a:xfrm>
          <a:prstGeom prst="rect">
            <a:avLst/>
          </a:prstGeom>
        </p:spPr>
        <p:txBody>
          <a:bodyPr anchor="t" rtlCol="false" tIns="0" lIns="0" bIns="0" rIns="0">
            <a:spAutoFit/>
          </a:bodyPr>
          <a:lstStyle/>
          <a:p>
            <a:pPr algn="l">
              <a:lnSpc>
                <a:spcPts val="3208"/>
              </a:lnSpc>
            </a:pPr>
            <a:r>
              <a:rPr lang="en-US" b="true" sz="2325">
                <a:solidFill>
                  <a:srgbClr val="201E1D"/>
                </a:solidFill>
                <a:latin typeface="Arimo Bold"/>
                <a:ea typeface="Arimo Bold"/>
                <a:cs typeface="Arimo Bold"/>
                <a:sym typeface="Arimo Bold"/>
              </a:rPr>
              <a:t>Writing an expression as a product of its factors. It is the reverse of expanding brackets.</a:t>
            </a:r>
          </a:p>
        </p:txBody>
      </p:sp>
      <p:grpSp>
        <p:nvGrpSpPr>
          <p:cNvPr name="Group 22" id="22"/>
          <p:cNvGrpSpPr/>
          <p:nvPr/>
        </p:nvGrpSpPr>
        <p:grpSpPr>
          <a:xfrm rot="0">
            <a:off x="916495" y="9010650"/>
            <a:ext cx="2333625" cy="666750"/>
            <a:chOff x="0" y="0"/>
            <a:chExt cx="3111500" cy="889000"/>
          </a:xfrm>
        </p:grpSpPr>
        <p:sp>
          <p:nvSpPr>
            <p:cNvPr name="Freeform 23" id="23"/>
            <p:cNvSpPr/>
            <p:nvPr/>
          </p:nvSpPr>
          <p:spPr>
            <a:xfrm flipH="false" flipV="false" rot="0">
              <a:off x="0" y="0"/>
              <a:ext cx="3111500" cy="889000"/>
            </a:xfrm>
            <a:custGeom>
              <a:avLst/>
              <a:gdLst/>
              <a:ahLst/>
              <a:cxnLst/>
              <a:rect r="r" b="b" t="t" l="l"/>
              <a:pathLst>
                <a:path h="889000" w="3111500">
                  <a:moveTo>
                    <a:pt x="444500" y="0"/>
                  </a:moveTo>
                  <a:lnTo>
                    <a:pt x="2667000" y="0"/>
                  </a:lnTo>
                  <a:cubicBezTo>
                    <a:pt x="2912491" y="0"/>
                    <a:pt x="3111500" y="199009"/>
                    <a:pt x="3111500" y="444500"/>
                  </a:cubicBezTo>
                  <a:cubicBezTo>
                    <a:pt x="3111500" y="689991"/>
                    <a:pt x="2912491" y="889000"/>
                    <a:pt x="26670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sp>
          <p:nvSpPr>
            <p:cNvPr name="TextBox 24" id="24"/>
            <p:cNvSpPr txBox="true"/>
            <p:nvPr/>
          </p:nvSpPr>
          <p:spPr>
            <a:xfrm>
              <a:off x="0" y="-19050"/>
              <a:ext cx="3111500" cy="908050"/>
            </a:xfrm>
            <a:prstGeom prst="rect">
              <a:avLst/>
            </a:prstGeom>
          </p:spPr>
          <p:txBody>
            <a:bodyPr anchor="t" rtlCol="false" tIns="203200" lIns="203200" bIns="203200" rIns="203200"/>
            <a:lstStyle/>
            <a:p>
              <a:pPr algn="ctr">
                <a:lnSpc>
                  <a:spcPts val="2700"/>
                </a:lnSpc>
              </a:pPr>
              <a:r>
                <a:rPr lang="en-US" b="true" sz="2250" spc="-44">
                  <a:solidFill>
                    <a:srgbClr val="F5EAD8"/>
                  </a:solidFill>
                  <a:latin typeface="Arimo Bold"/>
                  <a:ea typeface="Arimo Bold"/>
                  <a:cs typeface="Arimo Bold"/>
                  <a:sym typeface="Arimo Bold"/>
                </a:rPr>
                <a:t>Next step →</a:t>
              </a:r>
            </a:p>
          </p:txBody>
        </p:sp>
      </p:grpSp>
      <p:sp>
        <p:nvSpPr>
          <p:cNvPr name="TextBox 25" id="25"/>
          <p:cNvSpPr txBox="true"/>
          <p:nvPr/>
        </p:nvSpPr>
        <p:spPr>
          <a:xfrm rot="0">
            <a:off x="3405759" y="8991600"/>
            <a:ext cx="2143125" cy="685800"/>
          </a:xfrm>
          <a:prstGeom prst="rect">
            <a:avLst/>
          </a:prstGeom>
        </p:spPr>
        <p:txBody>
          <a:bodyPr anchor="t" rtlCol="false" tIns="0" lIns="0" bIns="0" rIns="0">
            <a:spAutoFit/>
          </a:bodyPr>
          <a:lstStyle/>
          <a:p>
            <a:pPr algn="ctr">
              <a:lnSpc>
                <a:spcPts val="2700"/>
              </a:lnSpc>
            </a:pPr>
            <a:r>
              <a:rPr lang="en-US" b="true" sz="2250" spc="-44">
                <a:solidFill>
                  <a:srgbClr val="201E1D"/>
                </a:solidFill>
                <a:latin typeface="Arimo Bold"/>
                <a:ea typeface="Arimo Bold"/>
                <a:cs typeface="Arimo Bold"/>
                <a:sym typeface="Arimo Bold"/>
              </a:rPr>
              <a:t>Start again</a:t>
            </a:r>
          </a:p>
        </p:txBody>
      </p:sp>
      <p:grpSp>
        <p:nvGrpSpPr>
          <p:cNvPr name="Group 26" id="26"/>
          <p:cNvGrpSpPr/>
          <p:nvPr/>
        </p:nvGrpSpPr>
        <p:grpSpPr>
          <a:xfrm rot="0">
            <a:off x="1054608" y="4977384"/>
            <a:ext cx="475488" cy="475488"/>
            <a:chOff x="0" y="0"/>
            <a:chExt cx="633984" cy="633984"/>
          </a:xfrm>
        </p:grpSpPr>
        <p:sp>
          <p:nvSpPr>
            <p:cNvPr name="Freeform 27" id="27"/>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C67139"/>
            </a:solidFill>
          </p:spPr>
        </p:sp>
      </p:grpSp>
      <p:sp>
        <p:nvSpPr>
          <p:cNvPr name="TextBox 28" id="28"/>
          <p:cNvSpPr txBox="true"/>
          <p:nvPr/>
        </p:nvSpPr>
        <p:spPr>
          <a:xfrm rot="0">
            <a:off x="1054608" y="4948809"/>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1</a:t>
            </a:r>
          </a:p>
        </p:txBody>
      </p:sp>
      <p:sp>
        <p:nvSpPr>
          <p:cNvPr name="TextBox 29" id="29"/>
          <p:cNvSpPr txBox="true"/>
          <p:nvPr/>
        </p:nvSpPr>
        <p:spPr>
          <a:xfrm rot="0">
            <a:off x="1694498" y="4975384"/>
            <a:ext cx="3227832" cy="431673"/>
          </a:xfrm>
          <a:prstGeom prst="rect">
            <a:avLst/>
          </a:prstGeom>
        </p:spPr>
        <p:txBody>
          <a:bodyPr anchor="t" rtlCol="false" tIns="0" lIns="0" bIns="0" rIns="0">
            <a:spAutoFit/>
          </a:bodyPr>
          <a:lstStyle/>
          <a:p>
            <a:pPr algn="l">
              <a:lnSpc>
                <a:spcPts val="3041"/>
              </a:lnSpc>
            </a:pPr>
            <a:r>
              <a:rPr lang="en-US" b="true" sz="2304">
                <a:solidFill>
                  <a:srgbClr val="201E1D"/>
                </a:solidFill>
                <a:latin typeface="Arimo Bold"/>
                <a:ea typeface="Arimo Bold"/>
                <a:cs typeface="Arimo Bold"/>
                <a:sym typeface="Arimo Bold"/>
              </a:rPr>
              <a:t>Show 12x − 4 as an area.</a:t>
            </a:r>
          </a:p>
        </p:txBody>
      </p:sp>
      <p:grpSp>
        <p:nvGrpSpPr>
          <p:cNvPr name="Group 30" id="30"/>
          <p:cNvGrpSpPr/>
          <p:nvPr/>
        </p:nvGrpSpPr>
        <p:grpSpPr>
          <a:xfrm rot="0">
            <a:off x="1054608" y="5586984"/>
            <a:ext cx="475488" cy="475488"/>
            <a:chOff x="0" y="0"/>
            <a:chExt cx="633984" cy="633984"/>
          </a:xfrm>
        </p:grpSpPr>
        <p:sp>
          <p:nvSpPr>
            <p:cNvPr name="Freeform 31" id="31"/>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7A8A5E"/>
            </a:solidFill>
          </p:spPr>
        </p:sp>
      </p:grpSp>
      <p:sp>
        <p:nvSpPr>
          <p:cNvPr name="TextBox 32" id="32"/>
          <p:cNvSpPr txBox="true"/>
          <p:nvPr/>
        </p:nvSpPr>
        <p:spPr>
          <a:xfrm rot="0">
            <a:off x="1054608" y="5558409"/>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2</a:t>
            </a:r>
          </a:p>
        </p:txBody>
      </p:sp>
      <p:sp>
        <p:nvSpPr>
          <p:cNvPr name="TextBox 33" id="33"/>
          <p:cNvSpPr txBox="true"/>
          <p:nvPr/>
        </p:nvSpPr>
        <p:spPr>
          <a:xfrm rot="0">
            <a:off x="1693450" y="5584984"/>
            <a:ext cx="5294376" cy="431673"/>
          </a:xfrm>
          <a:prstGeom prst="rect">
            <a:avLst/>
          </a:prstGeom>
        </p:spPr>
        <p:txBody>
          <a:bodyPr anchor="t" rtlCol="false" tIns="0" lIns="0" bIns="0" rIns="0">
            <a:spAutoFit/>
          </a:bodyPr>
          <a:lstStyle/>
          <a:p>
            <a:pPr algn="l">
              <a:lnSpc>
                <a:spcPts val="3041"/>
              </a:lnSpc>
            </a:pPr>
            <a:r>
              <a:rPr lang="en-US" b="true" sz="2304">
                <a:solidFill>
                  <a:srgbClr val="201E1D"/>
                </a:solidFill>
                <a:latin typeface="Arimo Bold"/>
                <a:ea typeface="Arimo Bold"/>
                <a:cs typeface="Arimo Bold"/>
                <a:sym typeface="Arimo Bold"/>
              </a:rPr>
              <a:t>HCF of 12x and 4 is 4: that is the height.</a:t>
            </a:r>
          </a:p>
        </p:txBody>
      </p:sp>
      <p:grpSp>
        <p:nvGrpSpPr>
          <p:cNvPr name="Group 34" id="34"/>
          <p:cNvGrpSpPr/>
          <p:nvPr/>
        </p:nvGrpSpPr>
        <p:grpSpPr>
          <a:xfrm rot="0">
            <a:off x="1054608" y="6196584"/>
            <a:ext cx="475488" cy="475488"/>
            <a:chOff x="0" y="0"/>
            <a:chExt cx="633984" cy="633984"/>
          </a:xfrm>
        </p:grpSpPr>
        <p:sp>
          <p:nvSpPr>
            <p:cNvPr name="Freeform 35" id="35"/>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C67139"/>
            </a:solidFill>
          </p:spPr>
        </p:sp>
      </p:grpSp>
      <p:sp>
        <p:nvSpPr>
          <p:cNvPr name="TextBox 36" id="36"/>
          <p:cNvSpPr txBox="true"/>
          <p:nvPr/>
        </p:nvSpPr>
        <p:spPr>
          <a:xfrm rot="0">
            <a:off x="1054608" y="6168009"/>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3</a:t>
            </a:r>
          </a:p>
        </p:txBody>
      </p:sp>
      <p:sp>
        <p:nvSpPr>
          <p:cNvPr name="TextBox 37" id="37"/>
          <p:cNvSpPr txBox="true"/>
          <p:nvPr/>
        </p:nvSpPr>
        <p:spPr>
          <a:xfrm rot="0">
            <a:off x="1695736" y="6194584"/>
            <a:ext cx="4379976" cy="431673"/>
          </a:xfrm>
          <a:prstGeom prst="rect">
            <a:avLst/>
          </a:prstGeom>
        </p:spPr>
        <p:txBody>
          <a:bodyPr anchor="t" rtlCol="false" tIns="0" lIns="0" bIns="0" rIns="0">
            <a:spAutoFit/>
          </a:bodyPr>
          <a:lstStyle/>
          <a:p>
            <a:pPr algn="l">
              <a:lnSpc>
                <a:spcPts val="3041"/>
              </a:lnSpc>
            </a:pPr>
            <a:r>
              <a:rPr lang="en-US" b="true" sz="2304">
                <a:solidFill>
                  <a:srgbClr val="201E1D"/>
                </a:solidFill>
                <a:latin typeface="Arimo Bold"/>
                <a:ea typeface="Arimo Bold"/>
                <a:cs typeface="Arimo Bold"/>
                <a:sym typeface="Arimo Bold"/>
              </a:rPr>
              <a:t>Divide each term by 4: 3x and −1.</a:t>
            </a:r>
          </a:p>
        </p:txBody>
      </p:sp>
      <p:grpSp>
        <p:nvGrpSpPr>
          <p:cNvPr name="Group 38" id="38"/>
          <p:cNvGrpSpPr/>
          <p:nvPr/>
        </p:nvGrpSpPr>
        <p:grpSpPr>
          <a:xfrm rot="0">
            <a:off x="1054608" y="6806184"/>
            <a:ext cx="475488" cy="475488"/>
            <a:chOff x="0" y="0"/>
            <a:chExt cx="633984" cy="633984"/>
          </a:xfrm>
        </p:grpSpPr>
        <p:sp>
          <p:nvSpPr>
            <p:cNvPr name="Freeform 39" id="39"/>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7A8A5E"/>
            </a:solidFill>
          </p:spPr>
        </p:sp>
      </p:grpSp>
      <p:sp>
        <p:nvSpPr>
          <p:cNvPr name="TextBox 40" id="40"/>
          <p:cNvSpPr txBox="true"/>
          <p:nvPr/>
        </p:nvSpPr>
        <p:spPr>
          <a:xfrm rot="0">
            <a:off x="1054608" y="6777609"/>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4</a:t>
            </a:r>
          </a:p>
        </p:txBody>
      </p:sp>
      <p:sp>
        <p:nvSpPr>
          <p:cNvPr name="TextBox 41" id="41"/>
          <p:cNvSpPr txBox="true"/>
          <p:nvPr/>
        </p:nvSpPr>
        <p:spPr>
          <a:xfrm rot="0">
            <a:off x="1694783" y="6804184"/>
            <a:ext cx="2432304" cy="431673"/>
          </a:xfrm>
          <a:prstGeom prst="rect">
            <a:avLst/>
          </a:prstGeom>
        </p:spPr>
        <p:txBody>
          <a:bodyPr anchor="t" rtlCol="false" tIns="0" lIns="0" bIns="0" rIns="0">
            <a:spAutoFit/>
          </a:bodyPr>
          <a:lstStyle/>
          <a:p>
            <a:pPr algn="l">
              <a:lnSpc>
                <a:spcPts val="3041"/>
              </a:lnSpc>
            </a:pPr>
            <a:r>
              <a:rPr lang="en-US" b="true" sz="2304">
                <a:solidFill>
                  <a:srgbClr val="201E1D"/>
                </a:solidFill>
                <a:latin typeface="Arimo Bold"/>
                <a:ea typeface="Arimo Bold"/>
                <a:cs typeface="Arimo Bold"/>
                <a:sym typeface="Arimo Bold"/>
              </a:rPr>
              <a:t>12x − 4 = 4(3x − 1)</a:t>
            </a:r>
          </a:p>
        </p:txBody>
      </p:sp>
      <p:grpSp>
        <p:nvGrpSpPr>
          <p:cNvPr name="Group 42" id="42"/>
          <p:cNvGrpSpPr/>
          <p:nvPr/>
        </p:nvGrpSpPr>
        <p:grpSpPr>
          <a:xfrm rot="0">
            <a:off x="8420100" y="609600"/>
            <a:ext cx="8953500" cy="9067800"/>
            <a:chOff x="0" y="0"/>
            <a:chExt cx="11938000" cy="12090400"/>
          </a:xfrm>
        </p:grpSpPr>
        <p:sp>
          <p:nvSpPr>
            <p:cNvPr name="Freeform 43" id="43"/>
            <p:cNvSpPr/>
            <p:nvPr/>
          </p:nvSpPr>
          <p:spPr>
            <a:xfrm flipH="false" flipV="false" rot="0">
              <a:off x="0" y="0"/>
              <a:ext cx="11938000" cy="12090400"/>
            </a:xfrm>
            <a:custGeom>
              <a:avLst/>
              <a:gdLst/>
              <a:ahLst/>
              <a:cxnLst/>
              <a:rect r="r" b="b" t="t" l="l"/>
              <a:pathLst>
                <a:path h="12090400" w="11938000">
                  <a:moveTo>
                    <a:pt x="711200" y="0"/>
                  </a:moveTo>
                  <a:lnTo>
                    <a:pt x="11226800" y="0"/>
                  </a:lnTo>
                  <a:cubicBezTo>
                    <a:pt x="11619611" y="0"/>
                    <a:pt x="11938000" y="318389"/>
                    <a:pt x="11938000" y="711200"/>
                  </a:cubicBezTo>
                  <a:lnTo>
                    <a:pt x="11938000" y="11379200"/>
                  </a:lnTo>
                  <a:cubicBezTo>
                    <a:pt x="11938000" y="11772011"/>
                    <a:pt x="11619611" y="12090400"/>
                    <a:pt x="11226800" y="12090400"/>
                  </a:cubicBezTo>
                  <a:lnTo>
                    <a:pt x="711200" y="12090400"/>
                  </a:lnTo>
                  <a:cubicBezTo>
                    <a:pt x="318389" y="12090400"/>
                    <a:pt x="0" y="11772011"/>
                    <a:pt x="0" y="11379200"/>
                  </a:cubicBezTo>
                  <a:lnTo>
                    <a:pt x="0" y="711200"/>
                  </a:lnTo>
                  <a:cubicBezTo>
                    <a:pt x="0" y="318389"/>
                    <a:pt x="318389" y="0"/>
                    <a:pt x="711200" y="0"/>
                  </a:cubicBezTo>
                  <a:close/>
                </a:path>
              </a:pathLst>
            </a:custGeom>
            <a:solidFill>
              <a:srgbClr val="EBDDC5"/>
            </a:solidFill>
          </p:spPr>
        </p:sp>
      </p:gr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E1EECC"/>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FFC6A5"/>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CCDBB2"/>
            </a:solidFill>
          </p:spPr>
        </p:sp>
      </p:grpSp>
      <p:grpSp>
        <p:nvGrpSpPr>
          <p:cNvPr name="Group 9" id="9"/>
          <p:cNvGrpSpPr/>
          <p:nvPr/>
        </p:nvGrpSpPr>
        <p:grpSpPr>
          <a:xfrm rot="0">
            <a:off x="991457" y="611505"/>
            <a:ext cx="4343400" cy="600075"/>
            <a:chOff x="0" y="0"/>
            <a:chExt cx="5791200" cy="800100"/>
          </a:xfrm>
        </p:grpSpPr>
        <p:sp>
          <p:nvSpPr>
            <p:cNvPr name="Freeform 10" id="10"/>
            <p:cNvSpPr/>
            <p:nvPr/>
          </p:nvSpPr>
          <p:spPr>
            <a:xfrm flipH="false" flipV="false" rot="0">
              <a:off x="0" y="0"/>
              <a:ext cx="5791200" cy="800100"/>
            </a:xfrm>
            <a:custGeom>
              <a:avLst/>
              <a:gdLst/>
              <a:ahLst/>
              <a:cxnLst/>
              <a:rect r="r" b="b" t="t" l="l"/>
              <a:pathLst>
                <a:path h="800100" w="5791200">
                  <a:moveTo>
                    <a:pt x="400050" y="0"/>
                  </a:moveTo>
                  <a:lnTo>
                    <a:pt x="5391150" y="0"/>
                  </a:lnTo>
                  <a:cubicBezTo>
                    <a:pt x="5612130" y="0"/>
                    <a:pt x="5791200" y="179070"/>
                    <a:pt x="5791200" y="400050"/>
                  </a:cubicBezTo>
                  <a:cubicBezTo>
                    <a:pt x="5791200" y="621030"/>
                    <a:pt x="5612130" y="800100"/>
                    <a:pt x="5391150" y="800100"/>
                  </a:cubicBezTo>
                  <a:lnTo>
                    <a:pt x="400050" y="800100"/>
                  </a:lnTo>
                  <a:cubicBezTo>
                    <a:pt x="179070" y="800100"/>
                    <a:pt x="0" y="621030"/>
                    <a:pt x="0" y="400050"/>
                  </a:cubicBezTo>
                  <a:cubicBezTo>
                    <a:pt x="0" y="179070"/>
                    <a:pt x="179070" y="0"/>
                    <a:pt x="400050" y="0"/>
                  </a:cubicBezTo>
                  <a:close/>
                </a:path>
              </a:pathLst>
            </a:custGeom>
            <a:solidFill>
              <a:srgbClr val="56633F"/>
            </a:solidFill>
          </p:spPr>
        </p:sp>
        <p:sp>
          <p:nvSpPr>
            <p:cNvPr name="TextBox 11" id="11"/>
            <p:cNvSpPr txBox="true"/>
            <p:nvPr/>
          </p:nvSpPr>
          <p:spPr>
            <a:xfrm>
              <a:off x="0" y="-76200"/>
              <a:ext cx="57912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WORKED EXAMPLE 3A &amp; 3B</a:t>
              </a:r>
            </a:p>
          </p:txBody>
        </p:sp>
      </p:grpSp>
      <p:sp>
        <p:nvSpPr>
          <p:cNvPr name="TextBox 12" id="12"/>
          <p:cNvSpPr txBox="true"/>
          <p:nvPr/>
        </p:nvSpPr>
        <p:spPr>
          <a:xfrm rot="0">
            <a:off x="5525548" y="630555"/>
            <a:ext cx="1943100" cy="485775"/>
          </a:xfrm>
          <a:prstGeom prst="rect">
            <a:avLst/>
          </a:prstGeom>
        </p:spPr>
        <p:txBody>
          <a:bodyPr anchor="t" rtlCol="false" tIns="0" lIns="0" bIns="0" rIns="0">
            <a:spAutoFit/>
          </a:bodyPr>
          <a:lstStyle/>
          <a:p>
            <a:pPr algn="l">
              <a:lnSpc>
                <a:spcPts val="3255"/>
              </a:lnSpc>
            </a:pPr>
            <a:r>
              <a:rPr lang="en-US" b="true" sz="2100">
                <a:solidFill>
                  <a:srgbClr val="643312"/>
                </a:solidFill>
                <a:latin typeface="Arimo Bold"/>
                <a:ea typeface="Arimo Bold"/>
                <a:cs typeface="Arimo Bold"/>
                <a:sym typeface="Arimo Bold"/>
              </a:rPr>
              <a:t>6.2 · Factorising</a:t>
            </a:r>
          </a:p>
        </p:txBody>
      </p:sp>
      <p:sp>
        <p:nvSpPr>
          <p:cNvPr name="TextBox 13" id="13"/>
          <p:cNvSpPr txBox="true"/>
          <p:nvPr/>
        </p:nvSpPr>
        <p:spPr>
          <a:xfrm rot="0">
            <a:off x="990600" y="1509808"/>
            <a:ext cx="16306800" cy="504825"/>
          </a:xfrm>
          <a:prstGeom prst="rect">
            <a:avLst/>
          </a:prstGeom>
        </p:spPr>
        <p:txBody>
          <a:bodyPr anchor="t" rtlCol="false" tIns="0" lIns="0" bIns="0" rIns="0">
            <a:spAutoFit/>
          </a:bodyPr>
          <a:lstStyle/>
          <a:p>
            <a:pPr algn="l">
              <a:lnSpc>
                <a:spcPts val="4368"/>
              </a:lnSpc>
            </a:pPr>
            <a:r>
              <a:rPr lang="en-US" b="true" sz="4200" spc="-84">
                <a:solidFill>
                  <a:srgbClr val="201E1D"/>
                </a:solidFill>
                <a:latin typeface="Arimo Bold"/>
                <a:ea typeface="Arimo Bold"/>
                <a:cs typeface="Arimo Bold"/>
                <a:sym typeface="Arimo Bold"/>
              </a:rPr>
              <a:t>Numbers and letters</a:t>
            </a:r>
          </a:p>
        </p:txBody>
      </p:sp>
      <p:grpSp>
        <p:nvGrpSpPr>
          <p:cNvPr name="Group 14" id="14"/>
          <p:cNvGrpSpPr/>
          <p:nvPr/>
        </p:nvGrpSpPr>
        <p:grpSpPr>
          <a:xfrm rot="0">
            <a:off x="990600" y="2265140"/>
            <a:ext cx="8020050" cy="6438900"/>
            <a:chOff x="0" y="0"/>
            <a:chExt cx="10693400" cy="8585200"/>
          </a:xfrm>
        </p:grpSpPr>
        <p:sp>
          <p:nvSpPr>
            <p:cNvPr name="Freeform 15" id="15"/>
            <p:cNvSpPr/>
            <p:nvPr/>
          </p:nvSpPr>
          <p:spPr>
            <a:xfrm flipH="false" flipV="false" rot="0">
              <a:off x="0" y="0"/>
              <a:ext cx="10693400" cy="8585200"/>
            </a:xfrm>
            <a:custGeom>
              <a:avLst/>
              <a:gdLst/>
              <a:ahLst/>
              <a:cxnLst/>
              <a:rect r="r" b="b" t="t" l="l"/>
              <a:pathLst>
                <a:path h="8585200" w="10693400">
                  <a:moveTo>
                    <a:pt x="711200" y="0"/>
                  </a:moveTo>
                  <a:lnTo>
                    <a:pt x="9982200" y="0"/>
                  </a:lnTo>
                  <a:cubicBezTo>
                    <a:pt x="10375011" y="0"/>
                    <a:pt x="10693400" y="318389"/>
                    <a:pt x="10693400" y="711200"/>
                  </a:cubicBezTo>
                  <a:lnTo>
                    <a:pt x="10693400" y="7874000"/>
                  </a:lnTo>
                  <a:cubicBezTo>
                    <a:pt x="10693400" y="8266811"/>
                    <a:pt x="10375011" y="8585200"/>
                    <a:pt x="9982200" y="8585200"/>
                  </a:cubicBezTo>
                  <a:lnTo>
                    <a:pt x="711200" y="8585200"/>
                  </a:lnTo>
                  <a:cubicBezTo>
                    <a:pt x="318389" y="8585200"/>
                    <a:pt x="0" y="8266811"/>
                    <a:pt x="0" y="7874000"/>
                  </a:cubicBezTo>
                  <a:lnTo>
                    <a:pt x="0" y="711200"/>
                  </a:lnTo>
                  <a:cubicBezTo>
                    <a:pt x="0" y="318389"/>
                    <a:pt x="318389" y="0"/>
                    <a:pt x="711200" y="0"/>
                  </a:cubicBezTo>
                  <a:close/>
                </a:path>
              </a:pathLst>
            </a:custGeom>
            <a:solidFill>
              <a:srgbClr val="EBDDC5"/>
            </a:solidFill>
          </p:spPr>
        </p:sp>
      </p:grpSp>
      <p:grpSp>
        <p:nvGrpSpPr>
          <p:cNvPr name="Group 16" id="16"/>
          <p:cNvGrpSpPr/>
          <p:nvPr/>
        </p:nvGrpSpPr>
        <p:grpSpPr>
          <a:xfrm rot="0">
            <a:off x="9277350" y="2265140"/>
            <a:ext cx="8020050" cy="6438900"/>
            <a:chOff x="0" y="0"/>
            <a:chExt cx="10693400" cy="8585200"/>
          </a:xfrm>
        </p:grpSpPr>
        <p:sp>
          <p:nvSpPr>
            <p:cNvPr name="Freeform 17" id="17"/>
            <p:cNvSpPr/>
            <p:nvPr/>
          </p:nvSpPr>
          <p:spPr>
            <a:xfrm flipH="false" flipV="false" rot="0">
              <a:off x="0" y="0"/>
              <a:ext cx="10693400" cy="8585200"/>
            </a:xfrm>
            <a:custGeom>
              <a:avLst/>
              <a:gdLst/>
              <a:ahLst/>
              <a:cxnLst/>
              <a:rect r="r" b="b" t="t" l="l"/>
              <a:pathLst>
                <a:path h="8585200" w="10693400">
                  <a:moveTo>
                    <a:pt x="711200" y="0"/>
                  </a:moveTo>
                  <a:lnTo>
                    <a:pt x="9982200" y="0"/>
                  </a:lnTo>
                  <a:cubicBezTo>
                    <a:pt x="10375011" y="0"/>
                    <a:pt x="10693400" y="318389"/>
                    <a:pt x="10693400" y="711200"/>
                  </a:cubicBezTo>
                  <a:lnTo>
                    <a:pt x="10693400" y="7874000"/>
                  </a:lnTo>
                  <a:cubicBezTo>
                    <a:pt x="10693400" y="8266811"/>
                    <a:pt x="10375011" y="8585200"/>
                    <a:pt x="9982200" y="8585200"/>
                  </a:cubicBezTo>
                  <a:lnTo>
                    <a:pt x="711200" y="8585200"/>
                  </a:lnTo>
                  <a:cubicBezTo>
                    <a:pt x="318389" y="8585200"/>
                    <a:pt x="0" y="8266811"/>
                    <a:pt x="0" y="7874000"/>
                  </a:cubicBezTo>
                  <a:lnTo>
                    <a:pt x="0" y="711200"/>
                  </a:lnTo>
                  <a:cubicBezTo>
                    <a:pt x="0" y="318389"/>
                    <a:pt x="318389" y="0"/>
                    <a:pt x="711200" y="0"/>
                  </a:cubicBezTo>
                  <a:close/>
                </a:path>
              </a:pathLst>
            </a:custGeom>
            <a:solidFill>
              <a:srgbClr val="EBDDC5"/>
            </a:solidFill>
          </p:spPr>
        </p:sp>
      </p:grpSp>
      <p:sp>
        <p:nvSpPr>
          <p:cNvPr name="TextBox 18" id="18"/>
          <p:cNvSpPr txBox="true"/>
          <p:nvPr/>
        </p:nvSpPr>
        <p:spPr>
          <a:xfrm rot="0">
            <a:off x="991267" y="9010555"/>
            <a:ext cx="4171950" cy="542925"/>
          </a:xfrm>
          <a:prstGeom prst="rect">
            <a:avLst/>
          </a:prstGeom>
        </p:spPr>
        <p:txBody>
          <a:bodyPr anchor="t" rtlCol="false" tIns="0" lIns="0" bIns="0" rIns="0">
            <a:spAutoFit/>
          </a:bodyPr>
          <a:lstStyle/>
          <a:p>
            <a:pPr algn="l">
              <a:lnSpc>
                <a:spcPts val="3779"/>
              </a:lnSpc>
            </a:pPr>
            <a:r>
              <a:rPr lang="en-US" b="true" sz="2700">
                <a:solidFill>
                  <a:srgbClr val="201E1D"/>
                </a:solidFill>
                <a:latin typeface="Arimo Bold"/>
                <a:ea typeface="Arimo Bold"/>
                <a:cs typeface="Arimo Bold"/>
                <a:sym typeface="Arimo Bold"/>
              </a:rPr>
              <a:t>a</a:t>
            </a:r>
            <a:r>
              <a:rPr lang="en-US" b="true" sz="2700">
                <a:solidFill>
                  <a:srgbClr val="201E1D"/>
                </a:solidFill>
                <a:latin typeface="Arimo Bold"/>
                <a:ea typeface="Arimo Bold"/>
                <a:cs typeface="Arimo Bold"/>
                <a:sym typeface="Arimo Bold"/>
              </a:rPr>
              <a:t> 15x + 12y · </a:t>
            </a:r>
            <a:r>
              <a:rPr lang="en-US" b="true" sz="2700">
                <a:solidFill>
                  <a:srgbClr val="201E1D"/>
                </a:solidFill>
                <a:latin typeface="Arimo Bold"/>
                <a:ea typeface="Arimo Bold"/>
                <a:cs typeface="Arimo Bold"/>
                <a:sym typeface="Arimo Bold"/>
              </a:rPr>
              <a:t>b</a:t>
            </a:r>
            <a:r>
              <a:rPr lang="en-US" b="true" sz="2700">
                <a:solidFill>
                  <a:srgbClr val="201E1D"/>
                </a:solidFill>
                <a:latin typeface="Arimo Bold"/>
                <a:ea typeface="Arimo Bold"/>
                <a:cs typeface="Arimo Bold"/>
                <a:sym typeface="Arimo Bold"/>
              </a:rPr>
              <a:t> 18mn − 30m</a:t>
            </a:r>
          </a:p>
        </p:txBody>
      </p:sp>
      <p:grpSp>
        <p:nvGrpSpPr>
          <p:cNvPr name="Group 19" id="19"/>
          <p:cNvGrpSpPr/>
          <p:nvPr/>
        </p:nvGrpSpPr>
        <p:grpSpPr>
          <a:xfrm rot="0">
            <a:off x="12663773" y="9010650"/>
            <a:ext cx="2333625" cy="666750"/>
            <a:chOff x="0" y="0"/>
            <a:chExt cx="3111500" cy="889000"/>
          </a:xfrm>
        </p:grpSpPr>
        <p:sp>
          <p:nvSpPr>
            <p:cNvPr name="Freeform 20" id="20"/>
            <p:cNvSpPr/>
            <p:nvPr/>
          </p:nvSpPr>
          <p:spPr>
            <a:xfrm flipH="false" flipV="false" rot="0">
              <a:off x="0" y="0"/>
              <a:ext cx="3111500" cy="889000"/>
            </a:xfrm>
            <a:custGeom>
              <a:avLst/>
              <a:gdLst/>
              <a:ahLst/>
              <a:cxnLst/>
              <a:rect r="r" b="b" t="t" l="l"/>
              <a:pathLst>
                <a:path h="889000" w="3111500">
                  <a:moveTo>
                    <a:pt x="444500" y="0"/>
                  </a:moveTo>
                  <a:lnTo>
                    <a:pt x="2667000" y="0"/>
                  </a:lnTo>
                  <a:cubicBezTo>
                    <a:pt x="2912491" y="0"/>
                    <a:pt x="3111500" y="199009"/>
                    <a:pt x="3111500" y="444500"/>
                  </a:cubicBezTo>
                  <a:cubicBezTo>
                    <a:pt x="3111500" y="689991"/>
                    <a:pt x="2912491" y="889000"/>
                    <a:pt x="26670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sp>
          <p:nvSpPr>
            <p:cNvPr name="TextBox 21" id="21"/>
            <p:cNvSpPr txBox="true"/>
            <p:nvPr/>
          </p:nvSpPr>
          <p:spPr>
            <a:xfrm>
              <a:off x="0" y="-19050"/>
              <a:ext cx="3111500" cy="908050"/>
            </a:xfrm>
            <a:prstGeom prst="rect">
              <a:avLst/>
            </a:prstGeom>
          </p:spPr>
          <p:txBody>
            <a:bodyPr anchor="t" rtlCol="false" tIns="203200" lIns="203200" bIns="203200" rIns="203200"/>
            <a:lstStyle/>
            <a:p>
              <a:pPr algn="ctr">
                <a:lnSpc>
                  <a:spcPts val="2700"/>
                </a:lnSpc>
              </a:pPr>
              <a:r>
                <a:rPr lang="en-US" b="true" sz="2250" spc="-44">
                  <a:solidFill>
                    <a:srgbClr val="F5EAD8"/>
                  </a:solidFill>
                  <a:latin typeface="Arimo Bold"/>
                  <a:ea typeface="Arimo Bold"/>
                  <a:cs typeface="Arimo Bold"/>
                  <a:sym typeface="Arimo Bold"/>
                </a:rPr>
                <a:t>Next step →</a:t>
              </a:r>
            </a:p>
          </p:txBody>
        </p:sp>
      </p:grpSp>
      <p:sp>
        <p:nvSpPr>
          <p:cNvPr name="TextBox 22" id="22"/>
          <p:cNvSpPr txBox="true"/>
          <p:nvPr/>
        </p:nvSpPr>
        <p:spPr>
          <a:xfrm rot="0">
            <a:off x="15153132" y="8991600"/>
            <a:ext cx="2143125" cy="685800"/>
          </a:xfrm>
          <a:prstGeom prst="rect">
            <a:avLst/>
          </a:prstGeom>
        </p:spPr>
        <p:txBody>
          <a:bodyPr anchor="t" rtlCol="false" tIns="0" lIns="0" bIns="0" rIns="0">
            <a:spAutoFit/>
          </a:bodyPr>
          <a:lstStyle/>
          <a:p>
            <a:pPr algn="ctr">
              <a:lnSpc>
                <a:spcPts val="2700"/>
              </a:lnSpc>
            </a:pPr>
            <a:r>
              <a:rPr lang="en-US" b="true" sz="2250" spc="-44">
                <a:solidFill>
                  <a:srgbClr val="201E1D"/>
                </a:solidFill>
                <a:latin typeface="Arimo Bold"/>
                <a:ea typeface="Arimo Bold"/>
                <a:cs typeface="Arimo Bold"/>
                <a:sym typeface="Arimo Bold"/>
              </a:rPr>
              <a:t>Start again</a:t>
            </a:r>
          </a:p>
        </p:txBody>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E1EECC"/>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FFC6A5"/>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CCDBB2"/>
            </a:solidFill>
          </p:spPr>
        </p:sp>
      </p:grpSp>
      <p:grpSp>
        <p:nvGrpSpPr>
          <p:cNvPr name="Group 9" id="9"/>
          <p:cNvGrpSpPr/>
          <p:nvPr/>
        </p:nvGrpSpPr>
        <p:grpSpPr>
          <a:xfrm rot="0">
            <a:off x="988790" y="611505"/>
            <a:ext cx="4371975" cy="600075"/>
            <a:chOff x="0" y="0"/>
            <a:chExt cx="5829300" cy="800100"/>
          </a:xfrm>
        </p:grpSpPr>
        <p:sp>
          <p:nvSpPr>
            <p:cNvPr name="Freeform 10" id="10"/>
            <p:cNvSpPr/>
            <p:nvPr/>
          </p:nvSpPr>
          <p:spPr>
            <a:xfrm flipH="false" flipV="false" rot="0">
              <a:off x="0" y="0"/>
              <a:ext cx="5829300" cy="800100"/>
            </a:xfrm>
            <a:custGeom>
              <a:avLst/>
              <a:gdLst/>
              <a:ahLst/>
              <a:cxnLst/>
              <a:rect r="r" b="b" t="t" l="l"/>
              <a:pathLst>
                <a:path h="800100" w="5829300">
                  <a:moveTo>
                    <a:pt x="400050" y="0"/>
                  </a:moveTo>
                  <a:lnTo>
                    <a:pt x="5429250" y="0"/>
                  </a:lnTo>
                  <a:cubicBezTo>
                    <a:pt x="5650230" y="0"/>
                    <a:pt x="5829300" y="179070"/>
                    <a:pt x="5829300" y="400050"/>
                  </a:cubicBezTo>
                  <a:cubicBezTo>
                    <a:pt x="5829300" y="621030"/>
                    <a:pt x="5650230" y="800100"/>
                    <a:pt x="5429250" y="800100"/>
                  </a:cubicBezTo>
                  <a:lnTo>
                    <a:pt x="400050" y="800100"/>
                  </a:lnTo>
                  <a:cubicBezTo>
                    <a:pt x="179070" y="800100"/>
                    <a:pt x="0" y="621030"/>
                    <a:pt x="0" y="400050"/>
                  </a:cubicBezTo>
                  <a:cubicBezTo>
                    <a:pt x="0" y="179070"/>
                    <a:pt x="179070" y="0"/>
                    <a:pt x="400050" y="0"/>
                  </a:cubicBezTo>
                  <a:close/>
                </a:path>
              </a:pathLst>
            </a:custGeom>
            <a:solidFill>
              <a:srgbClr val="56633F"/>
            </a:solidFill>
          </p:spPr>
        </p:sp>
        <p:sp>
          <p:nvSpPr>
            <p:cNvPr name="TextBox 11" id="11"/>
            <p:cNvSpPr txBox="true"/>
            <p:nvPr/>
          </p:nvSpPr>
          <p:spPr>
            <a:xfrm>
              <a:off x="0" y="-76200"/>
              <a:ext cx="58293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WORKED EXAMPLE 3C &amp; 3D</a:t>
              </a:r>
            </a:p>
          </p:txBody>
        </p:sp>
      </p:grpSp>
      <p:sp>
        <p:nvSpPr>
          <p:cNvPr name="TextBox 12" id="12"/>
          <p:cNvSpPr txBox="true"/>
          <p:nvPr/>
        </p:nvSpPr>
        <p:spPr>
          <a:xfrm rot="0">
            <a:off x="5548789" y="630555"/>
            <a:ext cx="1943100" cy="485775"/>
          </a:xfrm>
          <a:prstGeom prst="rect">
            <a:avLst/>
          </a:prstGeom>
        </p:spPr>
        <p:txBody>
          <a:bodyPr anchor="t" rtlCol="false" tIns="0" lIns="0" bIns="0" rIns="0">
            <a:spAutoFit/>
          </a:bodyPr>
          <a:lstStyle/>
          <a:p>
            <a:pPr algn="l">
              <a:lnSpc>
                <a:spcPts val="3255"/>
              </a:lnSpc>
            </a:pPr>
            <a:r>
              <a:rPr lang="en-US" b="true" sz="2100">
                <a:solidFill>
                  <a:srgbClr val="643312"/>
                </a:solidFill>
                <a:latin typeface="Arimo Bold"/>
                <a:ea typeface="Arimo Bold"/>
                <a:cs typeface="Arimo Bold"/>
                <a:sym typeface="Arimo Bold"/>
              </a:rPr>
              <a:t>6.2 · Factorising</a:t>
            </a:r>
          </a:p>
        </p:txBody>
      </p:sp>
      <p:sp>
        <p:nvSpPr>
          <p:cNvPr name="TextBox 13" id="13"/>
          <p:cNvSpPr txBox="true"/>
          <p:nvPr/>
        </p:nvSpPr>
        <p:spPr>
          <a:xfrm rot="0">
            <a:off x="990600" y="1509808"/>
            <a:ext cx="16306800" cy="504825"/>
          </a:xfrm>
          <a:prstGeom prst="rect">
            <a:avLst/>
          </a:prstGeom>
        </p:spPr>
        <p:txBody>
          <a:bodyPr anchor="t" rtlCol="false" tIns="0" lIns="0" bIns="0" rIns="0">
            <a:spAutoFit/>
          </a:bodyPr>
          <a:lstStyle/>
          <a:p>
            <a:pPr algn="l">
              <a:lnSpc>
                <a:spcPts val="4368"/>
              </a:lnSpc>
            </a:pPr>
            <a:r>
              <a:rPr lang="en-US" b="true" sz="4200" spc="-84">
                <a:solidFill>
                  <a:srgbClr val="201E1D"/>
                </a:solidFill>
                <a:latin typeface="Arimo Bold"/>
                <a:ea typeface="Arimo Bold"/>
                <a:cs typeface="Arimo Bold"/>
                <a:sym typeface="Arimo Bold"/>
              </a:rPr>
              <a:t>Powers and brackets as factors</a:t>
            </a:r>
          </a:p>
        </p:txBody>
      </p:sp>
      <p:grpSp>
        <p:nvGrpSpPr>
          <p:cNvPr name="Group 14" id="14"/>
          <p:cNvGrpSpPr/>
          <p:nvPr/>
        </p:nvGrpSpPr>
        <p:grpSpPr>
          <a:xfrm rot="0">
            <a:off x="990600" y="2265140"/>
            <a:ext cx="8020050" cy="6438900"/>
            <a:chOff x="0" y="0"/>
            <a:chExt cx="10693400" cy="8585200"/>
          </a:xfrm>
        </p:grpSpPr>
        <p:sp>
          <p:nvSpPr>
            <p:cNvPr name="Freeform 15" id="15"/>
            <p:cNvSpPr/>
            <p:nvPr/>
          </p:nvSpPr>
          <p:spPr>
            <a:xfrm flipH="false" flipV="false" rot="0">
              <a:off x="0" y="0"/>
              <a:ext cx="10693400" cy="8585200"/>
            </a:xfrm>
            <a:custGeom>
              <a:avLst/>
              <a:gdLst/>
              <a:ahLst/>
              <a:cxnLst/>
              <a:rect r="r" b="b" t="t" l="l"/>
              <a:pathLst>
                <a:path h="8585200" w="10693400">
                  <a:moveTo>
                    <a:pt x="711200" y="0"/>
                  </a:moveTo>
                  <a:lnTo>
                    <a:pt x="9982200" y="0"/>
                  </a:lnTo>
                  <a:cubicBezTo>
                    <a:pt x="10375011" y="0"/>
                    <a:pt x="10693400" y="318389"/>
                    <a:pt x="10693400" y="711200"/>
                  </a:cubicBezTo>
                  <a:lnTo>
                    <a:pt x="10693400" y="7874000"/>
                  </a:lnTo>
                  <a:cubicBezTo>
                    <a:pt x="10693400" y="8266811"/>
                    <a:pt x="10375011" y="8585200"/>
                    <a:pt x="9982200" y="8585200"/>
                  </a:cubicBezTo>
                  <a:lnTo>
                    <a:pt x="711200" y="8585200"/>
                  </a:lnTo>
                  <a:cubicBezTo>
                    <a:pt x="318389" y="8585200"/>
                    <a:pt x="0" y="8266811"/>
                    <a:pt x="0" y="7874000"/>
                  </a:cubicBezTo>
                  <a:lnTo>
                    <a:pt x="0" y="711200"/>
                  </a:lnTo>
                  <a:cubicBezTo>
                    <a:pt x="0" y="318389"/>
                    <a:pt x="318389" y="0"/>
                    <a:pt x="711200" y="0"/>
                  </a:cubicBezTo>
                  <a:close/>
                </a:path>
              </a:pathLst>
            </a:custGeom>
            <a:solidFill>
              <a:srgbClr val="EBDDC5"/>
            </a:solidFill>
          </p:spPr>
        </p:sp>
      </p:grpSp>
      <p:grpSp>
        <p:nvGrpSpPr>
          <p:cNvPr name="Group 16" id="16"/>
          <p:cNvGrpSpPr/>
          <p:nvPr/>
        </p:nvGrpSpPr>
        <p:grpSpPr>
          <a:xfrm rot="0">
            <a:off x="9277350" y="2265140"/>
            <a:ext cx="8020050" cy="6438900"/>
            <a:chOff x="0" y="0"/>
            <a:chExt cx="10693400" cy="8585200"/>
          </a:xfrm>
        </p:grpSpPr>
        <p:sp>
          <p:nvSpPr>
            <p:cNvPr name="Freeform 17" id="17"/>
            <p:cNvSpPr/>
            <p:nvPr/>
          </p:nvSpPr>
          <p:spPr>
            <a:xfrm flipH="false" flipV="false" rot="0">
              <a:off x="0" y="0"/>
              <a:ext cx="10693400" cy="8585200"/>
            </a:xfrm>
            <a:custGeom>
              <a:avLst/>
              <a:gdLst/>
              <a:ahLst/>
              <a:cxnLst/>
              <a:rect r="r" b="b" t="t" l="l"/>
              <a:pathLst>
                <a:path h="8585200" w="10693400">
                  <a:moveTo>
                    <a:pt x="711200" y="0"/>
                  </a:moveTo>
                  <a:lnTo>
                    <a:pt x="9982200" y="0"/>
                  </a:lnTo>
                  <a:cubicBezTo>
                    <a:pt x="10375011" y="0"/>
                    <a:pt x="10693400" y="318389"/>
                    <a:pt x="10693400" y="711200"/>
                  </a:cubicBezTo>
                  <a:lnTo>
                    <a:pt x="10693400" y="7874000"/>
                  </a:lnTo>
                  <a:cubicBezTo>
                    <a:pt x="10693400" y="8266811"/>
                    <a:pt x="10375011" y="8585200"/>
                    <a:pt x="9982200" y="8585200"/>
                  </a:cubicBezTo>
                  <a:lnTo>
                    <a:pt x="711200" y="8585200"/>
                  </a:lnTo>
                  <a:cubicBezTo>
                    <a:pt x="318389" y="8585200"/>
                    <a:pt x="0" y="8266811"/>
                    <a:pt x="0" y="7874000"/>
                  </a:cubicBezTo>
                  <a:lnTo>
                    <a:pt x="0" y="711200"/>
                  </a:lnTo>
                  <a:cubicBezTo>
                    <a:pt x="0" y="318389"/>
                    <a:pt x="318389" y="0"/>
                    <a:pt x="711200" y="0"/>
                  </a:cubicBezTo>
                  <a:close/>
                </a:path>
              </a:pathLst>
            </a:custGeom>
            <a:solidFill>
              <a:srgbClr val="EBDDC5"/>
            </a:solidFill>
          </p:spPr>
        </p:sp>
      </p:grpSp>
      <p:sp>
        <p:nvSpPr>
          <p:cNvPr name="TextBox 18" id="18"/>
          <p:cNvSpPr txBox="true"/>
          <p:nvPr/>
        </p:nvSpPr>
        <p:spPr>
          <a:xfrm rot="0">
            <a:off x="992695" y="9029700"/>
            <a:ext cx="5972175" cy="514350"/>
          </a:xfrm>
          <a:prstGeom prst="rect">
            <a:avLst/>
          </a:prstGeom>
        </p:spPr>
        <p:txBody>
          <a:bodyPr anchor="t" rtlCol="false" tIns="0" lIns="0" bIns="0" rIns="0">
            <a:spAutoFit/>
          </a:bodyPr>
          <a:lstStyle/>
          <a:p>
            <a:pPr algn="l">
              <a:lnSpc>
                <a:spcPts val="3569"/>
              </a:lnSpc>
            </a:pPr>
            <a:r>
              <a:rPr lang="en-US" b="true" sz="2550">
                <a:solidFill>
                  <a:srgbClr val="201E1D"/>
                </a:solidFill>
                <a:latin typeface="Arimo Bold"/>
                <a:ea typeface="Arimo Bold"/>
                <a:cs typeface="Arimo Bold"/>
                <a:sym typeface="Arimo Bold"/>
              </a:rPr>
              <a:t>c</a:t>
            </a:r>
            <a:r>
              <a:rPr lang="en-US" b="true" sz="2550">
                <a:solidFill>
                  <a:srgbClr val="201E1D"/>
                </a:solidFill>
                <a:latin typeface="Arimo Bold"/>
                <a:ea typeface="Arimo Bold"/>
                <a:cs typeface="Arimo Bold"/>
                <a:sym typeface="Arimo Bold"/>
              </a:rPr>
              <a:t> 36p²q − 24pq² · </a:t>
            </a:r>
            <a:r>
              <a:rPr lang="en-US" b="true" sz="2550">
                <a:solidFill>
                  <a:srgbClr val="201E1D"/>
                </a:solidFill>
                <a:latin typeface="Arimo Bold"/>
                <a:ea typeface="Arimo Bold"/>
                <a:cs typeface="Arimo Bold"/>
                <a:sym typeface="Arimo Bold"/>
              </a:rPr>
              <a:t>d</a:t>
            </a:r>
            <a:r>
              <a:rPr lang="en-US" b="true" sz="2550">
                <a:solidFill>
                  <a:srgbClr val="201E1D"/>
                </a:solidFill>
                <a:latin typeface="Arimo Bold"/>
                <a:ea typeface="Arimo Bold"/>
                <a:cs typeface="Arimo Bold"/>
                <a:sym typeface="Arimo Bold"/>
              </a:rPr>
              <a:t> 15(x − 2) − 20(x − 2)³</a:t>
            </a:r>
          </a:p>
        </p:txBody>
      </p:sp>
      <p:grpSp>
        <p:nvGrpSpPr>
          <p:cNvPr name="Group 19" id="19"/>
          <p:cNvGrpSpPr/>
          <p:nvPr/>
        </p:nvGrpSpPr>
        <p:grpSpPr>
          <a:xfrm rot="0">
            <a:off x="12663773" y="9010650"/>
            <a:ext cx="2333625" cy="666750"/>
            <a:chOff x="0" y="0"/>
            <a:chExt cx="3111500" cy="889000"/>
          </a:xfrm>
        </p:grpSpPr>
        <p:sp>
          <p:nvSpPr>
            <p:cNvPr name="Freeform 20" id="20"/>
            <p:cNvSpPr/>
            <p:nvPr/>
          </p:nvSpPr>
          <p:spPr>
            <a:xfrm flipH="false" flipV="false" rot="0">
              <a:off x="0" y="0"/>
              <a:ext cx="3111500" cy="889000"/>
            </a:xfrm>
            <a:custGeom>
              <a:avLst/>
              <a:gdLst/>
              <a:ahLst/>
              <a:cxnLst/>
              <a:rect r="r" b="b" t="t" l="l"/>
              <a:pathLst>
                <a:path h="889000" w="3111500">
                  <a:moveTo>
                    <a:pt x="444500" y="0"/>
                  </a:moveTo>
                  <a:lnTo>
                    <a:pt x="2667000" y="0"/>
                  </a:lnTo>
                  <a:cubicBezTo>
                    <a:pt x="2912491" y="0"/>
                    <a:pt x="3111500" y="199009"/>
                    <a:pt x="3111500" y="444500"/>
                  </a:cubicBezTo>
                  <a:cubicBezTo>
                    <a:pt x="3111500" y="689991"/>
                    <a:pt x="2912491" y="889000"/>
                    <a:pt x="26670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sp>
          <p:nvSpPr>
            <p:cNvPr name="TextBox 21" id="21"/>
            <p:cNvSpPr txBox="true"/>
            <p:nvPr/>
          </p:nvSpPr>
          <p:spPr>
            <a:xfrm>
              <a:off x="0" y="-19050"/>
              <a:ext cx="3111500" cy="908050"/>
            </a:xfrm>
            <a:prstGeom prst="rect">
              <a:avLst/>
            </a:prstGeom>
          </p:spPr>
          <p:txBody>
            <a:bodyPr anchor="t" rtlCol="false" tIns="203200" lIns="203200" bIns="203200" rIns="203200"/>
            <a:lstStyle/>
            <a:p>
              <a:pPr algn="ctr">
                <a:lnSpc>
                  <a:spcPts val="2700"/>
                </a:lnSpc>
              </a:pPr>
              <a:r>
                <a:rPr lang="en-US" b="true" sz="2250" spc="-44">
                  <a:solidFill>
                    <a:srgbClr val="F5EAD8"/>
                  </a:solidFill>
                  <a:latin typeface="Arimo Bold"/>
                  <a:ea typeface="Arimo Bold"/>
                  <a:cs typeface="Arimo Bold"/>
                  <a:sym typeface="Arimo Bold"/>
                </a:rPr>
                <a:t>Next step →</a:t>
              </a:r>
            </a:p>
          </p:txBody>
        </p:sp>
      </p:grpSp>
      <p:sp>
        <p:nvSpPr>
          <p:cNvPr name="TextBox 22" id="22"/>
          <p:cNvSpPr txBox="true"/>
          <p:nvPr/>
        </p:nvSpPr>
        <p:spPr>
          <a:xfrm rot="0">
            <a:off x="15153132" y="8991600"/>
            <a:ext cx="2143125" cy="685800"/>
          </a:xfrm>
          <a:prstGeom prst="rect">
            <a:avLst/>
          </a:prstGeom>
        </p:spPr>
        <p:txBody>
          <a:bodyPr anchor="t" rtlCol="false" tIns="0" lIns="0" bIns="0" rIns="0">
            <a:spAutoFit/>
          </a:bodyPr>
          <a:lstStyle/>
          <a:p>
            <a:pPr algn="ctr">
              <a:lnSpc>
                <a:spcPts val="2700"/>
              </a:lnSpc>
            </a:pPr>
            <a:r>
              <a:rPr lang="en-US" b="true" sz="2250" spc="-44">
                <a:solidFill>
                  <a:srgbClr val="201E1D"/>
                </a:solidFill>
                <a:latin typeface="Arimo Bold"/>
                <a:ea typeface="Arimo Bold"/>
                <a:cs typeface="Arimo Bold"/>
                <a:sym typeface="Arimo Bold"/>
              </a:rPr>
              <a:t>Start again</a:t>
            </a:r>
          </a:p>
        </p:txBody>
      </p:sp>
    </p:spTree>
  </p:cSld>
  <p:clrMapOvr>
    <a:masterClrMapping/>
  </p:clrMapOvr>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E1EECC"/>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FFC6A5"/>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CCDBB2"/>
            </a:solidFill>
          </p:spPr>
        </p:sp>
      </p:grpSp>
      <p:grpSp>
        <p:nvGrpSpPr>
          <p:cNvPr name="Group 9" id="9"/>
          <p:cNvGrpSpPr/>
          <p:nvPr/>
        </p:nvGrpSpPr>
        <p:grpSpPr>
          <a:xfrm rot="0">
            <a:off x="912400" y="611505"/>
            <a:ext cx="3619500" cy="600075"/>
            <a:chOff x="0" y="0"/>
            <a:chExt cx="4826000" cy="800100"/>
          </a:xfrm>
        </p:grpSpPr>
        <p:sp>
          <p:nvSpPr>
            <p:cNvPr name="Freeform 10" id="10"/>
            <p:cNvSpPr/>
            <p:nvPr/>
          </p:nvSpPr>
          <p:spPr>
            <a:xfrm flipH="false" flipV="false" rot="0">
              <a:off x="0" y="0"/>
              <a:ext cx="4826000" cy="800100"/>
            </a:xfrm>
            <a:custGeom>
              <a:avLst/>
              <a:gdLst/>
              <a:ahLst/>
              <a:cxnLst/>
              <a:rect r="r" b="b" t="t" l="l"/>
              <a:pathLst>
                <a:path h="800100" w="4826000">
                  <a:moveTo>
                    <a:pt x="400050" y="0"/>
                  </a:moveTo>
                  <a:lnTo>
                    <a:pt x="4425950" y="0"/>
                  </a:lnTo>
                  <a:cubicBezTo>
                    <a:pt x="4646930" y="0"/>
                    <a:pt x="4826000" y="179070"/>
                    <a:pt x="4826000" y="400050"/>
                  </a:cubicBezTo>
                  <a:cubicBezTo>
                    <a:pt x="4826000" y="621030"/>
                    <a:pt x="4646930" y="800100"/>
                    <a:pt x="4425950" y="800100"/>
                  </a:cubicBezTo>
                  <a:lnTo>
                    <a:pt x="400050" y="800100"/>
                  </a:lnTo>
                  <a:cubicBezTo>
                    <a:pt x="179070" y="800100"/>
                    <a:pt x="0" y="621030"/>
                    <a:pt x="0" y="400050"/>
                  </a:cubicBezTo>
                  <a:cubicBezTo>
                    <a:pt x="0" y="179070"/>
                    <a:pt x="179070" y="0"/>
                    <a:pt x="400050" y="0"/>
                  </a:cubicBezTo>
                  <a:close/>
                </a:path>
              </a:pathLst>
            </a:custGeom>
            <a:solidFill>
              <a:srgbClr val="56633F"/>
            </a:solidFill>
          </p:spPr>
        </p:sp>
        <p:sp>
          <p:nvSpPr>
            <p:cNvPr name="TextBox 11" id="11"/>
            <p:cNvSpPr txBox="true"/>
            <p:nvPr/>
          </p:nvSpPr>
          <p:spPr>
            <a:xfrm>
              <a:off x="0" y="-76200"/>
              <a:ext cx="48260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WORKED EXAMPLE 3E</a:t>
              </a:r>
            </a:p>
          </p:txBody>
        </p:sp>
      </p:grpSp>
      <p:sp>
        <p:nvSpPr>
          <p:cNvPr name="TextBox 12" id="12"/>
          <p:cNvSpPr txBox="true"/>
          <p:nvPr/>
        </p:nvSpPr>
        <p:spPr>
          <a:xfrm rot="0">
            <a:off x="4719638" y="630555"/>
            <a:ext cx="1943100" cy="485775"/>
          </a:xfrm>
          <a:prstGeom prst="rect">
            <a:avLst/>
          </a:prstGeom>
        </p:spPr>
        <p:txBody>
          <a:bodyPr anchor="t" rtlCol="false" tIns="0" lIns="0" bIns="0" rIns="0">
            <a:spAutoFit/>
          </a:bodyPr>
          <a:lstStyle/>
          <a:p>
            <a:pPr algn="l">
              <a:lnSpc>
                <a:spcPts val="3255"/>
              </a:lnSpc>
            </a:pPr>
            <a:r>
              <a:rPr lang="en-US" b="true" sz="2100">
                <a:solidFill>
                  <a:srgbClr val="643312"/>
                </a:solidFill>
                <a:latin typeface="Arimo Bold"/>
                <a:ea typeface="Arimo Bold"/>
                <a:cs typeface="Arimo Bold"/>
                <a:sym typeface="Arimo Bold"/>
              </a:rPr>
              <a:t>6.2 · Factorising</a:t>
            </a:r>
          </a:p>
        </p:txBody>
      </p:sp>
      <p:sp>
        <p:nvSpPr>
          <p:cNvPr name="TextBox 13" id="13"/>
          <p:cNvSpPr txBox="true"/>
          <p:nvPr/>
        </p:nvSpPr>
        <p:spPr>
          <a:xfrm rot="0">
            <a:off x="914400" y="1471708"/>
            <a:ext cx="7391400" cy="504825"/>
          </a:xfrm>
          <a:prstGeom prst="rect">
            <a:avLst/>
          </a:prstGeom>
        </p:spPr>
        <p:txBody>
          <a:bodyPr anchor="t" rtlCol="false" tIns="0" lIns="0" bIns="0" rIns="0">
            <a:spAutoFit/>
          </a:bodyPr>
          <a:lstStyle/>
          <a:p>
            <a:pPr algn="l">
              <a:lnSpc>
                <a:spcPts val="4368"/>
              </a:lnSpc>
            </a:pPr>
            <a:r>
              <a:rPr lang="en-US" b="true" sz="4200" spc="-84">
                <a:solidFill>
                  <a:srgbClr val="201E1D"/>
                </a:solidFill>
                <a:latin typeface="Arimo Bold"/>
                <a:ea typeface="Arimo Bold"/>
                <a:cs typeface="Arimo Bold"/>
                <a:sym typeface="Arimo Bold"/>
              </a:rPr>
              <a:t>Group the terms in pairs</a:t>
            </a:r>
          </a:p>
        </p:txBody>
      </p:sp>
      <p:sp>
        <p:nvSpPr>
          <p:cNvPr name="TextBox 14" id="14"/>
          <p:cNvSpPr txBox="true"/>
          <p:nvPr/>
        </p:nvSpPr>
        <p:spPr>
          <a:xfrm rot="0">
            <a:off x="914400" y="2122361"/>
            <a:ext cx="7391400" cy="542925"/>
          </a:xfrm>
          <a:prstGeom prst="rect">
            <a:avLst/>
          </a:prstGeom>
        </p:spPr>
        <p:txBody>
          <a:bodyPr anchor="t" rtlCol="false" tIns="0" lIns="0" bIns="0" rIns="0">
            <a:spAutoFit/>
          </a:bodyPr>
          <a:lstStyle/>
          <a:p>
            <a:pPr algn="l">
              <a:lnSpc>
                <a:spcPts val="3779"/>
              </a:lnSpc>
            </a:pPr>
            <a:r>
              <a:rPr lang="en-US" b="true" sz="2700">
                <a:solidFill>
                  <a:srgbClr val="201E1D"/>
                </a:solidFill>
                <a:latin typeface="Arimo Bold"/>
                <a:ea typeface="Arimo Bold"/>
                <a:cs typeface="Arimo Bold"/>
                <a:sym typeface="Arimo Bold"/>
              </a:rPr>
              <a:t>Factorise 6bx − 15cx + 10cy − 4by</a:t>
            </a:r>
          </a:p>
        </p:txBody>
      </p:sp>
      <p:grpSp>
        <p:nvGrpSpPr>
          <p:cNvPr name="Group 15" id="15"/>
          <p:cNvGrpSpPr/>
          <p:nvPr/>
        </p:nvGrpSpPr>
        <p:grpSpPr>
          <a:xfrm rot="0">
            <a:off x="914400" y="5411248"/>
            <a:ext cx="7391400" cy="1076325"/>
            <a:chOff x="0" y="0"/>
            <a:chExt cx="9855200" cy="1435100"/>
          </a:xfrm>
        </p:grpSpPr>
        <p:sp>
          <p:nvSpPr>
            <p:cNvPr name="Freeform 16" id="16"/>
            <p:cNvSpPr/>
            <p:nvPr/>
          </p:nvSpPr>
          <p:spPr>
            <a:xfrm flipH="false" flipV="false" rot="0">
              <a:off x="0" y="0"/>
              <a:ext cx="9855200" cy="1435100"/>
            </a:xfrm>
            <a:custGeom>
              <a:avLst/>
              <a:gdLst/>
              <a:ahLst/>
              <a:cxnLst/>
              <a:rect r="r" b="b" t="t" l="l"/>
              <a:pathLst>
                <a:path h="1435100" w="9855200">
                  <a:moveTo>
                    <a:pt x="355600" y="0"/>
                  </a:moveTo>
                  <a:lnTo>
                    <a:pt x="9499600" y="0"/>
                  </a:lnTo>
                  <a:cubicBezTo>
                    <a:pt x="9695942" y="0"/>
                    <a:pt x="9855200" y="159258"/>
                    <a:pt x="9855200" y="355600"/>
                  </a:cubicBezTo>
                  <a:lnTo>
                    <a:pt x="9855200" y="1079500"/>
                  </a:lnTo>
                  <a:cubicBezTo>
                    <a:pt x="9855200" y="1275842"/>
                    <a:pt x="9695942" y="1435100"/>
                    <a:pt x="9499600" y="1435100"/>
                  </a:cubicBezTo>
                  <a:lnTo>
                    <a:pt x="355600" y="1435100"/>
                  </a:lnTo>
                  <a:cubicBezTo>
                    <a:pt x="159258" y="1435100"/>
                    <a:pt x="0" y="1275842"/>
                    <a:pt x="0" y="1079500"/>
                  </a:cubicBezTo>
                  <a:lnTo>
                    <a:pt x="0" y="355600"/>
                  </a:lnTo>
                  <a:cubicBezTo>
                    <a:pt x="0" y="159258"/>
                    <a:pt x="159258" y="0"/>
                    <a:pt x="355600" y="0"/>
                  </a:cubicBezTo>
                  <a:close/>
                </a:path>
              </a:pathLst>
            </a:custGeom>
            <a:solidFill>
              <a:srgbClr val="FFE1D0"/>
            </a:solidFill>
          </p:spPr>
        </p:sp>
      </p:grpSp>
      <p:sp>
        <p:nvSpPr>
          <p:cNvPr name="TextBox 17" id="17"/>
          <p:cNvSpPr txBox="true"/>
          <p:nvPr/>
        </p:nvSpPr>
        <p:spPr>
          <a:xfrm rot="0">
            <a:off x="914400" y="5354098"/>
            <a:ext cx="7391400" cy="1133475"/>
          </a:xfrm>
          <a:prstGeom prst="rect">
            <a:avLst/>
          </a:prstGeom>
        </p:spPr>
        <p:txBody>
          <a:bodyPr anchor="t" rtlCol="false" tIns="0" lIns="0" bIns="0" rIns="0">
            <a:spAutoFit/>
          </a:bodyPr>
          <a:lstStyle/>
          <a:p>
            <a:pPr algn="l">
              <a:lnSpc>
                <a:spcPts val="3045"/>
              </a:lnSpc>
            </a:pPr>
            <a:r>
              <a:rPr lang="en-US" b="true" sz="2175">
                <a:solidFill>
                  <a:srgbClr val="643312"/>
                </a:solidFill>
                <a:latin typeface="Arimo Bold"/>
                <a:ea typeface="Arimo Bold"/>
                <a:cs typeface="Arimo Bold"/>
                <a:sym typeface="Arimo Bold"/>
              </a:rPr>
              <a:t>Tip </a:t>
            </a:r>
            <a:r>
              <a:rPr lang="en-US" b="true" sz="2175">
                <a:solidFill>
                  <a:srgbClr val="201E1D"/>
                </a:solidFill>
                <a:latin typeface="Arimo Bold"/>
                <a:ea typeface="Arimo Bold"/>
                <a:cs typeface="Arimo Bold"/>
                <a:sym typeface="Arimo Bold"/>
              </a:rPr>
              <a:t>Check by expanding your answer. You should get back to the four terms.</a:t>
            </a:r>
          </a:p>
        </p:txBody>
      </p:sp>
      <p:grpSp>
        <p:nvGrpSpPr>
          <p:cNvPr name="Group 18" id="18"/>
          <p:cNvGrpSpPr/>
          <p:nvPr/>
        </p:nvGrpSpPr>
        <p:grpSpPr>
          <a:xfrm rot="0">
            <a:off x="916495" y="9010650"/>
            <a:ext cx="2333625" cy="666750"/>
            <a:chOff x="0" y="0"/>
            <a:chExt cx="3111500" cy="889000"/>
          </a:xfrm>
        </p:grpSpPr>
        <p:sp>
          <p:nvSpPr>
            <p:cNvPr name="Freeform 19" id="19"/>
            <p:cNvSpPr/>
            <p:nvPr/>
          </p:nvSpPr>
          <p:spPr>
            <a:xfrm flipH="false" flipV="false" rot="0">
              <a:off x="0" y="0"/>
              <a:ext cx="3111500" cy="889000"/>
            </a:xfrm>
            <a:custGeom>
              <a:avLst/>
              <a:gdLst/>
              <a:ahLst/>
              <a:cxnLst/>
              <a:rect r="r" b="b" t="t" l="l"/>
              <a:pathLst>
                <a:path h="889000" w="3111500">
                  <a:moveTo>
                    <a:pt x="444500" y="0"/>
                  </a:moveTo>
                  <a:lnTo>
                    <a:pt x="2667000" y="0"/>
                  </a:lnTo>
                  <a:cubicBezTo>
                    <a:pt x="2912491" y="0"/>
                    <a:pt x="3111500" y="199009"/>
                    <a:pt x="3111500" y="444500"/>
                  </a:cubicBezTo>
                  <a:cubicBezTo>
                    <a:pt x="3111500" y="689991"/>
                    <a:pt x="2912491" y="889000"/>
                    <a:pt x="26670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sp>
          <p:nvSpPr>
            <p:cNvPr name="TextBox 20" id="20"/>
            <p:cNvSpPr txBox="true"/>
            <p:nvPr/>
          </p:nvSpPr>
          <p:spPr>
            <a:xfrm>
              <a:off x="0" y="-19050"/>
              <a:ext cx="3111500" cy="908050"/>
            </a:xfrm>
            <a:prstGeom prst="rect">
              <a:avLst/>
            </a:prstGeom>
          </p:spPr>
          <p:txBody>
            <a:bodyPr anchor="t" rtlCol="false" tIns="203200" lIns="203200" bIns="203200" rIns="203200"/>
            <a:lstStyle/>
            <a:p>
              <a:pPr algn="ctr">
                <a:lnSpc>
                  <a:spcPts val="2700"/>
                </a:lnSpc>
              </a:pPr>
              <a:r>
                <a:rPr lang="en-US" b="true" sz="2250" spc="-44">
                  <a:solidFill>
                    <a:srgbClr val="F5EAD8"/>
                  </a:solidFill>
                  <a:latin typeface="Arimo Bold"/>
                  <a:ea typeface="Arimo Bold"/>
                  <a:cs typeface="Arimo Bold"/>
                  <a:sym typeface="Arimo Bold"/>
                </a:rPr>
                <a:t>Next step →</a:t>
              </a:r>
            </a:p>
          </p:txBody>
        </p:sp>
      </p:grpSp>
      <p:sp>
        <p:nvSpPr>
          <p:cNvPr name="TextBox 21" id="21"/>
          <p:cNvSpPr txBox="true"/>
          <p:nvPr/>
        </p:nvSpPr>
        <p:spPr>
          <a:xfrm rot="0">
            <a:off x="3405759" y="8991600"/>
            <a:ext cx="2143125" cy="685800"/>
          </a:xfrm>
          <a:prstGeom prst="rect">
            <a:avLst/>
          </a:prstGeom>
        </p:spPr>
        <p:txBody>
          <a:bodyPr anchor="t" rtlCol="false" tIns="0" lIns="0" bIns="0" rIns="0">
            <a:spAutoFit/>
          </a:bodyPr>
          <a:lstStyle/>
          <a:p>
            <a:pPr algn="ctr">
              <a:lnSpc>
                <a:spcPts val="2700"/>
              </a:lnSpc>
            </a:pPr>
            <a:r>
              <a:rPr lang="en-US" b="true" sz="2250" spc="-44">
                <a:solidFill>
                  <a:srgbClr val="201E1D"/>
                </a:solidFill>
                <a:latin typeface="Arimo Bold"/>
                <a:ea typeface="Arimo Bold"/>
                <a:cs typeface="Arimo Bold"/>
                <a:sym typeface="Arimo Bold"/>
              </a:rPr>
              <a:t>Start again</a:t>
            </a:r>
          </a:p>
        </p:txBody>
      </p:sp>
      <p:grpSp>
        <p:nvGrpSpPr>
          <p:cNvPr name="Group 22" id="22"/>
          <p:cNvGrpSpPr/>
          <p:nvPr/>
        </p:nvGrpSpPr>
        <p:grpSpPr>
          <a:xfrm rot="0">
            <a:off x="1062228" y="3096196"/>
            <a:ext cx="475488" cy="475488"/>
            <a:chOff x="0" y="0"/>
            <a:chExt cx="633984" cy="633984"/>
          </a:xfrm>
        </p:grpSpPr>
        <p:sp>
          <p:nvSpPr>
            <p:cNvPr name="Freeform 23" id="23"/>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C67139"/>
            </a:solidFill>
          </p:spPr>
        </p:sp>
      </p:grpSp>
      <p:sp>
        <p:nvSpPr>
          <p:cNvPr name="TextBox 24" id="24"/>
          <p:cNvSpPr txBox="true"/>
          <p:nvPr/>
        </p:nvSpPr>
        <p:spPr>
          <a:xfrm rot="0">
            <a:off x="1062228" y="3067621"/>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1</a:t>
            </a:r>
          </a:p>
        </p:txBody>
      </p:sp>
      <p:sp>
        <p:nvSpPr>
          <p:cNvPr name="TextBox 25" id="25"/>
          <p:cNvSpPr txBox="true"/>
          <p:nvPr/>
        </p:nvSpPr>
        <p:spPr>
          <a:xfrm rot="0">
            <a:off x="1702594" y="3108388"/>
            <a:ext cx="4288536" cy="413004"/>
          </a:xfrm>
          <a:prstGeom prst="rect">
            <a:avLst/>
          </a:prstGeom>
        </p:spPr>
        <p:txBody>
          <a:bodyPr anchor="t" rtlCol="false" tIns="0" lIns="0" bIns="0" rIns="0">
            <a:spAutoFit/>
          </a:bodyPr>
          <a:lstStyle/>
          <a:p>
            <a:pPr algn="l">
              <a:lnSpc>
                <a:spcPts val="2946"/>
              </a:lnSpc>
            </a:pPr>
            <a:r>
              <a:rPr lang="en-US" b="true" sz="2232">
                <a:solidFill>
                  <a:srgbClr val="201E1D"/>
                </a:solidFill>
                <a:latin typeface="Arimo Bold"/>
                <a:ea typeface="Arimo Bold"/>
                <a:cs typeface="Arimo Bold"/>
                <a:sym typeface="Arimo Bold"/>
              </a:rPr>
              <a:t>Pairs: (6bx − 15cx) + (10cy − 4by)</a:t>
            </a:r>
          </a:p>
        </p:txBody>
      </p:sp>
      <p:grpSp>
        <p:nvGrpSpPr>
          <p:cNvPr name="Group 26" id="26"/>
          <p:cNvGrpSpPr/>
          <p:nvPr/>
        </p:nvGrpSpPr>
        <p:grpSpPr>
          <a:xfrm rot="0">
            <a:off x="1062228" y="3705796"/>
            <a:ext cx="475488" cy="475488"/>
            <a:chOff x="0" y="0"/>
            <a:chExt cx="633984" cy="633984"/>
          </a:xfrm>
        </p:grpSpPr>
        <p:sp>
          <p:nvSpPr>
            <p:cNvPr name="Freeform 27" id="27"/>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7A8A5E"/>
            </a:solidFill>
          </p:spPr>
        </p:sp>
      </p:grpSp>
      <p:sp>
        <p:nvSpPr>
          <p:cNvPr name="TextBox 28" id="28"/>
          <p:cNvSpPr txBox="true"/>
          <p:nvPr/>
        </p:nvSpPr>
        <p:spPr>
          <a:xfrm rot="0">
            <a:off x="1062228" y="3677221"/>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2</a:t>
            </a:r>
          </a:p>
        </p:txBody>
      </p:sp>
      <p:sp>
        <p:nvSpPr>
          <p:cNvPr name="TextBox 29" id="29"/>
          <p:cNvSpPr txBox="true"/>
          <p:nvPr/>
        </p:nvSpPr>
        <p:spPr>
          <a:xfrm rot="0">
            <a:off x="1700498" y="3717988"/>
            <a:ext cx="4617720" cy="413004"/>
          </a:xfrm>
          <a:prstGeom prst="rect">
            <a:avLst/>
          </a:prstGeom>
        </p:spPr>
        <p:txBody>
          <a:bodyPr anchor="t" rtlCol="false" tIns="0" lIns="0" bIns="0" rIns="0">
            <a:spAutoFit/>
          </a:bodyPr>
          <a:lstStyle/>
          <a:p>
            <a:pPr algn="l">
              <a:lnSpc>
                <a:spcPts val="2946"/>
              </a:lnSpc>
            </a:pPr>
            <a:r>
              <a:rPr lang="en-US" b="true" sz="2232">
                <a:solidFill>
                  <a:srgbClr val="201E1D"/>
                </a:solidFill>
                <a:latin typeface="Arimo Bold"/>
                <a:ea typeface="Arimo Bold"/>
                <a:cs typeface="Arimo Bold"/>
                <a:sym typeface="Arimo Bold"/>
              </a:rPr>
              <a:t>Each pair: 3x(2b − 5c) + 2y(5c − 2b)</a:t>
            </a:r>
          </a:p>
        </p:txBody>
      </p:sp>
      <p:grpSp>
        <p:nvGrpSpPr>
          <p:cNvPr name="Group 30" id="30"/>
          <p:cNvGrpSpPr/>
          <p:nvPr/>
        </p:nvGrpSpPr>
        <p:grpSpPr>
          <a:xfrm rot="0">
            <a:off x="1062228" y="4315396"/>
            <a:ext cx="475488" cy="475488"/>
            <a:chOff x="0" y="0"/>
            <a:chExt cx="633984" cy="633984"/>
          </a:xfrm>
        </p:grpSpPr>
        <p:sp>
          <p:nvSpPr>
            <p:cNvPr name="Freeform 31" id="31"/>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C67139"/>
            </a:solidFill>
          </p:spPr>
        </p:sp>
      </p:grpSp>
      <p:sp>
        <p:nvSpPr>
          <p:cNvPr name="TextBox 32" id="32"/>
          <p:cNvSpPr txBox="true"/>
          <p:nvPr/>
        </p:nvSpPr>
        <p:spPr>
          <a:xfrm rot="0">
            <a:off x="1062228" y="4286821"/>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3</a:t>
            </a:r>
          </a:p>
        </p:txBody>
      </p:sp>
      <p:sp>
        <p:nvSpPr>
          <p:cNvPr name="TextBox 33" id="33"/>
          <p:cNvSpPr txBox="true"/>
          <p:nvPr/>
        </p:nvSpPr>
        <p:spPr>
          <a:xfrm rot="0">
            <a:off x="1700498" y="4327588"/>
            <a:ext cx="6053328" cy="413004"/>
          </a:xfrm>
          <a:prstGeom prst="rect">
            <a:avLst/>
          </a:prstGeom>
        </p:spPr>
        <p:txBody>
          <a:bodyPr anchor="t" rtlCol="false" tIns="0" lIns="0" bIns="0" rIns="0">
            <a:spAutoFit/>
          </a:bodyPr>
          <a:lstStyle/>
          <a:p>
            <a:pPr algn="l">
              <a:lnSpc>
                <a:spcPts val="2946"/>
              </a:lnSpc>
            </a:pPr>
            <a:r>
              <a:rPr lang="en-US" b="true" sz="2232">
                <a:solidFill>
                  <a:srgbClr val="201E1D"/>
                </a:solidFill>
                <a:latin typeface="Arimo Bold"/>
                <a:ea typeface="Arimo Bold"/>
                <a:cs typeface="Arimo Bold"/>
                <a:sym typeface="Arimo Bold"/>
              </a:rPr>
              <a:t>5c − 2b = −(2b − 5c): 3x(2b − 5c) − 2y(2b − 5c)</a:t>
            </a:r>
          </a:p>
        </p:txBody>
      </p:sp>
      <p:grpSp>
        <p:nvGrpSpPr>
          <p:cNvPr name="Group 34" id="34"/>
          <p:cNvGrpSpPr/>
          <p:nvPr/>
        </p:nvGrpSpPr>
        <p:grpSpPr>
          <a:xfrm rot="0">
            <a:off x="1062228" y="4924996"/>
            <a:ext cx="475488" cy="475488"/>
            <a:chOff x="0" y="0"/>
            <a:chExt cx="633984" cy="633984"/>
          </a:xfrm>
        </p:grpSpPr>
        <p:sp>
          <p:nvSpPr>
            <p:cNvPr name="Freeform 35" id="35"/>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7A8A5E"/>
            </a:solidFill>
          </p:spPr>
        </p:sp>
      </p:grpSp>
      <p:sp>
        <p:nvSpPr>
          <p:cNvPr name="TextBox 36" id="36"/>
          <p:cNvSpPr txBox="true"/>
          <p:nvPr/>
        </p:nvSpPr>
        <p:spPr>
          <a:xfrm rot="0">
            <a:off x="1062228" y="4896421"/>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4</a:t>
            </a:r>
          </a:p>
        </p:txBody>
      </p:sp>
      <p:sp>
        <p:nvSpPr>
          <p:cNvPr name="TextBox 37" id="37"/>
          <p:cNvSpPr txBox="true"/>
          <p:nvPr/>
        </p:nvSpPr>
        <p:spPr>
          <a:xfrm rot="0">
            <a:off x="1701356" y="4937188"/>
            <a:ext cx="4700016" cy="413004"/>
          </a:xfrm>
          <a:prstGeom prst="rect">
            <a:avLst/>
          </a:prstGeom>
        </p:spPr>
        <p:txBody>
          <a:bodyPr anchor="t" rtlCol="false" tIns="0" lIns="0" bIns="0" rIns="0">
            <a:spAutoFit/>
          </a:bodyPr>
          <a:lstStyle/>
          <a:p>
            <a:pPr algn="l">
              <a:lnSpc>
                <a:spcPts val="2946"/>
              </a:lnSpc>
            </a:pPr>
            <a:r>
              <a:rPr lang="en-US" b="true" sz="2232">
                <a:solidFill>
                  <a:srgbClr val="201E1D"/>
                </a:solidFill>
                <a:latin typeface="Arimo Bold"/>
                <a:ea typeface="Arimo Bold"/>
                <a:cs typeface="Arimo Bold"/>
                <a:sym typeface="Arimo Bold"/>
              </a:rPr>
              <a:t>Common bracket: (2b − 5c)(3x − 2y)</a:t>
            </a:r>
          </a:p>
        </p:txBody>
      </p:sp>
      <p:grpSp>
        <p:nvGrpSpPr>
          <p:cNvPr name="Group 38" id="38"/>
          <p:cNvGrpSpPr/>
          <p:nvPr/>
        </p:nvGrpSpPr>
        <p:grpSpPr>
          <a:xfrm rot="0">
            <a:off x="8801100" y="609600"/>
            <a:ext cx="8572500" cy="9067800"/>
            <a:chOff x="0" y="0"/>
            <a:chExt cx="11430000" cy="12090400"/>
          </a:xfrm>
        </p:grpSpPr>
        <p:sp>
          <p:nvSpPr>
            <p:cNvPr name="Freeform 39" id="39"/>
            <p:cNvSpPr/>
            <p:nvPr/>
          </p:nvSpPr>
          <p:spPr>
            <a:xfrm flipH="false" flipV="false" rot="0">
              <a:off x="0" y="0"/>
              <a:ext cx="11430000" cy="12090400"/>
            </a:xfrm>
            <a:custGeom>
              <a:avLst/>
              <a:gdLst/>
              <a:ahLst/>
              <a:cxnLst/>
              <a:rect r="r" b="b" t="t" l="l"/>
              <a:pathLst>
                <a:path h="12090400" w="11430000">
                  <a:moveTo>
                    <a:pt x="711200" y="0"/>
                  </a:moveTo>
                  <a:lnTo>
                    <a:pt x="10718800" y="0"/>
                  </a:lnTo>
                  <a:cubicBezTo>
                    <a:pt x="11111611" y="0"/>
                    <a:pt x="11430000" y="318389"/>
                    <a:pt x="11430000" y="711200"/>
                  </a:cubicBezTo>
                  <a:lnTo>
                    <a:pt x="11430000" y="11379200"/>
                  </a:lnTo>
                  <a:cubicBezTo>
                    <a:pt x="11430000" y="11772011"/>
                    <a:pt x="11111611" y="12090400"/>
                    <a:pt x="10718800" y="12090400"/>
                  </a:cubicBezTo>
                  <a:lnTo>
                    <a:pt x="711200" y="12090400"/>
                  </a:lnTo>
                  <a:cubicBezTo>
                    <a:pt x="318389" y="12090400"/>
                    <a:pt x="0" y="11772011"/>
                    <a:pt x="0" y="11379200"/>
                  </a:cubicBezTo>
                  <a:lnTo>
                    <a:pt x="0" y="711200"/>
                  </a:lnTo>
                  <a:cubicBezTo>
                    <a:pt x="0" y="318389"/>
                    <a:pt x="318389" y="0"/>
                    <a:pt x="711200" y="0"/>
                  </a:cubicBezTo>
                  <a:close/>
                </a:path>
              </a:pathLst>
            </a:custGeom>
            <a:solidFill>
              <a:srgbClr val="EBDDC5"/>
            </a:solidFill>
          </p:spPr>
        </p:sp>
      </p:grpSp>
    </p:spTree>
  </p:cSld>
  <p:clrMapOvr>
    <a:masterClrMapping/>
  </p:clrMapOvr>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E1EECC"/>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FFC6A5"/>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CCDBB2"/>
            </a:solidFill>
          </p:spPr>
        </p:sp>
      </p:grpSp>
      <p:grpSp>
        <p:nvGrpSpPr>
          <p:cNvPr name="Group 9" id="9"/>
          <p:cNvGrpSpPr/>
          <p:nvPr/>
        </p:nvGrpSpPr>
        <p:grpSpPr>
          <a:xfrm rot="0">
            <a:off x="913448" y="611505"/>
            <a:ext cx="3609975" cy="600075"/>
            <a:chOff x="0" y="0"/>
            <a:chExt cx="4813300" cy="800100"/>
          </a:xfrm>
        </p:grpSpPr>
        <p:sp>
          <p:nvSpPr>
            <p:cNvPr name="Freeform 10" id="10"/>
            <p:cNvSpPr/>
            <p:nvPr/>
          </p:nvSpPr>
          <p:spPr>
            <a:xfrm flipH="false" flipV="false" rot="0">
              <a:off x="0" y="0"/>
              <a:ext cx="4813300" cy="800100"/>
            </a:xfrm>
            <a:custGeom>
              <a:avLst/>
              <a:gdLst/>
              <a:ahLst/>
              <a:cxnLst/>
              <a:rect r="r" b="b" t="t" l="l"/>
              <a:pathLst>
                <a:path h="800100" w="4813300">
                  <a:moveTo>
                    <a:pt x="400050" y="0"/>
                  </a:moveTo>
                  <a:lnTo>
                    <a:pt x="4413250" y="0"/>
                  </a:lnTo>
                  <a:cubicBezTo>
                    <a:pt x="4634230" y="0"/>
                    <a:pt x="4813300" y="179070"/>
                    <a:pt x="4813300" y="400050"/>
                  </a:cubicBezTo>
                  <a:cubicBezTo>
                    <a:pt x="4813300" y="621030"/>
                    <a:pt x="4634230" y="800100"/>
                    <a:pt x="4413250" y="800100"/>
                  </a:cubicBezTo>
                  <a:lnTo>
                    <a:pt x="400050" y="800100"/>
                  </a:lnTo>
                  <a:cubicBezTo>
                    <a:pt x="179070" y="800100"/>
                    <a:pt x="0" y="621030"/>
                    <a:pt x="0" y="400050"/>
                  </a:cubicBezTo>
                  <a:cubicBezTo>
                    <a:pt x="0" y="179070"/>
                    <a:pt x="179070" y="0"/>
                    <a:pt x="400050" y="0"/>
                  </a:cubicBezTo>
                  <a:close/>
                </a:path>
              </a:pathLst>
            </a:custGeom>
            <a:solidFill>
              <a:srgbClr val="56633F"/>
            </a:solidFill>
          </p:spPr>
        </p:sp>
        <p:sp>
          <p:nvSpPr>
            <p:cNvPr name="TextBox 11" id="11"/>
            <p:cNvSpPr txBox="true"/>
            <p:nvPr/>
          </p:nvSpPr>
          <p:spPr>
            <a:xfrm>
              <a:off x="0" y="-76200"/>
              <a:ext cx="48133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WORKED EXAMPLE 3F</a:t>
              </a:r>
            </a:p>
          </p:txBody>
        </p:sp>
      </p:grpSp>
      <p:sp>
        <p:nvSpPr>
          <p:cNvPr name="TextBox 12" id="12"/>
          <p:cNvSpPr txBox="true"/>
          <p:nvPr/>
        </p:nvSpPr>
        <p:spPr>
          <a:xfrm rot="0">
            <a:off x="4712208" y="630555"/>
            <a:ext cx="1943100" cy="485775"/>
          </a:xfrm>
          <a:prstGeom prst="rect">
            <a:avLst/>
          </a:prstGeom>
        </p:spPr>
        <p:txBody>
          <a:bodyPr anchor="t" rtlCol="false" tIns="0" lIns="0" bIns="0" rIns="0">
            <a:spAutoFit/>
          </a:bodyPr>
          <a:lstStyle/>
          <a:p>
            <a:pPr algn="l">
              <a:lnSpc>
                <a:spcPts val="3255"/>
              </a:lnSpc>
            </a:pPr>
            <a:r>
              <a:rPr lang="en-US" b="true" sz="2100">
                <a:solidFill>
                  <a:srgbClr val="643312"/>
                </a:solidFill>
                <a:latin typeface="Arimo Bold"/>
                <a:ea typeface="Arimo Bold"/>
                <a:cs typeface="Arimo Bold"/>
                <a:sym typeface="Arimo Bold"/>
              </a:rPr>
              <a:t>6.2 · Factorising</a:t>
            </a:r>
          </a:p>
        </p:txBody>
      </p:sp>
      <p:sp>
        <p:nvSpPr>
          <p:cNvPr name="TextBox 13" id="13"/>
          <p:cNvSpPr txBox="true"/>
          <p:nvPr/>
        </p:nvSpPr>
        <p:spPr>
          <a:xfrm rot="0">
            <a:off x="914400" y="1471708"/>
            <a:ext cx="7391400" cy="504825"/>
          </a:xfrm>
          <a:prstGeom prst="rect">
            <a:avLst/>
          </a:prstGeom>
        </p:spPr>
        <p:txBody>
          <a:bodyPr anchor="t" rtlCol="false" tIns="0" lIns="0" bIns="0" rIns="0">
            <a:spAutoFit/>
          </a:bodyPr>
          <a:lstStyle/>
          <a:p>
            <a:pPr algn="l">
              <a:lnSpc>
                <a:spcPts val="4368"/>
              </a:lnSpc>
            </a:pPr>
            <a:r>
              <a:rPr lang="en-US" b="true" sz="4200" spc="-84">
                <a:solidFill>
                  <a:srgbClr val="201E1D"/>
                </a:solidFill>
                <a:latin typeface="Arimo Bold"/>
                <a:ea typeface="Arimo Bold"/>
                <a:cs typeface="Arimo Bold"/>
                <a:sym typeface="Arimo Bold"/>
              </a:rPr>
              <a:t>Choose the pairs carefully</a:t>
            </a:r>
          </a:p>
        </p:txBody>
      </p:sp>
      <p:sp>
        <p:nvSpPr>
          <p:cNvPr name="TextBox 14" id="14"/>
          <p:cNvSpPr txBox="true"/>
          <p:nvPr/>
        </p:nvSpPr>
        <p:spPr>
          <a:xfrm rot="0">
            <a:off x="914400" y="2122361"/>
            <a:ext cx="7391400" cy="542925"/>
          </a:xfrm>
          <a:prstGeom prst="rect">
            <a:avLst/>
          </a:prstGeom>
        </p:spPr>
        <p:txBody>
          <a:bodyPr anchor="t" rtlCol="false" tIns="0" lIns="0" bIns="0" rIns="0">
            <a:spAutoFit/>
          </a:bodyPr>
          <a:lstStyle/>
          <a:p>
            <a:pPr algn="l">
              <a:lnSpc>
                <a:spcPts val="3779"/>
              </a:lnSpc>
            </a:pPr>
            <a:r>
              <a:rPr lang="en-US" b="true" sz="2700">
                <a:solidFill>
                  <a:srgbClr val="201E1D"/>
                </a:solidFill>
                <a:latin typeface="Arimo Bold"/>
                <a:ea typeface="Arimo Bold"/>
                <a:cs typeface="Arimo Bold"/>
                <a:sym typeface="Arimo Bold"/>
              </a:rPr>
              <a:t>Factorise ax + by + atx + bty</a:t>
            </a:r>
          </a:p>
        </p:txBody>
      </p:sp>
      <p:grpSp>
        <p:nvGrpSpPr>
          <p:cNvPr name="Group 15" id="15"/>
          <p:cNvGrpSpPr/>
          <p:nvPr/>
        </p:nvGrpSpPr>
        <p:grpSpPr>
          <a:xfrm rot="0">
            <a:off x="914400" y="5411248"/>
            <a:ext cx="7391400" cy="1076325"/>
            <a:chOff x="0" y="0"/>
            <a:chExt cx="9855200" cy="1435100"/>
          </a:xfrm>
        </p:grpSpPr>
        <p:sp>
          <p:nvSpPr>
            <p:cNvPr name="Freeform 16" id="16"/>
            <p:cNvSpPr/>
            <p:nvPr/>
          </p:nvSpPr>
          <p:spPr>
            <a:xfrm flipH="false" flipV="false" rot="0">
              <a:off x="0" y="0"/>
              <a:ext cx="9855200" cy="1435100"/>
            </a:xfrm>
            <a:custGeom>
              <a:avLst/>
              <a:gdLst/>
              <a:ahLst/>
              <a:cxnLst/>
              <a:rect r="r" b="b" t="t" l="l"/>
              <a:pathLst>
                <a:path h="1435100" w="9855200">
                  <a:moveTo>
                    <a:pt x="355600" y="0"/>
                  </a:moveTo>
                  <a:lnTo>
                    <a:pt x="9499600" y="0"/>
                  </a:lnTo>
                  <a:cubicBezTo>
                    <a:pt x="9695942" y="0"/>
                    <a:pt x="9855200" y="159258"/>
                    <a:pt x="9855200" y="355600"/>
                  </a:cubicBezTo>
                  <a:lnTo>
                    <a:pt x="9855200" y="1079500"/>
                  </a:lnTo>
                  <a:cubicBezTo>
                    <a:pt x="9855200" y="1275842"/>
                    <a:pt x="9695942" y="1435100"/>
                    <a:pt x="9499600" y="1435100"/>
                  </a:cubicBezTo>
                  <a:lnTo>
                    <a:pt x="355600" y="1435100"/>
                  </a:lnTo>
                  <a:cubicBezTo>
                    <a:pt x="159258" y="1435100"/>
                    <a:pt x="0" y="1275842"/>
                    <a:pt x="0" y="1079500"/>
                  </a:cubicBezTo>
                  <a:lnTo>
                    <a:pt x="0" y="355600"/>
                  </a:lnTo>
                  <a:cubicBezTo>
                    <a:pt x="0" y="159258"/>
                    <a:pt x="159258" y="0"/>
                    <a:pt x="355600" y="0"/>
                  </a:cubicBezTo>
                  <a:close/>
                </a:path>
              </a:pathLst>
            </a:custGeom>
            <a:solidFill>
              <a:srgbClr val="FFE1D0"/>
            </a:solidFill>
          </p:spPr>
        </p:sp>
      </p:grpSp>
      <p:sp>
        <p:nvSpPr>
          <p:cNvPr name="TextBox 17" id="17"/>
          <p:cNvSpPr txBox="true"/>
          <p:nvPr/>
        </p:nvSpPr>
        <p:spPr>
          <a:xfrm rot="0">
            <a:off x="914400" y="5354098"/>
            <a:ext cx="7391400" cy="1133475"/>
          </a:xfrm>
          <a:prstGeom prst="rect">
            <a:avLst/>
          </a:prstGeom>
        </p:spPr>
        <p:txBody>
          <a:bodyPr anchor="t" rtlCol="false" tIns="0" lIns="0" bIns="0" rIns="0">
            <a:spAutoFit/>
          </a:bodyPr>
          <a:lstStyle/>
          <a:p>
            <a:pPr algn="l">
              <a:lnSpc>
                <a:spcPts val="3045"/>
              </a:lnSpc>
            </a:pPr>
            <a:r>
              <a:rPr lang="en-US" b="true" sz="2175">
                <a:solidFill>
                  <a:srgbClr val="643312"/>
                </a:solidFill>
                <a:latin typeface="Arimo Bold"/>
                <a:ea typeface="Arimo Bold"/>
                <a:cs typeface="Arimo Bold"/>
                <a:sym typeface="Arimo Bold"/>
              </a:rPr>
              <a:t>Tip </a:t>
            </a:r>
            <a:r>
              <a:rPr lang="en-US" b="true" sz="2175">
                <a:solidFill>
                  <a:srgbClr val="201E1D"/>
                </a:solidFill>
                <a:latin typeface="Arimo Bold"/>
                <a:ea typeface="Arimo Bold"/>
                <a:cs typeface="Arimo Bold"/>
                <a:sym typeface="Arimo Bold"/>
              </a:rPr>
              <a:t>Put brackets around your factors so the answer is clear.</a:t>
            </a:r>
          </a:p>
        </p:txBody>
      </p:sp>
      <p:grpSp>
        <p:nvGrpSpPr>
          <p:cNvPr name="Group 18" id="18"/>
          <p:cNvGrpSpPr/>
          <p:nvPr/>
        </p:nvGrpSpPr>
        <p:grpSpPr>
          <a:xfrm rot="0">
            <a:off x="916495" y="9010650"/>
            <a:ext cx="2333625" cy="666750"/>
            <a:chOff x="0" y="0"/>
            <a:chExt cx="3111500" cy="889000"/>
          </a:xfrm>
        </p:grpSpPr>
        <p:sp>
          <p:nvSpPr>
            <p:cNvPr name="Freeform 19" id="19"/>
            <p:cNvSpPr/>
            <p:nvPr/>
          </p:nvSpPr>
          <p:spPr>
            <a:xfrm flipH="false" flipV="false" rot="0">
              <a:off x="0" y="0"/>
              <a:ext cx="3111500" cy="889000"/>
            </a:xfrm>
            <a:custGeom>
              <a:avLst/>
              <a:gdLst/>
              <a:ahLst/>
              <a:cxnLst/>
              <a:rect r="r" b="b" t="t" l="l"/>
              <a:pathLst>
                <a:path h="889000" w="3111500">
                  <a:moveTo>
                    <a:pt x="444500" y="0"/>
                  </a:moveTo>
                  <a:lnTo>
                    <a:pt x="2667000" y="0"/>
                  </a:lnTo>
                  <a:cubicBezTo>
                    <a:pt x="2912491" y="0"/>
                    <a:pt x="3111500" y="199009"/>
                    <a:pt x="3111500" y="444500"/>
                  </a:cubicBezTo>
                  <a:cubicBezTo>
                    <a:pt x="3111500" y="689991"/>
                    <a:pt x="2912491" y="889000"/>
                    <a:pt x="26670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sp>
          <p:nvSpPr>
            <p:cNvPr name="TextBox 20" id="20"/>
            <p:cNvSpPr txBox="true"/>
            <p:nvPr/>
          </p:nvSpPr>
          <p:spPr>
            <a:xfrm>
              <a:off x="0" y="-19050"/>
              <a:ext cx="3111500" cy="908050"/>
            </a:xfrm>
            <a:prstGeom prst="rect">
              <a:avLst/>
            </a:prstGeom>
          </p:spPr>
          <p:txBody>
            <a:bodyPr anchor="t" rtlCol="false" tIns="203200" lIns="203200" bIns="203200" rIns="203200"/>
            <a:lstStyle/>
            <a:p>
              <a:pPr algn="ctr">
                <a:lnSpc>
                  <a:spcPts val="2700"/>
                </a:lnSpc>
              </a:pPr>
              <a:r>
                <a:rPr lang="en-US" b="true" sz="2250" spc="-44">
                  <a:solidFill>
                    <a:srgbClr val="F5EAD8"/>
                  </a:solidFill>
                  <a:latin typeface="Arimo Bold"/>
                  <a:ea typeface="Arimo Bold"/>
                  <a:cs typeface="Arimo Bold"/>
                  <a:sym typeface="Arimo Bold"/>
                </a:rPr>
                <a:t>Next step →</a:t>
              </a:r>
            </a:p>
          </p:txBody>
        </p:sp>
      </p:grpSp>
      <p:sp>
        <p:nvSpPr>
          <p:cNvPr name="TextBox 21" id="21"/>
          <p:cNvSpPr txBox="true"/>
          <p:nvPr/>
        </p:nvSpPr>
        <p:spPr>
          <a:xfrm rot="0">
            <a:off x="3405759" y="8991600"/>
            <a:ext cx="2143125" cy="685800"/>
          </a:xfrm>
          <a:prstGeom prst="rect">
            <a:avLst/>
          </a:prstGeom>
        </p:spPr>
        <p:txBody>
          <a:bodyPr anchor="t" rtlCol="false" tIns="0" lIns="0" bIns="0" rIns="0">
            <a:spAutoFit/>
          </a:bodyPr>
          <a:lstStyle/>
          <a:p>
            <a:pPr algn="ctr">
              <a:lnSpc>
                <a:spcPts val="2700"/>
              </a:lnSpc>
            </a:pPr>
            <a:r>
              <a:rPr lang="en-US" b="true" sz="2250" spc="-44">
                <a:solidFill>
                  <a:srgbClr val="201E1D"/>
                </a:solidFill>
                <a:latin typeface="Arimo Bold"/>
                <a:ea typeface="Arimo Bold"/>
                <a:cs typeface="Arimo Bold"/>
                <a:sym typeface="Arimo Bold"/>
              </a:rPr>
              <a:t>Start again</a:t>
            </a:r>
          </a:p>
        </p:txBody>
      </p:sp>
      <p:grpSp>
        <p:nvGrpSpPr>
          <p:cNvPr name="Group 22" id="22"/>
          <p:cNvGrpSpPr/>
          <p:nvPr/>
        </p:nvGrpSpPr>
        <p:grpSpPr>
          <a:xfrm rot="0">
            <a:off x="1062228" y="3096196"/>
            <a:ext cx="475488" cy="475488"/>
            <a:chOff x="0" y="0"/>
            <a:chExt cx="633984" cy="633984"/>
          </a:xfrm>
        </p:grpSpPr>
        <p:sp>
          <p:nvSpPr>
            <p:cNvPr name="Freeform 23" id="23"/>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C67139"/>
            </a:solidFill>
          </p:spPr>
        </p:sp>
      </p:grpSp>
      <p:sp>
        <p:nvSpPr>
          <p:cNvPr name="TextBox 24" id="24"/>
          <p:cNvSpPr txBox="true"/>
          <p:nvPr/>
        </p:nvSpPr>
        <p:spPr>
          <a:xfrm rot="0">
            <a:off x="1062228" y="3067621"/>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1</a:t>
            </a:r>
          </a:p>
        </p:txBody>
      </p:sp>
      <p:sp>
        <p:nvSpPr>
          <p:cNvPr name="TextBox 25" id="25"/>
          <p:cNvSpPr txBox="true"/>
          <p:nvPr/>
        </p:nvSpPr>
        <p:spPr>
          <a:xfrm rot="0">
            <a:off x="1700117" y="3108388"/>
            <a:ext cx="5065776" cy="413004"/>
          </a:xfrm>
          <a:prstGeom prst="rect">
            <a:avLst/>
          </a:prstGeom>
        </p:spPr>
        <p:txBody>
          <a:bodyPr anchor="t" rtlCol="false" tIns="0" lIns="0" bIns="0" rIns="0">
            <a:spAutoFit/>
          </a:bodyPr>
          <a:lstStyle/>
          <a:p>
            <a:pPr algn="l">
              <a:lnSpc>
                <a:spcPts val="2946"/>
              </a:lnSpc>
            </a:pPr>
            <a:r>
              <a:rPr lang="en-US" b="true" sz="2232">
                <a:solidFill>
                  <a:srgbClr val="201E1D"/>
                </a:solidFill>
                <a:latin typeface="Arimo Bold"/>
                <a:ea typeface="Arimo Bold"/>
                <a:cs typeface="Arimo Bold"/>
                <a:sym typeface="Arimo Bold"/>
              </a:rPr>
              <a:t>Rearrange the pairs: ax + atx + by + bty</a:t>
            </a:r>
          </a:p>
        </p:txBody>
      </p:sp>
      <p:grpSp>
        <p:nvGrpSpPr>
          <p:cNvPr name="Group 26" id="26"/>
          <p:cNvGrpSpPr/>
          <p:nvPr/>
        </p:nvGrpSpPr>
        <p:grpSpPr>
          <a:xfrm rot="0">
            <a:off x="1062228" y="3705796"/>
            <a:ext cx="475488" cy="475488"/>
            <a:chOff x="0" y="0"/>
            <a:chExt cx="633984" cy="633984"/>
          </a:xfrm>
        </p:grpSpPr>
        <p:sp>
          <p:nvSpPr>
            <p:cNvPr name="Freeform 27" id="27"/>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7A8A5E"/>
            </a:solidFill>
          </p:spPr>
        </p:sp>
      </p:grpSp>
      <p:sp>
        <p:nvSpPr>
          <p:cNvPr name="TextBox 28" id="28"/>
          <p:cNvSpPr txBox="true"/>
          <p:nvPr/>
        </p:nvSpPr>
        <p:spPr>
          <a:xfrm rot="0">
            <a:off x="1062228" y="3677221"/>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2</a:t>
            </a:r>
          </a:p>
        </p:txBody>
      </p:sp>
      <p:sp>
        <p:nvSpPr>
          <p:cNvPr name="TextBox 29" id="29"/>
          <p:cNvSpPr txBox="true"/>
          <p:nvPr/>
        </p:nvSpPr>
        <p:spPr>
          <a:xfrm rot="0">
            <a:off x="1700498" y="3717988"/>
            <a:ext cx="6062472" cy="413004"/>
          </a:xfrm>
          <a:prstGeom prst="rect">
            <a:avLst/>
          </a:prstGeom>
        </p:spPr>
        <p:txBody>
          <a:bodyPr anchor="t" rtlCol="false" tIns="0" lIns="0" bIns="0" rIns="0">
            <a:spAutoFit/>
          </a:bodyPr>
          <a:lstStyle/>
          <a:p>
            <a:pPr algn="l">
              <a:lnSpc>
                <a:spcPts val="2946"/>
              </a:lnSpc>
            </a:pPr>
            <a:r>
              <a:rPr lang="en-US" b="true" sz="2232">
                <a:solidFill>
                  <a:srgbClr val="201E1D"/>
                </a:solidFill>
                <a:latin typeface="Arimo Bold"/>
                <a:ea typeface="Arimo Bold"/>
                <a:cs typeface="Arimo Bold"/>
                <a:sym typeface="Arimo Bold"/>
              </a:rPr>
              <a:t>ax is common to the first pair, by to the second</a:t>
            </a:r>
          </a:p>
        </p:txBody>
      </p:sp>
      <p:grpSp>
        <p:nvGrpSpPr>
          <p:cNvPr name="Group 30" id="30"/>
          <p:cNvGrpSpPr/>
          <p:nvPr/>
        </p:nvGrpSpPr>
        <p:grpSpPr>
          <a:xfrm rot="0">
            <a:off x="1062228" y="4315396"/>
            <a:ext cx="475488" cy="475488"/>
            <a:chOff x="0" y="0"/>
            <a:chExt cx="633984" cy="633984"/>
          </a:xfrm>
        </p:grpSpPr>
        <p:sp>
          <p:nvSpPr>
            <p:cNvPr name="Freeform 31" id="31"/>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C67139"/>
            </a:solidFill>
          </p:spPr>
        </p:sp>
      </p:grpSp>
      <p:sp>
        <p:nvSpPr>
          <p:cNvPr name="TextBox 32" id="32"/>
          <p:cNvSpPr txBox="true"/>
          <p:nvPr/>
        </p:nvSpPr>
        <p:spPr>
          <a:xfrm rot="0">
            <a:off x="1062228" y="4286821"/>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3</a:t>
            </a:r>
          </a:p>
        </p:txBody>
      </p:sp>
      <p:sp>
        <p:nvSpPr>
          <p:cNvPr name="TextBox 33" id="33"/>
          <p:cNvSpPr txBox="true"/>
          <p:nvPr/>
        </p:nvSpPr>
        <p:spPr>
          <a:xfrm rot="0">
            <a:off x="1700879" y="4327588"/>
            <a:ext cx="2441448" cy="413004"/>
          </a:xfrm>
          <a:prstGeom prst="rect">
            <a:avLst/>
          </a:prstGeom>
        </p:spPr>
        <p:txBody>
          <a:bodyPr anchor="t" rtlCol="false" tIns="0" lIns="0" bIns="0" rIns="0">
            <a:spAutoFit/>
          </a:bodyPr>
          <a:lstStyle/>
          <a:p>
            <a:pPr algn="l">
              <a:lnSpc>
                <a:spcPts val="2946"/>
              </a:lnSpc>
            </a:pPr>
            <a:r>
              <a:rPr lang="en-US" b="true" sz="2232">
                <a:solidFill>
                  <a:srgbClr val="201E1D"/>
                </a:solidFill>
                <a:latin typeface="Arimo Bold"/>
                <a:ea typeface="Arimo Bold"/>
                <a:cs typeface="Arimo Bold"/>
                <a:sym typeface="Arimo Bold"/>
              </a:rPr>
              <a:t>ax(1 + t) + by(1 + t)</a:t>
            </a:r>
          </a:p>
        </p:txBody>
      </p:sp>
      <p:grpSp>
        <p:nvGrpSpPr>
          <p:cNvPr name="Group 34" id="34"/>
          <p:cNvGrpSpPr/>
          <p:nvPr/>
        </p:nvGrpSpPr>
        <p:grpSpPr>
          <a:xfrm rot="0">
            <a:off x="1062228" y="4924996"/>
            <a:ext cx="475488" cy="475488"/>
            <a:chOff x="0" y="0"/>
            <a:chExt cx="633984" cy="633984"/>
          </a:xfrm>
        </p:grpSpPr>
        <p:sp>
          <p:nvSpPr>
            <p:cNvPr name="Freeform 35" id="35"/>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7A8A5E"/>
            </a:solidFill>
          </p:spPr>
        </p:sp>
      </p:grpSp>
      <p:sp>
        <p:nvSpPr>
          <p:cNvPr name="TextBox 36" id="36"/>
          <p:cNvSpPr txBox="true"/>
          <p:nvPr/>
        </p:nvSpPr>
        <p:spPr>
          <a:xfrm rot="0">
            <a:off x="1062228" y="4896421"/>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4</a:t>
            </a:r>
          </a:p>
        </p:txBody>
      </p:sp>
      <p:sp>
        <p:nvSpPr>
          <p:cNvPr name="TextBox 37" id="37"/>
          <p:cNvSpPr txBox="true"/>
          <p:nvPr/>
        </p:nvSpPr>
        <p:spPr>
          <a:xfrm rot="0">
            <a:off x="1700689" y="4937188"/>
            <a:ext cx="4270248" cy="413004"/>
          </a:xfrm>
          <a:prstGeom prst="rect">
            <a:avLst/>
          </a:prstGeom>
        </p:spPr>
        <p:txBody>
          <a:bodyPr anchor="t" rtlCol="false" tIns="0" lIns="0" bIns="0" rIns="0">
            <a:spAutoFit/>
          </a:bodyPr>
          <a:lstStyle/>
          <a:p>
            <a:pPr algn="l">
              <a:lnSpc>
                <a:spcPts val="2946"/>
              </a:lnSpc>
            </a:pPr>
            <a:r>
              <a:rPr lang="en-US" b="true" sz="2232">
                <a:solidFill>
                  <a:srgbClr val="201E1D"/>
                </a:solidFill>
                <a:latin typeface="Arimo Bold"/>
                <a:ea typeface="Arimo Bold"/>
                <a:cs typeface="Arimo Bold"/>
                <a:sym typeface="Arimo Bold"/>
              </a:rPr>
              <a:t>(1 + t) is common: (ax + by)(1 + t)</a:t>
            </a:r>
          </a:p>
        </p:txBody>
      </p:sp>
      <p:grpSp>
        <p:nvGrpSpPr>
          <p:cNvPr name="Group 38" id="38"/>
          <p:cNvGrpSpPr/>
          <p:nvPr/>
        </p:nvGrpSpPr>
        <p:grpSpPr>
          <a:xfrm rot="0">
            <a:off x="8801100" y="609600"/>
            <a:ext cx="8572500" cy="9067800"/>
            <a:chOff x="0" y="0"/>
            <a:chExt cx="11430000" cy="12090400"/>
          </a:xfrm>
        </p:grpSpPr>
        <p:sp>
          <p:nvSpPr>
            <p:cNvPr name="Freeform 39" id="39"/>
            <p:cNvSpPr/>
            <p:nvPr/>
          </p:nvSpPr>
          <p:spPr>
            <a:xfrm flipH="false" flipV="false" rot="0">
              <a:off x="0" y="0"/>
              <a:ext cx="11430000" cy="12090400"/>
            </a:xfrm>
            <a:custGeom>
              <a:avLst/>
              <a:gdLst/>
              <a:ahLst/>
              <a:cxnLst/>
              <a:rect r="r" b="b" t="t" l="l"/>
              <a:pathLst>
                <a:path h="12090400" w="11430000">
                  <a:moveTo>
                    <a:pt x="711200" y="0"/>
                  </a:moveTo>
                  <a:lnTo>
                    <a:pt x="10718800" y="0"/>
                  </a:lnTo>
                  <a:cubicBezTo>
                    <a:pt x="11111611" y="0"/>
                    <a:pt x="11430000" y="318389"/>
                    <a:pt x="11430000" y="711200"/>
                  </a:cubicBezTo>
                  <a:lnTo>
                    <a:pt x="11430000" y="11379200"/>
                  </a:lnTo>
                  <a:cubicBezTo>
                    <a:pt x="11430000" y="11772011"/>
                    <a:pt x="11111611" y="12090400"/>
                    <a:pt x="10718800" y="12090400"/>
                  </a:cubicBezTo>
                  <a:lnTo>
                    <a:pt x="711200" y="12090400"/>
                  </a:lnTo>
                  <a:cubicBezTo>
                    <a:pt x="318389" y="12090400"/>
                    <a:pt x="0" y="11772011"/>
                    <a:pt x="0" y="11379200"/>
                  </a:cubicBezTo>
                  <a:lnTo>
                    <a:pt x="0" y="711200"/>
                  </a:lnTo>
                  <a:cubicBezTo>
                    <a:pt x="0" y="318389"/>
                    <a:pt x="318389" y="0"/>
                    <a:pt x="711200" y="0"/>
                  </a:cubicBezTo>
                  <a:close/>
                </a:path>
              </a:pathLst>
            </a:custGeom>
            <a:solidFill>
              <a:srgbClr val="EBDDC5"/>
            </a:solidFill>
          </p:spPr>
        </p:sp>
      </p:grpSp>
    </p:spTree>
  </p:cSld>
  <p:clrMapOvr>
    <a:masterClrMapping/>
  </p:clrMapOvr>
</p:sld>
</file>

<file path=ppt/slides/slide2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E1EECC"/>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FFC6A5"/>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CCDBB2"/>
            </a:solidFill>
          </p:spPr>
        </p:sp>
      </p:grpSp>
      <p:grpSp>
        <p:nvGrpSpPr>
          <p:cNvPr name="Group 9" id="9"/>
          <p:cNvGrpSpPr/>
          <p:nvPr/>
        </p:nvGrpSpPr>
        <p:grpSpPr>
          <a:xfrm rot="0">
            <a:off x="916591" y="611505"/>
            <a:ext cx="1400175" cy="600075"/>
            <a:chOff x="0" y="0"/>
            <a:chExt cx="1866900" cy="800100"/>
          </a:xfrm>
        </p:grpSpPr>
        <p:sp>
          <p:nvSpPr>
            <p:cNvPr name="Freeform 10" id="10"/>
            <p:cNvSpPr/>
            <p:nvPr/>
          </p:nvSpPr>
          <p:spPr>
            <a:xfrm flipH="false" flipV="false" rot="0">
              <a:off x="0" y="0"/>
              <a:ext cx="1866900" cy="800100"/>
            </a:xfrm>
            <a:custGeom>
              <a:avLst/>
              <a:gdLst/>
              <a:ahLst/>
              <a:cxnLst/>
              <a:rect r="r" b="b" t="t" l="l"/>
              <a:pathLst>
                <a:path h="800100" w="1866900">
                  <a:moveTo>
                    <a:pt x="400050" y="0"/>
                  </a:moveTo>
                  <a:lnTo>
                    <a:pt x="1466850" y="0"/>
                  </a:lnTo>
                  <a:cubicBezTo>
                    <a:pt x="1687830" y="0"/>
                    <a:pt x="1866900" y="179070"/>
                    <a:pt x="1866900" y="400050"/>
                  </a:cubicBezTo>
                  <a:cubicBezTo>
                    <a:pt x="1866900" y="621030"/>
                    <a:pt x="1687830" y="800100"/>
                    <a:pt x="1466850" y="800100"/>
                  </a:cubicBezTo>
                  <a:lnTo>
                    <a:pt x="400050" y="800100"/>
                  </a:lnTo>
                  <a:cubicBezTo>
                    <a:pt x="179070" y="800100"/>
                    <a:pt x="0" y="621030"/>
                    <a:pt x="0" y="400050"/>
                  </a:cubicBezTo>
                  <a:cubicBezTo>
                    <a:pt x="0" y="179070"/>
                    <a:pt x="179070" y="0"/>
                    <a:pt x="400050" y="0"/>
                  </a:cubicBezTo>
                  <a:close/>
                </a:path>
              </a:pathLst>
            </a:custGeom>
            <a:solidFill>
              <a:srgbClr val="56633F"/>
            </a:solidFill>
          </p:spPr>
        </p:sp>
        <p:sp>
          <p:nvSpPr>
            <p:cNvPr name="TextBox 11" id="11"/>
            <p:cNvSpPr txBox="true"/>
            <p:nvPr/>
          </p:nvSpPr>
          <p:spPr>
            <a:xfrm>
              <a:off x="0" y="-76200"/>
              <a:ext cx="18669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TRY IT</a:t>
              </a:r>
            </a:p>
          </p:txBody>
        </p:sp>
      </p:grpSp>
      <p:sp>
        <p:nvSpPr>
          <p:cNvPr name="TextBox 12" id="12"/>
          <p:cNvSpPr txBox="true"/>
          <p:nvPr/>
        </p:nvSpPr>
        <p:spPr>
          <a:xfrm rot="0">
            <a:off x="2507361" y="630555"/>
            <a:ext cx="1914525" cy="485775"/>
          </a:xfrm>
          <a:prstGeom prst="rect">
            <a:avLst/>
          </a:prstGeom>
        </p:spPr>
        <p:txBody>
          <a:bodyPr anchor="t" rtlCol="false" tIns="0" lIns="0" bIns="0" rIns="0">
            <a:spAutoFit/>
          </a:bodyPr>
          <a:lstStyle/>
          <a:p>
            <a:pPr algn="l">
              <a:lnSpc>
                <a:spcPts val="3255"/>
              </a:lnSpc>
            </a:pPr>
            <a:r>
              <a:rPr lang="en-US" b="true" sz="2100">
                <a:solidFill>
                  <a:srgbClr val="643312"/>
                </a:solidFill>
                <a:latin typeface="Arimo Bold"/>
                <a:ea typeface="Arimo Bold"/>
                <a:cs typeface="Arimo Bold"/>
                <a:sym typeface="Arimo Bold"/>
              </a:rPr>
              <a:t>6.2 · Interactive</a:t>
            </a:r>
          </a:p>
        </p:txBody>
      </p:sp>
      <p:sp>
        <p:nvSpPr>
          <p:cNvPr name="TextBox 13" id="13"/>
          <p:cNvSpPr txBox="true"/>
          <p:nvPr/>
        </p:nvSpPr>
        <p:spPr>
          <a:xfrm rot="0">
            <a:off x="914400" y="1472851"/>
            <a:ext cx="7391400" cy="1057275"/>
          </a:xfrm>
          <a:prstGeom prst="rect">
            <a:avLst/>
          </a:prstGeom>
        </p:spPr>
        <p:txBody>
          <a:bodyPr anchor="t" rtlCol="false" tIns="0" lIns="0" bIns="0" rIns="0">
            <a:spAutoFit/>
          </a:bodyPr>
          <a:lstStyle/>
          <a:p>
            <a:pPr algn="l">
              <a:lnSpc>
                <a:spcPts val="4368"/>
              </a:lnSpc>
            </a:pPr>
            <a:r>
              <a:rPr lang="en-US" b="true" sz="4200" spc="-84">
                <a:solidFill>
                  <a:srgbClr val="201E1D"/>
                </a:solidFill>
                <a:latin typeface="Arimo Bold"/>
                <a:ea typeface="Arimo Bold"/>
                <a:cs typeface="Arimo Bold"/>
                <a:sym typeface="Arimo Bold"/>
              </a:rPr>
              <a:t>Pick the highest common factor</a:t>
            </a:r>
          </a:p>
        </p:txBody>
      </p:sp>
      <p:grpSp>
        <p:nvGrpSpPr>
          <p:cNvPr name="Group 14" id="14"/>
          <p:cNvGrpSpPr/>
          <p:nvPr/>
        </p:nvGrpSpPr>
        <p:grpSpPr>
          <a:xfrm rot="0">
            <a:off x="914400" y="2739962"/>
            <a:ext cx="7391400" cy="1209675"/>
            <a:chOff x="0" y="0"/>
            <a:chExt cx="9855200" cy="1612900"/>
          </a:xfrm>
        </p:grpSpPr>
        <p:sp>
          <p:nvSpPr>
            <p:cNvPr name="Freeform 15" id="15"/>
            <p:cNvSpPr/>
            <p:nvPr/>
          </p:nvSpPr>
          <p:spPr>
            <a:xfrm flipH="false" flipV="false" rot="0">
              <a:off x="0" y="0"/>
              <a:ext cx="9855200" cy="1612900"/>
            </a:xfrm>
            <a:custGeom>
              <a:avLst/>
              <a:gdLst/>
              <a:ahLst/>
              <a:cxnLst/>
              <a:rect r="r" b="b" t="t" l="l"/>
              <a:pathLst>
                <a:path h="1612900" w="9855200">
                  <a:moveTo>
                    <a:pt x="355600" y="0"/>
                  </a:moveTo>
                  <a:lnTo>
                    <a:pt x="9499600" y="0"/>
                  </a:lnTo>
                  <a:cubicBezTo>
                    <a:pt x="9695942" y="0"/>
                    <a:pt x="9855200" y="159258"/>
                    <a:pt x="9855200" y="355600"/>
                  </a:cubicBezTo>
                  <a:lnTo>
                    <a:pt x="9855200" y="1257300"/>
                  </a:lnTo>
                  <a:cubicBezTo>
                    <a:pt x="9855200" y="1453642"/>
                    <a:pt x="9695942" y="1612900"/>
                    <a:pt x="9499600" y="1612900"/>
                  </a:cubicBezTo>
                  <a:lnTo>
                    <a:pt x="355600" y="1612900"/>
                  </a:lnTo>
                  <a:cubicBezTo>
                    <a:pt x="159258" y="1612900"/>
                    <a:pt x="0" y="1453642"/>
                    <a:pt x="0" y="1257300"/>
                  </a:cubicBezTo>
                  <a:lnTo>
                    <a:pt x="0" y="355600"/>
                  </a:lnTo>
                  <a:cubicBezTo>
                    <a:pt x="0" y="159258"/>
                    <a:pt x="159258" y="0"/>
                    <a:pt x="355600" y="0"/>
                  </a:cubicBezTo>
                  <a:close/>
                </a:path>
              </a:pathLst>
            </a:custGeom>
            <a:solidFill>
              <a:srgbClr val="F0FAE1"/>
            </a:solidFill>
          </p:spPr>
        </p:sp>
        <p:sp>
          <p:nvSpPr>
            <p:cNvPr name="Freeform 16" id="16"/>
            <p:cNvSpPr/>
            <p:nvPr/>
          </p:nvSpPr>
          <p:spPr>
            <a:xfrm flipH="false" flipV="false" rot="0">
              <a:off x="0" y="0"/>
              <a:ext cx="9855200" cy="1612900"/>
            </a:xfrm>
            <a:custGeom>
              <a:avLst/>
              <a:gdLst/>
              <a:ahLst/>
              <a:cxnLst/>
              <a:rect r="r" b="b" t="t" l="l"/>
              <a:pathLst>
                <a:path h="1612900" w="9855200">
                  <a:moveTo>
                    <a:pt x="355600" y="0"/>
                  </a:moveTo>
                  <a:lnTo>
                    <a:pt x="9499600" y="0"/>
                  </a:lnTo>
                  <a:cubicBezTo>
                    <a:pt x="9695942" y="0"/>
                    <a:pt x="9855200" y="159258"/>
                    <a:pt x="9855200" y="355600"/>
                  </a:cubicBezTo>
                  <a:lnTo>
                    <a:pt x="9855200" y="1257300"/>
                  </a:lnTo>
                  <a:cubicBezTo>
                    <a:pt x="9855200" y="1453642"/>
                    <a:pt x="9695942" y="1612900"/>
                    <a:pt x="9499600" y="1612900"/>
                  </a:cubicBezTo>
                  <a:lnTo>
                    <a:pt x="355600" y="1612900"/>
                  </a:lnTo>
                  <a:cubicBezTo>
                    <a:pt x="159258" y="1612900"/>
                    <a:pt x="0" y="1453642"/>
                    <a:pt x="0" y="1257300"/>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sp>
          <p:nvSpPr>
            <p:cNvPr name="TextBox 17" id="17"/>
            <p:cNvSpPr txBox="true"/>
            <p:nvPr/>
          </p:nvSpPr>
          <p:spPr>
            <a:xfrm>
              <a:off x="0" y="-152400"/>
              <a:ext cx="9855200" cy="1765300"/>
            </a:xfrm>
            <a:prstGeom prst="rect">
              <a:avLst/>
            </a:prstGeom>
          </p:spPr>
          <p:txBody>
            <a:bodyPr anchor="t" rtlCol="false" tIns="370840" lIns="370840" bIns="370840" rIns="370840"/>
            <a:lstStyle/>
            <a:p>
              <a:pPr algn="l">
                <a:lnSpc>
                  <a:spcPts val="6045"/>
                </a:lnSpc>
              </a:pPr>
              <a:r>
                <a:rPr lang="en-US" b="true" sz="3900">
                  <a:solidFill>
                    <a:srgbClr val="201E1D"/>
                  </a:solidFill>
                  <a:latin typeface="Arimo Bold"/>
                  <a:ea typeface="Arimo Bold"/>
                  <a:cs typeface="Arimo Bold"/>
                  <a:sym typeface="Arimo Bold"/>
                </a:rPr>
                <a:t>18mn − 30m</a:t>
              </a:r>
            </a:p>
          </p:txBody>
        </p:sp>
      </p:grpSp>
      <p:sp>
        <p:nvSpPr>
          <p:cNvPr name="TextBox 18" id="18"/>
          <p:cNvSpPr txBox="true"/>
          <p:nvPr/>
        </p:nvSpPr>
        <p:spPr>
          <a:xfrm rot="0">
            <a:off x="914400" y="4099084"/>
            <a:ext cx="7391400" cy="485775"/>
          </a:xfrm>
          <a:prstGeom prst="rect">
            <a:avLst/>
          </a:prstGeom>
        </p:spPr>
        <p:txBody>
          <a:bodyPr anchor="t" rtlCol="false" tIns="0" lIns="0" bIns="0" rIns="0">
            <a:spAutoFit/>
          </a:bodyPr>
          <a:lstStyle/>
          <a:p>
            <a:pPr algn="l">
              <a:lnSpc>
                <a:spcPts val="3359"/>
              </a:lnSpc>
            </a:pPr>
            <a:r>
              <a:rPr lang="en-US" b="true" sz="2400">
                <a:solidFill>
                  <a:srgbClr val="201E1D"/>
                </a:solidFill>
                <a:latin typeface="Arimo Bold"/>
                <a:ea typeface="Arimo Bold"/>
                <a:cs typeface="Arimo Bold"/>
                <a:sym typeface="Arimo Bold"/>
              </a:rPr>
              <a:t>Which is the highest common factor?</a:t>
            </a:r>
          </a:p>
        </p:txBody>
      </p:sp>
      <p:sp>
        <p:nvSpPr>
          <p:cNvPr name="TextBox 19" id="19"/>
          <p:cNvSpPr txBox="true"/>
          <p:nvPr/>
        </p:nvSpPr>
        <p:spPr>
          <a:xfrm rot="0">
            <a:off x="1306258" y="4934426"/>
            <a:ext cx="504825" cy="457200"/>
          </a:xfrm>
          <a:prstGeom prst="rect">
            <a:avLst/>
          </a:prstGeom>
        </p:spPr>
        <p:txBody>
          <a:bodyPr anchor="t" rtlCol="false" tIns="0" lIns="0" bIns="0" rIns="0">
            <a:spAutoFit/>
          </a:bodyPr>
          <a:lstStyle/>
          <a:p>
            <a:pPr algn="ctr">
              <a:lnSpc>
                <a:spcPts val="3419"/>
              </a:lnSpc>
            </a:pPr>
            <a:r>
              <a:rPr lang="en-US" b="true" sz="2850" spc="-57">
                <a:solidFill>
                  <a:srgbClr val="201E1D"/>
                </a:solidFill>
                <a:latin typeface="Arimo Bold"/>
                <a:ea typeface="Arimo Bold"/>
                <a:cs typeface="Arimo Bold"/>
                <a:sym typeface="Arimo Bold"/>
              </a:rPr>
              <a:t>3m</a:t>
            </a:r>
          </a:p>
        </p:txBody>
      </p:sp>
      <p:sp>
        <p:nvSpPr>
          <p:cNvPr name="TextBox 20" id="20"/>
          <p:cNvSpPr txBox="true"/>
          <p:nvPr/>
        </p:nvSpPr>
        <p:spPr>
          <a:xfrm rot="0">
            <a:off x="2766060" y="4934426"/>
            <a:ext cx="514350" cy="457200"/>
          </a:xfrm>
          <a:prstGeom prst="rect">
            <a:avLst/>
          </a:prstGeom>
        </p:spPr>
        <p:txBody>
          <a:bodyPr anchor="t" rtlCol="false" tIns="0" lIns="0" bIns="0" rIns="0">
            <a:spAutoFit/>
          </a:bodyPr>
          <a:lstStyle/>
          <a:p>
            <a:pPr algn="ctr">
              <a:lnSpc>
                <a:spcPts val="3419"/>
              </a:lnSpc>
            </a:pPr>
            <a:r>
              <a:rPr lang="en-US" b="true" sz="2850" spc="-57">
                <a:solidFill>
                  <a:srgbClr val="201E1D"/>
                </a:solidFill>
                <a:latin typeface="Arimo Bold"/>
                <a:ea typeface="Arimo Bold"/>
                <a:cs typeface="Arimo Bold"/>
                <a:sym typeface="Arimo Bold"/>
              </a:rPr>
              <a:t>6m</a:t>
            </a:r>
          </a:p>
        </p:txBody>
      </p:sp>
      <p:sp>
        <p:nvSpPr>
          <p:cNvPr name="TextBox 21" id="21"/>
          <p:cNvSpPr txBox="true"/>
          <p:nvPr/>
        </p:nvSpPr>
        <p:spPr>
          <a:xfrm rot="0">
            <a:off x="4235196" y="4934426"/>
            <a:ext cx="714375" cy="457200"/>
          </a:xfrm>
          <a:prstGeom prst="rect">
            <a:avLst/>
          </a:prstGeom>
        </p:spPr>
        <p:txBody>
          <a:bodyPr anchor="t" rtlCol="false" tIns="0" lIns="0" bIns="0" rIns="0">
            <a:spAutoFit/>
          </a:bodyPr>
          <a:lstStyle/>
          <a:p>
            <a:pPr algn="ctr">
              <a:lnSpc>
                <a:spcPts val="3419"/>
              </a:lnSpc>
            </a:pPr>
            <a:r>
              <a:rPr lang="en-US" b="true" sz="2850" spc="-57">
                <a:solidFill>
                  <a:srgbClr val="201E1D"/>
                </a:solidFill>
                <a:latin typeface="Arimo Bold"/>
                <a:ea typeface="Arimo Bold"/>
                <a:cs typeface="Arimo Bold"/>
                <a:sym typeface="Arimo Bold"/>
              </a:rPr>
              <a:t>6mn</a:t>
            </a:r>
          </a:p>
        </p:txBody>
      </p:sp>
      <p:grpSp>
        <p:nvGrpSpPr>
          <p:cNvPr name="Group 22" id="22"/>
          <p:cNvGrpSpPr/>
          <p:nvPr/>
        </p:nvGrpSpPr>
        <p:grpSpPr>
          <a:xfrm rot="0">
            <a:off x="914210" y="9010650"/>
            <a:ext cx="3162300" cy="666750"/>
            <a:chOff x="0" y="0"/>
            <a:chExt cx="4216400" cy="889000"/>
          </a:xfrm>
        </p:grpSpPr>
        <p:sp>
          <p:nvSpPr>
            <p:cNvPr name="Freeform 23" id="23"/>
            <p:cNvSpPr/>
            <p:nvPr/>
          </p:nvSpPr>
          <p:spPr>
            <a:xfrm flipH="false" flipV="false" rot="0">
              <a:off x="0" y="0"/>
              <a:ext cx="4216400" cy="889000"/>
            </a:xfrm>
            <a:custGeom>
              <a:avLst/>
              <a:gdLst/>
              <a:ahLst/>
              <a:cxnLst/>
              <a:rect r="r" b="b" t="t" l="l"/>
              <a:pathLst>
                <a:path h="889000" w="4216400">
                  <a:moveTo>
                    <a:pt x="444500" y="0"/>
                  </a:moveTo>
                  <a:lnTo>
                    <a:pt x="3771900" y="0"/>
                  </a:lnTo>
                  <a:cubicBezTo>
                    <a:pt x="4017391" y="0"/>
                    <a:pt x="4216400" y="199009"/>
                    <a:pt x="4216400" y="444500"/>
                  </a:cubicBezTo>
                  <a:cubicBezTo>
                    <a:pt x="4216400" y="689991"/>
                    <a:pt x="4017391" y="889000"/>
                    <a:pt x="37719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sp>
          <p:nvSpPr>
            <p:cNvPr name="TextBox 24" id="24"/>
            <p:cNvSpPr txBox="true"/>
            <p:nvPr/>
          </p:nvSpPr>
          <p:spPr>
            <a:xfrm>
              <a:off x="0" y="-19050"/>
              <a:ext cx="4216400" cy="908050"/>
            </a:xfrm>
            <a:prstGeom prst="rect">
              <a:avLst/>
            </a:prstGeom>
          </p:spPr>
          <p:txBody>
            <a:bodyPr anchor="t" rtlCol="false" tIns="203200" lIns="203200" bIns="203200" rIns="203200"/>
            <a:lstStyle/>
            <a:p>
              <a:pPr algn="ctr">
                <a:lnSpc>
                  <a:spcPts val="2700"/>
                </a:lnSpc>
              </a:pPr>
              <a:r>
                <a:rPr lang="en-US" b="true" sz="2250" spc="-44">
                  <a:solidFill>
                    <a:srgbClr val="F5EAD8"/>
                  </a:solidFill>
                  <a:latin typeface="Arimo Bold"/>
                  <a:ea typeface="Arimo Bold"/>
                  <a:cs typeface="Arimo Bold"/>
                  <a:sym typeface="Arimo Bold"/>
                </a:rPr>
                <a:t>Next expression →</a:t>
              </a:r>
            </a:p>
          </p:txBody>
        </p:sp>
      </p:grpSp>
      <p:sp>
        <p:nvSpPr>
          <p:cNvPr name="TextBox 25" id="25"/>
          <p:cNvSpPr txBox="true"/>
          <p:nvPr/>
        </p:nvSpPr>
        <p:spPr>
          <a:xfrm rot="0">
            <a:off x="4227195" y="9062942"/>
            <a:ext cx="657225" cy="485775"/>
          </a:xfrm>
          <a:prstGeom prst="rect">
            <a:avLst/>
          </a:prstGeom>
        </p:spPr>
        <p:txBody>
          <a:bodyPr anchor="t" rtlCol="false" tIns="0" lIns="0" bIns="0" rIns="0">
            <a:spAutoFit/>
          </a:bodyPr>
          <a:lstStyle/>
          <a:p>
            <a:pPr algn="l">
              <a:lnSpc>
                <a:spcPts val="3255"/>
              </a:lnSpc>
            </a:pPr>
            <a:r>
              <a:rPr lang="en-US" b="true" sz="2100">
                <a:solidFill>
                  <a:srgbClr val="474238"/>
                </a:solidFill>
                <a:latin typeface="Arimo Bold"/>
                <a:ea typeface="Arimo Bold"/>
                <a:cs typeface="Arimo Bold"/>
                <a:sym typeface="Arimo Bold"/>
              </a:rPr>
              <a:t>1 of 6</a:t>
            </a:r>
          </a:p>
        </p:txBody>
      </p:sp>
      <p:grpSp>
        <p:nvGrpSpPr>
          <p:cNvPr name="Group 26" id="26"/>
          <p:cNvGrpSpPr/>
          <p:nvPr/>
        </p:nvGrpSpPr>
        <p:grpSpPr>
          <a:xfrm rot="0">
            <a:off x="8801100" y="609600"/>
            <a:ext cx="8572500" cy="9067800"/>
            <a:chOff x="0" y="0"/>
            <a:chExt cx="11430000" cy="12090400"/>
          </a:xfrm>
        </p:grpSpPr>
        <p:sp>
          <p:nvSpPr>
            <p:cNvPr name="Freeform 27" id="27"/>
            <p:cNvSpPr/>
            <p:nvPr/>
          </p:nvSpPr>
          <p:spPr>
            <a:xfrm flipH="false" flipV="false" rot="0">
              <a:off x="0" y="0"/>
              <a:ext cx="11430000" cy="12090400"/>
            </a:xfrm>
            <a:custGeom>
              <a:avLst/>
              <a:gdLst/>
              <a:ahLst/>
              <a:cxnLst/>
              <a:rect r="r" b="b" t="t" l="l"/>
              <a:pathLst>
                <a:path h="12090400" w="11430000">
                  <a:moveTo>
                    <a:pt x="711200" y="0"/>
                  </a:moveTo>
                  <a:lnTo>
                    <a:pt x="10718800" y="0"/>
                  </a:lnTo>
                  <a:cubicBezTo>
                    <a:pt x="11111611" y="0"/>
                    <a:pt x="11430000" y="318389"/>
                    <a:pt x="11430000" y="711200"/>
                  </a:cubicBezTo>
                  <a:lnTo>
                    <a:pt x="11430000" y="11379200"/>
                  </a:lnTo>
                  <a:cubicBezTo>
                    <a:pt x="11430000" y="11772011"/>
                    <a:pt x="11111611" y="12090400"/>
                    <a:pt x="10718800" y="12090400"/>
                  </a:cubicBezTo>
                  <a:lnTo>
                    <a:pt x="711200" y="12090400"/>
                  </a:lnTo>
                  <a:cubicBezTo>
                    <a:pt x="318389" y="12090400"/>
                    <a:pt x="0" y="11772011"/>
                    <a:pt x="0" y="11379200"/>
                  </a:cubicBezTo>
                  <a:lnTo>
                    <a:pt x="0" y="711200"/>
                  </a:lnTo>
                  <a:cubicBezTo>
                    <a:pt x="0" y="318389"/>
                    <a:pt x="318389" y="0"/>
                    <a:pt x="711200" y="0"/>
                  </a:cubicBezTo>
                  <a:close/>
                </a:path>
              </a:pathLst>
            </a:custGeom>
            <a:solidFill>
              <a:srgbClr val="EBDDC5"/>
            </a:solidFill>
          </p:spPr>
        </p:sp>
      </p:grpSp>
    </p:spTree>
  </p:cSld>
  <p:clrMapOvr>
    <a:masterClrMapping/>
  </p:clrMapOvr>
</p:sld>
</file>

<file path=ppt/slides/slide2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E1EECC"/>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FFC6A5"/>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CCDBB2"/>
            </a:solidFill>
          </p:spPr>
        </p:sp>
      </p:grpSp>
      <p:grpSp>
        <p:nvGrpSpPr>
          <p:cNvPr name="Group 9" id="9"/>
          <p:cNvGrpSpPr/>
          <p:nvPr/>
        </p:nvGrpSpPr>
        <p:grpSpPr>
          <a:xfrm rot="0">
            <a:off x="990886" y="611505"/>
            <a:ext cx="3057525" cy="600075"/>
            <a:chOff x="0" y="0"/>
            <a:chExt cx="4076700" cy="800100"/>
          </a:xfrm>
        </p:grpSpPr>
        <p:sp>
          <p:nvSpPr>
            <p:cNvPr name="Freeform 10" id="10"/>
            <p:cNvSpPr/>
            <p:nvPr/>
          </p:nvSpPr>
          <p:spPr>
            <a:xfrm flipH="false" flipV="false" rot="0">
              <a:off x="0" y="0"/>
              <a:ext cx="4076700" cy="800100"/>
            </a:xfrm>
            <a:custGeom>
              <a:avLst/>
              <a:gdLst/>
              <a:ahLst/>
              <a:cxnLst/>
              <a:rect r="r" b="b" t="t" l="l"/>
              <a:pathLst>
                <a:path h="800100" w="4076700">
                  <a:moveTo>
                    <a:pt x="400050" y="0"/>
                  </a:moveTo>
                  <a:lnTo>
                    <a:pt x="3676650" y="0"/>
                  </a:lnTo>
                  <a:cubicBezTo>
                    <a:pt x="3897630" y="0"/>
                    <a:pt x="4076700" y="179070"/>
                    <a:pt x="4076700" y="400050"/>
                  </a:cubicBezTo>
                  <a:cubicBezTo>
                    <a:pt x="4076700" y="621030"/>
                    <a:pt x="3897630" y="800100"/>
                    <a:pt x="3676650" y="800100"/>
                  </a:cubicBezTo>
                  <a:lnTo>
                    <a:pt x="400050" y="800100"/>
                  </a:lnTo>
                  <a:cubicBezTo>
                    <a:pt x="179070" y="800100"/>
                    <a:pt x="0" y="621030"/>
                    <a:pt x="0" y="400050"/>
                  </a:cubicBezTo>
                  <a:cubicBezTo>
                    <a:pt x="0" y="179070"/>
                    <a:pt x="179070" y="0"/>
                    <a:pt x="400050" y="0"/>
                  </a:cubicBezTo>
                  <a:close/>
                </a:path>
              </a:pathLst>
            </a:custGeom>
            <a:solidFill>
              <a:srgbClr val="56633F"/>
            </a:solidFill>
          </p:spPr>
        </p:sp>
        <p:sp>
          <p:nvSpPr>
            <p:cNvPr name="TextBox 11" id="11"/>
            <p:cNvSpPr txBox="true"/>
            <p:nvPr/>
          </p:nvSpPr>
          <p:spPr>
            <a:xfrm>
              <a:off x="0" y="-76200"/>
              <a:ext cx="40767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EXERCISE 6.2 · Q4</a:t>
              </a:r>
            </a:p>
          </p:txBody>
        </p:sp>
      </p:grpSp>
      <p:sp>
        <p:nvSpPr>
          <p:cNvPr name="TextBox 12" id="12"/>
          <p:cNvSpPr txBox="true"/>
          <p:nvPr/>
        </p:nvSpPr>
        <p:spPr>
          <a:xfrm rot="0">
            <a:off x="4239482" y="630555"/>
            <a:ext cx="1590675" cy="485775"/>
          </a:xfrm>
          <a:prstGeom prst="rect">
            <a:avLst/>
          </a:prstGeom>
        </p:spPr>
        <p:txBody>
          <a:bodyPr anchor="t" rtlCol="false" tIns="0" lIns="0" bIns="0" rIns="0">
            <a:spAutoFit/>
          </a:bodyPr>
          <a:lstStyle/>
          <a:p>
            <a:pPr algn="l">
              <a:lnSpc>
                <a:spcPts val="3255"/>
              </a:lnSpc>
            </a:pPr>
            <a:r>
              <a:rPr lang="en-US" b="true" sz="2100">
                <a:solidFill>
                  <a:srgbClr val="643312"/>
                </a:solidFill>
                <a:latin typeface="Arimo Bold"/>
                <a:ea typeface="Arimo Bold"/>
                <a:cs typeface="Arimo Bold"/>
                <a:sym typeface="Arimo Bold"/>
              </a:rPr>
              <a:t>6.2 · Practice</a:t>
            </a:r>
          </a:p>
        </p:txBody>
      </p:sp>
      <p:sp>
        <p:nvSpPr>
          <p:cNvPr name="TextBox 13" id="13"/>
          <p:cNvSpPr txBox="true"/>
          <p:nvPr/>
        </p:nvSpPr>
        <p:spPr>
          <a:xfrm rot="0">
            <a:off x="990600" y="1510189"/>
            <a:ext cx="16306800" cy="523875"/>
          </a:xfrm>
          <a:prstGeom prst="rect">
            <a:avLst/>
          </a:prstGeom>
        </p:spPr>
        <p:txBody>
          <a:bodyPr anchor="t" rtlCol="false" tIns="0" lIns="0" bIns="0" rIns="0">
            <a:spAutoFit/>
          </a:bodyPr>
          <a:lstStyle/>
          <a:p>
            <a:pPr algn="l">
              <a:lnSpc>
                <a:spcPts val="4524"/>
              </a:lnSpc>
            </a:pPr>
            <a:r>
              <a:rPr lang="en-US" b="true" sz="4350" spc="-86">
                <a:solidFill>
                  <a:srgbClr val="201E1D"/>
                </a:solidFill>
                <a:latin typeface="Arimo Bold"/>
                <a:ea typeface="Arimo Bold"/>
                <a:cs typeface="Arimo Bold"/>
                <a:sym typeface="Arimo Bold"/>
              </a:rPr>
              <a:t>Is it fully factorised?</a:t>
            </a:r>
          </a:p>
        </p:txBody>
      </p:sp>
      <p:sp>
        <p:nvSpPr>
          <p:cNvPr name="TextBox 14" id="14"/>
          <p:cNvSpPr txBox="true"/>
          <p:nvPr/>
        </p:nvSpPr>
        <p:spPr>
          <a:xfrm rot="0">
            <a:off x="990600" y="2218563"/>
            <a:ext cx="342900" cy="561975"/>
          </a:xfrm>
          <a:prstGeom prst="rect">
            <a:avLst/>
          </a:prstGeom>
        </p:spPr>
        <p:txBody>
          <a:bodyPr anchor="t" rtlCol="false" tIns="0" lIns="0" bIns="0" rIns="0">
            <a:spAutoFit/>
          </a:bodyPr>
          <a:lstStyle/>
          <a:p>
            <a:pPr algn="l">
              <a:lnSpc>
                <a:spcPts val="3933"/>
              </a:lnSpc>
            </a:pPr>
            <a:r>
              <a:rPr lang="en-US" b="true" sz="2850">
                <a:solidFill>
                  <a:srgbClr val="56633F"/>
                </a:solidFill>
                <a:latin typeface="Arimo Bold"/>
                <a:ea typeface="Arimo Bold"/>
                <a:cs typeface="Arimo Bold"/>
                <a:sym typeface="Arimo Bold"/>
              </a:rPr>
              <a:t>a</a:t>
            </a:r>
          </a:p>
        </p:txBody>
      </p:sp>
      <p:sp>
        <p:nvSpPr>
          <p:cNvPr name="TextBox 15" id="15"/>
          <p:cNvSpPr txBox="true"/>
          <p:nvPr/>
        </p:nvSpPr>
        <p:spPr>
          <a:xfrm rot="0">
            <a:off x="1487329" y="2218563"/>
            <a:ext cx="1371600" cy="561975"/>
          </a:xfrm>
          <a:prstGeom prst="rect">
            <a:avLst/>
          </a:prstGeom>
        </p:spPr>
        <p:txBody>
          <a:bodyPr anchor="t" rtlCol="false" tIns="0" lIns="0" bIns="0" rIns="0">
            <a:spAutoFit/>
          </a:bodyPr>
          <a:lstStyle/>
          <a:p>
            <a:pPr algn="l">
              <a:lnSpc>
                <a:spcPts val="3933"/>
              </a:lnSpc>
            </a:pPr>
            <a:r>
              <a:rPr lang="en-US" b="true" sz="2850">
                <a:solidFill>
                  <a:srgbClr val="201E1D"/>
                </a:solidFill>
                <a:latin typeface="Arimo Bold"/>
                <a:ea typeface="Arimo Bold"/>
                <a:cs typeface="Arimo Bold"/>
                <a:sym typeface="Arimo Bold"/>
              </a:rPr>
              <a:t>4x + 12y</a:t>
            </a:r>
          </a:p>
        </p:txBody>
      </p:sp>
      <p:sp>
        <p:nvSpPr>
          <p:cNvPr name="TextBox 16" id="16"/>
          <p:cNvSpPr txBox="true"/>
          <p:nvPr/>
        </p:nvSpPr>
        <p:spPr>
          <a:xfrm rot="0">
            <a:off x="990600" y="2813304"/>
            <a:ext cx="342900" cy="561975"/>
          </a:xfrm>
          <a:prstGeom prst="rect">
            <a:avLst/>
          </a:prstGeom>
        </p:spPr>
        <p:txBody>
          <a:bodyPr anchor="t" rtlCol="false" tIns="0" lIns="0" bIns="0" rIns="0">
            <a:spAutoFit/>
          </a:bodyPr>
          <a:lstStyle/>
          <a:p>
            <a:pPr algn="l">
              <a:lnSpc>
                <a:spcPts val="3933"/>
              </a:lnSpc>
            </a:pPr>
            <a:r>
              <a:rPr lang="en-US" b="true" sz="2850">
                <a:solidFill>
                  <a:srgbClr val="56633F"/>
                </a:solidFill>
                <a:latin typeface="Arimo Bold"/>
                <a:ea typeface="Arimo Bold"/>
                <a:cs typeface="Arimo Bold"/>
                <a:sym typeface="Arimo Bold"/>
              </a:rPr>
              <a:t>b</a:t>
            </a:r>
          </a:p>
        </p:txBody>
      </p:sp>
      <p:sp>
        <p:nvSpPr>
          <p:cNvPr name="TextBox 17" id="17"/>
          <p:cNvSpPr txBox="true"/>
          <p:nvPr/>
        </p:nvSpPr>
        <p:spPr>
          <a:xfrm rot="0">
            <a:off x="1484567" y="2813304"/>
            <a:ext cx="1828800" cy="561975"/>
          </a:xfrm>
          <a:prstGeom prst="rect">
            <a:avLst/>
          </a:prstGeom>
        </p:spPr>
        <p:txBody>
          <a:bodyPr anchor="t" rtlCol="false" tIns="0" lIns="0" bIns="0" rIns="0">
            <a:spAutoFit/>
          </a:bodyPr>
          <a:lstStyle/>
          <a:p>
            <a:pPr algn="l">
              <a:lnSpc>
                <a:spcPts val="3933"/>
              </a:lnSpc>
            </a:pPr>
            <a:r>
              <a:rPr lang="en-US" b="true" sz="2850">
                <a:solidFill>
                  <a:srgbClr val="201E1D"/>
                </a:solidFill>
                <a:latin typeface="Arimo Bold"/>
                <a:ea typeface="Arimo Bold"/>
                <a:cs typeface="Arimo Bold"/>
                <a:sym typeface="Arimo Bold"/>
              </a:rPr>
              <a:t>3(15x + 5y)</a:t>
            </a:r>
          </a:p>
        </p:txBody>
      </p:sp>
      <p:sp>
        <p:nvSpPr>
          <p:cNvPr name="TextBox 18" id="18"/>
          <p:cNvSpPr txBox="true"/>
          <p:nvPr/>
        </p:nvSpPr>
        <p:spPr>
          <a:xfrm rot="0">
            <a:off x="6540436" y="2218563"/>
            <a:ext cx="342900" cy="561975"/>
          </a:xfrm>
          <a:prstGeom prst="rect">
            <a:avLst/>
          </a:prstGeom>
        </p:spPr>
        <p:txBody>
          <a:bodyPr anchor="t" rtlCol="false" tIns="0" lIns="0" bIns="0" rIns="0">
            <a:spAutoFit/>
          </a:bodyPr>
          <a:lstStyle/>
          <a:p>
            <a:pPr algn="l">
              <a:lnSpc>
                <a:spcPts val="3933"/>
              </a:lnSpc>
            </a:pPr>
            <a:r>
              <a:rPr lang="en-US" b="true" sz="2850">
                <a:solidFill>
                  <a:srgbClr val="56633F"/>
                </a:solidFill>
                <a:latin typeface="Arimo Bold"/>
                <a:ea typeface="Arimo Bold"/>
                <a:cs typeface="Arimo Bold"/>
                <a:sym typeface="Arimo Bold"/>
              </a:rPr>
              <a:t>c</a:t>
            </a:r>
          </a:p>
        </p:txBody>
      </p:sp>
      <p:sp>
        <p:nvSpPr>
          <p:cNvPr name="TextBox 19" id="19"/>
          <p:cNvSpPr txBox="true"/>
          <p:nvPr/>
        </p:nvSpPr>
        <p:spPr>
          <a:xfrm rot="0">
            <a:off x="7037737" y="2218563"/>
            <a:ext cx="2219325" cy="561975"/>
          </a:xfrm>
          <a:prstGeom prst="rect">
            <a:avLst/>
          </a:prstGeom>
        </p:spPr>
        <p:txBody>
          <a:bodyPr anchor="t" rtlCol="false" tIns="0" lIns="0" bIns="0" rIns="0">
            <a:spAutoFit/>
          </a:bodyPr>
          <a:lstStyle/>
          <a:p>
            <a:pPr algn="l">
              <a:lnSpc>
                <a:spcPts val="3933"/>
              </a:lnSpc>
            </a:pPr>
            <a:r>
              <a:rPr lang="en-US" b="true" sz="2850">
                <a:solidFill>
                  <a:srgbClr val="201E1D"/>
                </a:solidFill>
                <a:latin typeface="Arimo Bold"/>
                <a:ea typeface="Arimo Bold"/>
                <a:cs typeface="Arimo Bold"/>
                <a:sym typeface="Arimo Bold"/>
              </a:rPr>
              <a:t>ab(3a² − 4ab)</a:t>
            </a:r>
          </a:p>
        </p:txBody>
      </p:sp>
      <p:sp>
        <p:nvSpPr>
          <p:cNvPr name="TextBox 20" id="20"/>
          <p:cNvSpPr txBox="true"/>
          <p:nvPr/>
        </p:nvSpPr>
        <p:spPr>
          <a:xfrm rot="0">
            <a:off x="6540436" y="2813304"/>
            <a:ext cx="342900" cy="561975"/>
          </a:xfrm>
          <a:prstGeom prst="rect">
            <a:avLst/>
          </a:prstGeom>
        </p:spPr>
        <p:txBody>
          <a:bodyPr anchor="t" rtlCol="false" tIns="0" lIns="0" bIns="0" rIns="0">
            <a:spAutoFit/>
          </a:bodyPr>
          <a:lstStyle/>
          <a:p>
            <a:pPr algn="l">
              <a:lnSpc>
                <a:spcPts val="3933"/>
              </a:lnSpc>
            </a:pPr>
            <a:r>
              <a:rPr lang="en-US" b="true" sz="2850">
                <a:solidFill>
                  <a:srgbClr val="56633F"/>
                </a:solidFill>
                <a:latin typeface="Arimo Bold"/>
                <a:ea typeface="Arimo Bold"/>
                <a:cs typeface="Arimo Bold"/>
                <a:sym typeface="Arimo Bold"/>
              </a:rPr>
              <a:t>d</a:t>
            </a:r>
          </a:p>
        </p:txBody>
      </p:sp>
      <p:sp>
        <p:nvSpPr>
          <p:cNvPr name="TextBox 21" id="21"/>
          <p:cNvSpPr txBox="true"/>
          <p:nvPr/>
        </p:nvSpPr>
        <p:spPr>
          <a:xfrm rot="0">
            <a:off x="7035070" y="2813304"/>
            <a:ext cx="1743075" cy="561975"/>
          </a:xfrm>
          <a:prstGeom prst="rect">
            <a:avLst/>
          </a:prstGeom>
        </p:spPr>
        <p:txBody>
          <a:bodyPr anchor="t" rtlCol="false" tIns="0" lIns="0" bIns="0" rIns="0">
            <a:spAutoFit/>
          </a:bodyPr>
          <a:lstStyle/>
          <a:p>
            <a:pPr algn="l">
              <a:lnSpc>
                <a:spcPts val="3933"/>
              </a:lnSpc>
            </a:pPr>
            <a:r>
              <a:rPr lang="en-US" b="true" sz="2850">
                <a:solidFill>
                  <a:srgbClr val="201E1D"/>
                </a:solidFill>
                <a:latin typeface="Arimo Bold"/>
                <a:ea typeface="Arimo Bold"/>
                <a:cs typeface="Arimo Bold"/>
                <a:sym typeface="Arimo Bold"/>
              </a:rPr>
              <a:t>51z³ + 21x²</a:t>
            </a:r>
          </a:p>
        </p:txBody>
      </p:sp>
      <p:sp>
        <p:nvSpPr>
          <p:cNvPr name="TextBox 22" id="22"/>
          <p:cNvSpPr txBox="true"/>
          <p:nvPr/>
        </p:nvSpPr>
        <p:spPr>
          <a:xfrm rot="0">
            <a:off x="12090368" y="2218563"/>
            <a:ext cx="342900" cy="561975"/>
          </a:xfrm>
          <a:prstGeom prst="rect">
            <a:avLst/>
          </a:prstGeom>
        </p:spPr>
        <p:txBody>
          <a:bodyPr anchor="t" rtlCol="false" tIns="0" lIns="0" bIns="0" rIns="0">
            <a:spAutoFit/>
          </a:bodyPr>
          <a:lstStyle/>
          <a:p>
            <a:pPr algn="l">
              <a:lnSpc>
                <a:spcPts val="3933"/>
              </a:lnSpc>
            </a:pPr>
            <a:r>
              <a:rPr lang="en-US" b="true" sz="2850">
                <a:solidFill>
                  <a:srgbClr val="56633F"/>
                </a:solidFill>
                <a:latin typeface="Arimo Bold"/>
                <a:ea typeface="Arimo Bold"/>
                <a:cs typeface="Arimo Bold"/>
                <a:sym typeface="Arimo Bold"/>
              </a:rPr>
              <a:t>e</a:t>
            </a:r>
          </a:p>
        </p:txBody>
      </p:sp>
      <p:sp>
        <p:nvSpPr>
          <p:cNvPr name="TextBox 23" id="23"/>
          <p:cNvSpPr txBox="true"/>
          <p:nvPr/>
        </p:nvSpPr>
        <p:spPr>
          <a:xfrm rot="0">
            <a:off x="12584144" y="2218563"/>
            <a:ext cx="3152775" cy="561975"/>
          </a:xfrm>
          <a:prstGeom prst="rect">
            <a:avLst/>
          </a:prstGeom>
        </p:spPr>
        <p:txBody>
          <a:bodyPr anchor="t" rtlCol="false" tIns="0" lIns="0" bIns="0" rIns="0">
            <a:spAutoFit/>
          </a:bodyPr>
          <a:lstStyle/>
          <a:p>
            <a:pPr algn="l">
              <a:lnSpc>
                <a:spcPts val="3933"/>
              </a:lnSpc>
            </a:pPr>
            <a:r>
              <a:rPr lang="en-US" b="true" sz="2850">
                <a:solidFill>
                  <a:srgbClr val="201E1D"/>
                </a:solidFill>
                <a:latin typeface="Arimo Bold"/>
                <a:ea typeface="Arimo Bold"/>
                <a:cs typeface="Arimo Bold"/>
                <a:sym typeface="Arimo Bold"/>
              </a:rPr>
              <a:t>2x²y³(6xy − 10x³y²)</a:t>
            </a:r>
          </a:p>
        </p:txBody>
      </p:sp>
      <p:sp>
        <p:nvSpPr>
          <p:cNvPr name="TextBox 24" id="24"/>
          <p:cNvSpPr txBox="true"/>
          <p:nvPr/>
        </p:nvSpPr>
        <p:spPr>
          <a:xfrm rot="0">
            <a:off x="12090368" y="2813304"/>
            <a:ext cx="342900" cy="561975"/>
          </a:xfrm>
          <a:prstGeom prst="rect">
            <a:avLst/>
          </a:prstGeom>
        </p:spPr>
        <p:txBody>
          <a:bodyPr anchor="t" rtlCol="false" tIns="0" lIns="0" bIns="0" rIns="0">
            <a:spAutoFit/>
          </a:bodyPr>
          <a:lstStyle/>
          <a:p>
            <a:pPr algn="l">
              <a:lnSpc>
                <a:spcPts val="3933"/>
              </a:lnSpc>
            </a:pPr>
            <a:r>
              <a:rPr lang="en-US" b="true" sz="2850">
                <a:solidFill>
                  <a:srgbClr val="56633F"/>
                </a:solidFill>
                <a:latin typeface="Arimo Bold"/>
                <a:ea typeface="Arimo Bold"/>
                <a:cs typeface="Arimo Bold"/>
                <a:sym typeface="Arimo Bold"/>
              </a:rPr>
              <a:t>f</a:t>
            </a:r>
          </a:p>
        </p:txBody>
      </p:sp>
      <p:sp>
        <p:nvSpPr>
          <p:cNvPr name="TextBox 25" id="25"/>
          <p:cNvSpPr txBox="true"/>
          <p:nvPr/>
        </p:nvSpPr>
        <p:spPr>
          <a:xfrm rot="0">
            <a:off x="12583954" y="2813304"/>
            <a:ext cx="1800225" cy="561975"/>
          </a:xfrm>
          <a:prstGeom prst="rect">
            <a:avLst/>
          </a:prstGeom>
        </p:spPr>
        <p:txBody>
          <a:bodyPr anchor="t" rtlCol="false" tIns="0" lIns="0" bIns="0" rIns="0">
            <a:spAutoFit/>
          </a:bodyPr>
          <a:lstStyle/>
          <a:p>
            <a:pPr algn="l">
              <a:lnSpc>
                <a:spcPts val="3933"/>
              </a:lnSpc>
            </a:pPr>
            <a:r>
              <a:rPr lang="en-US" b="true" sz="2850">
                <a:solidFill>
                  <a:srgbClr val="201E1D"/>
                </a:solidFill>
                <a:latin typeface="Arimo Bold"/>
                <a:ea typeface="Arimo Bold"/>
                <a:cs typeface="Arimo Bold"/>
                <a:sym typeface="Arimo Bold"/>
              </a:rPr>
              <a:t>52z³ + 21x²</a:t>
            </a:r>
          </a:p>
        </p:txBody>
      </p:sp>
      <p:grpSp>
        <p:nvGrpSpPr>
          <p:cNvPr name="Group 26" id="26"/>
          <p:cNvGrpSpPr/>
          <p:nvPr/>
        </p:nvGrpSpPr>
        <p:grpSpPr>
          <a:xfrm rot="0">
            <a:off x="1315117" y="3876675"/>
            <a:ext cx="5074920" cy="1984248"/>
            <a:chOff x="0" y="0"/>
            <a:chExt cx="6766560" cy="2645664"/>
          </a:xfrm>
        </p:grpSpPr>
        <p:sp>
          <p:nvSpPr>
            <p:cNvPr name="Freeform 27" id="27"/>
            <p:cNvSpPr/>
            <p:nvPr/>
          </p:nvSpPr>
          <p:spPr>
            <a:xfrm flipH="false" flipV="false" rot="0">
              <a:off x="0" y="0"/>
              <a:ext cx="6766560" cy="2645664"/>
            </a:xfrm>
            <a:custGeom>
              <a:avLst/>
              <a:gdLst/>
              <a:ahLst/>
              <a:cxnLst/>
              <a:rect r="r" b="b" t="t" l="l"/>
              <a:pathLst>
                <a:path h="2645664" w="6766560">
                  <a:moveTo>
                    <a:pt x="355600" y="0"/>
                  </a:moveTo>
                  <a:lnTo>
                    <a:pt x="6410960" y="0"/>
                  </a:lnTo>
                  <a:cubicBezTo>
                    <a:pt x="6607302" y="0"/>
                    <a:pt x="6766560" y="159258"/>
                    <a:pt x="6766560" y="355600"/>
                  </a:cubicBezTo>
                  <a:lnTo>
                    <a:pt x="6766560" y="2290064"/>
                  </a:lnTo>
                  <a:cubicBezTo>
                    <a:pt x="6766560" y="2486406"/>
                    <a:pt x="6607302" y="2645664"/>
                    <a:pt x="6410960" y="2645664"/>
                  </a:cubicBezTo>
                  <a:lnTo>
                    <a:pt x="355600" y="2645664"/>
                  </a:lnTo>
                  <a:cubicBezTo>
                    <a:pt x="159258" y="2645664"/>
                    <a:pt x="0" y="2486406"/>
                    <a:pt x="0" y="2290064"/>
                  </a:cubicBezTo>
                  <a:lnTo>
                    <a:pt x="0" y="355600"/>
                  </a:lnTo>
                  <a:cubicBezTo>
                    <a:pt x="0" y="159258"/>
                    <a:pt x="159258" y="0"/>
                    <a:pt x="355600" y="0"/>
                  </a:cubicBezTo>
                  <a:close/>
                </a:path>
              </a:pathLst>
            </a:custGeom>
            <a:solidFill>
              <a:srgbClr val="F0FAE1"/>
            </a:solidFill>
          </p:spPr>
        </p:sp>
        <p:sp>
          <p:nvSpPr>
            <p:cNvPr name="Freeform 28" id="28"/>
            <p:cNvSpPr/>
            <p:nvPr/>
          </p:nvSpPr>
          <p:spPr>
            <a:xfrm flipH="false" flipV="false" rot="0">
              <a:off x="0" y="0"/>
              <a:ext cx="6766560" cy="2645664"/>
            </a:xfrm>
            <a:custGeom>
              <a:avLst/>
              <a:gdLst/>
              <a:ahLst/>
              <a:cxnLst/>
              <a:rect r="r" b="b" t="t" l="l"/>
              <a:pathLst>
                <a:path h="2645664" w="6766560">
                  <a:moveTo>
                    <a:pt x="355600" y="0"/>
                  </a:moveTo>
                  <a:lnTo>
                    <a:pt x="6410960" y="0"/>
                  </a:lnTo>
                  <a:cubicBezTo>
                    <a:pt x="6607302" y="0"/>
                    <a:pt x="6766560" y="159258"/>
                    <a:pt x="6766560" y="355600"/>
                  </a:cubicBezTo>
                  <a:lnTo>
                    <a:pt x="6766560" y="2290064"/>
                  </a:lnTo>
                  <a:cubicBezTo>
                    <a:pt x="6766560" y="2486406"/>
                    <a:pt x="6607302" y="2645664"/>
                    <a:pt x="6410960" y="2645664"/>
                  </a:cubicBezTo>
                  <a:lnTo>
                    <a:pt x="355600" y="2645664"/>
                  </a:lnTo>
                  <a:cubicBezTo>
                    <a:pt x="159258" y="2645664"/>
                    <a:pt x="0" y="2486406"/>
                    <a:pt x="0" y="2290064"/>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29" id="29"/>
          <p:cNvSpPr txBox="true"/>
          <p:nvPr/>
        </p:nvSpPr>
        <p:spPr>
          <a:xfrm rot="0">
            <a:off x="1598581" y="4018597"/>
            <a:ext cx="4507992"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30" id="30"/>
          <p:cNvSpPr txBox="true"/>
          <p:nvPr/>
        </p:nvSpPr>
        <p:spPr>
          <a:xfrm rot="0">
            <a:off x="1600200" y="4361783"/>
            <a:ext cx="329184" cy="459486"/>
          </a:xfrm>
          <a:prstGeom prst="rect">
            <a:avLst/>
          </a:prstGeom>
        </p:spPr>
        <p:txBody>
          <a:bodyPr anchor="t" rtlCol="false" tIns="0" lIns="0" bIns="0" rIns="0">
            <a:spAutoFit/>
          </a:bodyPr>
          <a:lstStyle/>
          <a:p>
            <a:pPr algn="l">
              <a:lnSpc>
                <a:spcPts val="3133"/>
              </a:lnSpc>
            </a:pPr>
            <a:r>
              <a:rPr lang="en-US" b="true" sz="2304">
                <a:solidFill>
                  <a:srgbClr val="3D472B"/>
                </a:solidFill>
                <a:latin typeface="Arimo Bold"/>
                <a:ea typeface="Arimo Bold"/>
                <a:cs typeface="Arimo Bold"/>
                <a:sym typeface="Arimo Bold"/>
              </a:rPr>
              <a:t>a</a:t>
            </a:r>
          </a:p>
        </p:txBody>
      </p:sp>
      <p:sp>
        <p:nvSpPr>
          <p:cNvPr name="TextBox 31" id="31"/>
          <p:cNvSpPr txBox="true"/>
          <p:nvPr/>
        </p:nvSpPr>
        <p:spPr>
          <a:xfrm rot="0">
            <a:off x="2076355" y="4361783"/>
            <a:ext cx="1197864" cy="459486"/>
          </a:xfrm>
          <a:prstGeom prst="rect">
            <a:avLst/>
          </a:prstGeom>
        </p:spPr>
        <p:txBody>
          <a:bodyPr anchor="t" rtlCol="false" tIns="0" lIns="0" bIns="0" rIns="0">
            <a:spAutoFit/>
          </a:bodyPr>
          <a:lstStyle/>
          <a:p>
            <a:pPr algn="l">
              <a:lnSpc>
                <a:spcPts val="3133"/>
              </a:lnSpc>
            </a:pPr>
            <a:r>
              <a:rPr lang="en-US" b="true" sz="2304">
                <a:solidFill>
                  <a:srgbClr val="201E1D"/>
                </a:solidFill>
                <a:latin typeface="Arimo Bold"/>
                <a:ea typeface="Arimo Bold"/>
                <a:cs typeface="Arimo Bold"/>
                <a:sym typeface="Arimo Bold"/>
              </a:rPr>
              <a:t>4(x + 3y)</a:t>
            </a:r>
          </a:p>
        </p:txBody>
      </p:sp>
      <p:sp>
        <p:nvSpPr>
          <p:cNvPr name="TextBox 32" id="32"/>
          <p:cNvSpPr txBox="true"/>
          <p:nvPr/>
        </p:nvSpPr>
        <p:spPr>
          <a:xfrm rot="0">
            <a:off x="1600200" y="4814506"/>
            <a:ext cx="329184" cy="459486"/>
          </a:xfrm>
          <a:prstGeom prst="rect">
            <a:avLst/>
          </a:prstGeom>
        </p:spPr>
        <p:txBody>
          <a:bodyPr anchor="t" rtlCol="false" tIns="0" lIns="0" bIns="0" rIns="0">
            <a:spAutoFit/>
          </a:bodyPr>
          <a:lstStyle/>
          <a:p>
            <a:pPr algn="l">
              <a:lnSpc>
                <a:spcPts val="3133"/>
              </a:lnSpc>
            </a:pPr>
            <a:r>
              <a:rPr lang="en-US" b="true" sz="2304">
                <a:solidFill>
                  <a:srgbClr val="3D472B"/>
                </a:solidFill>
                <a:latin typeface="Arimo Bold"/>
                <a:ea typeface="Arimo Bold"/>
                <a:cs typeface="Arimo Bold"/>
                <a:sym typeface="Arimo Bold"/>
              </a:rPr>
              <a:t>b</a:t>
            </a:r>
          </a:p>
        </p:txBody>
      </p:sp>
      <p:sp>
        <p:nvSpPr>
          <p:cNvPr name="TextBox 33" id="33"/>
          <p:cNvSpPr txBox="true"/>
          <p:nvPr/>
        </p:nvSpPr>
        <p:spPr>
          <a:xfrm rot="0">
            <a:off x="2075498" y="4814506"/>
            <a:ext cx="1307592" cy="459486"/>
          </a:xfrm>
          <a:prstGeom prst="rect">
            <a:avLst/>
          </a:prstGeom>
        </p:spPr>
        <p:txBody>
          <a:bodyPr anchor="t" rtlCol="false" tIns="0" lIns="0" bIns="0" rIns="0">
            <a:spAutoFit/>
          </a:bodyPr>
          <a:lstStyle/>
          <a:p>
            <a:pPr algn="l">
              <a:lnSpc>
                <a:spcPts val="3133"/>
              </a:lnSpc>
            </a:pPr>
            <a:r>
              <a:rPr lang="en-US" b="true" sz="2304">
                <a:solidFill>
                  <a:srgbClr val="201E1D"/>
                </a:solidFill>
                <a:latin typeface="Arimo Bold"/>
                <a:ea typeface="Arimo Bold"/>
                <a:cs typeface="Arimo Bold"/>
                <a:sym typeface="Arimo Bold"/>
              </a:rPr>
              <a:t>15(3x + y)</a:t>
            </a:r>
          </a:p>
        </p:txBody>
      </p:sp>
      <p:grpSp>
        <p:nvGrpSpPr>
          <p:cNvPr name="Group 34" id="34"/>
          <p:cNvGrpSpPr/>
          <p:nvPr/>
        </p:nvGrpSpPr>
        <p:grpSpPr>
          <a:xfrm rot="0">
            <a:off x="6606445" y="3876675"/>
            <a:ext cx="5074920" cy="1984248"/>
            <a:chOff x="0" y="0"/>
            <a:chExt cx="6766560" cy="2645664"/>
          </a:xfrm>
        </p:grpSpPr>
        <p:sp>
          <p:nvSpPr>
            <p:cNvPr name="Freeform 35" id="35"/>
            <p:cNvSpPr/>
            <p:nvPr/>
          </p:nvSpPr>
          <p:spPr>
            <a:xfrm flipH="false" flipV="false" rot="0">
              <a:off x="0" y="0"/>
              <a:ext cx="6766560" cy="2645664"/>
            </a:xfrm>
            <a:custGeom>
              <a:avLst/>
              <a:gdLst/>
              <a:ahLst/>
              <a:cxnLst/>
              <a:rect r="r" b="b" t="t" l="l"/>
              <a:pathLst>
                <a:path h="2645664" w="6766560">
                  <a:moveTo>
                    <a:pt x="355600" y="0"/>
                  </a:moveTo>
                  <a:lnTo>
                    <a:pt x="6410960" y="0"/>
                  </a:lnTo>
                  <a:cubicBezTo>
                    <a:pt x="6607302" y="0"/>
                    <a:pt x="6766560" y="159258"/>
                    <a:pt x="6766560" y="355600"/>
                  </a:cubicBezTo>
                  <a:lnTo>
                    <a:pt x="6766560" y="2290064"/>
                  </a:lnTo>
                  <a:cubicBezTo>
                    <a:pt x="6766560" y="2486406"/>
                    <a:pt x="6607302" y="2645664"/>
                    <a:pt x="6410960" y="2645664"/>
                  </a:cubicBezTo>
                  <a:lnTo>
                    <a:pt x="355600" y="2645664"/>
                  </a:lnTo>
                  <a:cubicBezTo>
                    <a:pt x="159258" y="2645664"/>
                    <a:pt x="0" y="2486406"/>
                    <a:pt x="0" y="2290064"/>
                  </a:cubicBezTo>
                  <a:lnTo>
                    <a:pt x="0" y="355600"/>
                  </a:lnTo>
                  <a:cubicBezTo>
                    <a:pt x="0" y="159258"/>
                    <a:pt x="159258" y="0"/>
                    <a:pt x="355600" y="0"/>
                  </a:cubicBezTo>
                  <a:close/>
                </a:path>
              </a:pathLst>
            </a:custGeom>
            <a:solidFill>
              <a:srgbClr val="F0FAE1"/>
            </a:solidFill>
          </p:spPr>
        </p:sp>
        <p:sp>
          <p:nvSpPr>
            <p:cNvPr name="Freeform 36" id="36"/>
            <p:cNvSpPr/>
            <p:nvPr/>
          </p:nvSpPr>
          <p:spPr>
            <a:xfrm flipH="false" flipV="false" rot="0">
              <a:off x="0" y="0"/>
              <a:ext cx="6766560" cy="2645664"/>
            </a:xfrm>
            <a:custGeom>
              <a:avLst/>
              <a:gdLst/>
              <a:ahLst/>
              <a:cxnLst/>
              <a:rect r="r" b="b" t="t" l="l"/>
              <a:pathLst>
                <a:path h="2645664" w="6766560">
                  <a:moveTo>
                    <a:pt x="355600" y="0"/>
                  </a:moveTo>
                  <a:lnTo>
                    <a:pt x="6410960" y="0"/>
                  </a:lnTo>
                  <a:cubicBezTo>
                    <a:pt x="6607302" y="0"/>
                    <a:pt x="6766560" y="159258"/>
                    <a:pt x="6766560" y="355600"/>
                  </a:cubicBezTo>
                  <a:lnTo>
                    <a:pt x="6766560" y="2290064"/>
                  </a:lnTo>
                  <a:cubicBezTo>
                    <a:pt x="6766560" y="2486406"/>
                    <a:pt x="6607302" y="2645664"/>
                    <a:pt x="6410960" y="2645664"/>
                  </a:cubicBezTo>
                  <a:lnTo>
                    <a:pt x="355600" y="2645664"/>
                  </a:lnTo>
                  <a:cubicBezTo>
                    <a:pt x="159258" y="2645664"/>
                    <a:pt x="0" y="2486406"/>
                    <a:pt x="0" y="2290064"/>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37" id="37"/>
          <p:cNvSpPr txBox="true"/>
          <p:nvPr/>
        </p:nvSpPr>
        <p:spPr>
          <a:xfrm rot="0">
            <a:off x="6889909" y="4018597"/>
            <a:ext cx="4507992"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38" id="38"/>
          <p:cNvSpPr txBox="true"/>
          <p:nvPr/>
        </p:nvSpPr>
        <p:spPr>
          <a:xfrm rot="0">
            <a:off x="6891433" y="4361783"/>
            <a:ext cx="329184" cy="459486"/>
          </a:xfrm>
          <a:prstGeom prst="rect">
            <a:avLst/>
          </a:prstGeom>
        </p:spPr>
        <p:txBody>
          <a:bodyPr anchor="t" rtlCol="false" tIns="0" lIns="0" bIns="0" rIns="0">
            <a:spAutoFit/>
          </a:bodyPr>
          <a:lstStyle/>
          <a:p>
            <a:pPr algn="l">
              <a:lnSpc>
                <a:spcPts val="3133"/>
              </a:lnSpc>
            </a:pPr>
            <a:r>
              <a:rPr lang="en-US" b="true" sz="2304">
                <a:solidFill>
                  <a:srgbClr val="3D472B"/>
                </a:solidFill>
                <a:latin typeface="Arimo Bold"/>
                <a:ea typeface="Arimo Bold"/>
                <a:cs typeface="Arimo Bold"/>
                <a:sym typeface="Arimo Bold"/>
              </a:rPr>
              <a:t>c</a:t>
            </a:r>
          </a:p>
        </p:txBody>
      </p:sp>
      <p:sp>
        <p:nvSpPr>
          <p:cNvPr name="TextBox 39" id="39"/>
          <p:cNvSpPr txBox="true"/>
          <p:nvPr/>
        </p:nvSpPr>
        <p:spPr>
          <a:xfrm rot="0">
            <a:off x="7365968" y="4361783"/>
            <a:ext cx="1645920" cy="459486"/>
          </a:xfrm>
          <a:prstGeom prst="rect">
            <a:avLst/>
          </a:prstGeom>
        </p:spPr>
        <p:txBody>
          <a:bodyPr anchor="t" rtlCol="false" tIns="0" lIns="0" bIns="0" rIns="0">
            <a:spAutoFit/>
          </a:bodyPr>
          <a:lstStyle/>
          <a:p>
            <a:pPr algn="l">
              <a:lnSpc>
                <a:spcPts val="3133"/>
              </a:lnSpc>
            </a:pPr>
            <a:r>
              <a:rPr lang="en-US" b="true" sz="2304">
                <a:solidFill>
                  <a:srgbClr val="201E1D"/>
                </a:solidFill>
                <a:latin typeface="Arimo Bold"/>
                <a:ea typeface="Arimo Bold"/>
                <a:cs typeface="Arimo Bold"/>
                <a:sym typeface="Arimo Bold"/>
              </a:rPr>
              <a:t>a²b(3a − 4b)</a:t>
            </a:r>
          </a:p>
        </p:txBody>
      </p:sp>
      <p:sp>
        <p:nvSpPr>
          <p:cNvPr name="TextBox 40" id="40"/>
          <p:cNvSpPr txBox="true"/>
          <p:nvPr/>
        </p:nvSpPr>
        <p:spPr>
          <a:xfrm rot="0">
            <a:off x="6891433" y="4814506"/>
            <a:ext cx="329184" cy="459486"/>
          </a:xfrm>
          <a:prstGeom prst="rect">
            <a:avLst/>
          </a:prstGeom>
        </p:spPr>
        <p:txBody>
          <a:bodyPr anchor="t" rtlCol="false" tIns="0" lIns="0" bIns="0" rIns="0">
            <a:spAutoFit/>
          </a:bodyPr>
          <a:lstStyle/>
          <a:p>
            <a:pPr algn="l">
              <a:lnSpc>
                <a:spcPts val="3133"/>
              </a:lnSpc>
            </a:pPr>
            <a:r>
              <a:rPr lang="en-US" b="true" sz="2304">
                <a:solidFill>
                  <a:srgbClr val="3D472B"/>
                </a:solidFill>
                <a:latin typeface="Arimo Bold"/>
                <a:ea typeface="Arimo Bold"/>
                <a:cs typeface="Arimo Bold"/>
                <a:sym typeface="Arimo Bold"/>
              </a:rPr>
              <a:t>d</a:t>
            </a:r>
          </a:p>
        </p:txBody>
      </p:sp>
      <p:sp>
        <p:nvSpPr>
          <p:cNvPr name="TextBox 41" id="41"/>
          <p:cNvSpPr txBox="true"/>
          <p:nvPr/>
        </p:nvSpPr>
        <p:spPr>
          <a:xfrm rot="0">
            <a:off x="7367873" y="4814506"/>
            <a:ext cx="1645920" cy="459486"/>
          </a:xfrm>
          <a:prstGeom prst="rect">
            <a:avLst/>
          </a:prstGeom>
        </p:spPr>
        <p:txBody>
          <a:bodyPr anchor="t" rtlCol="false" tIns="0" lIns="0" bIns="0" rIns="0">
            <a:spAutoFit/>
          </a:bodyPr>
          <a:lstStyle/>
          <a:p>
            <a:pPr algn="l">
              <a:lnSpc>
                <a:spcPts val="3133"/>
              </a:lnSpc>
            </a:pPr>
            <a:r>
              <a:rPr lang="en-US" b="true" sz="2304">
                <a:solidFill>
                  <a:srgbClr val="201E1D"/>
                </a:solidFill>
                <a:latin typeface="Arimo Bold"/>
                <a:ea typeface="Arimo Bold"/>
                <a:cs typeface="Arimo Bold"/>
                <a:sym typeface="Arimo Bold"/>
              </a:rPr>
              <a:t>3(17z³ + 7x²)</a:t>
            </a:r>
          </a:p>
        </p:txBody>
      </p:sp>
      <p:grpSp>
        <p:nvGrpSpPr>
          <p:cNvPr name="Group 42" id="42"/>
          <p:cNvGrpSpPr/>
          <p:nvPr/>
        </p:nvGrpSpPr>
        <p:grpSpPr>
          <a:xfrm rot="0">
            <a:off x="11897868" y="3876675"/>
            <a:ext cx="5074920" cy="1984248"/>
            <a:chOff x="0" y="0"/>
            <a:chExt cx="6766560" cy="2645664"/>
          </a:xfrm>
        </p:grpSpPr>
        <p:sp>
          <p:nvSpPr>
            <p:cNvPr name="Freeform 43" id="43"/>
            <p:cNvSpPr/>
            <p:nvPr/>
          </p:nvSpPr>
          <p:spPr>
            <a:xfrm flipH="false" flipV="false" rot="0">
              <a:off x="0" y="0"/>
              <a:ext cx="6766560" cy="2645664"/>
            </a:xfrm>
            <a:custGeom>
              <a:avLst/>
              <a:gdLst/>
              <a:ahLst/>
              <a:cxnLst/>
              <a:rect r="r" b="b" t="t" l="l"/>
              <a:pathLst>
                <a:path h="2645664" w="6766560">
                  <a:moveTo>
                    <a:pt x="355600" y="0"/>
                  </a:moveTo>
                  <a:lnTo>
                    <a:pt x="6410960" y="0"/>
                  </a:lnTo>
                  <a:cubicBezTo>
                    <a:pt x="6607302" y="0"/>
                    <a:pt x="6766560" y="159258"/>
                    <a:pt x="6766560" y="355600"/>
                  </a:cubicBezTo>
                  <a:lnTo>
                    <a:pt x="6766560" y="2290064"/>
                  </a:lnTo>
                  <a:cubicBezTo>
                    <a:pt x="6766560" y="2486406"/>
                    <a:pt x="6607302" y="2645664"/>
                    <a:pt x="6410960" y="2645664"/>
                  </a:cubicBezTo>
                  <a:lnTo>
                    <a:pt x="355600" y="2645664"/>
                  </a:lnTo>
                  <a:cubicBezTo>
                    <a:pt x="159258" y="2645664"/>
                    <a:pt x="0" y="2486406"/>
                    <a:pt x="0" y="2290064"/>
                  </a:cubicBezTo>
                  <a:lnTo>
                    <a:pt x="0" y="355600"/>
                  </a:lnTo>
                  <a:cubicBezTo>
                    <a:pt x="0" y="159258"/>
                    <a:pt x="159258" y="0"/>
                    <a:pt x="355600" y="0"/>
                  </a:cubicBezTo>
                  <a:close/>
                </a:path>
              </a:pathLst>
            </a:custGeom>
            <a:solidFill>
              <a:srgbClr val="F0FAE1"/>
            </a:solidFill>
          </p:spPr>
        </p:sp>
        <p:sp>
          <p:nvSpPr>
            <p:cNvPr name="Freeform 44" id="44"/>
            <p:cNvSpPr/>
            <p:nvPr/>
          </p:nvSpPr>
          <p:spPr>
            <a:xfrm flipH="false" flipV="false" rot="0">
              <a:off x="0" y="0"/>
              <a:ext cx="6766560" cy="2645664"/>
            </a:xfrm>
            <a:custGeom>
              <a:avLst/>
              <a:gdLst/>
              <a:ahLst/>
              <a:cxnLst/>
              <a:rect r="r" b="b" t="t" l="l"/>
              <a:pathLst>
                <a:path h="2645664" w="6766560">
                  <a:moveTo>
                    <a:pt x="355600" y="0"/>
                  </a:moveTo>
                  <a:lnTo>
                    <a:pt x="6410960" y="0"/>
                  </a:lnTo>
                  <a:cubicBezTo>
                    <a:pt x="6607302" y="0"/>
                    <a:pt x="6766560" y="159258"/>
                    <a:pt x="6766560" y="355600"/>
                  </a:cubicBezTo>
                  <a:lnTo>
                    <a:pt x="6766560" y="2290064"/>
                  </a:lnTo>
                  <a:cubicBezTo>
                    <a:pt x="6766560" y="2486406"/>
                    <a:pt x="6607302" y="2645664"/>
                    <a:pt x="6410960" y="2645664"/>
                  </a:cubicBezTo>
                  <a:lnTo>
                    <a:pt x="355600" y="2645664"/>
                  </a:lnTo>
                  <a:cubicBezTo>
                    <a:pt x="159258" y="2645664"/>
                    <a:pt x="0" y="2486406"/>
                    <a:pt x="0" y="2290064"/>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45" id="45"/>
          <p:cNvSpPr txBox="true"/>
          <p:nvPr/>
        </p:nvSpPr>
        <p:spPr>
          <a:xfrm rot="0">
            <a:off x="12181332" y="4018597"/>
            <a:ext cx="4507992"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46" id="46"/>
          <p:cNvSpPr txBox="true"/>
          <p:nvPr/>
        </p:nvSpPr>
        <p:spPr>
          <a:xfrm rot="0">
            <a:off x="12182761" y="4361783"/>
            <a:ext cx="329184" cy="459486"/>
          </a:xfrm>
          <a:prstGeom prst="rect">
            <a:avLst/>
          </a:prstGeom>
        </p:spPr>
        <p:txBody>
          <a:bodyPr anchor="t" rtlCol="false" tIns="0" lIns="0" bIns="0" rIns="0">
            <a:spAutoFit/>
          </a:bodyPr>
          <a:lstStyle/>
          <a:p>
            <a:pPr algn="l">
              <a:lnSpc>
                <a:spcPts val="3133"/>
              </a:lnSpc>
            </a:pPr>
            <a:r>
              <a:rPr lang="en-US" b="true" sz="2304">
                <a:solidFill>
                  <a:srgbClr val="3D472B"/>
                </a:solidFill>
                <a:latin typeface="Arimo Bold"/>
                <a:ea typeface="Arimo Bold"/>
                <a:cs typeface="Arimo Bold"/>
                <a:sym typeface="Arimo Bold"/>
              </a:rPr>
              <a:t>e</a:t>
            </a:r>
          </a:p>
        </p:txBody>
      </p:sp>
      <p:sp>
        <p:nvSpPr>
          <p:cNvPr name="TextBox 47" id="47"/>
          <p:cNvSpPr txBox="true"/>
          <p:nvPr/>
        </p:nvSpPr>
        <p:spPr>
          <a:xfrm rot="0">
            <a:off x="12656725" y="4361783"/>
            <a:ext cx="2039112" cy="459486"/>
          </a:xfrm>
          <a:prstGeom prst="rect">
            <a:avLst/>
          </a:prstGeom>
        </p:spPr>
        <p:txBody>
          <a:bodyPr anchor="t" rtlCol="false" tIns="0" lIns="0" bIns="0" rIns="0">
            <a:spAutoFit/>
          </a:bodyPr>
          <a:lstStyle/>
          <a:p>
            <a:pPr algn="l">
              <a:lnSpc>
                <a:spcPts val="3133"/>
              </a:lnSpc>
            </a:pPr>
            <a:r>
              <a:rPr lang="en-US" b="true" sz="2304">
                <a:solidFill>
                  <a:srgbClr val="201E1D"/>
                </a:solidFill>
                <a:latin typeface="Arimo Bold"/>
                <a:ea typeface="Arimo Bold"/>
                <a:cs typeface="Arimo Bold"/>
                <a:sym typeface="Arimo Bold"/>
              </a:rPr>
              <a:t>4x³y⁴(3 − 5x²y)</a:t>
            </a:r>
          </a:p>
        </p:txBody>
      </p:sp>
      <p:sp>
        <p:nvSpPr>
          <p:cNvPr name="TextBox 48" id="48"/>
          <p:cNvSpPr txBox="true"/>
          <p:nvPr/>
        </p:nvSpPr>
        <p:spPr>
          <a:xfrm rot="0">
            <a:off x="12182761" y="4814506"/>
            <a:ext cx="329184" cy="459486"/>
          </a:xfrm>
          <a:prstGeom prst="rect">
            <a:avLst/>
          </a:prstGeom>
        </p:spPr>
        <p:txBody>
          <a:bodyPr anchor="t" rtlCol="false" tIns="0" lIns="0" bIns="0" rIns="0">
            <a:spAutoFit/>
          </a:bodyPr>
          <a:lstStyle/>
          <a:p>
            <a:pPr algn="l">
              <a:lnSpc>
                <a:spcPts val="3133"/>
              </a:lnSpc>
            </a:pPr>
            <a:r>
              <a:rPr lang="en-US" b="true" sz="2304">
                <a:solidFill>
                  <a:srgbClr val="3D472B"/>
                </a:solidFill>
                <a:latin typeface="Arimo Bold"/>
                <a:ea typeface="Arimo Bold"/>
                <a:cs typeface="Arimo Bold"/>
                <a:sym typeface="Arimo Bold"/>
              </a:rPr>
              <a:t>f</a:t>
            </a:r>
          </a:p>
        </p:txBody>
      </p:sp>
      <p:sp>
        <p:nvSpPr>
          <p:cNvPr name="TextBox 49" id="49"/>
          <p:cNvSpPr txBox="true"/>
          <p:nvPr/>
        </p:nvSpPr>
        <p:spPr>
          <a:xfrm rot="0">
            <a:off x="12656820" y="4816888"/>
            <a:ext cx="4032504" cy="852678"/>
          </a:xfrm>
          <a:prstGeom prst="rect">
            <a:avLst/>
          </a:prstGeom>
        </p:spPr>
        <p:txBody>
          <a:bodyPr anchor="t" rtlCol="false" tIns="0" lIns="0" bIns="0" rIns="0">
            <a:spAutoFit/>
          </a:bodyPr>
          <a:lstStyle/>
          <a:p>
            <a:pPr algn="l">
              <a:lnSpc>
                <a:spcPts val="3133"/>
              </a:lnSpc>
            </a:pPr>
            <a:r>
              <a:rPr lang="en-US" b="true" sz="2304">
                <a:solidFill>
                  <a:srgbClr val="201E1D"/>
                </a:solidFill>
                <a:latin typeface="Arimo Bold"/>
                <a:ea typeface="Arimo Bold"/>
                <a:cs typeface="Arimo Bold"/>
                <a:sym typeface="Arimo Bold"/>
              </a:rPr>
              <a:t>fully factorised: 52 and 21 share no factor</a:t>
            </a:r>
          </a:p>
        </p:txBody>
      </p:sp>
      <p:grpSp>
        <p:nvGrpSpPr>
          <p:cNvPr name="Group 50" id="50"/>
          <p:cNvGrpSpPr/>
          <p:nvPr/>
        </p:nvGrpSpPr>
        <p:grpSpPr>
          <a:xfrm rot="0">
            <a:off x="989838" y="9010650"/>
            <a:ext cx="3209925" cy="666750"/>
            <a:chOff x="0" y="0"/>
            <a:chExt cx="4279900" cy="889000"/>
          </a:xfrm>
        </p:grpSpPr>
        <p:sp>
          <p:nvSpPr>
            <p:cNvPr name="Freeform 51" id="51"/>
            <p:cNvSpPr/>
            <p:nvPr/>
          </p:nvSpPr>
          <p:spPr>
            <a:xfrm flipH="false" flipV="false" rot="0">
              <a:off x="0" y="0"/>
              <a:ext cx="4279900" cy="889000"/>
            </a:xfrm>
            <a:custGeom>
              <a:avLst/>
              <a:gdLst/>
              <a:ahLst/>
              <a:cxnLst/>
              <a:rect r="r" b="b" t="t" l="l"/>
              <a:pathLst>
                <a:path h="889000" w="4279900">
                  <a:moveTo>
                    <a:pt x="444500" y="0"/>
                  </a:moveTo>
                  <a:lnTo>
                    <a:pt x="3835400" y="0"/>
                  </a:lnTo>
                  <a:cubicBezTo>
                    <a:pt x="4080891" y="0"/>
                    <a:pt x="4279900" y="199009"/>
                    <a:pt x="4279900" y="444500"/>
                  </a:cubicBezTo>
                  <a:cubicBezTo>
                    <a:pt x="4279900" y="689991"/>
                    <a:pt x="4080891" y="889000"/>
                    <a:pt x="38354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grpSp>
      <p:sp>
        <p:nvSpPr>
          <p:cNvPr name="TextBox 52" id="52"/>
          <p:cNvSpPr txBox="true"/>
          <p:nvPr/>
        </p:nvSpPr>
        <p:spPr>
          <a:xfrm rot="0">
            <a:off x="1361313" y="9153525"/>
            <a:ext cx="2466975" cy="361950"/>
          </a:xfrm>
          <a:prstGeom prst="rect">
            <a:avLst/>
          </a:prstGeom>
        </p:spPr>
        <p:txBody>
          <a:bodyPr anchor="t" rtlCol="false" tIns="0" lIns="0" bIns="0" rIns="0">
            <a:spAutoFit/>
          </a:bodyPr>
          <a:lstStyle/>
          <a:p>
            <a:pPr algn="ctr">
              <a:lnSpc>
                <a:spcPts val="2700"/>
              </a:lnSpc>
            </a:pPr>
            <a:r>
              <a:rPr lang="en-US" b="true" sz="2250" spc="-44">
                <a:solidFill>
                  <a:srgbClr val="F5EAD8"/>
                </a:solidFill>
                <a:latin typeface="Arimo Bold"/>
                <a:ea typeface="Arimo Bold"/>
                <a:cs typeface="Arimo Bold"/>
                <a:sym typeface="Arimo Bold"/>
              </a:rPr>
              <a:t>Reveal the answers</a:t>
            </a:r>
          </a:p>
        </p:txBody>
      </p:sp>
    </p:spTree>
  </p:cSld>
  <p:clrMapOvr>
    <a:masterClrMapping/>
  </p:clrMapOvr>
</p:sld>
</file>

<file path=ppt/slides/slide2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E1EECC"/>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FFC6A5"/>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CCDBB2"/>
            </a:solidFill>
          </p:spPr>
        </p:sp>
      </p:grpSp>
      <p:grpSp>
        <p:nvGrpSpPr>
          <p:cNvPr name="Group 9" id="9"/>
          <p:cNvGrpSpPr/>
          <p:nvPr/>
        </p:nvGrpSpPr>
        <p:grpSpPr>
          <a:xfrm rot="0">
            <a:off x="988314" y="611505"/>
            <a:ext cx="3048000" cy="600075"/>
            <a:chOff x="0" y="0"/>
            <a:chExt cx="4064000" cy="800100"/>
          </a:xfrm>
        </p:grpSpPr>
        <p:sp>
          <p:nvSpPr>
            <p:cNvPr name="Freeform 10" id="10"/>
            <p:cNvSpPr/>
            <p:nvPr/>
          </p:nvSpPr>
          <p:spPr>
            <a:xfrm flipH="false" flipV="false" rot="0">
              <a:off x="0" y="0"/>
              <a:ext cx="4064000" cy="800100"/>
            </a:xfrm>
            <a:custGeom>
              <a:avLst/>
              <a:gdLst/>
              <a:ahLst/>
              <a:cxnLst/>
              <a:rect r="r" b="b" t="t" l="l"/>
              <a:pathLst>
                <a:path h="800100" w="4064000">
                  <a:moveTo>
                    <a:pt x="400050" y="0"/>
                  </a:moveTo>
                  <a:lnTo>
                    <a:pt x="3663950" y="0"/>
                  </a:lnTo>
                  <a:cubicBezTo>
                    <a:pt x="3884930" y="0"/>
                    <a:pt x="4064000" y="179070"/>
                    <a:pt x="4064000" y="400050"/>
                  </a:cubicBezTo>
                  <a:cubicBezTo>
                    <a:pt x="4064000" y="621030"/>
                    <a:pt x="3884930" y="800100"/>
                    <a:pt x="3663950" y="800100"/>
                  </a:cubicBezTo>
                  <a:lnTo>
                    <a:pt x="400050" y="800100"/>
                  </a:lnTo>
                  <a:cubicBezTo>
                    <a:pt x="179070" y="800100"/>
                    <a:pt x="0" y="621030"/>
                    <a:pt x="0" y="400050"/>
                  </a:cubicBezTo>
                  <a:cubicBezTo>
                    <a:pt x="0" y="179070"/>
                    <a:pt x="179070" y="0"/>
                    <a:pt x="400050" y="0"/>
                  </a:cubicBezTo>
                  <a:close/>
                </a:path>
              </a:pathLst>
            </a:custGeom>
            <a:solidFill>
              <a:srgbClr val="56633F"/>
            </a:solidFill>
          </p:spPr>
        </p:sp>
        <p:sp>
          <p:nvSpPr>
            <p:cNvPr name="TextBox 11" id="11"/>
            <p:cNvSpPr txBox="true"/>
            <p:nvPr/>
          </p:nvSpPr>
          <p:spPr>
            <a:xfrm>
              <a:off x="0" y="-76200"/>
              <a:ext cx="40640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EXERCISE 6.2 · Q5</a:t>
              </a:r>
            </a:p>
          </p:txBody>
        </p:sp>
      </p:grpSp>
      <p:sp>
        <p:nvSpPr>
          <p:cNvPr name="TextBox 12" id="12"/>
          <p:cNvSpPr txBox="true"/>
          <p:nvPr/>
        </p:nvSpPr>
        <p:spPr>
          <a:xfrm rot="0">
            <a:off x="4224814" y="630555"/>
            <a:ext cx="1590675" cy="485775"/>
          </a:xfrm>
          <a:prstGeom prst="rect">
            <a:avLst/>
          </a:prstGeom>
        </p:spPr>
        <p:txBody>
          <a:bodyPr anchor="t" rtlCol="false" tIns="0" lIns="0" bIns="0" rIns="0">
            <a:spAutoFit/>
          </a:bodyPr>
          <a:lstStyle/>
          <a:p>
            <a:pPr algn="l">
              <a:lnSpc>
                <a:spcPts val="3255"/>
              </a:lnSpc>
            </a:pPr>
            <a:r>
              <a:rPr lang="en-US" b="true" sz="2100">
                <a:solidFill>
                  <a:srgbClr val="643312"/>
                </a:solidFill>
                <a:latin typeface="Arimo Bold"/>
                <a:ea typeface="Arimo Bold"/>
                <a:cs typeface="Arimo Bold"/>
                <a:sym typeface="Arimo Bold"/>
              </a:rPr>
              <a:t>6.2 · Practice</a:t>
            </a:r>
          </a:p>
        </p:txBody>
      </p:sp>
      <p:sp>
        <p:nvSpPr>
          <p:cNvPr name="TextBox 13" id="13"/>
          <p:cNvSpPr txBox="true"/>
          <p:nvPr/>
        </p:nvSpPr>
        <p:spPr>
          <a:xfrm rot="0">
            <a:off x="990600" y="1510189"/>
            <a:ext cx="16306800" cy="523875"/>
          </a:xfrm>
          <a:prstGeom prst="rect">
            <a:avLst/>
          </a:prstGeom>
        </p:spPr>
        <p:txBody>
          <a:bodyPr anchor="t" rtlCol="false" tIns="0" lIns="0" bIns="0" rIns="0">
            <a:spAutoFit/>
          </a:bodyPr>
          <a:lstStyle/>
          <a:p>
            <a:pPr algn="l">
              <a:lnSpc>
                <a:spcPts val="4524"/>
              </a:lnSpc>
            </a:pPr>
            <a:r>
              <a:rPr lang="en-US" b="true" sz="4350" spc="-86">
                <a:solidFill>
                  <a:srgbClr val="201E1D"/>
                </a:solidFill>
                <a:latin typeface="Arimo Bold"/>
                <a:ea typeface="Arimo Bold"/>
                <a:cs typeface="Arimo Bold"/>
                <a:sym typeface="Arimo Bold"/>
              </a:rPr>
              <a:t>Factorise as fully as possible</a:t>
            </a:r>
          </a:p>
        </p:txBody>
      </p:sp>
      <p:sp>
        <p:nvSpPr>
          <p:cNvPr name="TextBox 14" id="14"/>
          <p:cNvSpPr txBox="true"/>
          <p:nvPr/>
        </p:nvSpPr>
        <p:spPr>
          <a:xfrm rot="0">
            <a:off x="990600" y="2225612"/>
            <a:ext cx="342900" cy="504825"/>
          </a:xfrm>
          <a:prstGeom prst="rect">
            <a:avLst/>
          </a:prstGeom>
        </p:spPr>
        <p:txBody>
          <a:bodyPr anchor="t" rtlCol="false" tIns="0" lIns="0" bIns="0" rIns="0">
            <a:spAutoFit/>
          </a:bodyPr>
          <a:lstStyle/>
          <a:p>
            <a:pPr algn="l">
              <a:lnSpc>
                <a:spcPts val="3519"/>
              </a:lnSpc>
            </a:pPr>
            <a:r>
              <a:rPr lang="en-US" b="true" sz="2550">
                <a:solidFill>
                  <a:srgbClr val="56633F"/>
                </a:solidFill>
                <a:latin typeface="Arimo Bold"/>
                <a:ea typeface="Arimo Bold"/>
                <a:cs typeface="Arimo Bold"/>
                <a:sym typeface="Arimo Bold"/>
              </a:rPr>
              <a:t>a</a:t>
            </a:r>
          </a:p>
        </p:txBody>
      </p:sp>
      <p:sp>
        <p:nvSpPr>
          <p:cNvPr name="TextBox 15" id="15"/>
          <p:cNvSpPr txBox="true"/>
          <p:nvPr/>
        </p:nvSpPr>
        <p:spPr>
          <a:xfrm rot="0">
            <a:off x="1487805" y="2225612"/>
            <a:ext cx="2533650" cy="504825"/>
          </a:xfrm>
          <a:prstGeom prst="rect">
            <a:avLst/>
          </a:prstGeom>
        </p:spPr>
        <p:txBody>
          <a:bodyPr anchor="t" rtlCol="false" tIns="0" lIns="0" bIns="0" rIns="0">
            <a:spAutoFit/>
          </a:bodyPr>
          <a:lstStyle/>
          <a:p>
            <a:pPr algn="l">
              <a:lnSpc>
                <a:spcPts val="3519"/>
              </a:lnSpc>
            </a:pPr>
            <a:r>
              <a:rPr lang="en-US" b="true" sz="2550">
                <a:solidFill>
                  <a:srgbClr val="201E1D"/>
                </a:solidFill>
                <a:latin typeface="Arimo Bold"/>
                <a:ea typeface="Arimo Bold"/>
                <a:cs typeface="Arimo Bold"/>
                <a:sym typeface="Arimo Bold"/>
              </a:rPr>
              <a:t>3x + 4y + 6x + 8y</a:t>
            </a:r>
          </a:p>
        </p:txBody>
      </p:sp>
      <p:sp>
        <p:nvSpPr>
          <p:cNvPr name="TextBox 16" id="16"/>
          <p:cNvSpPr txBox="true"/>
          <p:nvPr/>
        </p:nvSpPr>
        <p:spPr>
          <a:xfrm rot="0">
            <a:off x="990600" y="2767584"/>
            <a:ext cx="342900" cy="504825"/>
          </a:xfrm>
          <a:prstGeom prst="rect">
            <a:avLst/>
          </a:prstGeom>
        </p:spPr>
        <p:txBody>
          <a:bodyPr anchor="t" rtlCol="false" tIns="0" lIns="0" bIns="0" rIns="0">
            <a:spAutoFit/>
          </a:bodyPr>
          <a:lstStyle/>
          <a:p>
            <a:pPr algn="l">
              <a:lnSpc>
                <a:spcPts val="3519"/>
              </a:lnSpc>
            </a:pPr>
            <a:r>
              <a:rPr lang="en-US" b="true" sz="2550">
                <a:solidFill>
                  <a:srgbClr val="56633F"/>
                </a:solidFill>
                <a:latin typeface="Arimo Bold"/>
                <a:ea typeface="Arimo Bold"/>
                <a:cs typeface="Arimo Bold"/>
                <a:sym typeface="Arimo Bold"/>
              </a:rPr>
              <a:t>d</a:t>
            </a:r>
          </a:p>
        </p:txBody>
      </p:sp>
      <p:sp>
        <p:nvSpPr>
          <p:cNvPr name="TextBox 17" id="17"/>
          <p:cNvSpPr txBox="true"/>
          <p:nvPr/>
        </p:nvSpPr>
        <p:spPr>
          <a:xfrm rot="0">
            <a:off x="1485424" y="2767584"/>
            <a:ext cx="3019425" cy="504825"/>
          </a:xfrm>
          <a:prstGeom prst="rect">
            <a:avLst/>
          </a:prstGeom>
        </p:spPr>
        <p:txBody>
          <a:bodyPr anchor="t" rtlCol="false" tIns="0" lIns="0" bIns="0" rIns="0">
            <a:spAutoFit/>
          </a:bodyPr>
          <a:lstStyle/>
          <a:p>
            <a:pPr algn="l">
              <a:lnSpc>
                <a:spcPts val="3519"/>
              </a:lnSpc>
            </a:pPr>
            <a:r>
              <a:rPr lang="en-US" b="true" sz="2550">
                <a:solidFill>
                  <a:srgbClr val="201E1D"/>
                </a:solidFill>
                <a:latin typeface="Arimo Bold"/>
                <a:ea typeface="Arimo Bold"/>
                <a:cs typeface="Arimo Bold"/>
                <a:sym typeface="Arimo Bold"/>
              </a:rPr>
              <a:t>10x⁵ − 15x² − 4x³ + 6</a:t>
            </a:r>
          </a:p>
        </p:txBody>
      </p:sp>
      <p:sp>
        <p:nvSpPr>
          <p:cNvPr name="TextBox 18" id="18"/>
          <p:cNvSpPr txBox="true"/>
          <p:nvPr/>
        </p:nvSpPr>
        <p:spPr>
          <a:xfrm rot="0">
            <a:off x="6521386" y="2225612"/>
            <a:ext cx="342900" cy="504825"/>
          </a:xfrm>
          <a:prstGeom prst="rect">
            <a:avLst/>
          </a:prstGeom>
        </p:spPr>
        <p:txBody>
          <a:bodyPr anchor="t" rtlCol="false" tIns="0" lIns="0" bIns="0" rIns="0">
            <a:spAutoFit/>
          </a:bodyPr>
          <a:lstStyle/>
          <a:p>
            <a:pPr algn="l">
              <a:lnSpc>
                <a:spcPts val="3519"/>
              </a:lnSpc>
            </a:pPr>
            <a:r>
              <a:rPr lang="en-US" b="true" sz="2550">
                <a:solidFill>
                  <a:srgbClr val="56633F"/>
                </a:solidFill>
                <a:latin typeface="Arimo Bold"/>
                <a:ea typeface="Arimo Bold"/>
                <a:cs typeface="Arimo Bold"/>
                <a:sym typeface="Arimo Bold"/>
              </a:rPr>
              <a:t>e</a:t>
            </a:r>
          </a:p>
        </p:txBody>
      </p:sp>
      <p:sp>
        <p:nvSpPr>
          <p:cNvPr name="TextBox 19" id="19"/>
          <p:cNvSpPr txBox="true"/>
          <p:nvPr/>
        </p:nvSpPr>
        <p:spPr>
          <a:xfrm rot="0">
            <a:off x="7014686" y="2225612"/>
            <a:ext cx="2381250" cy="504825"/>
          </a:xfrm>
          <a:prstGeom prst="rect">
            <a:avLst/>
          </a:prstGeom>
        </p:spPr>
        <p:txBody>
          <a:bodyPr anchor="t" rtlCol="false" tIns="0" lIns="0" bIns="0" rIns="0">
            <a:spAutoFit/>
          </a:bodyPr>
          <a:lstStyle/>
          <a:p>
            <a:pPr algn="l">
              <a:lnSpc>
                <a:spcPts val="3519"/>
              </a:lnSpc>
            </a:pPr>
            <a:r>
              <a:rPr lang="en-US" b="true" sz="2550">
                <a:solidFill>
                  <a:srgbClr val="201E1D"/>
                </a:solidFill>
                <a:latin typeface="Arimo Bold"/>
                <a:ea typeface="Arimo Bold"/>
                <a:cs typeface="Arimo Bold"/>
                <a:sym typeface="Arimo Bold"/>
              </a:rPr>
              <a:t>x² − 2x − y² − 2y</a:t>
            </a:r>
          </a:p>
        </p:txBody>
      </p:sp>
      <p:sp>
        <p:nvSpPr>
          <p:cNvPr name="TextBox 20" id="20"/>
          <p:cNvSpPr txBox="true"/>
          <p:nvPr/>
        </p:nvSpPr>
        <p:spPr>
          <a:xfrm rot="0">
            <a:off x="6521386" y="2767584"/>
            <a:ext cx="342900" cy="504825"/>
          </a:xfrm>
          <a:prstGeom prst="rect">
            <a:avLst/>
          </a:prstGeom>
        </p:spPr>
        <p:txBody>
          <a:bodyPr anchor="t" rtlCol="false" tIns="0" lIns="0" bIns="0" rIns="0">
            <a:spAutoFit/>
          </a:bodyPr>
          <a:lstStyle/>
          <a:p>
            <a:pPr algn="l">
              <a:lnSpc>
                <a:spcPts val="3519"/>
              </a:lnSpc>
            </a:pPr>
            <a:r>
              <a:rPr lang="en-US" b="true" sz="2550">
                <a:solidFill>
                  <a:srgbClr val="56633F"/>
                </a:solidFill>
                <a:latin typeface="Arimo Bold"/>
                <a:ea typeface="Arimo Bold"/>
                <a:cs typeface="Arimo Bold"/>
                <a:sym typeface="Arimo Bold"/>
              </a:rPr>
              <a:t>g</a:t>
            </a:r>
          </a:p>
        </p:txBody>
      </p:sp>
      <p:sp>
        <p:nvSpPr>
          <p:cNvPr name="TextBox 21" id="21"/>
          <p:cNvSpPr txBox="true"/>
          <p:nvPr/>
        </p:nvSpPr>
        <p:spPr>
          <a:xfrm rot="0">
            <a:off x="7016401" y="2767584"/>
            <a:ext cx="3667125" cy="504825"/>
          </a:xfrm>
          <a:prstGeom prst="rect">
            <a:avLst/>
          </a:prstGeom>
        </p:spPr>
        <p:txBody>
          <a:bodyPr anchor="t" rtlCol="false" tIns="0" lIns="0" bIns="0" rIns="0">
            <a:spAutoFit/>
          </a:bodyPr>
          <a:lstStyle/>
          <a:p>
            <a:pPr algn="l">
              <a:lnSpc>
                <a:spcPts val="3519"/>
              </a:lnSpc>
            </a:pPr>
            <a:r>
              <a:rPr lang="en-US" b="true" sz="2550">
                <a:solidFill>
                  <a:srgbClr val="201E1D"/>
                </a:solidFill>
                <a:latin typeface="Arimo Bold"/>
                <a:ea typeface="Arimo Bold"/>
                <a:cs typeface="Arimo Bold"/>
                <a:sym typeface="Arimo Bold"/>
              </a:rPr>
              <a:t>8ax + 10ay + 12bx + 15by</a:t>
            </a:r>
          </a:p>
        </p:txBody>
      </p:sp>
      <p:sp>
        <p:nvSpPr>
          <p:cNvPr name="TextBox 22" id="22"/>
          <p:cNvSpPr txBox="true"/>
          <p:nvPr/>
        </p:nvSpPr>
        <p:spPr>
          <a:xfrm rot="0">
            <a:off x="12052268" y="2225612"/>
            <a:ext cx="342900" cy="504825"/>
          </a:xfrm>
          <a:prstGeom prst="rect">
            <a:avLst/>
          </a:prstGeom>
        </p:spPr>
        <p:txBody>
          <a:bodyPr anchor="t" rtlCol="false" tIns="0" lIns="0" bIns="0" rIns="0">
            <a:spAutoFit/>
          </a:bodyPr>
          <a:lstStyle/>
          <a:p>
            <a:pPr algn="l">
              <a:lnSpc>
                <a:spcPts val="3519"/>
              </a:lnSpc>
            </a:pPr>
            <a:r>
              <a:rPr lang="en-US" b="true" sz="2550">
                <a:solidFill>
                  <a:srgbClr val="56633F"/>
                </a:solidFill>
                <a:latin typeface="Arimo Bold"/>
                <a:ea typeface="Arimo Bold"/>
                <a:cs typeface="Arimo Bold"/>
                <a:sym typeface="Arimo Bold"/>
              </a:rPr>
              <a:t>h</a:t>
            </a:r>
          </a:p>
        </p:txBody>
      </p:sp>
      <p:sp>
        <p:nvSpPr>
          <p:cNvPr name="TextBox 23" id="23"/>
          <p:cNvSpPr txBox="true"/>
          <p:nvPr/>
        </p:nvSpPr>
        <p:spPr>
          <a:xfrm rot="0">
            <a:off x="12549854" y="2225612"/>
            <a:ext cx="3505200" cy="504825"/>
          </a:xfrm>
          <a:prstGeom prst="rect">
            <a:avLst/>
          </a:prstGeom>
        </p:spPr>
        <p:txBody>
          <a:bodyPr anchor="t" rtlCol="false" tIns="0" lIns="0" bIns="0" rIns="0">
            <a:spAutoFit/>
          </a:bodyPr>
          <a:lstStyle/>
          <a:p>
            <a:pPr algn="l">
              <a:lnSpc>
                <a:spcPts val="3519"/>
              </a:lnSpc>
            </a:pPr>
            <a:r>
              <a:rPr lang="en-US" b="true" sz="2550">
                <a:solidFill>
                  <a:srgbClr val="201E1D"/>
                </a:solidFill>
                <a:latin typeface="Arimo Bold"/>
                <a:ea typeface="Arimo Bold"/>
                <a:cs typeface="Arimo Bold"/>
                <a:sym typeface="Arimo Bold"/>
              </a:rPr>
              <a:t>abx + bcy + abcx + bc²y</a:t>
            </a:r>
          </a:p>
        </p:txBody>
      </p:sp>
      <p:sp>
        <p:nvSpPr>
          <p:cNvPr name="TextBox 24" id="24"/>
          <p:cNvSpPr txBox="true"/>
          <p:nvPr/>
        </p:nvSpPr>
        <p:spPr>
          <a:xfrm rot="0">
            <a:off x="12052268" y="2767584"/>
            <a:ext cx="342900" cy="504825"/>
          </a:xfrm>
          <a:prstGeom prst="rect">
            <a:avLst/>
          </a:prstGeom>
        </p:spPr>
        <p:txBody>
          <a:bodyPr anchor="t" rtlCol="false" tIns="0" lIns="0" bIns="0" rIns="0">
            <a:spAutoFit/>
          </a:bodyPr>
          <a:lstStyle/>
          <a:p>
            <a:pPr algn="l">
              <a:lnSpc>
                <a:spcPts val="3519"/>
              </a:lnSpc>
            </a:pPr>
            <a:r>
              <a:rPr lang="en-US" b="true" sz="2550">
                <a:solidFill>
                  <a:srgbClr val="56633F"/>
                </a:solidFill>
                <a:latin typeface="Arimo Bold"/>
                <a:ea typeface="Arimo Bold"/>
                <a:cs typeface="Arimo Bold"/>
                <a:sym typeface="Arimo Bold"/>
              </a:rPr>
              <a:t>i</a:t>
            </a:r>
          </a:p>
        </p:txBody>
      </p:sp>
      <p:sp>
        <p:nvSpPr>
          <p:cNvPr name="TextBox 25" id="25"/>
          <p:cNvSpPr txBox="true"/>
          <p:nvPr/>
        </p:nvSpPr>
        <p:spPr>
          <a:xfrm rot="0">
            <a:off x="12547759" y="2767584"/>
            <a:ext cx="2809875" cy="504825"/>
          </a:xfrm>
          <a:prstGeom prst="rect">
            <a:avLst/>
          </a:prstGeom>
        </p:spPr>
        <p:txBody>
          <a:bodyPr anchor="t" rtlCol="false" tIns="0" lIns="0" bIns="0" rIns="0">
            <a:spAutoFit/>
          </a:bodyPr>
          <a:lstStyle/>
          <a:p>
            <a:pPr algn="l">
              <a:lnSpc>
                <a:spcPts val="3519"/>
              </a:lnSpc>
            </a:pPr>
            <a:r>
              <a:rPr lang="en-US" b="true" sz="2550">
                <a:solidFill>
                  <a:srgbClr val="201E1D"/>
                </a:solidFill>
                <a:latin typeface="Arimo Bold"/>
                <a:ea typeface="Arimo Bold"/>
                <a:cs typeface="Arimo Bold"/>
                <a:sym typeface="Arimo Bold"/>
              </a:rPr>
              <a:t>ax − by + kax − kby</a:t>
            </a:r>
          </a:p>
        </p:txBody>
      </p:sp>
      <p:grpSp>
        <p:nvGrpSpPr>
          <p:cNvPr name="Group 26" id="26"/>
          <p:cNvGrpSpPr/>
          <p:nvPr/>
        </p:nvGrpSpPr>
        <p:grpSpPr>
          <a:xfrm rot="0">
            <a:off x="1315117" y="3777424"/>
            <a:ext cx="5074920" cy="2231136"/>
            <a:chOff x="0" y="0"/>
            <a:chExt cx="6766560" cy="2974848"/>
          </a:xfrm>
        </p:grpSpPr>
        <p:sp>
          <p:nvSpPr>
            <p:cNvPr name="Freeform 27" id="27"/>
            <p:cNvSpPr/>
            <p:nvPr/>
          </p:nvSpPr>
          <p:spPr>
            <a:xfrm flipH="false" flipV="false" rot="0">
              <a:off x="0" y="0"/>
              <a:ext cx="6766560" cy="2974848"/>
            </a:xfrm>
            <a:custGeom>
              <a:avLst/>
              <a:gdLst/>
              <a:ahLst/>
              <a:cxnLst/>
              <a:rect r="r" b="b" t="t" l="l"/>
              <a:pathLst>
                <a:path h="2974848" w="6766560">
                  <a:moveTo>
                    <a:pt x="355600" y="0"/>
                  </a:moveTo>
                  <a:lnTo>
                    <a:pt x="6410960" y="0"/>
                  </a:lnTo>
                  <a:cubicBezTo>
                    <a:pt x="6607302" y="0"/>
                    <a:pt x="6766560" y="159258"/>
                    <a:pt x="6766560" y="355600"/>
                  </a:cubicBezTo>
                  <a:lnTo>
                    <a:pt x="6766560" y="2619248"/>
                  </a:lnTo>
                  <a:cubicBezTo>
                    <a:pt x="6766560" y="2815590"/>
                    <a:pt x="6607302" y="2974848"/>
                    <a:pt x="6410960" y="2974848"/>
                  </a:cubicBezTo>
                  <a:lnTo>
                    <a:pt x="355600" y="2974848"/>
                  </a:lnTo>
                  <a:cubicBezTo>
                    <a:pt x="159258" y="2974848"/>
                    <a:pt x="0" y="2815590"/>
                    <a:pt x="0" y="2619248"/>
                  </a:cubicBezTo>
                  <a:lnTo>
                    <a:pt x="0" y="355600"/>
                  </a:lnTo>
                  <a:cubicBezTo>
                    <a:pt x="0" y="159258"/>
                    <a:pt x="159258" y="0"/>
                    <a:pt x="355600" y="0"/>
                  </a:cubicBezTo>
                  <a:close/>
                </a:path>
              </a:pathLst>
            </a:custGeom>
            <a:solidFill>
              <a:srgbClr val="F0FAE1"/>
            </a:solidFill>
          </p:spPr>
        </p:sp>
        <p:sp>
          <p:nvSpPr>
            <p:cNvPr name="Freeform 28" id="28"/>
            <p:cNvSpPr/>
            <p:nvPr/>
          </p:nvSpPr>
          <p:spPr>
            <a:xfrm flipH="false" flipV="false" rot="0">
              <a:off x="0" y="0"/>
              <a:ext cx="6766560" cy="2974848"/>
            </a:xfrm>
            <a:custGeom>
              <a:avLst/>
              <a:gdLst/>
              <a:ahLst/>
              <a:cxnLst/>
              <a:rect r="r" b="b" t="t" l="l"/>
              <a:pathLst>
                <a:path h="2974848" w="6766560">
                  <a:moveTo>
                    <a:pt x="355600" y="0"/>
                  </a:moveTo>
                  <a:lnTo>
                    <a:pt x="6410960" y="0"/>
                  </a:lnTo>
                  <a:cubicBezTo>
                    <a:pt x="6607302" y="0"/>
                    <a:pt x="6766560" y="159258"/>
                    <a:pt x="6766560" y="355600"/>
                  </a:cubicBezTo>
                  <a:lnTo>
                    <a:pt x="6766560" y="2619248"/>
                  </a:lnTo>
                  <a:cubicBezTo>
                    <a:pt x="6766560" y="2815590"/>
                    <a:pt x="6607302" y="2974848"/>
                    <a:pt x="6410960" y="2974848"/>
                  </a:cubicBezTo>
                  <a:lnTo>
                    <a:pt x="355600" y="2974848"/>
                  </a:lnTo>
                  <a:cubicBezTo>
                    <a:pt x="159258" y="2974848"/>
                    <a:pt x="0" y="2815590"/>
                    <a:pt x="0" y="2619248"/>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29" id="29"/>
          <p:cNvSpPr txBox="true"/>
          <p:nvPr/>
        </p:nvSpPr>
        <p:spPr>
          <a:xfrm rot="0">
            <a:off x="1598581" y="3918394"/>
            <a:ext cx="4507992"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30" id="30"/>
          <p:cNvSpPr txBox="true"/>
          <p:nvPr/>
        </p:nvSpPr>
        <p:spPr>
          <a:xfrm rot="0">
            <a:off x="1600200" y="4275296"/>
            <a:ext cx="329184" cy="404241"/>
          </a:xfrm>
          <a:prstGeom prst="rect">
            <a:avLst/>
          </a:prstGeom>
        </p:spPr>
        <p:txBody>
          <a:bodyPr anchor="t" rtlCol="false" tIns="0" lIns="0" bIns="0" rIns="0">
            <a:spAutoFit/>
          </a:bodyPr>
          <a:lstStyle/>
          <a:p>
            <a:pPr algn="l">
              <a:lnSpc>
                <a:spcPts val="2839"/>
              </a:lnSpc>
            </a:pPr>
            <a:r>
              <a:rPr lang="en-US" b="true" sz="2088">
                <a:solidFill>
                  <a:srgbClr val="3D472B"/>
                </a:solidFill>
                <a:latin typeface="Arimo Bold"/>
                <a:ea typeface="Arimo Bold"/>
                <a:cs typeface="Arimo Bold"/>
                <a:sym typeface="Arimo Bold"/>
              </a:rPr>
              <a:t>a</a:t>
            </a:r>
          </a:p>
        </p:txBody>
      </p:sp>
      <p:sp>
        <p:nvSpPr>
          <p:cNvPr name="TextBox 31" id="31"/>
          <p:cNvSpPr txBox="true"/>
          <p:nvPr/>
        </p:nvSpPr>
        <p:spPr>
          <a:xfrm rot="0">
            <a:off x="2073783" y="4275296"/>
            <a:ext cx="2523744" cy="404241"/>
          </a:xfrm>
          <a:prstGeom prst="rect">
            <a:avLst/>
          </a:prstGeom>
        </p:spPr>
        <p:txBody>
          <a:bodyPr anchor="t" rtlCol="false" tIns="0" lIns="0" bIns="0" rIns="0">
            <a:spAutoFit/>
          </a:bodyPr>
          <a:lstStyle/>
          <a:p>
            <a:pPr algn="l">
              <a:lnSpc>
                <a:spcPts val="2839"/>
              </a:lnSpc>
            </a:pPr>
            <a:r>
              <a:rPr lang="en-US" b="true" sz="2088">
                <a:solidFill>
                  <a:srgbClr val="201E1D"/>
                </a:solidFill>
                <a:latin typeface="Arimo Bold"/>
                <a:ea typeface="Arimo Bold"/>
                <a:cs typeface="Arimo Bold"/>
                <a:sym typeface="Arimo Bold"/>
              </a:rPr>
              <a:t>9x + 12y = 3(3x + 4y)</a:t>
            </a:r>
          </a:p>
        </p:txBody>
      </p:sp>
      <p:sp>
        <p:nvSpPr>
          <p:cNvPr name="TextBox 32" id="32"/>
          <p:cNvSpPr txBox="true"/>
          <p:nvPr/>
        </p:nvSpPr>
        <p:spPr>
          <a:xfrm rot="0">
            <a:off x="1600200" y="4690777"/>
            <a:ext cx="329184" cy="404241"/>
          </a:xfrm>
          <a:prstGeom prst="rect">
            <a:avLst/>
          </a:prstGeom>
        </p:spPr>
        <p:txBody>
          <a:bodyPr anchor="t" rtlCol="false" tIns="0" lIns="0" bIns="0" rIns="0">
            <a:spAutoFit/>
          </a:bodyPr>
          <a:lstStyle/>
          <a:p>
            <a:pPr algn="l">
              <a:lnSpc>
                <a:spcPts val="2839"/>
              </a:lnSpc>
            </a:pPr>
            <a:r>
              <a:rPr lang="en-US" b="true" sz="2088">
                <a:solidFill>
                  <a:srgbClr val="3D472B"/>
                </a:solidFill>
                <a:latin typeface="Arimo Bold"/>
                <a:ea typeface="Arimo Bold"/>
                <a:cs typeface="Arimo Bold"/>
                <a:sym typeface="Arimo Bold"/>
              </a:rPr>
              <a:t>d</a:t>
            </a:r>
          </a:p>
        </p:txBody>
      </p:sp>
      <p:sp>
        <p:nvSpPr>
          <p:cNvPr name="TextBox 33" id="33"/>
          <p:cNvSpPr txBox="true"/>
          <p:nvPr/>
        </p:nvSpPr>
        <p:spPr>
          <a:xfrm rot="0">
            <a:off x="2074069" y="4688205"/>
            <a:ext cx="4032504" cy="770001"/>
          </a:xfrm>
          <a:prstGeom prst="rect">
            <a:avLst/>
          </a:prstGeom>
        </p:spPr>
        <p:txBody>
          <a:bodyPr anchor="t" rtlCol="false" tIns="0" lIns="0" bIns="0" rIns="0">
            <a:spAutoFit/>
          </a:bodyPr>
          <a:lstStyle/>
          <a:p>
            <a:pPr algn="l">
              <a:lnSpc>
                <a:spcPts val="2839"/>
              </a:lnSpc>
            </a:pPr>
            <a:r>
              <a:rPr lang="en-US" b="true" sz="2088">
                <a:solidFill>
                  <a:srgbClr val="201E1D"/>
                </a:solidFill>
                <a:latin typeface="Arimo Bold"/>
                <a:ea typeface="Arimo Bold"/>
                <a:cs typeface="Arimo Bold"/>
                <a:sym typeface="Arimo Bold"/>
              </a:rPr>
              <a:t>5x²(2x³ − 3) − 2(2x³ − 3) = (2x³ − 3)(5x² − 2)</a:t>
            </a:r>
          </a:p>
        </p:txBody>
      </p:sp>
      <p:grpSp>
        <p:nvGrpSpPr>
          <p:cNvPr name="Group 34" id="34"/>
          <p:cNvGrpSpPr/>
          <p:nvPr/>
        </p:nvGrpSpPr>
        <p:grpSpPr>
          <a:xfrm rot="0">
            <a:off x="6606445" y="3777424"/>
            <a:ext cx="5074920" cy="2231136"/>
            <a:chOff x="0" y="0"/>
            <a:chExt cx="6766560" cy="2974848"/>
          </a:xfrm>
        </p:grpSpPr>
        <p:sp>
          <p:nvSpPr>
            <p:cNvPr name="Freeform 35" id="35"/>
            <p:cNvSpPr/>
            <p:nvPr/>
          </p:nvSpPr>
          <p:spPr>
            <a:xfrm flipH="false" flipV="false" rot="0">
              <a:off x="0" y="0"/>
              <a:ext cx="6766560" cy="2974848"/>
            </a:xfrm>
            <a:custGeom>
              <a:avLst/>
              <a:gdLst/>
              <a:ahLst/>
              <a:cxnLst/>
              <a:rect r="r" b="b" t="t" l="l"/>
              <a:pathLst>
                <a:path h="2974848" w="6766560">
                  <a:moveTo>
                    <a:pt x="355600" y="0"/>
                  </a:moveTo>
                  <a:lnTo>
                    <a:pt x="6410960" y="0"/>
                  </a:lnTo>
                  <a:cubicBezTo>
                    <a:pt x="6607302" y="0"/>
                    <a:pt x="6766560" y="159258"/>
                    <a:pt x="6766560" y="355600"/>
                  </a:cubicBezTo>
                  <a:lnTo>
                    <a:pt x="6766560" y="2619248"/>
                  </a:lnTo>
                  <a:cubicBezTo>
                    <a:pt x="6766560" y="2815590"/>
                    <a:pt x="6607302" y="2974848"/>
                    <a:pt x="6410960" y="2974848"/>
                  </a:cubicBezTo>
                  <a:lnTo>
                    <a:pt x="355600" y="2974848"/>
                  </a:lnTo>
                  <a:cubicBezTo>
                    <a:pt x="159258" y="2974848"/>
                    <a:pt x="0" y="2815590"/>
                    <a:pt x="0" y="2619248"/>
                  </a:cubicBezTo>
                  <a:lnTo>
                    <a:pt x="0" y="355600"/>
                  </a:lnTo>
                  <a:cubicBezTo>
                    <a:pt x="0" y="159258"/>
                    <a:pt x="159258" y="0"/>
                    <a:pt x="355600" y="0"/>
                  </a:cubicBezTo>
                  <a:close/>
                </a:path>
              </a:pathLst>
            </a:custGeom>
            <a:solidFill>
              <a:srgbClr val="F0FAE1"/>
            </a:solidFill>
          </p:spPr>
        </p:sp>
        <p:sp>
          <p:nvSpPr>
            <p:cNvPr name="Freeform 36" id="36"/>
            <p:cNvSpPr/>
            <p:nvPr/>
          </p:nvSpPr>
          <p:spPr>
            <a:xfrm flipH="false" flipV="false" rot="0">
              <a:off x="0" y="0"/>
              <a:ext cx="6766560" cy="2974848"/>
            </a:xfrm>
            <a:custGeom>
              <a:avLst/>
              <a:gdLst/>
              <a:ahLst/>
              <a:cxnLst/>
              <a:rect r="r" b="b" t="t" l="l"/>
              <a:pathLst>
                <a:path h="2974848" w="6766560">
                  <a:moveTo>
                    <a:pt x="355600" y="0"/>
                  </a:moveTo>
                  <a:lnTo>
                    <a:pt x="6410960" y="0"/>
                  </a:lnTo>
                  <a:cubicBezTo>
                    <a:pt x="6607302" y="0"/>
                    <a:pt x="6766560" y="159258"/>
                    <a:pt x="6766560" y="355600"/>
                  </a:cubicBezTo>
                  <a:lnTo>
                    <a:pt x="6766560" y="2619248"/>
                  </a:lnTo>
                  <a:cubicBezTo>
                    <a:pt x="6766560" y="2815590"/>
                    <a:pt x="6607302" y="2974848"/>
                    <a:pt x="6410960" y="2974848"/>
                  </a:cubicBezTo>
                  <a:lnTo>
                    <a:pt x="355600" y="2974848"/>
                  </a:lnTo>
                  <a:cubicBezTo>
                    <a:pt x="159258" y="2974848"/>
                    <a:pt x="0" y="2815590"/>
                    <a:pt x="0" y="2619248"/>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37" id="37"/>
          <p:cNvSpPr txBox="true"/>
          <p:nvPr/>
        </p:nvSpPr>
        <p:spPr>
          <a:xfrm rot="0">
            <a:off x="6889909" y="3918394"/>
            <a:ext cx="4507992"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38" id="38"/>
          <p:cNvSpPr txBox="true"/>
          <p:nvPr/>
        </p:nvSpPr>
        <p:spPr>
          <a:xfrm rot="0">
            <a:off x="6891433" y="4275296"/>
            <a:ext cx="329184" cy="404241"/>
          </a:xfrm>
          <a:prstGeom prst="rect">
            <a:avLst/>
          </a:prstGeom>
        </p:spPr>
        <p:txBody>
          <a:bodyPr anchor="t" rtlCol="false" tIns="0" lIns="0" bIns="0" rIns="0">
            <a:spAutoFit/>
          </a:bodyPr>
          <a:lstStyle/>
          <a:p>
            <a:pPr algn="l">
              <a:lnSpc>
                <a:spcPts val="2839"/>
              </a:lnSpc>
            </a:pPr>
            <a:r>
              <a:rPr lang="en-US" b="true" sz="2088">
                <a:solidFill>
                  <a:srgbClr val="3D472B"/>
                </a:solidFill>
                <a:latin typeface="Arimo Bold"/>
                <a:ea typeface="Arimo Bold"/>
                <a:cs typeface="Arimo Bold"/>
                <a:sym typeface="Arimo Bold"/>
              </a:rPr>
              <a:t>e</a:t>
            </a:r>
          </a:p>
        </p:txBody>
      </p:sp>
      <p:sp>
        <p:nvSpPr>
          <p:cNvPr name="TextBox 39" id="39"/>
          <p:cNvSpPr txBox="true"/>
          <p:nvPr/>
        </p:nvSpPr>
        <p:spPr>
          <a:xfrm rot="0">
            <a:off x="7365397" y="4272725"/>
            <a:ext cx="4032504" cy="770001"/>
          </a:xfrm>
          <a:prstGeom prst="rect">
            <a:avLst/>
          </a:prstGeom>
        </p:spPr>
        <p:txBody>
          <a:bodyPr anchor="t" rtlCol="false" tIns="0" lIns="0" bIns="0" rIns="0">
            <a:spAutoFit/>
          </a:bodyPr>
          <a:lstStyle/>
          <a:p>
            <a:pPr algn="l">
              <a:lnSpc>
                <a:spcPts val="2839"/>
              </a:lnSpc>
            </a:pPr>
            <a:r>
              <a:rPr lang="en-US" b="true" sz="2088">
                <a:solidFill>
                  <a:srgbClr val="201E1D"/>
                </a:solidFill>
                <a:latin typeface="Arimo Bold"/>
                <a:ea typeface="Arimo Bold"/>
                <a:cs typeface="Arimo Bold"/>
                <a:sym typeface="Arimo Bold"/>
              </a:rPr>
              <a:t>(x − y)(x + y) − 2(x + y) = (x + y)(x − y − 2)</a:t>
            </a:r>
          </a:p>
        </p:txBody>
      </p:sp>
      <p:sp>
        <p:nvSpPr>
          <p:cNvPr name="TextBox 40" id="40"/>
          <p:cNvSpPr txBox="true"/>
          <p:nvPr/>
        </p:nvSpPr>
        <p:spPr>
          <a:xfrm rot="0">
            <a:off x="6891433" y="5051393"/>
            <a:ext cx="329184" cy="404241"/>
          </a:xfrm>
          <a:prstGeom prst="rect">
            <a:avLst/>
          </a:prstGeom>
        </p:spPr>
        <p:txBody>
          <a:bodyPr anchor="t" rtlCol="false" tIns="0" lIns="0" bIns="0" rIns="0">
            <a:spAutoFit/>
          </a:bodyPr>
          <a:lstStyle/>
          <a:p>
            <a:pPr algn="l">
              <a:lnSpc>
                <a:spcPts val="2839"/>
              </a:lnSpc>
            </a:pPr>
            <a:r>
              <a:rPr lang="en-US" b="true" sz="2088">
                <a:solidFill>
                  <a:srgbClr val="3D472B"/>
                </a:solidFill>
                <a:latin typeface="Arimo Bold"/>
                <a:ea typeface="Arimo Bold"/>
                <a:cs typeface="Arimo Bold"/>
                <a:sym typeface="Arimo Bold"/>
              </a:rPr>
              <a:t>g</a:t>
            </a:r>
          </a:p>
        </p:txBody>
      </p:sp>
      <p:sp>
        <p:nvSpPr>
          <p:cNvPr name="TextBox 41" id="41"/>
          <p:cNvSpPr txBox="true"/>
          <p:nvPr/>
        </p:nvSpPr>
        <p:spPr>
          <a:xfrm rot="0">
            <a:off x="7365397" y="5048821"/>
            <a:ext cx="4032504" cy="770001"/>
          </a:xfrm>
          <a:prstGeom prst="rect">
            <a:avLst/>
          </a:prstGeom>
        </p:spPr>
        <p:txBody>
          <a:bodyPr anchor="t" rtlCol="false" tIns="0" lIns="0" bIns="0" rIns="0">
            <a:spAutoFit/>
          </a:bodyPr>
          <a:lstStyle/>
          <a:p>
            <a:pPr algn="l">
              <a:lnSpc>
                <a:spcPts val="2839"/>
              </a:lnSpc>
            </a:pPr>
            <a:r>
              <a:rPr lang="en-US" b="true" sz="2088">
                <a:solidFill>
                  <a:srgbClr val="201E1D"/>
                </a:solidFill>
                <a:latin typeface="Arimo Bold"/>
                <a:ea typeface="Arimo Bold"/>
                <a:cs typeface="Arimo Bold"/>
                <a:sym typeface="Arimo Bold"/>
              </a:rPr>
              <a:t>2a(4x + 5y) + 3b(4x + 5y) = (4x + 5y)(2a + 3b)</a:t>
            </a:r>
          </a:p>
        </p:txBody>
      </p:sp>
      <p:grpSp>
        <p:nvGrpSpPr>
          <p:cNvPr name="Group 42" id="42"/>
          <p:cNvGrpSpPr/>
          <p:nvPr/>
        </p:nvGrpSpPr>
        <p:grpSpPr>
          <a:xfrm rot="0">
            <a:off x="11897868" y="3777424"/>
            <a:ext cx="5074920" cy="2231136"/>
            <a:chOff x="0" y="0"/>
            <a:chExt cx="6766560" cy="2974848"/>
          </a:xfrm>
        </p:grpSpPr>
        <p:sp>
          <p:nvSpPr>
            <p:cNvPr name="Freeform 43" id="43"/>
            <p:cNvSpPr/>
            <p:nvPr/>
          </p:nvSpPr>
          <p:spPr>
            <a:xfrm flipH="false" flipV="false" rot="0">
              <a:off x="0" y="0"/>
              <a:ext cx="6766560" cy="2974848"/>
            </a:xfrm>
            <a:custGeom>
              <a:avLst/>
              <a:gdLst/>
              <a:ahLst/>
              <a:cxnLst/>
              <a:rect r="r" b="b" t="t" l="l"/>
              <a:pathLst>
                <a:path h="2974848" w="6766560">
                  <a:moveTo>
                    <a:pt x="355600" y="0"/>
                  </a:moveTo>
                  <a:lnTo>
                    <a:pt x="6410960" y="0"/>
                  </a:lnTo>
                  <a:cubicBezTo>
                    <a:pt x="6607302" y="0"/>
                    <a:pt x="6766560" y="159258"/>
                    <a:pt x="6766560" y="355600"/>
                  </a:cubicBezTo>
                  <a:lnTo>
                    <a:pt x="6766560" y="2619248"/>
                  </a:lnTo>
                  <a:cubicBezTo>
                    <a:pt x="6766560" y="2815590"/>
                    <a:pt x="6607302" y="2974848"/>
                    <a:pt x="6410960" y="2974848"/>
                  </a:cubicBezTo>
                  <a:lnTo>
                    <a:pt x="355600" y="2974848"/>
                  </a:lnTo>
                  <a:cubicBezTo>
                    <a:pt x="159258" y="2974848"/>
                    <a:pt x="0" y="2815590"/>
                    <a:pt x="0" y="2619248"/>
                  </a:cubicBezTo>
                  <a:lnTo>
                    <a:pt x="0" y="355600"/>
                  </a:lnTo>
                  <a:cubicBezTo>
                    <a:pt x="0" y="159258"/>
                    <a:pt x="159258" y="0"/>
                    <a:pt x="355600" y="0"/>
                  </a:cubicBezTo>
                  <a:close/>
                </a:path>
              </a:pathLst>
            </a:custGeom>
            <a:solidFill>
              <a:srgbClr val="F0FAE1"/>
            </a:solidFill>
          </p:spPr>
        </p:sp>
        <p:sp>
          <p:nvSpPr>
            <p:cNvPr name="Freeform 44" id="44"/>
            <p:cNvSpPr/>
            <p:nvPr/>
          </p:nvSpPr>
          <p:spPr>
            <a:xfrm flipH="false" flipV="false" rot="0">
              <a:off x="0" y="0"/>
              <a:ext cx="6766560" cy="2974848"/>
            </a:xfrm>
            <a:custGeom>
              <a:avLst/>
              <a:gdLst/>
              <a:ahLst/>
              <a:cxnLst/>
              <a:rect r="r" b="b" t="t" l="l"/>
              <a:pathLst>
                <a:path h="2974848" w="6766560">
                  <a:moveTo>
                    <a:pt x="355600" y="0"/>
                  </a:moveTo>
                  <a:lnTo>
                    <a:pt x="6410960" y="0"/>
                  </a:lnTo>
                  <a:cubicBezTo>
                    <a:pt x="6607302" y="0"/>
                    <a:pt x="6766560" y="159258"/>
                    <a:pt x="6766560" y="355600"/>
                  </a:cubicBezTo>
                  <a:lnTo>
                    <a:pt x="6766560" y="2619248"/>
                  </a:lnTo>
                  <a:cubicBezTo>
                    <a:pt x="6766560" y="2815590"/>
                    <a:pt x="6607302" y="2974848"/>
                    <a:pt x="6410960" y="2974848"/>
                  </a:cubicBezTo>
                  <a:lnTo>
                    <a:pt x="355600" y="2974848"/>
                  </a:lnTo>
                  <a:cubicBezTo>
                    <a:pt x="159258" y="2974848"/>
                    <a:pt x="0" y="2815590"/>
                    <a:pt x="0" y="2619248"/>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45" id="45"/>
          <p:cNvSpPr txBox="true"/>
          <p:nvPr/>
        </p:nvSpPr>
        <p:spPr>
          <a:xfrm rot="0">
            <a:off x="12181332" y="3918394"/>
            <a:ext cx="4507992"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46" id="46"/>
          <p:cNvSpPr txBox="true"/>
          <p:nvPr/>
        </p:nvSpPr>
        <p:spPr>
          <a:xfrm rot="0">
            <a:off x="12182761" y="4275296"/>
            <a:ext cx="329184" cy="404241"/>
          </a:xfrm>
          <a:prstGeom prst="rect">
            <a:avLst/>
          </a:prstGeom>
        </p:spPr>
        <p:txBody>
          <a:bodyPr anchor="t" rtlCol="false" tIns="0" lIns="0" bIns="0" rIns="0">
            <a:spAutoFit/>
          </a:bodyPr>
          <a:lstStyle/>
          <a:p>
            <a:pPr algn="l">
              <a:lnSpc>
                <a:spcPts val="2839"/>
              </a:lnSpc>
            </a:pPr>
            <a:r>
              <a:rPr lang="en-US" b="true" sz="2088">
                <a:solidFill>
                  <a:srgbClr val="3D472B"/>
                </a:solidFill>
                <a:latin typeface="Arimo Bold"/>
                <a:ea typeface="Arimo Bold"/>
                <a:cs typeface="Arimo Bold"/>
                <a:sym typeface="Arimo Bold"/>
              </a:rPr>
              <a:t>h</a:t>
            </a:r>
          </a:p>
        </p:txBody>
      </p:sp>
      <p:sp>
        <p:nvSpPr>
          <p:cNvPr name="TextBox 47" id="47"/>
          <p:cNvSpPr txBox="true"/>
          <p:nvPr/>
        </p:nvSpPr>
        <p:spPr>
          <a:xfrm rot="0">
            <a:off x="12659963" y="4275296"/>
            <a:ext cx="1947672" cy="404241"/>
          </a:xfrm>
          <a:prstGeom prst="rect">
            <a:avLst/>
          </a:prstGeom>
        </p:spPr>
        <p:txBody>
          <a:bodyPr anchor="t" rtlCol="false" tIns="0" lIns="0" bIns="0" rIns="0">
            <a:spAutoFit/>
          </a:bodyPr>
          <a:lstStyle/>
          <a:p>
            <a:pPr algn="l">
              <a:lnSpc>
                <a:spcPts val="2839"/>
              </a:lnSpc>
            </a:pPr>
            <a:r>
              <a:rPr lang="en-US" b="true" sz="2088">
                <a:solidFill>
                  <a:srgbClr val="201E1D"/>
                </a:solidFill>
                <a:latin typeface="Arimo Bold"/>
                <a:ea typeface="Arimo Bold"/>
                <a:cs typeface="Arimo Bold"/>
                <a:sym typeface="Arimo Bold"/>
              </a:rPr>
              <a:t>b(1 + c)(ax + cy)</a:t>
            </a:r>
          </a:p>
        </p:txBody>
      </p:sp>
      <p:sp>
        <p:nvSpPr>
          <p:cNvPr name="TextBox 48" id="48"/>
          <p:cNvSpPr txBox="true"/>
          <p:nvPr/>
        </p:nvSpPr>
        <p:spPr>
          <a:xfrm rot="0">
            <a:off x="12182761" y="4690777"/>
            <a:ext cx="329184" cy="404241"/>
          </a:xfrm>
          <a:prstGeom prst="rect">
            <a:avLst/>
          </a:prstGeom>
        </p:spPr>
        <p:txBody>
          <a:bodyPr anchor="t" rtlCol="false" tIns="0" lIns="0" bIns="0" rIns="0">
            <a:spAutoFit/>
          </a:bodyPr>
          <a:lstStyle/>
          <a:p>
            <a:pPr algn="l">
              <a:lnSpc>
                <a:spcPts val="2839"/>
              </a:lnSpc>
            </a:pPr>
            <a:r>
              <a:rPr lang="en-US" b="true" sz="2088">
                <a:solidFill>
                  <a:srgbClr val="3D472B"/>
                </a:solidFill>
                <a:latin typeface="Arimo Bold"/>
                <a:ea typeface="Arimo Bold"/>
                <a:cs typeface="Arimo Bold"/>
                <a:sym typeface="Arimo Bold"/>
              </a:rPr>
              <a:t>i</a:t>
            </a:r>
          </a:p>
        </p:txBody>
      </p:sp>
      <p:sp>
        <p:nvSpPr>
          <p:cNvPr name="TextBox 49" id="49"/>
          <p:cNvSpPr txBox="true"/>
          <p:nvPr/>
        </p:nvSpPr>
        <p:spPr>
          <a:xfrm rot="0">
            <a:off x="12657963" y="4690777"/>
            <a:ext cx="1801368" cy="404241"/>
          </a:xfrm>
          <a:prstGeom prst="rect">
            <a:avLst/>
          </a:prstGeom>
        </p:spPr>
        <p:txBody>
          <a:bodyPr anchor="t" rtlCol="false" tIns="0" lIns="0" bIns="0" rIns="0">
            <a:spAutoFit/>
          </a:bodyPr>
          <a:lstStyle/>
          <a:p>
            <a:pPr algn="l">
              <a:lnSpc>
                <a:spcPts val="2839"/>
              </a:lnSpc>
            </a:pPr>
            <a:r>
              <a:rPr lang="en-US" b="true" sz="2088">
                <a:solidFill>
                  <a:srgbClr val="201E1D"/>
                </a:solidFill>
                <a:latin typeface="Arimo Bold"/>
                <a:ea typeface="Arimo Bold"/>
                <a:cs typeface="Arimo Bold"/>
                <a:sym typeface="Arimo Bold"/>
              </a:rPr>
              <a:t>(1 + k)(ax − by)</a:t>
            </a:r>
          </a:p>
        </p:txBody>
      </p:sp>
      <p:grpSp>
        <p:nvGrpSpPr>
          <p:cNvPr name="Group 50" id="50"/>
          <p:cNvGrpSpPr/>
          <p:nvPr/>
        </p:nvGrpSpPr>
        <p:grpSpPr>
          <a:xfrm rot="0">
            <a:off x="989838" y="9010650"/>
            <a:ext cx="3209925" cy="666750"/>
            <a:chOff x="0" y="0"/>
            <a:chExt cx="4279900" cy="889000"/>
          </a:xfrm>
        </p:grpSpPr>
        <p:sp>
          <p:nvSpPr>
            <p:cNvPr name="Freeform 51" id="51"/>
            <p:cNvSpPr/>
            <p:nvPr/>
          </p:nvSpPr>
          <p:spPr>
            <a:xfrm flipH="false" flipV="false" rot="0">
              <a:off x="0" y="0"/>
              <a:ext cx="4279900" cy="889000"/>
            </a:xfrm>
            <a:custGeom>
              <a:avLst/>
              <a:gdLst/>
              <a:ahLst/>
              <a:cxnLst/>
              <a:rect r="r" b="b" t="t" l="l"/>
              <a:pathLst>
                <a:path h="889000" w="4279900">
                  <a:moveTo>
                    <a:pt x="444500" y="0"/>
                  </a:moveTo>
                  <a:lnTo>
                    <a:pt x="3835400" y="0"/>
                  </a:lnTo>
                  <a:cubicBezTo>
                    <a:pt x="4080891" y="0"/>
                    <a:pt x="4279900" y="199009"/>
                    <a:pt x="4279900" y="444500"/>
                  </a:cubicBezTo>
                  <a:cubicBezTo>
                    <a:pt x="4279900" y="689991"/>
                    <a:pt x="4080891" y="889000"/>
                    <a:pt x="38354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grpSp>
      <p:sp>
        <p:nvSpPr>
          <p:cNvPr name="TextBox 52" id="52"/>
          <p:cNvSpPr txBox="true"/>
          <p:nvPr/>
        </p:nvSpPr>
        <p:spPr>
          <a:xfrm rot="0">
            <a:off x="1361313" y="9153525"/>
            <a:ext cx="2466975" cy="361950"/>
          </a:xfrm>
          <a:prstGeom prst="rect">
            <a:avLst/>
          </a:prstGeom>
        </p:spPr>
        <p:txBody>
          <a:bodyPr anchor="t" rtlCol="false" tIns="0" lIns="0" bIns="0" rIns="0">
            <a:spAutoFit/>
          </a:bodyPr>
          <a:lstStyle/>
          <a:p>
            <a:pPr algn="ctr">
              <a:lnSpc>
                <a:spcPts val="2700"/>
              </a:lnSpc>
            </a:pPr>
            <a:r>
              <a:rPr lang="en-US" b="true" sz="2250" spc="-44">
                <a:solidFill>
                  <a:srgbClr val="F5EAD8"/>
                </a:solidFill>
                <a:latin typeface="Arimo Bold"/>
                <a:ea typeface="Arimo Bold"/>
                <a:cs typeface="Arimo Bold"/>
                <a:sym typeface="Arimo Bold"/>
              </a:rPr>
              <a:t>Reveal the answers</a:t>
            </a:r>
          </a:p>
        </p:txBody>
      </p:sp>
    </p:spTree>
  </p:cSld>
  <p:clrMapOvr>
    <a:masterClrMapping/>
  </p:clrMapOvr>
</p:sld>
</file>

<file path=ppt/slides/slide3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E1EECC"/>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FFC6A5"/>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CCDBB2"/>
            </a:solidFill>
          </p:spPr>
        </p:sp>
      </p:grpSp>
      <p:grpSp>
        <p:nvGrpSpPr>
          <p:cNvPr name="Group 9" id="9"/>
          <p:cNvGrpSpPr/>
          <p:nvPr/>
        </p:nvGrpSpPr>
        <p:grpSpPr>
          <a:xfrm rot="0">
            <a:off x="992124" y="611505"/>
            <a:ext cx="3609975" cy="600075"/>
            <a:chOff x="0" y="0"/>
            <a:chExt cx="4813300" cy="800100"/>
          </a:xfrm>
        </p:grpSpPr>
        <p:sp>
          <p:nvSpPr>
            <p:cNvPr name="Freeform 10" id="10"/>
            <p:cNvSpPr/>
            <p:nvPr/>
          </p:nvSpPr>
          <p:spPr>
            <a:xfrm flipH="false" flipV="false" rot="0">
              <a:off x="0" y="0"/>
              <a:ext cx="4813300" cy="800100"/>
            </a:xfrm>
            <a:custGeom>
              <a:avLst/>
              <a:gdLst/>
              <a:ahLst/>
              <a:cxnLst/>
              <a:rect r="r" b="b" t="t" l="l"/>
              <a:pathLst>
                <a:path h="800100" w="4813300">
                  <a:moveTo>
                    <a:pt x="400050" y="0"/>
                  </a:moveTo>
                  <a:lnTo>
                    <a:pt x="4413250" y="0"/>
                  </a:lnTo>
                  <a:cubicBezTo>
                    <a:pt x="4634230" y="0"/>
                    <a:pt x="4813300" y="179070"/>
                    <a:pt x="4813300" y="400050"/>
                  </a:cubicBezTo>
                  <a:cubicBezTo>
                    <a:pt x="4813300" y="621030"/>
                    <a:pt x="4634230" y="800100"/>
                    <a:pt x="4413250" y="800100"/>
                  </a:cubicBezTo>
                  <a:lnTo>
                    <a:pt x="400050" y="800100"/>
                  </a:lnTo>
                  <a:cubicBezTo>
                    <a:pt x="179070" y="800100"/>
                    <a:pt x="0" y="621030"/>
                    <a:pt x="0" y="400050"/>
                  </a:cubicBezTo>
                  <a:cubicBezTo>
                    <a:pt x="0" y="179070"/>
                    <a:pt x="179070" y="0"/>
                    <a:pt x="400050" y="0"/>
                  </a:cubicBezTo>
                  <a:close/>
                </a:path>
              </a:pathLst>
            </a:custGeom>
            <a:solidFill>
              <a:srgbClr val="56633F"/>
            </a:solidFill>
          </p:spPr>
        </p:sp>
        <p:sp>
          <p:nvSpPr>
            <p:cNvPr name="TextBox 11" id="11"/>
            <p:cNvSpPr txBox="true"/>
            <p:nvPr/>
          </p:nvSpPr>
          <p:spPr>
            <a:xfrm>
              <a:off x="0" y="-76200"/>
              <a:ext cx="48133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EXERCISE 6.2 · Q6–Q8</a:t>
              </a:r>
            </a:p>
          </p:txBody>
        </p:sp>
      </p:grpSp>
      <p:sp>
        <p:nvSpPr>
          <p:cNvPr name="TextBox 12" id="12"/>
          <p:cNvSpPr txBox="true"/>
          <p:nvPr/>
        </p:nvSpPr>
        <p:spPr>
          <a:xfrm rot="0">
            <a:off x="4794504" y="630555"/>
            <a:ext cx="1590675" cy="485775"/>
          </a:xfrm>
          <a:prstGeom prst="rect">
            <a:avLst/>
          </a:prstGeom>
        </p:spPr>
        <p:txBody>
          <a:bodyPr anchor="t" rtlCol="false" tIns="0" lIns="0" bIns="0" rIns="0">
            <a:spAutoFit/>
          </a:bodyPr>
          <a:lstStyle/>
          <a:p>
            <a:pPr algn="l">
              <a:lnSpc>
                <a:spcPts val="3255"/>
              </a:lnSpc>
            </a:pPr>
            <a:r>
              <a:rPr lang="en-US" b="true" sz="2100">
                <a:solidFill>
                  <a:srgbClr val="643312"/>
                </a:solidFill>
                <a:latin typeface="Arimo Bold"/>
                <a:ea typeface="Arimo Bold"/>
                <a:cs typeface="Arimo Bold"/>
                <a:sym typeface="Arimo Bold"/>
              </a:rPr>
              <a:t>6.2 · Practice</a:t>
            </a:r>
          </a:p>
        </p:txBody>
      </p:sp>
      <p:sp>
        <p:nvSpPr>
          <p:cNvPr name="TextBox 13" id="13"/>
          <p:cNvSpPr txBox="true"/>
          <p:nvPr/>
        </p:nvSpPr>
        <p:spPr>
          <a:xfrm rot="0">
            <a:off x="990600" y="1510189"/>
            <a:ext cx="16306800" cy="523875"/>
          </a:xfrm>
          <a:prstGeom prst="rect">
            <a:avLst/>
          </a:prstGeom>
        </p:spPr>
        <p:txBody>
          <a:bodyPr anchor="t" rtlCol="false" tIns="0" lIns="0" bIns="0" rIns="0">
            <a:spAutoFit/>
          </a:bodyPr>
          <a:lstStyle/>
          <a:p>
            <a:pPr algn="l">
              <a:lnSpc>
                <a:spcPts val="4524"/>
              </a:lnSpc>
            </a:pPr>
            <a:r>
              <a:rPr lang="en-US" b="true" sz="4350" spc="-86">
                <a:solidFill>
                  <a:srgbClr val="201E1D"/>
                </a:solidFill>
                <a:latin typeface="Arimo Bold"/>
                <a:ea typeface="Arimo Bold"/>
                <a:cs typeface="Arimo Bold"/>
                <a:sym typeface="Arimo Bold"/>
              </a:rPr>
              <a:t>Write it, then factorise it</a:t>
            </a:r>
          </a:p>
        </p:txBody>
      </p:sp>
      <p:grpSp>
        <p:nvGrpSpPr>
          <p:cNvPr name="Group 14" id="14"/>
          <p:cNvGrpSpPr/>
          <p:nvPr/>
        </p:nvGrpSpPr>
        <p:grpSpPr>
          <a:xfrm rot="0">
            <a:off x="988981" y="2284381"/>
            <a:ext cx="5286375" cy="2686050"/>
            <a:chOff x="0" y="0"/>
            <a:chExt cx="7048500" cy="3581400"/>
          </a:xfrm>
        </p:grpSpPr>
        <p:sp>
          <p:nvSpPr>
            <p:cNvPr name="Freeform 15" id="15"/>
            <p:cNvSpPr/>
            <p:nvPr/>
          </p:nvSpPr>
          <p:spPr>
            <a:xfrm flipH="false" flipV="false" rot="0">
              <a:off x="0" y="0"/>
              <a:ext cx="7048500" cy="3581400"/>
            </a:xfrm>
            <a:custGeom>
              <a:avLst/>
              <a:gdLst/>
              <a:ahLst/>
              <a:cxnLst/>
              <a:rect r="r" b="b" t="t" l="l"/>
              <a:pathLst>
                <a:path h="3581400" w="7048500">
                  <a:moveTo>
                    <a:pt x="355600" y="0"/>
                  </a:moveTo>
                  <a:lnTo>
                    <a:pt x="6692900" y="0"/>
                  </a:lnTo>
                  <a:cubicBezTo>
                    <a:pt x="6889242" y="0"/>
                    <a:pt x="7048500" y="159258"/>
                    <a:pt x="7048500" y="355600"/>
                  </a:cubicBezTo>
                  <a:lnTo>
                    <a:pt x="7048500" y="3225800"/>
                  </a:lnTo>
                  <a:cubicBezTo>
                    <a:pt x="7048500" y="3422142"/>
                    <a:pt x="6889242" y="3581400"/>
                    <a:pt x="6692900" y="3581400"/>
                  </a:cubicBezTo>
                  <a:lnTo>
                    <a:pt x="355600" y="3581400"/>
                  </a:lnTo>
                  <a:cubicBezTo>
                    <a:pt x="159258" y="3581400"/>
                    <a:pt x="0" y="3422142"/>
                    <a:pt x="0" y="3225800"/>
                  </a:cubicBezTo>
                  <a:lnTo>
                    <a:pt x="0" y="355600"/>
                  </a:lnTo>
                  <a:cubicBezTo>
                    <a:pt x="0" y="159258"/>
                    <a:pt x="159258" y="0"/>
                    <a:pt x="355600" y="0"/>
                  </a:cubicBezTo>
                  <a:close/>
                </a:path>
              </a:pathLst>
            </a:custGeom>
            <a:solidFill>
              <a:srgbClr val="FFF2EB"/>
            </a:solidFill>
          </p:spPr>
        </p:sp>
        <p:sp>
          <p:nvSpPr>
            <p:cNvPr name="Freeform 16" id="16"/>
            <p:cNvSpPr/>
            <p:nvPr/>
          </p:nvSpPr>
          <p:spPr>
            <a:xfrm flipH="false" flipV="false" rot="0">
              <a:off x="0" y="0"/>
              <a:ext cx="7048500" cy="3581400"/>
            </a:xfrm>
            <a:custGeom>
              <a:avLst/>
              <a:gdLst/>
              <a:ahLst/>
              <a:cxnLst/>
              <a:rect r="r" b="b" t="t" l="l"/>
              <a:pathLst>
                <a:path h="3581400" w="7048500">
                  <a:moveTo>
                    <a:pt x="355600" y="0"/>
                  </a:moveTo>
                  <a:lnTo>
                    <a:pt x="6692900" y="0"/>
                  </a:lnTo>
                  <a:cubicBezTo>
                    <a:pt x="6889242" y="0"/>
                    <a:pt x="7048500" y="159258"/>
                    <a:pt x="7048500" y="355600"/>
                  </a:cubicBezTo>
                  <a:lnTo>
                    <a:pt x="7048500" y="3225800"/>
                  </a:lnTo>
                  <a:cubicBezTo>
                    <a:pt x="7048500" y="3422142"/>
                    <a:pt x="6889242" y="3581400"/>
                    <a:pt x="6692900" y="3581400"/>
                  </a:cubicBezTo>
                  <a:lnTo>
                    <a:pt x="355600" y="3581400"/>
                  </a:lnTo>
                  <a:cubicBezTo>
                    <a:pt x="159258" y="3581400"/>
                    <a:pt x="0" y="3422142"/>
                    <a:pt x="0" y="3225800"/>
                  </a:cubicBezTo>
                  <a:lnTo>
                    <a:pt x="0" y="355600"/>
                  </a:lnTo>
                  <a:cubicBezTo>
                    <a:pt x="0" y="159258"/>
                    <a:pt x="159258" y="0"/>
                    <a:pt x="355600" y="0"/>
                  </a:cubicBezTo>
                  <a:close/>
                </a:path>
              </a:pathLst>
            </a:custGeom>
            <a:solidFill>
              <a:srgbClr val="000000">
                <a:alpha val="0"/>
              </a:srgbClr>
            </a:solidFill>
            <a:ln w="28575" cap="sq">
              <a:solidFill>
                <a:srgbClr val="FFC6A5"/>
              </a:solidFill>
              <a:prstDash val="solid"/>
              <a:miter/>
            </a:ln>
          </p:spPr>
        </p:sp>
      </p:grpSp>
      <p:sp>
        <p:nvSpPr>
          <p:cNvPr name="TextBox 17" id="17"/>
          <p:cNvSpPr txBox="true"/>
          <p:nvPr/>
        </p:nvSpPr>
        <p:spPr>
          <a:xfrm rot="0">
            <a:off x="1284256" y="2424589"/>
            <a:ext cx="4695825" cy="600075"/>
          </a:xfrm>
          <a:prstGeom prst="rect">
            <a:avLst/>
          </a:prstGeom>
        </p:spPr>
        <p:txBody>
          <a:bodyPr anchor="t" rtlCol="false" tIns="0" lIns="0" bIns="0" rIns="0">
            <a:spAutoFit/>
          </a:bodyPr>
          <a:lstStyle/>
          <a:p>
            <a:pPr algn="l">
              <a:lnSpc>
                <a:spcPts val="3952"/>
              </a:lnSpc>
            </a:pPr>
            <a:r>
              <a:rPr lang="en-US" b="true" sz="2550" spc="-51">
                <a:solidFill>
                  <a:srgbClr val="643312"/>
                </a:solidFill>
                <a:latin typeface="Arimo Bold"/>
                <a:ea typeface="Arimo Bold"/>
                <a:cs typeface="Arimo Bold"/>
                <a:sym typeface="Arimo Bold"/>
              </a:rPr>
              <a:t>Q6 · Field</a:t>
            </a:r>
          </a:p>
        </p:txBody>
      </p:sp>
      <p:sp>
        <p:nvSpPr>
          <p:cNvPr name="TextBox 18" id="18"/>
          <p:cNvSpPr txBox="true"/>
          <p:nvPr/>
        </p:nvSpPr>
        <p:spPr>
          <a:xfrm rot="0">
            <a:off x="1284256" y="3043047"/>
            <a:ext cx="4695825" cy="1238250"/>
          </a:xfrm>
          <a:prstGeom prst="rect">
            <a:avLst/>
          </a:prstGeom>
        </p:spPr>
        <p:txBody>
          <a:bodyPr anchor="t" rtlCol="false" tIns="0" lIns="0" bIns="0" rIns="0">
            <a:spAutoFit/>
          </a:bodyPr>
          <a:lstStyle/>
          <a:p>
            <a:pPr algn="l">
              <a:lnSpc>
                <a:spcPts val="3104"/>
              </a:lnSpc>
            </a:pPr>
            <a:r>
              <a:rPr lang="en-US" b="true" sz="2250">
                <a:solidFill>
                  <a:srgbClr val="201E1D"/>
                </a:solidFill>
                <a:latin typeface="Arimo Bold"/>
                <a:ea typeface="Arimo Bold"/>
                <a:cs typeface="Arimo Bold"/>
                <a:sym typeface="Arimo Bold"/>
              </a:rPr>
              <a:t>A field is 40 m long and (12x + 30) m wide. Find and factorise a the perimeter b the area.</a:t>
            </a:r>
          </a:p>
        </p:txBody>
      </p:sp>
      <p:grpSp>
        <p:nvGrpSpPr>
          <p:cNvPr name="Group 19" id="19"/>
          <p:cNvGrpSpPr/>
          <p:nvPr/>
        </p:nvGrpSpPr>
        <p:grpSpPr>
          <a:xfrm rot="0">
            <a:off x="6500717" y="2284381"/>
            <a:ext cx="5286375" cy="2686050"/>
            <a:chOff x="0" y="0"/>
            <a:chExt cx="7048500" cy="3581400"/>
          </a:xfrm>
        </p:grpSpPr>
        <p:sp>
          <p:nvSpPr>
            <p:cNvPr name="Freeform 20" id="20"/>
            <p:cNvSpPr/>
            <p:nvPr/>
          </p:nvSpPr>
          <p:spPr>
            <a:xfrm flipH="false" flipV="false" rot="0">
              <a:off x="0" y="0"/>
              <a:ext cx="7048500" cy="3581400"/>
            </a:xfrm>
            <a:custGeom>
              <a:avLst/>
              <a:gdLst/>
              <a:ahLst/>
              <a:cxnLst/>
              <a:rect r="r" b="b" t="t" l="l"/>
              <a:pathLst>
                <a:path h="3581400" w="7048500">
                  <a:moveTo>
                    <a:pt x="355600" y="0"/>
                  </a:moveTo>
                  <a:lnTo>
                    <a:pt x="6692900" y="0"/>
                  </a:lnTo>
                  <a:cubicBezTo>
                    <a:pt x="6889242" y="0"/>
                    <a:pt x="7048500" y="159258"/>
                    <a:pt x="7048500" y="355600"/>
                  </a:cubicBezTo>
                  <a:lnTo>
                    <a:pt x="7048500" y="3225800"/>
                  </a:lnTo>
                  <a:cubicBezTo>
                    <a:pt x="7048500" y="3422142"/>
                    <a:pt x="6889242" y="3581400"/>
                    <a:pt x="6692900" y="3581400"/>
                  </a:cubicBezTo>
                  <a:lnTo>
                    <a:pt x="355600" y="3581400"/>
                  </a:lnTo>
                  <a:cubicBezTo>
                    <a:pt x="159258" y="3581400"/>
                    <a:pt x="0" y="3422142"/>
                    <a:pt x="0" y="3225800"/>
                  </a:cubicBezTo>
                  <a:lnTo>
                    <a:pt x="0" y="355600"/>
                  </a:lnTo>
                  <a:cubicBezTo>
                    <a:pt x="0" y="159258"/>
                    <a:pt x="159258" y="0"/>
                    <a:pt x="355600" y="0"/>
                  </a:cubicBezTo>
                  <a:close/>
                </a:path>
              </a:pathLst>
            </a:custGeom>
            <a:solidFill>
              <a:srgbClr val="F0FAE1"/>
            </a:solidFill>
          </p:spPr>
        </p:sp>
        <p:sp>
          <p:nvSpPr>
            <p:cNvPr name="Freeform 21" id="21"/>
            <p:cNvSpPr/>
            <p:nvPr/>
          </p:nvSpPr>
          <p:spPr>
            <a:xfrm flipH="false" flipV="false" rot="0">
              <a:off x="0" y="0"/>
              <a:ext cx="7048500" cy="3581400"/>
            </a:xfrm>
            <a:custGeom>
              <a:avLst/>
              <a:gdLst/>
              <a:ahLst/>
              <a:cxnLst/>
              <a:rect r="r" b="b" t="t" l="l"/>
              <a:pathLst>
                <a:path h="3581400" w="7048500">
                  <a:moveTo>
                    <a:pt x="355600" y="0"/>
                  </a:moveTo>
                  <a:lnTo>
                    <a:pt x="6692900" y="0"/>
                  </a:lnTo>
                  <a:cubicBezTo>
                    <a:pt x="6889242" y="0"/>
                    <a:pt x="7048500" y="159258"/>
                    <a:pt x="7048500" y="355600"/>
                  </a:cubicBezTo>
                  <a:lnTo>
                    <a:pt x="7048500" y="3225800"/>
                  </a:lnTo>
                  <a:cubicBezTo>
                    <a:pt x="7048500" y="3422142"/>
                    <a:pt x="6889242" y="3581400"/>
                    <a:pt x="6692900" y="3581400"/>
                  </a:cubicBezTo>
                  <a:lnTo>
                    <a:pt x="355600" y="3581400"/>
                  </a:lnTo>
                  <a:cubicBezTo>
                    <a:pt x="159258" y="3581400"/>
                    <a:pt x="0" y="3422142"/>
                    <a:pt x="0" y="3225800"/>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22" id="22"/>
          <p:cNvSpPr txBox="true"/>
          <p:nvPr/>
        </p:nvSpPr>
        <p:spPr>
          <a:xfrm rot="0">
            <a:off x="6795992" y="2424589"/>
            <a:ext cx="4695825" cy="600075"/>
          </a:xfrm>
          <a:prstGeom prst="rect">
            <a:avLst/>
          </a:prstGeom>
        </p:spPr>
        <p:txBody>
          <a:bodyPr anchor="t" rtlCol="false" tIns="0" lIns="0" bIns="0" rIns="0">
            <a:spAutoFit/>
          </a:bodyPr>
          <a:lstStyle/>
          <a:p>
            <a:pPr algn="l">
              <a:lnSpc>
                <a:spcPts val="3952"/>
              </a:lnSpc>
            </a:pPr>
            <a:r>
              <a:rPr lang="en-US" b="true" sz="2550" spc="-51">
                <a:solidFill>
                  <a:srgbClr val="3D472B"/>
                </a:solidFill>
                <a:latin typeface="Arimo Bold"/>
                <a:ea typeface="Arimo Bold"/>
                <a:cs typeface="Arimo Bold"/>
                <a:sym typeface="Arimo Bold"/>
              </a:rPr>
              <a:t>Q7 · Triangle</a:t>
            </a:r>
          </a:p>
        </p:txBody>
      </p:sp>
      <p:sp>
        <p:nvSpPr>
          <p:cNvPr name="TextBox 23" id="23"/>
          <p:cNvSpPr txBox="true"/>
          <p:nvPr/>
        </p:nvSpPr>
        <p:spPr>
          <a:xfrm rot="0">
            <a:off x="6795992" y="3041142"/>
            <a:ext cx="4695825" cy="847725"/>
          </a:xfrm>
          <a:prstGeom prst="rect">
            <a:avLst/>
          </a:prstGeom>
        </p:spPr>
        <p:txBody>
          <a:bodyPr anchor="t" rtlCol="false" tIns="0" lIns="0" bIns="0" rIns="0">
            <a:spAutoFit/>
          </a:bodyPr>
          <a:lstStyle/>
          <a:p>
            <a:pPr algn="l">
              <a:lnSpc>
                <a:spcPts val="3104"/>
              </a:lnSpc>
            </a:pPr>
            <a:r>
              <a:rPr lang="en-US" b="true" sz="2250">
                <a:solidFill>
                  <a:srgbClr val="201E1D"/>
                </a:solidFill>
                <a:latin typeface="Arimo Bold"/>
                <a:ea typeface="Arimo Bold"/>
                <a:cs typeface="Arimo Bold"/>
                <a:sym typeface="Arimo Bold"/>
              </a:rPr>
              <a:t>Two angles are 3x° and 4y°. Find and factorise the third angle.</a:t>
            </a:r>
          </a:p>
        </p:txBody>
      </p:sp>
      <p:grpSp>
        <p:nvGrpSpPr>
          <p:cNvPr name="Group 24" id="24"/>
          <p:cNvGrpSpPr/>
          <p:nvPr/>
        </p:nvGrpSpPr>
        <p:grpSpPr>
          <a:xfrm rot="0">
            <a:off x="12012549" y="2284381"/>
            <a:ext cx="5286375" cy="2686050"/>
            <a:chOff x="0" y="0"/>
            <a:chExt cx="7048500" cy="3581400"/>
          </a:xfrm>
        </p:grpSpPr>
        <p:sp>
          <p:nvSpPr>
            <p:cNvPr name="Freeform 25" id="25"/>
            <p:cNvSpPr/>
            <p:nvPr/>
          </p:nvSpPr>
          <p:spPr>
            <a:xfrm flipH="false" flipV="false" rot="0">
              <a:off x="0" y="0"/>
              <a:ext cx="7048500" cy="3581400"/>
            </a:xfrm>
            <a:custGeom>
              <a:avLst/>
              <a:gdLst/>
              <a:ahLst/>
              <a:cxnLst/>
              <a:rect r="r" b="b" t="t" l="l"/>
              <a:pathLst>
                <a:path h="3581400" w="7048500">
                  <a:moveTo>
                    <a:pt x="355600" y="0"/>
                  </a:moveTo>
                  <a:lnTo>
                    <a:pt x="6692900" y="0"/>
                  </a:lnTo>
                  <a:cubicBezTo>
                    <a:pt x="6889242" y="0"/>
                    <a:pt x="7048500" y="159258"/>
                    <a:pt x="7048500" y="355600"/>
                  </a:cubicBezTo>
                  <a:lnTo>
                    <a:pt x="7048500" y="3225800"/>
                  </a:lnTo>
                  <a:cubicBezTo>
                    <a:pt x="7048500" y="3422142"/>
                    <a:pt x="6889242" y="3581400"/>
                    <a:pt x="6692900" y="3581400"/>
                  </a:cubicBezTo>
                  <a:lnTo>
                    <a:pt x="355600" y="3581400"/>
                  </a:lnTo>
                  <a:cubicBezTo>
                    <a:pt x="159258" y="3581400"/>
                    <a:pt x="0" y="3422142"/>
                    <a:pt x="0" y="3225800"/>
                  </a:cubicBezTo>
                  <a:lnTo>
                    <a:pt x="0" y="355600"/>
                  </a:lnTo>
                  <a:cubicBezTo>
                    <a:pt x="0" y="159258"/>
                    <a:pt x="159258" y="0"/>
                    <a:pt x="355600" y="0"/>
                  </a:cubicBezTo>
                  <a:close/>
                </a:path>
              </a:pathLst>
            </a:custGeom>
            <a:solidFill>
              <a:srgbClr val="FFF2EB"/>
            </a:solidFill>
          </p:spPr>
        </p:sp>
        <p:sp>
          <p:nvSpPr>
            <p:cNvPr name="Freeform 26" id="26"/>
            <p:cNvSpPr/>
            <p:nvPr/>
          </p:nvSpPr>
          <p:spPr>
            <a:xfrm flipH="false" flipV="false" rot="0">
              <a:off x="0" y="0"/>
              <a:ext cx="7048500" cy="3581400"/>
            </a:xfrm>
            <a:custGeom>
              <a:avLst/>
              <a:gdLst/>
              <a:ahLst/>
              <a:cxnLst/>
              <a:rect r="r" b="b" t="t" l="l"/>
              <a:pathLst>
                <a:path h="3581400" w="7048500">
                  <a:moveTo>
                    <a:pt x="355600" y="0"/>
                  </a:moveTo>
                  <a:lnTo>
                    <a:pt x="6692900" y="0"/>
                  </a:lnTo>
                  <a:cubicBezTo>
                    <a:pt x="6889242" y="0"/>
                    <a:pt x="7048500" y="159258"/>
                    <a:pt x="7048500" y="355600"/>
                  </a:cubicBezTo>
                  <a:lnTo>
                    <a:pt x="7048500" y="3225800"/>
                  </a:lnTo>
                  <a:cubicBezTo>
                    <a:pt x="7048500" y="3422142"/>
                    <a:pt x="6889242" y="3581400"/>
                    <a:pt x="6692900" y="3581400"/>
                  </a:cubicBezTo>
                  <a:lnTo>
                    <a:pt x="355600" y="3581400"/>
                  </a:lnTo>
                  <a:cubicBezTo>
                    <a:pt x="159258" y="3581400"/>
                    <a:pt x="0" y="3422142"/>
                    <a:pt x="0" y="3225800"/>
                  </a:cubicBezTo>
                  <a:lnTo>
                    <a:pt x="0" y="355600"/>
                  </a:lnTo>
                  <a:cubicBezTo>
                    <a:pt x="0" y="159258"/>
                    <a:pt x="159258" y="0"/>
                    <a:pt x="355600" y="0"/>
                  </a:cubicBezTo>
                  <a:close/>
                </a:path>
              </a:pathLst>
            </a:custGeom>
            <a:solidFill>
              <a:srgbClr val="000000">
                <a:alpha val="0"/>
              </a:srgbClr>
            </a:solidFill>
            <a:ln w="28575" cap="sq">
              <a:solidFill>
                <a:srgbClr val="FFC6A5"/>
              </a:solidFill>
              <a:prstDash val="solid"/>
              <a:miter/>
            </a:ln>
          </p:spPr>
        </p:sp>
      </p:grpSp>
      <p:sp>
        <p:nvSpPr>
          <p:cNvPr name="TextBox 27" id="27"/>
          <p:cNvSpPr txBox="true"/>
          <p:nvPr/>
        </p:nvSpPr>
        <p:spPr>
          <a:xfrm rot="0">
            <a:off x="12307824" y="2424589"/>
            <a:ext cx="4695825" cy="600075"/>
          </a:xfrm>
          <a:prstGeom prst="rect">
            <a:avLst/>
          </a:prstGeom>
        </p:spPr>
        <p:txBody>
          <a:bodyPr anchor="t" rtlCol="false" tIns="0" lIns="0" bIns="0" rIns="0">
            <a:spAutoFit/>
          </a:bodyPr>
          <a:lstStyle/>
          <a:p>
            <a:pPr algn="l">
              <a:lnSpc>
                <a:spcPts val="3952"/>
              </a:lnSpc>
            </a:pPr>
            <a:r>
              <a:rPr lang="en-US" b="true" sz="2550" spc="-51">
                <a:solidFill>
                  <a:srgbClr val="643312"/>
                </a:solidFill>
                <a:latin typeface="Arimo Bold"/>
                <a:ea typeface="Arimo Bold"/>
                <a:cs typeface="Arimo Bold"/>
                <a:sym typeface="Arimo Bold"/>
              </a:rPr>
              <a:t>Q8 · Standard form</a:t>
            </a:r>
          </a:p>
        </p:txBody>
      </p:sp>
      <p:sp>
        <p:nvSpPr>
          <p:cNvPr name="TextBox 28" id="28"/>
          <p:cNvSpPr txBox="true"/>
          <p:nvPr/>
        </p:nvSpPr>
        <p:spPr>
          <a:xfrm rot="0">
            <a:off x="12307824" y="3040094"/>
            <a:ext cx="4695825" cy="1695450"/>
          </a:xfrm>
          <a:prstGeom prst="rect">
            <a:avLst/>
          </a:prstGeom>
        </p:spPr>
        <p:txBody>
          <a:bodyPr anchor="t" rtlCol="false" tIns="0" lIns="0" bIns="0" rIns="0">
            <a:spAutoFit/>
          </a:bodyPr>
          <a:lstStyle/>
          <a:p>
            <a:pPr algn="l">
              <a:lnSpc>
                <a:spcPts val="3104"/>
              </a:lnSpc>
            </a:pPr>
            <a:r>
              <a:rPr lang="en-US" b="true" sz="2250">
                <a:solidFill>
                  <a:srgbClr val="201E1D"/>
                </a:solidFill>
                <a:latin typeface="Arimo Bold"/>
                <a:ea typeface="Arimo Bold"/>
                <a:cs typeface="Arimo Bold"/>
                <a:sym typeface="Arimo Bold"/>
              </a:rPr>
              <a:t>a = 3 × 10</a:t>
            </a:r>
            <a:r>
              <a:rPr lang="en-US" b="true" sz="2250">
                <a:solidFill>
                  <a:srgbClr val="201E1D"/>
                </a:solidFill>
                <a:latin typeface="Arimo Bold"/>
                <a:ea typeface="Arimo Bold"/>
                <a:cs typeface="Arimo Bold"/>
                <a:sym typeface="Arimo Bold"/>
              </a:rPr>
              <a:t>m</a:t>
            </a:r>
            <a:r>
              <a:rPr lang="en-US" b="true" sz="2250">
                <a:solidFill>
                  <a:srgbClr val="201E1D"/>
                </a:solidFill>
                <a:latin typeface="Arimo Bold"/>
                <a:ea typeface="Arimo Bold"/>
                <a:cs typeface="Arimo Bold"/>
                <a:sym typeface="Arimo Bold"/>
              </a:rPr>
              <a:t>, b = 9 × 10</a:t>
            </a:r>
            <a:r>
              <a:rPr lang="en-US" b="true" sz="2250">
                <a:solidFill>
                  <a:srgbClr val="201E1D"/>
                </a:solidFill>
                <a:latin typeface="Arimo Bold"/>
                <a:ea typeface="Arimo Bold"/>
                <a:cs typeface="Arimo Bold"/>
                <a:sym typeface="Arimo Bold"/>
              </a:rPr>
              <a:t>m+3</a:t>
            </a:r>
            <a:r>
              <a:rPr lang="en-US" b="true" sz="2250">
                <a:solidFill>
                  <a:srgbClr val="201E1D"/>
                </a:solidFill>
                <a:latin typeface="Arimo Bold"/>
                <a:ea typeface="Arimo Bold"/>
                <a:cs typeface="Arimo Bold"/>
                <a:sym typeface="Arimo Bold"/>
              </a:rPr>
              <a:t>. a Factorise a + b. b Why is it not in standard form? c Write it in standard form.</a:t>
            </a:r>
          </a:p>
        </p:txBody>
      </p:sp>
      <p:grpSp>
        <p:nvGrpSpPr>
          <p:cNvPr name="Group 29" id="29"/>
          <p:cNvGrpSpPr/>
          <p:nvPr/>
        </p:nvGrpSpPr>
        <p:grpSpPr>
          <a:xfrm rot="0">
            <a:off x="1315117" y="5480780"/>
            <a:ext cx="5074920" cy="2414016"/>
            <a:chOff x="0" y="0"/>
            <a:chExt cx="6766560" cy="3218688"/>
          </a:xfrm>
        </p:grpSpPr>
        <p:sp>
          <p:nvSpPr>
            <p:cNvPr name="Freeform 30" id="30"/>
            <p:cNvSpPr/>
            <p:nvPr/>
          </p:nvSpPr>
          <p:spPr>
            <a:xfrm flipH="false" flipV="false" rot="0">
              <a:off x="0" y="0"/>
              <a:ext cx="6766560" cy="3218688"/>
            </a:xfrm>
            <a:custGeom>
              <a:avLst/>
              <a:gdLst/>
              <a:ahLst/>
              <a:cxnLst/>
              <a:rect r="r" b="b" t="t" l="l"/>
              <a:pathLst>
                <a:path h="3218688" w="6766560">
                  <a:moveTo>
                    <a:pt x="355600" y="0"/>
                  </a:moveTo>
                  <a:lnTo>
                    <a:pt x="6410960" y="0"/>
                  </a:lnTo>
                  <a:cubicBezTo>
                    <a:pt x="6607302" y="0"/>
                    <a:pt x="6766560" y="159258"/>
                    <a:pt x="6766560" y="355600"/>
                  </a:cubicBezTo>
                  <a:lnTo>
                    <a:pt x="6766560" y="2863088"/>
                  </a:lnTo>
                  <a:cubicBezTo>
                    <a:pt x="6766560" y="3059430"/>
                    <a:pt x="6607302" y="3218688"/>
                    <a:pt x="6410960" y="3218688"/>
                  </a:cubicBezTo>
                  <a:lnTo>
                    <a:pt x="355600" y="3218688"/>
                  </a:lnTo>
                  <a:cubicBezTo>
                    <a:pt x="159258" y="3218688"/>
                    <a:pt x="0" y="3059430"/>
                    <a:pt x="0" y="2863088"/>
                  </a:cubicBezTo>
                  <a:lnTo>
                    <a:pt x="0" y="355600"/>
                  </a:lnTo>
                  <a:cubicBezTo>
                    <a:pt x="0" y="159258"/>
                    <a:pt x="159258" y="0"/>
                    <a:pt x="355600" y="0"/>
                  </a:cubicBezTo>
                  <a:close/>
                </a:path>
              </a:pathLst>
            </a:custGeom>
            <a:solidFill>
              <a:srgbClr val="F0FAE1"/>
            </a:solidFill>
          </p:spPr>
        </p:sp>
        <p:sp>
          <p:nvSpPr>
            <p:cNvPr name="Freeform 31" id="31"/>
            <p:cNvSpPr/>
            <p:nvPr/>
          </p:nvSpPr>
          <p:spPr>
            <a:xfrm flipH="false" flipV="false" rot="0">
              <a:off x="0" y="0"/>
              <a:ext cx="6766560" cy="3218688"/>
            </a:xfrm>
            <a:custGeom>
              <a:avLst/>
              <a:gdLst/>
              <a:ahLst/>
              <a:cxnLst/>
              <a:rect r="r" b="b" t="t" l="l"/>
              <a:pathLst>
                <a:path h="3218688" w="6766560">
                  <a:moveTo>
                    <a:pt x="355600" y="0"/>
                  </a:moveTo>
                  <a:lnTo>
                    <a:pt x="6410960" y="0"/>
                  </a:lnTo>
                  <a:cubicBezTo>
                    <a:pt x="6607302" y="0"/>
                    <a:pt x="6766560" y="159258"/>
                    <a:pt x="6766560" y="355600"/>
                  </a:cubicBezTo>
                  <a:lnTo>
                    <a:pt x="6766560" y="2863088"/>
                  </a:lnTo>
                  <a:cubicBezTo>
                    <a:pt x="6766560" y="3059430"/>
                    <a:pt x="6607302" y="3218688"/>
                    <a:pt x="6410960" y="3218688"/>
                  </a:cubicBezTo>
                  <a:lnTo>
                    <a:pt x="355600" y="3218688"/>
                  </a:lnTo>
                  <a:cubicBezTo>
                    <a:pt x="159258" y="3218688"/>
                    <a:pt x="0" y="3059430"/>
                    <a:pt x="0" y="2863088"/>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32" id="32"/>
          <p:cNvSpPr txBox="true"/>
          <p:nvPr/>
        </p:nvSpPr>
        <p:spPr>
          <a:xfrm rot="0">
            <a:off x="1598581" y="5621845"/>
            <a:ext cx="4507992"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33" id="33"/>
          <p:cNvSpPr txBox="true"/>
          <p:nvPr/>
        </p:nvSpPr>
        <p:spPr>
          <a:xfrm rot="0">
            <a:off x="1600200" y="5978747"/>
            <a:ext cx="329184" cy="404241"/>
          </a:xfrm>
          <a:prstGeom prst="rect">
            <a:avLst/>
          </a:prstGeom>
        </p:spPr>
        <p:txBody>
          <a:bodyPr anchor="t" rtlCol="false" tIns="0" lIns="0" bIns="0" rIns="0">
            <a:spAutoFit/>
          </a:bodyPr>
          <a:lstStyle/>
          <a:p>
            <a:pPr algn="l">
              <a:lnSpc>
                <a:spcPts val="2839"/>
              </a:lnSpc>
            </a:pPr>
            <a:r>
              <a:rPr lang="en-US" b="true" sz="2088">
                <a:solidFill>
                  <a:srgbClr val="3D472B"/>
                </a:solidFill>
                <a:latin typeface="Arimo Bold"/>
                <a:ea typeface="Arimo Bold"/>
                <a:cs typeface="Arimo Bold"/>
                <a:sym typeface="Arimo Bold"/>
              </a:rPr>
              <a:t>a</a:t>
            </a:r>
          </a:p>
        </p:txBody>
      </p:sp>
      <p:sp>
        <p:nvSpPr>
          <p:cNvPr name="TextBox 34" id="34"/>
          <p:cNvSpPr txBox="true"/>
          <p:nvPr/>
        </p:nvSpPr>
        <p:spPr>
          <a:xfrm rot="0">
            <a:off x="2074069" y="5976175"/>
            <a:ext cx="4032504" cy="770001"/>
          </a:xfrm>
          <a:prstGeom prst="rect">
            <a:avLst/>
          </a:prstGeom>
        </p:spPr>
        <p:txBody>
          <a:bodyPr anchor="t" rtlCol="false" tIns="0" lIns="0" bIns="0" rIns="0">
            <a:spAutoFit/>
          </a:bodyPr>
          <a:lstStyle/>
          <a:p>
            <a:pPr algn="l">
              <a:lnSpc>
                <a:spcPts val="2839"/>
              </a:lnSpc>
            </a:pPr>
            <a:r>
              <a:rPr lang="en-US" b="true" sz="2088">
                <a:solidFill>
                  <a:srgbClr val="201E1D"/>
                </a:solidFill>
                <a:latin typeface="Arimo Bold"/>
                <a:ea typeface="Arimo Bold"/>
                <a:cs typeface="Arimo Bold"/>
                <a:sym typeface="Arimo Bold"/>
              </a:rPr>
              <a:t>2(40 + 12x + 30) = 24x + 140 = 4(6x + 35)</a:t>
            </a:r>
          </a:p>
        </p:txBody>
      </p:sp>
      <p:sp>
        <p:nvSpPr>
          <p:cNvPr name="TextBox 35" id="35"/>
          <p:cNvSpPr txBox="true"/>
          <p:nvPr/>
        </p:nvSpPr>
        <p:spPr>
          <a:xfrm rot="0">
            <a:off x="1600200" y="6754844"/>
            <a:ext cx="329184" cy="404241"/>
          </a:xfrm>
          <a:prstGeom prst="rect">
            <a:avLst/>
          </a:prstGeom>
        </p:spPr>
        <p:txBody>
          <a:bodyPr anchor="t" rtlCol="false" tIns="0" lIns="0" bIns="0" rIns="0">
            <a:spAutoFit/>
          </a:bodyPr>
          <a:lstStyle/>
          <a:p>
            <a:pPr algn="l">
              <a:lnSpc>
                <a:spcPts val="2839"/>
              </a:lnSpc>
            </a:pPr>
            <a:r>
              <a:rPr lang="en-US" b="true" sz="2088">
                <a:solidFill>
                  <a:srgbClr val="3D472B"/>
                </a:solidFill>
                <a:latin typeface="Arimo Bold"/>
                <a:ea typeface="Arimo Bold"/>
                <a:cs typeface="Arimo Bold"/>
                <a:sym typeface="Arimo Bold"/>
              </a:rPr>
              <a:t>b</a:t>
            </a:r>
          </a:p>
        </p:txBody>
      </p:sp>
      <p:sp>
        <p:nvSpPr>
          <p:cNvPr name="TextBox 36" id="36"/>
          <p:cNvSpPr txBox="true"/>
          <p:nvPr/>
        </p:nvSpPr>
        <p:spPr>
          <a:xfrm rot="0">
            <a:off x="2074069" y="6752272"/>
            <a:ext cx="4032504" cy="770001"/>
          </a:xfrm>
          <a:prstGeom prst="rect">
            <a:avLst/>
          </a:prstGeom>
        </p:spPr>
        <p:txBody>
          <a:bodyPr anchor="t" rtlCol="false" tIns="0" lIns="0" bIns="0" rIns="0">
            <a:spAutoFit/>
          </a:bodyPr>
          <a:lstStyle/>
          <a:p>
            <a:pPr algn="l">
              <a:lnSpc>
                <a:spcPts val="2839"/>
              </a:lnSpc>
            </a:pPr>
            <a:r>
              <a:rPr lang="en-US" b="true" sz="2088">
                <a:solidFill>
                  <a:srgbClr val="201E1D"/>
                </a:solidFill>
                <a:latin typeface="Arimo Bold"/>
                <a:ea typeface="Arimo Bold"/>
                <a:cs typeface="Arimo Bold"/>
                <a:sym typeface="Arimo Bold"/>
              </a:rPr>
              <a:t>40(12x + 30) = 480x + 1200 = 240(2x + 5)</a:t>
            </a:r>
          </a:p>
        </p:txBody>
      </p:sp>
      <p:grpSp>
        <p:nvGrpSpPr>
          <p:cNvPr name="Group 37" id="37"/>
          <p:cNvGrpSpPr/>
          <p:nvPr/>
        </p:nvGrpSpPr>
        <p:grpSpPr>
          <a:xfrm rot="0">
            <a:off x="6606445" y="5480780"/>
            <a:ext cx="5074920" cy="2414016"/>
            <a:chOff x="0" y="0"/>
            <a:chExt cx="6766560" cy="3218688"/>
          </a:xfrm>
        </p:grpSpPr>
        <p:sp>
          <p:nvSpPr>
            <p:cNvPr name="Freeform 38" id="38"/>
            <p:cNvSpPr/>
            <p:nvPr/>
          </p:nvSpPr>
          <p:spPr>
            <a:xfrm flipH="false" flipV="false" rot="0">
              <a:off x="0" y="0"/>
              <a:ext cx="6766560" cy="3218688"/>
            </a:xfrm>
            <a:custGeom>
              <a:avLst/>
              <a:gdLst/>
              <a:ahLst/>
              <a:cxnLst/>
              <a:rect r="r" b="b" t="t" l="l"/>
              <a:pathLst>
                <a:path h="3218688" w="6766560">
                  <a:moveTo>
                    <a:pt x="355600" y="0"/>
                  </a:moveTo>
                  <a:lnTo>
                    <a:pt x="6410960" y="0"/>
                  </a:lnTo>
                  <a:cubicBezTo>
                    <a:pt x="6607302" y="0"/>
                    <a:pt x="6766560" y="159258"/>
                    <a:pt x="6766560" y="355600"/>
                  </a:cubicBezTo>
                  <a:lnTo>
                    <a:pt x="6766560" y="2863088"/>
                  </a:lnTo>
                  <a:cubicBezTo>
                    <a:pt x="6766560" y="3059430"/>
                    <a:pt x="6607302" y="3218688"/>
                    <a:pt x="6410960" y="3218688"/>
                  </a:cubicBezTo>
                  <a:lnTo>
                    <a:pt x="355600" y="3218688"/>
                  </a:lnTo>
                  <a:cubicBezTo>
                    <a:pt x="159258" y="3218688"/>
                    <a:pt x="0" y="3059430"/>
                    <a:pt x="0" y="2863088"/>
                  </a:cubicBezTo>
                  <a:lnTo>
                    <a:pt x="0" y="355600"/>
                  </a:lnTo>
                  <a:cubicBezTo>
                    <a:pt x="0" y="159258"/>
                    <a:pt x="159258" y="0"/>
                    <a:pt x="355600" y="0"/>
                  </a:cubicBezTo>
                  <a:close/>
                </a:path>
              </a:pathLst>
            </a:custGeom>
            <a:solidFill>
              <a:srgbClr val="F0FAE1"/>
            </a:solidFill>
          </p:spPr>
        </p:sp>
        <p:sp>
          <p:nvSpPr>
            <p:cNvPr name="Freeform 39" id="39"/>
            <p:cNvSpPr/>
            <p:nvPr/>
          </p:nvSpPr>
          <p:spPr>
            <a:xfrm flipH="false" flipV="false" rot="0">
              <a:off x="0" y="0"/>
              <a:ext cx="6766560" cy="3218688"/>
            </a:xfrm>
            <a:custGeom>
              <a:avLst/>
              <a:gdLst/>
              <a:ahLst/>
              <a:cxnLst/>
              <a:rect r="r" b="b" t="t" l="l"/>
              <a:pathLst>
                <a:path h="3218688" w="6766560">
                  <a:moveTo>
                    <a:pt x="355600" y="0"/>
                  </a:moveTo>
                  <a:lnTo>
                    <a:pt x="6410960" y="0"/>
                  </a:lnTo>
                  <a:cubicBezTo>
                    <a:pt x="6607302" y="0"/>
                    <a:pt x="6766560" y="159258"/>
                    <a:pt x="6766560" y="355600"/>
                  </a:cubicBezTo>
                  <a:lnTo>
                    <a:pt x="6766560" y="2863088"/>
                  </a:lnTo>
                  <a:cubicBezTo>
                    <a:pt x="6766560" y="3059430"/>
                    <a:pt x="6607302" y="3218688"/>
                    <a:pt x="6410960" y="3218688"/>
                  </a:cubicBezTo>
                  <a:lnTo>
                    <a:pt x="355600" y="3218688"/>
                  </a:lnTo>
                  <a:cubicBezTo>
                    <a:pt x="159258" y="3218688"/>
                    <a:pt x="0" y="3059430"/>
                    <a:pt x="0" y="2863088"/>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40" id="40"/>
          <p:cNvSpPr txBox="true"/>
          <p:nvPr/>
        </p:nvSpPr>
        <p:spPr>
          <a:xfrm rot="0">
            <a:off x="6889909" y="5621845"/>
            <a:ext cx="4507992"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41" id="41"/>
          <p:cNvSpPr txBox="true"/>
          <p:nvPr/>
        </p:nvSpPr>
        <p:spPr>
          <a:xfrm rot="0">
            <a:off x="7367968" y="5978747"/>
            <a:ext cx="1627632" cy="404241"/>
          </a:xfrm>
          <a:prstGeom prst="rect">
            <a:avLst/>
          </a:prstGeom>
        </p:spPr>
        <p:txBody>
          <a:bodyPr anchor="t" rtlCol="false" tIns="0" lIns="0" bIns="0" rIns="0">
            <a:spAutoFit/>
          </a:bodyPr>
          <a:lstStyle/>
          <a:p>
            <a:pPr algn="l">
              <a:lnSpc>
                <a:spcPts val="2839"/>
              </a:lnSpc>
            </a:pPr>
            <a:r>
              <a:rPr lang="en-US" b="true" sz="2088">
                <a:solidFill>
                  <a:srgbClr val="201E1D"/>
                </a:solidFill>
                <a:latin typeface="Arimo Bold"/>
                <a:ea typeface="Arimo Bold"/>
                <a:cs typeface="Arimo Bold"/>
                <a:sym typeface="Arimo Bold"/>
              </a:rPr>
              <a:t>180 − 3x − 4y</a:t>
            </a:r>
          </a:p>
        </p:txBody>
      </p:sp>
      <p:sp>
        <p:nvSpPr>
          <p:cNvPr name="TextBox 42" id="42"/>
          <p:cNvSpPr txBox="true"/>
          <p:nvPr/>
        </p:nvSpPr>
        <p:spPr>
          <a:xfrm rot="0">
            <a:off x="7365397" y="6391656"/>
            <a:ext cx="4032504" cy="770001"/>
          </a:xfrm>
          <a:prstGeom prst="rect">
            <a:avLst/>
          </a:prstGeom>
        </p:spPr>
        <p:txBody>
          <a:bodyPr anchor="t" rtlCol="false" tIns="0" lIns="0" bIns="0" rIns="0">
            <a:spAutoFit/>
          </a:bodyPr>
          <a:lstStyle/>
          <a:p>
            <a:pPr algn="l">
              <a:lnSpc>
                <a:spcPts val="2839"/>
              </a:lnSpc>
            </a:pPr>
            <a:r>
              <a:rPr lang="en-US" b="true" sz="2088">
                <a:solidFill>
                  <a:srgbClr val="201E1D"/>
                </a:solidFill>
                <a:latin typeface="Arimo Bold"/>
                <a:ea typeface="Arimo Bold"/>
                <a:cs typeface="Arimo Bold"/>
                <a:sym typeface="Arimo Bold"/>
              </a:rPr>
              <a:t>no common factor, so it is already fully factorised</a:t>
            </a:r>
          </a:p>
        </p:txBody>
      </p:sp>
      <p:grpSp>
        <p:nvGrpSpPr>
          <p:cNvPr name="Group 43" id="43"/>
          <p:cNvGrpSpPr/>
          <p:nvPr/>
        </p:nvGrpSpPr>
        <p:grpSpPr>
          <a:xfrm rot="0">
            <a:off x="11897868" y="5480780"/>
            <a:ext cx="5074920" cy="2414016"/>
            <a:chOff x="0" y="0"/>
            <a:chExt cx="6766560" cy="3218688"/>
          </a:xfrm>
        </p:grpSpPr>
        <p:sp>
          <p:nvSpPr>
            <p:cNvPr name="Freeform 44" id="44"/>
            <p:cNvSpPr/>
            <p:nvPr/>
          </p:nvSpPr>
          <p:spPr>
            <a:xfrm flipH="false" flipV="false" rot="0">
              <a:off x="0" y="0"/>
              <a:ext cx="6766560" cy="3218688"/>
            </a:xfrm>
            <a:custGeom>
              <a:avLst/>
              <a:gdLst/>
              <a:ahLst/>
              <a:cxnLst/>
              <a:rect r="r" b="b" t="t" l="l"/>
              <a:pathLst>
                <a:path h="3218688" w="6766560">
                  <a:moveTo>
                    <a:pt x="355600" y="0"/>
                  </a:moveTo>
                  <a:lnTo>
                    <a:pt x="6410960" y="0"/>
                  </a:lnTo>
                  <a:cubicBezTo>
                    <a:pt x="6607302" y="0"/>
                    <a:pt x="6766560" y="159258"/>
                    <a:pt x="6766560" y="355600"/>
                  </a:cubicBezTo>
                  <a:lnTo>
                    <a:pt x="6766560" y="2863088"/>
                  </a:lnTo>
                  <a:cubicBezTo>
                    <a:pt x="6766560" y="3059430"/>
                    <a:pt x="6607302" y="3218688"/>
                    <a:pt x="6410960" y="3218688"/>
                  </a:cubicBezTo>
                  <a:lnTo>
                    <a:pt x="355600" y="3218688"/>
                  </a:lnTo>
                  <a:cubicBezTo>
                    <a:pt x="159258" y="3218688"/>
                    <a:pt x="0" y="3059430"/>
                    <a:pt x="0" y="2863088"/>
                  </a:cubicBezTo>
                  <a:lnTo>
                    <a:pt x="0" y="355600"/>
                  </a:lnTo>
                  <a:cubicBezTo>
                    <a:pt x="0" y="159258"/>
                    <a:pt x="159258" y="0"/>
                    <a:pt x="355600" y="0"/>
                  </a:cubicBezTo>
                  <a:close/>
                </a:path>
              </a:pathLst>
            </a:custGeom>
            <a:solidFill>
              <a:srgbClr val="F0FAE1"/>
            </a:solidFill>
          </p:spPr>
        </p:sp>
        <p:sp>
          <p:nvSpPr>
            <p:cNvPr name="Freeform 45" id="45"/>
            <p:cNvSpPr/>
            <p:nvPr/>
          </p:nvSpPr>
          <p:spPr>
            <a:xfrm flipH="false" flipV="false" rot="0">
              <a:off x="0" y="0"/>
              <a:ext cx="6766560" cy="3218688"/>
            </a:xfrm>
            <a:custGeom>
              <a:avLst/>
              <a:gdLst/>
              <a:ahLst/>
              <a:cxnLst/>
              <a:rect r="r" b="b" t="t" l="l"/>
              <a:pathLst>
                <a:path h="3218688" w="6766560">
                  <a:moveTo>
                    <a:pt x="355600" y="0"/>
                  </a:moveTo>
                  <a:lnTo>
                    <a:pt x="6410960" y="0"/>
                  </a:lnTo>
                  <a:cubicBezTo>
                    <a:pt x="6607302" y="0"/>
                    <a:pt x="6766560" y="159258"/>
                    <a:pt x="6766560" y="355600"/>
                  </a:cubicBezTo>
                  <a:lnTo>
                    <a:pt x="6766560" y="2863088"/>
                  </a:lnTo>
                  <a:cubicBezTo>
                    <a:pt x="6766560" y="3059430"/>
                    <a:pt x="6607302" y="3218688"/>
                    <a:pt x="6410960" y="3218688"/>
                  </a:cubicBezTo>
                  <a:lnTo>
                    <a:pt x="355600" y="3218688"/>
                  </a:lnTo>
                  <a:cubicBezTo>
                    <a:pt x="159258" y="3218688"/>
                    <a:pt x="0" y="3059430"/>
                    <a:pt x="0" y="2863088"/>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46" id="46"/>
          <p:cNvSpPr txBox="true"/>
          <p:nvPr/>
        </p:nvSpPr>
        <p:spPr>
          <a:xfrm rot="0">
            <a:off x="12181332" y="5621845"/>
            <a:ext cx="4507992"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47" id="47"/>
          <p:cNvSpPr txBox="true"/>
          <p:nvPr/>
        </p:nvSpPr>
        <p:spPr>
          <a:xfrm rot="0">
            <a:off x="12182761" y="6021324"/>
            <a:ext cx="329184" cy="404241"/>
          </a:xfrm>
          <a:prstGeom prst="rect">
            <a:avLst/>
          </a:prstGeom>
        </p:spPr>
        <p:txBody>
          <a:bodyPr anchor="t" rtlCol="false" tIns="0" lIns="0" bIns="0" rIns="0">
            <a:spAutoFit/>
          </a:bodyPr>
          <a:lstStyle/>
          <a:p>
            <a:pPr algn="l">
              <a:lnSpc>
                <a:spcPts val="2839"/>
              </a:lnSpc>
            </a:pPr>
            <a:r>
              <a:rPr lang="en-US" b="true" sz="2088">
                <a:solidFill>
                  <a:srgbClr val="3D472B"/>
                </a:solidFill>
                <a:latin typeface="Arimo Bold"/>
                <a:ea typeface="Arimo Bold"/>
                <a:cs typeface="Arimo Bold"/>
                <a:sym typeface="Arimo Bold"/>
              </a:rPr>
              <a:t>a</a:t>
            </a:r>
          </a:p>
        </p:txBody>
      </p:sp>
      <p:sp>
        <p:nvSpPr>
          <p:cNvPr name="TextBox 48" id="48"/>
          <p:cNvSpPr txBox="true"/>
          <p:nvPr/>
        </p:nvSpPr>
        <p:spPr>
          <a:xfrm rot="0">
            <a:off x="12656820" y="5977604"/>
            <a:ext cx="4032504" cy="852297"/>
          </a:xfrm>
          <a:prstGeom prst="rect">
            <a:avLst/>
          </a:prstGeom>
        </p:spPr>
        <p:txBody>
          <a:bodyPr anchor="t" rtlCol="false" tIns="0" lIns="0" bIns="0" rIns="0">
            <a:spAutoFit/>
          </a:bodyPr>
          <a:lstStyle/>
          <a:p>
            <a:pPr algn="l">
              <a:lnSpc>
                <a:spcPts val="2839"/>
              </a:lnSpc>
            </a:pPr>
            <a:r>
              <a:rPr lang="en-US" b="true" sz="2088">
                <a:solidFill>
                  <a:srgbClr val="201E1D"/>
                </a:solidFill>
                <a:latin typeface="Arimo Bold"/>
                <a:ea typeface="Arimo Bold"/>
                <a:cs typeface="Arimo Bold"/>
                <a:sym typeface="Arimo Bold"/>
              </a:rPr>
              <a:t>3 × 10</a:t>
            </a:r>
            <a:r>
              <a:rPr lang="en-US" b="true" sz="2088">
                <a:solidFill>
                  <a:srgbClr val="201E1D"/>
                </a:solidFill>
                <a:latin typeface="Arimo Bold"/>
                <a:ea typeface="Arimo Bold"/>
                <a:cs typeface="Arimo Bold"/>
                <a:sym typeface="Arimo Bold"/>
              </a:rPr>
              <a:t>m</a:t>
            </a:r>
            <a:r>
              <a:rPr lang="en-US" b="true" sz="2088">
                <a:solidFill>
                  <a:srgbClr val="201E1D"/>
                </a:solidFill>
                <a:latin typeface="Arimo Bold"/>
                <a:ea typeface="Arimo Bold"/>
                <a:cs typeface="Arimo Bold"/>
                <a:sym typeface="Arimo Bold"/>
              </a:rPr>
              <a:t>(1 + 3 × 10³) = 9003 × 10</a:t>
            </a:r>
            <a:r>
              <a:rPr lang="en-US" b="true" sz="2088">
                <a:solidFill>
                  <a:srgbClr val="201E1D"/>
                </a:solidFill>
                <a:latin typeface="Arimo Bold"/>
                <a:ea typeface="Arimo Bold"/>
                <a:cs typeface="Arimo Bold"/>
                <a:sym typeface="Arimo Bold"/>
              </a:rPr>
              <a:t>m</a:t>
            </a:r>
          </a:p>
        </p:txBody>
      </p:sp>
      <p:sp>
        <p:nvSpPr>
          <p:cNvPr name="TextBox 49" id="49"/>
          <p:cNvSpPr txBox="true"/>
          <p:nvPr/>
        </p:nvSpPr>
        <p:spPr>
          <a:xfrm rot="0">
            <a:off x="12182761" y="6839998"/>
            <a:ext cx="329184" cy="404241"/>
          </a:xfrm>
          <a:prstGeom prst="rect">
            <a:avLst/>
          </a:prstGeom>
        </p:spPr>
        <p:txBody>
          <a:bodyPr anchor="t" rtlCol="false" tIns="0" lIns="0" bIns="0" rIns="0">
            <a:spAutoFit/>
          </a:bodyPr>
          <a:lstStyle/>
          <a:p>
            <a:pPr algn="l">
              <a:lnSpc>
                <a:spcPts val="2839"/>
              </a:lnSpc>
            </a:pPr>
            <a:r>
              <a:rPr lang="en-US" b="true" sz="2088">
                <a:solidFill>
                  <a:srgbClr val="3D472B"/>
                </a:solidFill>
                <a:latin typeface="Arimo Bold"/>
                <a:ea typeface="Arimo Bold"/>
                <a:cs typeface="Arimo Bold"/>
                <a:sym typeface="Arimo Bold"/>
              </a:rPr>
              <a:t>b</a:t>
            </a:r>
          </a:p>
        </p:txBody>
      </p:sp>
      <p:sp>
        <p:nvSpPr>
          <p:cNvPr name="TextBox 50" id="50"/>
          <p:cNvSpPr txBox="true"/>
          <p:nvPr/>
        </p:nvSpPr>
        <p:spPr>
          <a:xfrm rot="0">
            <a:off x="12658820" y="6839998"/>
            <a:ext cx="3520440" cy="404241"/>
          </a:xfrm>
          <a:prstGeom prst="rect">
            <a:avLst/>
          </a:prstGeom>
        </p:spPr>
        <p:txBody>
          <a:bodyPr anchor="t" rtlCol="false" tIns="0" lIns="0" bIns="0" rIns="0">
            <a:spAutoFit/>
          </a:bodyPr>
          <a:lstStyle/>
          <a:p>
            <a:pPr algn="l">
              <a:lnSpc>
                <a:spcPts val="2839"/>
              </a:lnSpc>
            </a:pPr>
            <a:r>
              <a:rPr lang="en-US" b="true" sz="2088">
                <a:solidFill>
                  <a:srgbClr val="201E1D"/>
                </a:solidFill>
                <a:latin typeface="Arimo Bold"/>
                <a:ea typeface="Arimo Bold"/>
                <a:cs typeface="Arimo Bold"/>
                <a:sym typeface="Arimo Bold"/>
              </a:rPr>
              <a:t>9003 is not between 1 and 10</a:t>
            </a:r>
          </a:p>
        </p:txBody>
      </p:sp>
      <p:sp>
        <p:nvSpPr>
          <p:cNvPr name="TextBox 51" id="51"/>
          <p:cNvSpPr txBox="true"/>
          <p:nvPr/>
        </p:nvSpPr>
        <p:spPr>
          <a:xfrm rot="0">
            <a:off x="12182761" y="7298055"/>
            <a:ext cx="329184" cy="404241"/>
          </a:xfrm>
          <a:prstGeom prst="rect">
            <a:avLst/>
          </a:prstGeom>
        </p:spPr>
        <p:txBody>
          <a:bodyPr anchor="t" rtlCol="false" tIns="0" lIns="0" bIns="0" rIns="0">
            <a:spAutoFit/>
          </a:bodyPr>
          <a:lstStyle/>
          <a:p>
            <a:pPr algn="l">
              <a:lnSpc>
                <a:spcPts val="2839"/>
              </a:lnSpc>
            </a:pPr>
            <a:r>
              <a:rPr lang="en-US" b="true" sz="2088">
                <a:solidFill>
                  <a:srgbClr val="3D472B"/>
                </a:solidFill>
                <a:latin typeface="Arimo Bold"/>
                <a:ea typeface="Arimo Bold"/>
                <a:cs typeface="Arimo Bold"/>
                <a:sym typeface="Arimo Bold"/>
              </a:rPr>
              <a:t>c</a:t>
            </a:r>
          </a:p>
        </p:txBody>
      </p:sp>
      <p:sp>
        <p:nvSpPr>
          <p:cNvPr name="TextBox 52" id="52"/>
          <p:cNvSpPr txBox="true"/>
          <p:nvPr/>
        </p:nvSpPr>
        <p:spPr>
          <a:xfrm rot="0">
            <a:off x="12659392" y="7253859"/>
            <a:ext cx="1728216" cy="449961"/>
          </a:xfrm>
          <a:prstGeom prst="rect">
            <a:avLst/>
          </a:prstGeom>
        </p:spPr>
        <p:txBody>
          <a:bodyPr anchor="t" rtlCol="false" tIns="0" lIns="0" bIns="0" rIns="0">
            <a:spAutoFit/>
          </a:bodyPr>
          <a:lstStyle/>
          <a:p>
            <a:pPr algn="l">
              <a:lnSpc>
                <a:spcPts val="2839"/>
              </a:lnSpc>
            </a:pPr>
            <a:r>
              <a:rPr lang="en-US" b="true" sz="2088">
                <a:solidFill>
                  <a:srgbClr val="201E1D"/>
                </a:solidFill>
                <a:latin typeface="Arimo Bold"/>
                <a:ea typeface="Arimo Bold"/>
                <a:cs typeface="Arimo Bold"/>
                <a:sym typeface="Arimo Bold"/>
              </a:rPr>
              <a:t>9.003 × 10</a:t>
            </a:r>
            <a:r>
              <a:rPr lang="en-US" b="true" sz="2088">
                <a:solidFill>
                  <a:srgbClr val="201E1D"/>
                </a:solidFill>
                <a:latin typeface="Arimo Bold"/>
                <a:ea typeface="Arimo Bold"/>
                <a:cs typeface="Arimo Bold"/>
                <a:sym typeface="Arimo Bold"/>
              </a:rPr>
              <a:t>m+3</a:t>
            </a:r>
          </a:p>
        </p:txBody>
      </p:sp>
      <p:grpSp>
        <p:nvGrpSpPr>
          <p:cNvPr name="Group 53" id="53"/>
          <p:cNvGrpSpPr/>
          <p:nvPr/>
        </p:nvGrpSpPr>
        <p:grpSpPr>
          <a:xfrm rot="0">
            <a:off x="989838" y="9010650"/>
            <a:ext cx="3209925" cy="666750"/>
            <a:chOff x="0" y="0"/>
            <a:chExt cx="4279900" cy="889000"/>
          </a:xfrm>
        </p:grpSpPr>
        <p:sp>
          <p:nvSpPr>
            <p:cNvPr name="Freeform 54" id="54"/>
            <p:cNvSpPr/>
            <p:nvPr/>
          </p:nvSpPr>
          <p:spPr>
            <a:xfrm flipH="false" flipV="false" rot="0">
              <a:off x="0" y="0"/>
              <a:ext cx="4279900" cy="889000"/>
            </a:xfrm>
            <a:custGeom>
              <a:avLst/>
              <a:gdLst/>
              <a:ahLst/>
              <a:cxnLst/>
              <a:rect r="r" b="b" t="t" l="l"/>
              <a:pathLst>
                <a:path h="889000" w="4279900">
                  <a:moveTo>
                    <a:pt x="444500" y="0"/>
                  </a:moveTo>
                  <a:lnTo>
                    <a:pt x="3835400" y="0"/>
                  </a:lnTo>
                  <a:cubicBezTo>
                    <a:pt x="4080891" y="0"/>
                    <a:pt x="4279900" y="199009"/>
                    <a:pt x="4279900" y="444500"/>
                  </a:cubicBezTo>
                  <a:cubicBezTo>
                    <a:pt x="4279900" y="689991"/>
                    <a:pt x="4080891" y="889000"/>
                    <a:pt x="38354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grpSp>
      <p:sp>
        <p:nvSpPr>
          <p:cNvPr name="TextBox 55" id="55"/>
          <p:cNvSpPr txBox="true"/>
          <p:nvPr/>
        </p:nvSpPr>
        <p:spPr>
          <a:xfrm rot="0">
            <a:off x="1361313" y="9153525"/>
            <a:ext cx="2466975" cy="361950"/>
          </a:xfrm>
          <a:prstGeom prst="rect">
            <a:avLst/>
          </a:prstGeom>
        </p:spPr>
        <p:txBody>
          <a:bodyPr anchor="t" rtlCol="false" tIns="0" lIns="0" bIns="0" rIns="0">
            <a:spAutoFit/>
          </a:bodyPr>
          <a:lstStyle/>
          <a:p>
            <a:pPr algn="ctr">
              <a:lnSpc>
                <a:spcPts val="2700"/>
              </a:lnSpc>
            </a:pPr>
            <a:r>
              <a:rPr lang="en-US" b="true" sz="2250" spc="-44">
                <a:solidFill>
                  <a:srgbClr val="F5EAD8"/>
                </a:solidFill>
                <a:latin typeface="Arimo Bold"/>
                <a:ea typeface="Arimo Bold"/>
                <a:cs typeface="Arimo Bold"/>
                <a:sym typeface="Arimo Bold"/>
              </a:rPr>
              <a:t>Reveal the answers</a:t>
            </a:r>
          </a:p>
        </p:txBody>
      </p:sp>
    </p:spTree>
  </p:cSld>
  <p:clrMapOvr>
    <a:masterClrMapping/>
  </p:clrMapOvr>
</p:sld>
</file>

<file path=ppt/slides/slide3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E1EECC"/>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FFC6A5"/>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CCDBB2"/>
            </a:solidFill>
          </p:spPr>
        </p:sp>
      </p:grpSp>
      <p:grpSp>
        <p:nvGrpSpPr>
          <p:cNvPr name="Group 9" id="9"/>
          <p:cNvGrpSpPr/>
          <p:nvPr/>
        </p:nvGrpSpPr>
        <p:grpSpPr>
          <a:xfrm rot="0">
            <a:off x="914972" y="611505"/>
            <a:ext cx="2762250" cy="600075"/>
            <a:chOff x="0" y="0"/>
            <a:chExt cx="3683000" cy="800100"/>
          </a:xfrm>
        </p:grpSpPr>
        <p:sp>
          <p:nvSpPr>
            <p:cNvPr name="Freeform 10" id="10"/>
            <p:cNvSpPr/>
            <p:nvPr/>
          </p:nvSpPr>
          <p:spPr>
            <a:xfrm flipH="false" flipV="false" rot="0">
              <a:off x="0" y="0"/>
              <a:ext cx="3683000" cy="800100"/>
            </a:xfrm>
            <a:custGeom>
              <a:avLst/>
              <a:gdLst/>
              <a:ahLst/>
              <a:cxnLst/>
              <a:rect r="r" b="b" t="t" l="l"/>
              <a:pathLst>
                <a:path h="800100" w="3683000">
                  <a:moveTo>
                    <a:pt x="400050" y="0"/>
                  </a:moveTo>
                  <a:lnTo>
                    <a:pt x="3282950" y="0"/>
                  </a:lnTo>
                  <a:cubicBezTo>
                    <a:pt x="3503930" y="0"/>
                    <a:pt x="3683000" y="179070"/>
                    <a:pt x="3683000" y="400050"/>
                  </a:cubicBezTo>
                  <a:cubicBezTo>
                    <a:pt x="3683000" y="621030"/>
                    <a:pt x="3503930" y="800100"/>
                    <a:pt x="3282950" y="800100"/>
                  </a:cubicBezTo>
                  <a:lnTo>
                    <a:pt x="400050" y="800100"/>
                  </a:lnTo>
                  <a:cubicBezTo>
                    <a:pt x="179070" y="800100"/>
                    <a:pt x="0" y="621030"/>
                    <a:pt x="0" y="400050"/>
                  </a:cubicBezTo>
                  <a:cubicBezTo>
                    <a:pt x="0" y="179070"/>
                    <a:pt x="179070" y="0"/>
                    <a:pt x="400050" y="0"/>
                  </a:cubicBezTo>
                  <a:close/>
                </a:path>
              </a:pathLst>
            </a:custGeom>
            <a:solidFill>
              <a:srgbClr val="56633F"/>
            </a:solidFill>
          </p:spPr>
        </p:sp>
        <p:sp>
          <p:nvSpPr>
            <p:cNvPr name="TextBox 11" id="11"/>
            <p:cNvSpPr txBox="true"/>
            <p:nvPr/>
          </p:nvSpPr>
          <p:spPr>
            <a:xfrm>
              <a:off x="0" y="-76200"/>
              <a:ext cx="36830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INVESTIGATION</a:t>
              </a:r>
            </a:p>
          </p:txBody>
        </p:sp>
      </p:grpSp>
      <p:sp>
        <p:nvSpPr>
          <p:cNvPr name="TextBox 12" id="12"/>
          <p:cNvSpPr txBox="true"/>
          <p:nvPr/>
        </p:nvSpPr>
        <p:spPr>
          <a:xfrm rot="0">
            <a:off x="3867626" y="630555"/>
            <a:ext cx="1943100" cy="485775"/>
          </a:xfrm>
          <a:prstGeom prst="rect">
            <a:avLst/>
          </a:prstGeom>
        </p:spPr>
        <p:txBody>
          <a:bodyPr anchor="t" rtlCol="false" tIns="0" lIns="0" bIns="0" rIns="0">
            <a:spAutoFit/>
          </a:bodyPr>
          <a:lstStyle/>
          <a:p>
            <a:pPr algn="l">
              <a:lnSpc>
                <a:spcPts val="3255"/>
              </a:lnSpc>
            </a:pPr>
            <a:r>
              <a:rPr lang="en-US" b="true" sz="2100">
                <a:solidFill>
                  <a:srgbClr val="643312"/>
                </a:solidFill>
                <a:latin typeface="Arimo Bold"/>
                <a:ea typeface="Arimo Bold"/>
                <a:cs typeface="Arimo Bold"/>
                <a:sym typeface="Arimo Bold"/>
              </a:rPr>
              <a:t>6.2 · Factorising</a:t>
            </a:r>
          </a:p>
        </p:txBody>
      </p:sp>
      <p:sp>
        <p:nvSpPr>
          <p:cNvPr name="TextBox 13" id="13"/>
          <p:cNvSpPr txBox="true"/>
          <p:nvPr/>
        </p:nvSpPr>
        <p:spPr>
          <a:xfrm rot="0">
            <a:off x="914400" y="1472851"/>
            <a:ext cx="7010400" cy="1057275"/>
          </a:xfrm>
          <a:prstGeom prst="rect">
            <a:avLst/>
          </a:prstGeom>
        </p:spPr>
        <p:txBody>
          <a:bodyPr anchor="t" rtlCol="false" tIns="0" lIns="0" bIns="0" rIns="0">
            <a:spAutoFit/>
          </a:bodyPr>
          <a:lstStyle/>
          <a:p>
            <a:pPr algn="l">
              <a:lnSpc>
                <a:spcPts val="4368"/>
              </a:lnSpc>
            </a:pPr>
            <a:r>
              <a:rPr lang="en-US" b="true" sz="4200" spc="-84">
                <a:solidFill>
                  <a:srgbClr val="201E1D"/>
                </a:solidFill>
                <a:latin typeface="Arimo Bold"/>
                <a:ea typeface="Arimo Bold"/>
                <a:cs typeface="Arimo Bold"/>
                <a:sym typeface="Arimo Bold"/>
              </a:rPr>
              <a:t>Sums of consecutive numbers</a:t>
            </a:r>
          </a:p>
        </p:txBody>
      </p:sp>
      <p:grpSp>
        <p:nvGrpSpPr>
          <p:cNvPr name="Group 14" id="14"/>
          <p:cNvGrpSpPr/>
          <p:nvPr/>
        </p:nvGrpSpPr>
        <p:grpSpPr>
          <a:xfrm rot="0">
            <a:off x="916495" y="9010650"/>
            <a:ext cx="2333625" cy="666750"/>
            <a:chOff x="0" y="0"/>
            <a:chExt cx="3111500" cy="889000"/>
          </a:xfrm>
        </p:grpSpPr>
        <p:sp>
          <p:nvSpPr>
            <p:cNvPr name="Freeform 15" id="15"/>
            <p:cNvSpPr/>
            <p:nvPr/>
          </p:nvSpPr>
          <p:spPr>
            <a:xfrm flipH="false" flipV="false" rot="0">
              <a:off x="0" y="0"/>
              <a:ext cx="3111500" cy="889000"/>
            </a:xfrm>
            <a:custGeom>
              <a:avLst/>
              <a:gdLst/>
              <a:ahLst/>
              <a:cxnLst/>
              <a:rect r="r" b="b" t="t" l="l"/>
              <a:pathLst>
                <a:path h="889000" w="3111500">
                  <a:moveTo>
                    <a:pt x="444500" y="0"/>
                  </a:moveTo>
                  <a:lnTo>
                    <a:pt x="2667000" y="0"/>
                  </a:lnTo>
                  <a:cubicBezTo>
                    <a:pt x="2912491" y="0"/>
                    <a:pt x="3111500" y="199009"/>
                    <a:pt x="3111500" y="444500"/>
                  </a:cubicBezTo>
                  <a:cubicBezTo>
                    <a:pt x="3111500" y="689991"/>
                    <a:pt x="2912491" y="889000"/>
                    <a:pt x="26670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sp>
          <p:nvSpPr>
            <p:cNvPr name="TextBox 16" id="16"/>
            <p:cNvSpPr txBox="true"/>
            <p:nvPr/>
          </p:nvSpPr>
          <p:spPr>
            <a:xfrm>
              <a:off x="0" y="-19050"/>
              <a:ext cx="3111500" cy="908050"/>
            </a:xfrm>
            <a:prstGeom prst="rect">
              <a:avLst/>
            </a:prstGeom>
          </p:spPr>
          <p:txBody>
            <a:bodyPr anchor="t" rtlCol="false" tIns="203200" lIns="203200" bIns="203200" rIns="203200"/>
            <a:lstStyle/>
            <a:p>
              <a:pPr algn="ctr">
                <a:lnSpc>
                  <a:spcPts val="2700"/>
                </a:lnSpc>
              </a:pPr>
              <a:r>
                <a:rPr lang="en-US" b="true" sz="2250" spc="-44">
                  <a:solidFill>
                    <a:srgbClr val="F5EAD8"/>
                  </a:solidFill>
                  <a:latin typeface="Arimo Bold"/>
                  <a:ea typeface="Arimo Bold"/>
                  <a:cs typeface="Arimo Bold"/>
                  <a:sym typeface="Arimo Bold"/>
                </a:rPr>
                <a:t>Next step →</a:t>
              </a:r>
            </a:p>
          </p:txBody>
        </p:sp>
      </p:grpSp>
      <p:sp>
        <p:nvSpPr>
          <p:cNvPr name="TextBox 17" id="17"/>
          <p:cNvSpPr txBox="true"/>
          <p:nvPr/>
        </p:nvSpPr>
        <p:spPr>
          <a:xfrm rot="0">
            <a:off x="3403664" y="8991600"/>
            <a:ext cx="3048000" cy="685800"/>
          </a:xfrm>
          <a:prstGeom prst="rect">
            <a:avLst/>
          </a:prstGeom>
        </p:spPr>
        <p:txBody>
          <a:bodyPr anchor="t" rtlCol="false" tIns="0" lIns="0" bIns="0" rIns="0">
            <a:spAutoFit/>
          </a:bodyPr>
          <a:lstStyle/>
          <a:p>
            <a:pPr algn="ctr">
              <a:lnSpc>
                <a:spcPts val="2700"/>
              </a:lnSpc>
            </a:pPr>
            <a:r>
              <a:rPr lang="en-US" b="true" sz="2250" spc="-44">
                <a:solidFill>
                  <a:srgbClr val="201E1D"/>
                </a:solidFill>
                <a:latin typeface="Arimo Bold"/>
                <a:ea typeface="Arimo Bold"/>
                <a:cs typeface="Arimo Bold"/>
                <a:sym typeface="Arimo Bold"/>
              </a:rPr>
              <a:t>5, 7, 4, 6 numbers?</a:t>
            </a:r>
          </a:p>
        </p:txBody>
      </p:sp>
      <p:grpSp>
        <p:nvGrpSpPr>
          <p:cNvPr name="Group 18" id="18"/>
          <p:cNvGrpSpPr/>
          <p:nvPr/>
        </p:nvGrpSpPr>
        <p:grpSpPr>
          <a:xfrm rot="0">
            <a:off x="1054608" y="2961322"/>
            <a:ext cx="475488" cy="475488"/>
            <a:chOff x="0" y="0"/>
            <a:chExt cx="633984" cy="633984"/>
          </a:xfrm>
        </p:grpSpPr>
        <p:sp>
          <p:nvSpPr>
            <p:cNvPr name="Freeform 19" id="19"/>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C67139"/>
            </a:solidFill>
          </p:spPr>
        </p:sp>
      </p:grpSp>
      <p:sp>
        <p:nvSpPr>
          <p:cNvPr name="TextBox 20" id="20"/>
          <p:cNvSpPr txBox="true"/>
          <p:nvPr/>
        </p:nvSpPr>
        <p:spPr>
          <a:xfrm rot="0">
            <a:off x="1054608" y="2932747"/>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1</a:t>
            </a:r>
          </a:p>
        </p:txBody>
      </p:sp>
      <p:sp>
        <p:nvSpPr>
          <p:cNvPr name="TextBox 21" id="21"/>
          <p:cNvSpPr txBox="true"/>
          <p:nvPr/>
        </p:nvSpPr>
        <p:spPr>
          <a:xfrm rot="0">
            <a:off x="1694117" y="2973514"/>
            <a:ext cx="3630168" cy="413004"/>
          </a:xfrm>
          <a:prstGeom prst="rect">
            <a:avLst/>
          </a:prstGeom>
        </p:spPr>
        <p:txBody>
          <a:bodyPr anchor="t" rtlCol="false" tIns="0" lIns="0" bIns="0" rIns="0">
            <a:spAutoFit/>
          </a:bodyPr>
          <a:lstStyle/>
          <a:p>
            <a:pPr algn="l">
              <a:lnSpc>
                <a:spcPts val="2946"/>
              </a:lnSpc>
            </a:pPr>
            <a:r>
              <a:rPr lang="en-US" b="true" sz="2232">
                <a:solidFill>
                  <a:srgbClr val="201E1D"/>
                </a:solidFill>
                <a:latin typeface="Arimo Bold"/>
                <a:ea typeface="Arimo Bold"/>
                <a:cs typeface="Arimo Bold"/>
                <a:sym typeface="Arimo Bold"/>
              </a:rPr>
              <a:t>Three in a row: n, n + 1, n + 2</a:t>
            </a:r>
          </a:p>
        </p:txBody>
      </p:sp>
      <p:grpSp>
        <p:nvGrpSpPr>
          <p:cNvPr name="Group 22" id="22"/>
          <p:cNvGrpSpPr/>
          <p:nvPr/>
        </p:nvGrpSpPr>
        <p:grpSpPr>
          <a:xfrm rot="0">
            <a:off x="1054608" y="3570922"/>
            <a:ext cx="475488" cy="475488"/>
            <a:chOff x="0" y="0"/>
            <a:chExt cx="633984" cy="633984"/>
          </a:xfrm>
        </p:grpSpPr>
        <p:sp>
          <p:nvSpPr>
            <p:cNvPr name="Freeform 23" id="23"/>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7A8A5E"/>
            </a:solidFill>
          </p:spPr>
        </p:sp>
      </p:grpSp>
      <p:sp>
        <p:nvSpPr>
          <p:cNvPr name="TextBox 24" id="24"/>
          <p:cNvSpPr txBox="true"/>
          <p:nvPr/>
        </p:nvSpPr>
        <p:spPr>
          <a:xfrm rot="0">
            <a:off x="1054608" y="3542347"/>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2</a:t>
            </a:r>
          </a:p>
        </p:txBody>
      </p:sp>
      <p:sp>
        <p:nvSpPr>
          <p:cNvPr name="TextBox 25" id="25"/>
          <p:cNvSpPr txBox="true"/>
          <p:nvPr/>
        </p:nvSpPr>
        <p:spPr>
          <a:xfrm rot="0">
            <a:off x="1692497" y="3583114"/>
            <a:ext cx="4846320" cy="413004"/>
          </a:xfrm>
          <a:prstGeom prst="rect">
            <a:avLst/>
          </a:prstGeom>
        </p:spPr>
        <p:txBody>
          <a:bodyPr anchor="t" rtlCol="false" tIns="0" lIns="0" bIns="0" rIns="0">
            <a:spAutoFit/>
          </a:bodyPr>
          <a:lstStyle/>
          <a:p>
            <a:pPr algn="l">
              <a:lnSpc>
                <a:spcPts val="2946"/>
              </a:lnSpc>
            </a:pPr>
            <a:r>
              <a:rPr lang="en-US" b="true" sz="2232">
                <a:solidFill>
                  <a:srgbClr val="201E1D"/>
                </a:solidFill>
                <a:latin typeface="Arimo Bold"/>
                <a:ea typeface="Arimo Bold"/>
                <a:cs typeface="Arimo Bold"/>
                <a:sym typeface="Arimo Bold"/>
              </a:rPr>
              <a:t>Move one block: every column is n + 1</a:t>
            </a:r>
          </a:p>
        </p:txBody>
      </p:sp>
      <p:grpSp>
        <p:nvGrpSpPr>
          <p:cNvPr name="Group 26" id="26"/>
          <p:cNvGrpSpPr/>
          <p:nvPr/>
        </p:nvGrpSpPr>
        <p:grpSpPr>
          <a:xfrm rot="0">
            <a:off x="1054608" y="4180522"/>
            <a:ext cx="475488" cy="475488"/>
            <a:chOff x="0" y="0"/>
            <a:chExt cx="633984" cy="633984"/>
          </a:xfrm>
        </p:grpSpPr>
        <p:sp>
          <p:nvSpPr>
            <p:cNvPr name="Freeform 27" id="27"/>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C67139"/>
            </a:solidFill>
          </p:spPr>
        </p:sp>
      </p:grpSp>
      <p:sp>
        <p:nvSpPr>
          <p:cNvPr name="TextBox 28" id="28"/>
          <p:cNvSpPr txBox="true"/>
          <p:nvPr/>
        </p:nvSpPr>
        <p:spPr>
          <a:xfrm rot="0">
            <a:off x="1054608" y="4151947"/>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3</a:t>
            </a:r>
          </a:p>
        </p:txBody>
      </p:sp>
      <p:sp>
        <p:nvSpPr>
          <p:cNvPr name="TextBox 29" id="29"/>
          <p:cNvSpPr txBox="true"/>
          <p:nvPr/>
        </p:nvSpPr>
        <p:spPr>
          <a:xfrm rot="0">
            <a:off x="1695164" y="4192714"/>
            <a:ext cx="4919472" cy="413004"/>
          </a:xfrm>
          <a:prstGeom prst="rect">
            <a:avLst/>
          </a:prstGeom>
        </p:spPr>
        <p:txBody>
          <a:bodyPr anchor="t" rtlCol="false" tIns="0" lIns="0" bIns="0" rIns="0">
            <a:spAutoFit/>
          </a:bodyPr>
          <a:lstStyle/>
          <a:p>
            <a:pPr algn="l">
              <a:lnSpc>
                <a:spcPts val="2946"/>
              </a:lnSpc>
            </a:pPr>
            <a:r>
              <a:rPr lang="en-US" b="true" sz="2232">
                <a:solidFill>
                  <a:srgbClr val="201E1D"/>
                </a:solidFill>
                <a:latin typeface="Arimo Bold"/>
                <a:ea typeface="Arimo Bold"/>
                <a:cs typeface="Arimo Bold"/>
                <a:sym typeface="Arimo Bold"/>
              </a:rPr>
              <a:t>Sum = 3n + 3 = 3(n + 1), a multiple of 3</a:t>
            </a:r>
          </a:p>
        </p:txBody>
      </p:sp>
      <p:grpSp>
        <p:nvGrpSpPr>
          <p:cNvPr name="Group 30" id="30"/>
          <p:cNvGrpSpPr/>
          <p:nvPr/>
        </p:nvGrpSpPr>
        <p:grpSpPr>
          <a:xfrm rot="0">
            <a:off x="1054608" y="4922996"/>
            <a:ext cx="6729984" cy="2295144"/>
            <a:chOff x="0" y="0"/>
            <a:chExt cx="8973312" cy="3060192"/>
          </a:xfrm>
        </p:grpSpPr>
        <p:sp>
          <p:nvSpPr>
            <p:cNvPr name="Freeform 31" id="31"/>
            <p:cNvSpPr/>
            <p:nvPr/>
          </p:nvSpPr>
          <p:spPr>
            <a:xfrm flipH="false" flipV="false" rot="0">
              <a:off x="0" y="0"/>
              <a:ext cx="8973312" cy="3060192"/>
            </a:xfrm>
            <a:custGeom>
              <a:avLst/>
              <a:gdLst/>
              <a:ahLst/>
              <a:cxnLst/>
              <a:rect r="r" b="b" t="t" l="l"/>
              <a:pathLst>
                <a:path h="3060192" w="8973312">
                  <a:moveTo>
                    <a:pt x="355600" y="0"/>
                  </a:moveTo>
                  <a:lnTo>
                    <a:pt x="8617712" y="0"/>
                  </a:lnTo>
                  <a:cubicBezTo>
                    <a:pt x="8814054" y="0"/>
                    <a:pt x="8973312" y="159258"/>
                    <a:pt x="8973312" y="355600"/>
                  </a:cubicBezTo>
                  <a:lnTo>
                    <a:pt x="8973312" y="2704592"/>
                  </a:lnTo>
                  <a:cubicBezTo>
                    <a:pt x="8973312" y="2900934"/>
                    <a:pt x="8814054" y="3060192"/>
                    <a:pt x="8617712" y="3060192"/>
                  </a:cubicBezTo>
                  <a:lnTo>
                    <a:pt x="355600" y="3060192"/>
                  </a:lnTo>
                  <a:cubicBezTo>
                    <a:pt x="159258" y="3060192"/>
                    <a:pt x="0" y="2900934"/>
                    <a:pt x="0" y="2704592"/>
                  </a:cubicBezTo>
                  <a:lnTo>
                    <a:pt x="0" y="355600"/>
                  </a:lnTo>
                  <a:cubicBezTo>
                    <a:pt x="0" y="159258"/>
                    <a:pt x="159258" y="0"/>
                    <a:pt x="355600" y="0"/>
                  </a:cubicBezTo>
                  <a:close/>
                </a:path>
              </a:pathLst>
            </a:custGeom>
            <a:solidFill>
              <a:srgbClr val="F0FAE1"/>
            </a:solidFill>
          </p:spPr>
        </p:sp>
        <p:sp>
          <p:nvSpPr>
            <p:cNvPr name="Freeform 32" id="32"/>
            <p:cNvSpPr/>
            <p:nvPr/>
          </p:nvSpPr>
          <p:spPr>
            <a:xfrm flipH="false" flipV="false" rot="0">
              <a:off x="0" y="0"/>
              <a:ext cx="8973312" cy="3060192"/>
            </a:xfrm>
            <a:custGeom>
              <a:avLst/>
              <a:gdLst/>
              <a:ahLst/>
              <a:cxnLst/>
              <a:rect r="r" b="b" t="t" l="l"/>
              <a:pathLst>
                <a:path h="3060192" w="8973312">
                  <a:moveTo>
                    <a:pt x="355600" y="0"/>
                  </a:moveTo>
                  <a:lnTo>
                    <a:pt x="8617712" y="0"/>
                  </a:lnTo>
                  <a:cubicBezTo>
                    <a:pt x="8814054" y="0"/>
                    <a:pt x="8973312" y="159258"/>
                    <a:pt x="8973312" y="355600"/>
                  </a:cubicBezTo>
                  <a:lnTo>
                    <a:pt x="8973312" y="2704592"/>
                  </a:lnTo>
                  <a:cubicBezTo>
                    <a:pt x="8973312" y="2900934"/>
                    <a:pt x="8814054" y="3060192"/>
                    <a:pt x="8617712" y="3060192"/>
                  </a:cubicBezTo>
                  <a:lnTo>
                    <a:pt x="355600" y="3060192"/>
                  </a:lnTo>
                  <a:cubicBezTo>
                    <a:pt x="159258" y="3060192"/>
                    <a:pt x="0" y="2900934"/>
                    <a:pt x="0" y="2704592"/>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33" id="33"/>
          <p:cNvSpPr txBox="true"/>
          <p:nvPr/>
        </p:nvSpPr>
        <p:spPr>
          <a:xfrm rot="0">
            <a:off x="1338072" y="5065967"/>
            <a:ext cx="6163056"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34" id="34"/>
          <p:cNvSpPr txBox="true"/>
          <p:nvPr/>
        </p:nvSpPr>
        <p:spPr>
          <a:xfrm rot="0">
            <a:off x="1338072" y="5430774"/>
            <a:ext cx="329184" cy="385572"/>
          </a:xfrm>
          <a:prstGeom prst="rect">
            <a:avLst/>
          </a:prstGeom>
        </p:spPr>
        <p:txBody>
          <a:bodyPr anchor="t" rtlCol="false" tIns="0" lIns="0" bIns="0" rIns="0">
            <a:spAutoFit/>
          </a:bodyPr>
          <a:lstStyle/>
          <a:p>
            <a:pPr algn="l">
              <a:lnSpc>
                <a:spcPts val="2741"/>
              </a:lnSpc>
            </a:pPr>
            <a:r>
              <a:rPr lang="en-US" b="true" sz="2016">
                <a:solidFill>
                  <a:srgbClr val="3D472B"/>
                </a:solidFill>
                <a:latin typeface="Arimo Bold"/>
                <a:ea typeface="Arimo Bold"/>
                <a:cs typeface="Arimo Bold"/>
                <a:sym typeface="Arimo Bold"/>
              </a:rPr>
              <a:t>5</a:t>
            </a:r>
          </a:p>
        </p:txBody>
      </p:sp>
      <p:sp>
        <p:nvSpPr>
          <p:cNvPr name="TextBox 35" id="35"/>
          <p:cNvSpPr txBox="true"/>
          <p:nvPr/>
        </p:nvSpPr>
        <p:spPr>
          <a:xfrm rot="0">
            <a:off x="1811941" y="5430774"/>
            <a:ext cx="3995928" cy="385572"/>
          </a:xfrm>
          <a:prstGeom prst="rect">
            <a:avLst/>
          </a:prstGeom>
        </p:spPr>
        <p:txBody>
          <a:bodyPr anchor="t" rtlCol="false" tIns="0" lIns="0" bIns="0" rIns="0">
            <a:spAutoFit/>
          </a:bodyPr>
          <a:lstStyle/>
          <a:p>
            <a:pPr algn="l">
              <a:lnSpc>
                <a:spcPts val="2741"/>
              </a:lnSpc>
            </a:pPr>
            <a:r>
              <a:rPr lang="en-US" b="true" sz="2016">
                <a:solidFill>
                  <a:srgbClr val="201E1D"/>
                </a:solidFill>
                <a:latin typeface="Arimo Bold"/>
                <a:ea typeface="Arimo Bold"/>
                <a:cs typeface="Arimo Bold"/>
                <a:sym typeface="Arimo Bold"/>
              </a:rPr>
              <a:t>n + … + (n + 4) = 5n + 10 = 5(n + 2)</a:t>
            </a:r>
          </a:p>
        </p:txBody>
      </p:sp>
      <p:sp>
        <p:nvSpPr>
          <p:cNvPr name="TextBox 36" id="36"/>
          <p:cNvSpPr txBox="true"/>
          <p:nvPr/>
        </p:nvSpPr>
        <p:spPr>
          <a:xfrm rot="0">
            <a:off x="1338072" y="5833777"/>
            <a:ext cx="329184" cy="385572"/>
          </a:xfrm>
          <a:prstGeom prst="rect">
            <a:avLst/>
          </a:prstGeom>
        </p:spPr>
        <p:txBody>
          <a:bodyPr anchor="t" rtlCol="false" tIns="0" lIns="0" bIns="0" rIns="0">
            <a:spAutoFit/>
          </a:bodyPr>
          <a:lstStyle/>
          <a:p>
            <a:pPr algn="l">
              <a:lnSpc>
                <a:spcPts val="2741"/>
              </a:lnSpc>
            </a:pPr>
            <a:r>
              <a:rPr lang="en-US" b="true" sz="2016">
                <a:solidFill>
                  <a:srgbClr val="3D472B"/>
                </a:solidFill>
                <a:latin typeface="Arimo Bold"/>
                <a:ea typeface="Arimo Bold"/>
                <a:cs typeface="Arimo Bold"/>
                <a:sym typeface="Arimo Bold"/>
              </a:rPr>
              <a:t>7</a:t>
            </a:r>
          </a:p>
        </p:txBody>
      </p:sp>
      <p:sp>
        <p:nvSpPr>
          <p:cNvPr name="TextBox 37" id="37"/>
          <p:cNvSpPr txBox="true"/>
          <p:nvPr/>
        </p:nvSpPr>
        <p:spPr>
          <a:xfrm rot="0">
            <a:off x="1815179" y="5833777"/>
            <a:ext cx="2002536" cy="385572"/>
          </a:xfrm>
          <a:prstGeom prst="rect">
            <a:avLst/>
          </a:prstGeom>
        </p:spPr>
        <p:txBody>
          <a:bodyPr anchor="t" rtlCol="false" tIns="0" lIns="0" bIns="0" rIns="0">
            <a:spAutoFit/>
          </a:bodyPr>
          <a:lstStyle/>
          <a:p>
            <a:pPr algn="l">
              <a:lnSpc>
                <a:spcPts val="2741"/>
              </a:lnSpc>
            </a:pPr>
            <a:r>
              <a:rPr lang="en-US" b="true" sz="2016">
                <a:solidFill>
                  <a:srgbClr val="201E1D"/>
                </a:solidFill>
                <a:latin typeface="Arimo Bold"/>
                <a:ea typeface="Arimo Bold"/>
                <a:cs typeface="Arimo Bold"/>
                <a:sym typeface="Arimo Bold"/>
              </a:rPr>
              <a:t>7n + 21 = 7(n + 3)</a:t>
            </a:r>
          </a:p>
        </p:txBody>
      </p:sp>
      <p:sp>
        <p:nvSpPr>
          <p:cNvPr name="TextBox 38" id="38"/>
          <p:cNvSpPr txBox="true"/>
          <p:nvPr/>
        </p:nvSpPr>
        <p:spPr>
          <a:xfrm rot="0">
            <a:off x="1338072" y="6236875"/>
            <a:ext cx="329184" cy="385572"/>
          </a:xfrm>
          <a:prstGeom prst="rect">
            <a:avLst/>
          </a:prstGeom>
        </p:spPr>
        <p:txBody>
          <a:bodyPr anchor="t" rtlCol="false" tIns="0" lIns="0" bIns="0" rIns="0">
            <a:spAutoFit/>
          </a:bodyPr>
          <a:lstStyle/>
          <a:p>
            <a:pPr algn="l">
              <a:lnSpc>
                <a:spcPts val="2741"/>
              </a:lnSpc>
            </a:pPr>
            <a:r>
              <a:rPr lang="en-US" b="true" sz="2016">
                <a:solidFill>
                  <a:srgbClr val="3D472B"/>
                </a:solidFill>
                <a:latin typeface="Arimo Bold"/>
                <a:ea typeface="Arimo Bold"/>
                <a:cs typeface="Arimo Bold"/>
                <a:sym typeface="Arimo Bold"/>
              </a:rPr>
              <a:t>4</a:t>
            </a:r>
          </a:p>
        </p:txBody>
      </p:sp>
      <p:sp>
        <p:nvSpPr>
          <p:cNvPr name="TextBox 39" id="39"/>
          <p:cNvSpPr txBox="true"/>
          <p:nvPr/>
        </p:nvSpPr>
        <p:spPr>
          <a:xfrm rot="0">
            <a:off x="1811941" y="6236875"/>
            <a:ext cx="5477256" cy="385572"/>
          </a:xfrm>
          <a:prstGeom prst="rect">
            <a:avLst/>
          </a:prstGeom>
        </p:spPr>
        <p:txBody>
          <a:bodyPr anchor="t" rtlCol="false" tIns="0" lIns="0" bIns="0" rIns="0">
            <a:spAutoFit/>
          </a:bodyPr>
          <a:lstStyle/>
          <a:p>
            <a:pPr algn="l">
              <a:lnSpc>
                <a:spcPts val="2741"/>
              </a:lnSpc>
            </a:pPr>
            <a:r>
              <a:rPr lang="en-US" b="true" sz="2016">
                <a:solidFill>
                  <a:srgbClr val="201E1D"/>
                </a:solidFill>
                <a:latin typeface="Arimo Bold"/>
                <a:ea typeface="Arimo Bold"/>
                <a:cs typeface="Arimo Bold"/>
                <a:sym typeface="Arimo Bold"/>
              </a:rPr>
              <a:t>4n + 6 = 2(2n + 3): even, but not a multiple of 4</a:t>
            </a:r>
          </a:p>
        </p:txBody>
      </p:sp>
      <p:sp>
        <p:nvSpPr>
          <p:cNvPr name="TextBox 40" id="40"/>
          <p:cNvSpPr txBox="true"/>
          <p:nvPr/>
        </p:nvSpPr>
        <p:spPr>
          <a:xfrm rot="0">
            <a:off x="1338072" y="6639878"/>
            <a:ext cx="329184" cy="385572"/>
          </a:xfrm>
          <a:prstGeom prst="rect">
            <a:avLst/>
          </a:prstGeom>
        </p:spPr>
        <p:txBody>
          <a:bodyPr anchor="t" rtlCol="false" tIns="0" lIns="0" bIns="0" rIns="0">
            <a:spAutoFit/>
          </a:bodyPr>
          <a:lstStyle/>
          <a:p>
            <a:pPr algn="l">
              <a:lnSpc>
                <a:spcPts val="2741"/>
              </a:lnSpc>
            </a:pPr>
            <a:r>
              <a:rPr lang="en-US" b="true" sz="2016">
                <a:solidFill>
                  <a:srgbClr val="3D472B"/>
                </a:solidFill>
                <a:latin typeface="Arimo Bold"/>
                <a:ea typeface="Arimo Bold"/>
                <a:cs typeface="Arimo Bold"/>
                <a:sym typeface="Arimo Bold"/>
              </a:rPr>
              <a:t>6</a:t>
            </a:r>
          </a:p>
        </p:txBody>
      </p:sp>
      <p:sp>
        <p:nvSpPr>
          <p:cNvPr name="TextBox 41" id="41"/>
          <p:cNvSpPr txBox="true"/>
          <p:nvPr/>
        </p:nvSpPr>
        <p:spPr>
          <a:xfrm rot="0">
            <a:off x="1811560" y="6639878"/>
            <a:ext cx="4517136" cy="385572"/>
          </a:xfrm>
          <a:prstGeom prst="rect">
            <a:avLst/>
          </a:prstGeom>
        </p:spPr>
        <p:txBody>
          <a:bodyPr anchor="t" rtlCol="false" tIns="0" lIns="0" bIns="0" rIns="0">
            <a:spAutoFit/>
          </a:bodyPr>
          <a:lstStyle/>
          <a:p>
            <a:pPr algn="l">
              <a:lnSpc>
                <a:spcPts val="2741"/>
              </a:lnSpc>
            </a:pPr>
            <a:r>
              <a:rPr lang="en-US" b="true" sz="2016">
                <a:solidFill>
                  <a:srgbClr val="201E1D"/>
                </a:solidFill>
                <a:latin typeface="Arimo Bold"/>
                <a:ea typeface="Arimo Bold"/>
                <a:cs typeface="Arimo Bold"/>
                <a:sym typeface="Arimo Bold"/>
              </a:rPr>
              <a:t>6n + 15 = 3(2n + 5): a multiple of 3 only</a:t>
            </a:r>
          </a:p>
        </p:txBody>
      </p:sp>
      <p:grpSp>
        <p:nvGrpSpPr>
          <p:cNvPr name="Group 42" id="42"/>
          <p:cNvGrpSpPr/>
          <p:nvPr/>
        </p:nvGrpSpPr>
        <p:grpSpPr>
          <a:xfrm rot="0">
            <a:off x="8420100" y="609600"/>
            <a:ext cx="8953500" cy="9067800"/>
            <a:chOff x="0" y="0"/>
            <a:chExt cx="11938000" cy="12090400"/>
          </a:xfrm>
        </p:grpSpPr>
        <p:sp>
          <p:nvSpPr>
            <p:cNvPr name="Freeform 43" id="43"/>
            <p:cNvSpPr/>
            <p:nvPr/>
          </p:nvSpPr>
          <p:spPr>
            <a:xfrm flipH="false" flipV="false" rot="0">
              <a:off x="0" y="0"/>
              <a:ext cx="11938000" cy="12090400"/>
            </a:xfrm>
            <a:custGeom>
              <a:avLst/>
              <a:gdLst/>
              <a:ahLst/>
              <a:cxnLst/>
              <a:rect r="r" b="b" t="t" l="l"/>
              <a:pathLst>
                <a:path h="12090400" w="11938000">
                  <a:moveTo>
                    <a:pt x="711200" y="0"/>
                  </a:moveTo>
                  <a:lnTo>
                    <a:pt x="11226800" y="0"/>
                  </a:lnTo>
                  <a:cubicBezTo>
                    <a:pt x="11619611" y="0"/>
                    <a:pt x="11938000" y="318389"/>
                    <a:pt x="11938000" y="711200"/>
                  </a:cubicBezTo>
                  <a:lnTo>
                    <a:pt x="11938000" y="11379200"/>
                  </a:lnTo>
                  <a:cubicBezTo>
                    <a:pt x="11938000" y="11772011"/>
                    <a:pt x="11619611" y="12090400"/>
                    <a:pt x="11226800" y="12090400"/>
                  </a:cubicBezTo>
                  <a:lnTo>
                    <a:pt x="711200" y="12090400"/>
                  </a:lnTo>
                  <a:cubicBezTo>
                    <a:pt x="318389" y="12090400"/>
                    <a:pt x="0" y="11772011"/>
                    <a:pt x="0" y="11379200"/>
                  </a:cubicBezTo>
                  <a:lnTo>
                    <a:pt x="0" y="711200"/>
                  </a:lnTo>
                  <a:cubicBezTo>
                    <a:pt x="0" y="318389"/>
                    <a:pt x="318389" y="0"/>
                    <a:pt x="711200" y="0"/>
                  </a:cubicBezTo>
                  <a:close/>
                </a:path>
              </a:pathLst>
            </a:custGeom>
            <a:solidFill>
              <a:srgbClr val="EBDDC5"/>
            </a:solidFill>
          </p:spPr>
        </p:sp>
      </p:grpSp>
    </p:spTree>
  </p:cSld>
  <p:clrMapOvr>
    <a:masterClrMapping/>
  </p:clrMapOvr>
</p:sld>
</file>

<file path=ppt/slides/slide3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E1EECC"/>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FFC6A5"/>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CCDBB2"/>
            </a:solidFill>
          </p:spPr>
        </p:sp>
      </p:grpSp>
      <p:grpSp>
        <p:nvGrpSpPr>
          <p:cNvPr name="Group 9" id="9"/>
          <p:cNvGrpSpPr/>
          <p:nvPr/>
        </p:nvGrpSpPr>
        <p:grpSpPr>
          <a:xfrm rot="0">
            <a:off x="992695" y="611505"/>
            <a:ext cx="2514600" cy="600075"/>
            <a:chOff x="0" y="0"/>
            <a:chExt cx="3352800" cy="800100"/>
          </a:xfrm>
        </p:grpSpPr>
        <p:sp>
          <p:nvSpPr>
            <p:cNvPr name="Freeform 10" id="10"/>
            <p:cNvSpPr/>
            <p:nvPr/>
          </p:nvSpPr>
          <p:spPr>
            <a:xfrm flipH="false" flipV="false" rot="0">
              <a:off x="0" y="0"/>
              <a:ext cx="3352800" cy="800100"/>
            </a:xfrm>
            <a:custGeom>
              <a:avLst/>
              <a:gdLst/>
              <a:ahLst/>
              <a:cxnLst/>
              <a:rect r="r" b="b" t="t" l="l"/>
              <a:pathLst>
                <a:path h="800100" w="3352800">
                  <a:moveTo>
                    <a:pt x="400050" y="0"/>
                  </a:moveTo>
                  <a:lnTo>
                    <a:pt x="2952750" y="0"/>
                  </a:lnTo>
                  <a:cubicBezTo>
                    <a:pt x="3173730" y="0"/>
                    <a:pt x="3352800" y="179070"/>
                    <a:pt x="3352800" y="400050"/>
                  </a:cubicBezTo>
                  <a:cubicBezTo>
                    <a:pt x="3352800" y="621030"/>
                    <a:pt x="3173730" y="800100"/>
                    <a:pt x="2952750" y="800100"/>
                  </a:cubicBezTo>
                  <a:lnTo>
                    <a:pt x="400050" y="800100"/>
                  </a:lnTo>
                  <a:cubicBezTo>
                    <a:pt x="179070" y="800100"/>
                    <a:pt x="0" y="621030"/>
                    <a:pt x="0" y="400050"/>
                  </a:cubicBezTo>
                  <a:cubicBezTo>
                    <a:pt x="0" y="179070"/>
                    <a:pt x="179070" y="0"/>
                    <a:pt x="400050" y="0"/>
                  </a:cubicBezTo>
                  <a:close/>
                </a:path>
              </a:pathLst>
            </a:custGeom>
            <a:solidFill>
              <a:srgbClr val="56633F"/>
            </a:solidFill>
          </p:spPr>
        </p:sp>
        <p:sp>
          <p:nvSpPr>
            <p:cNvPr name="TextBox 11" id="11"/>
            <p:cNvSpPr txBox="true"/>
            <p:nvPr/>
          </p:nvSpPr>
          <p:spPr>
            <a:xfrm>
              <a:off x="0" y="-76200"/>
              <a:ext cx="33528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QUICK CHECK</a:t>
              </a:r>
            </a:p>
          </p:txBody>
        </p:sp>
      </p:grpSp>
      <p:sp>
        <p:nvSpPr>
          <p:cNvPr name="TextBox 12" id="12"/>
          <p:cNvSpPr txBox="true"/>
          <p:nvPr/>
        </p:nvSpPr>
        <p:spPr>
          <a:xfrm rot="0">
            <a:off x="3701796" y="630555"/>
            <a:ext cx="371475" cy="485775"/>
          </a:xfrm>
          <a:prstGeom prst="rect">
            <a:avLst/>
          </a:prstGeom>
        </p:spPr>
        <p:txBody>
          <a:bodyPr anchor="t" rtlCol="false" tIns="0" lIns="0" bIns="0" rIns="0">
            <a:spAutoFit/>
          </a:bodyPr>
          <a:lstStyle/>
          <a:p>
            <a:pPr algn="l">
              <a:lnSpc>
                <a:spcPts val="3255"/>
              </a:lnSpc>
            </a:pPr>
            <a:r>
              <a:rPr lang="en-US" b="true" sz="2100">
                <a:solidFill>
                  <a:srgbClr val="643312"/>
                </a:solidFill>
                <a:latin typeface="Arimo Bold"/>
                <a:ea typeface="Arimo Bold"/>
                <a:cs typeface="Arimo Bold"/>
                <a:sym typeface="Arimo Bold"/>
              </a:rPr>
              <a:t>6.2</a:t>
            </a:r>
          </a:p>
        </p:txBody>
      </p:sp>
      <p:sp>
        <p:nvSpPr>
          <p:cNvPr name="TextBox 13" id="13"/>
          <p:cNvSpPr txBox="true"/>
          <p:nvPr/>
        </p:nvSpPr>
        <p:spPr>
          <a:xfrm rot="0">
            <a:off x="990600" y="1510570"/>
            <a:ext cx="16306800" cy="542925"/>
          </a:xfrm>
          <a:prstGeom prst="rect">
            <a:avLst/>
          </a:prstGeom>
        </p:spPr>
        <p:txBody>
          <a:bodyPr anchor="t" rtlCol="false" tIns="0" lIns="0" bIns="0" rIns="0">
            <a:spAutoFit/>
          </a:bodyPr>
          <a:lstStyle/>
          <a:p>
            <a:pPr algn="l">
              <a:lnSpc>
                <a:spcPts val="4680"/>
              </a:lnSpc>
            </a:pPr>
            <a:r>
              <a:rPr lang="en-US" b="true" sz="4500" spc="-89">
                <a:solidFill>
                  <a:srgbClr val="201E1D"/>
                </a:solidFill>
                <a:latin typeface="Arimo Bold"/>
                <a:ea typeface="Arimo Bold"/>
                <a:cs typeface="Arimo Bold"/>
                <a:sym typeface="Arimo Bold"/>
              </a:rPr>
              <a:t>Check your understanding</a:t>
            </a:r>
          </a:p>
        </p:txBody>
      </p:sp>
      <p:grpSp>
        <p:nvGrpSpPr>
          <p:cNvPr name="Group 14" id="14"/>
          <p:cNvGrpSpPr/>
          <p:nvPr/>
        </p:nvGrpSpPr>
        <p:grpSpPr>
          <a:xfrm rot="0">
            <a:off x="990600" y="2303240"/>
            <a:ext cx="8048625" cy="2066925"/>
            <a:chOff x="0" y="0"/>
            <a:chExt cx="10731500" cy="2755900"/>
          </a:xfrm>
        </p:grpSpPr>
        <p:sp>
          <p:nvSpPr>
            <p:cNvPr name="Freeform 15" id="15"/>
            <p:cNvSpPr/>
            <p:nvPr/>
          </p:nvSpPr>
          <p:spPr>
            <a:xfrm flipH="false" flipV="false" rot="0">
              <a:off x="0" y="0"/>
              <a:ext cx="10731500" cy="2755900"/>
            </a:xfrm>
            <a:custGeom>
              <a:avLst/>
              <a:gdLst/>
              <a:ahLst/>
              <a:cxnLst/>
              <a:rect r="r" b="b" t="t" l="l"/>
              <a:pathLst>
                <a:path h="2755900" w="10731500">
                  <a:moveTo>
                    <a:pt x="355600" y="0"/>
                  </a:moveTo>
                  <a:lnTo>
                    <a:pt x="10375900" y="0"/>
                  </a:lnTo>
                  <a:cubicBezTo>
                    <a:pt x="10572242" y="0"/>
                    <a:pt x="10731500" y="159258"/>
                    <a:pt x="10731500" y="355600"/>
                  </a:cubicBezTo>
                  <a:lnTo>
                    <a:pt x="10731500" y="2400300"/>
                  </a:lnTo>
                  <a:cubicBezTo>
                    <a:pt x="10731500" y="2596642"/>
                    <a:pt x="10572242" y="2755900"/>
                    <a:pt x="10375900" y="2755900"/>
                  </a:cubicBezTo>
                  <a:lnTo>
                    <a:pt x="355600" y="2755900"/>
                  </a:lnTo>
                  <a:cubicBezTo>
                    <a:pt x="159258" y="2755900"/>
                    <a:pt x="0" y="2596642"/>
                    <a:pt x="0" y="2400300"/>
                  </a:cubicBezTo>
                  <a:lnTo>
                    <a:pt x="0" y="355600"/>
                  </a:lnTo>
                  <a:cubicBezTo>
                    <a:pt x="0" y="159258"/>
                    <a:pt x="159258" y="0"/>
                    <a:pt x="355600" y="0"/>
                  </a:cubicBezTo>
                  <a:close/>
                </a:path>
              </a:pathLst>
            </a:custGeom>
            <a:solidFill>
              <a:srgbClr val="EBDDC5"/>
            </a:solidFill>
          </p:spPr>
        </p:sp>
      </p:grpSp>
      <p:sp>
        <p:nvSpPr>
          <p:cNvPr name="TextBox 16" id="16"/>
          <p:cNvSpPr txBox="true"/>
          <p:nvPr/>
        </p:nvSpPr>
        <p:spPr>
          <a:xfrm rot="0">
            <a:off x="1276350" y="2437257"/>
            <a:ext cx="7477125" cy="428625"/>
          </a:xfrm>
          <a:prstGeom prst="rect">
            <a:avLst/>
          </a:prstGeom>
        </p:spPr>
        <p:txBody>
          <a:bodyPr anchor="t" rtlCol="false" tIns="0" lIns="0" bIns="0" rIns="0">
            <a:spAutoFit/>
          </a:bodyPr>
          <a:lstStyle/>
          <a:p>
            <a:pPr algn="l">
              <a:lnSpc>
                <a:spcPts val="2790"/>
              </a:lnSpc>
            </a:pPr>
            <a:r>
              <a:rPr lang="en-US" b="true" sz="1800" spc="144">
                <a:solidFill>
                  <a:srgbClr val="8C491A"/>
                </a:solidFill>
                <a:latin typeface="Arimo Bold"/>
                <a:ea typeface="Arimo Bold"/>
                <a:cs typeface="Arimo Bold"/>
                <a:sym typeface="Arimo Bold"/>
              </a:rPr>
              <a:t>QUESTION 9</a:t>
            </a:r>
          </a:p>
        </p:txBody>
      </p:sp>
      <p:sp>
        <p:nvSpPr>
          <p:cNvPr name="TextBox 17" id="17"/>
          <p:cNvSpPr txBox="true"/>
          <p:nvPr/>
        </p:nvSpPr>
        <p:spPr>
          <a:xfrm rot="0">
            <a:off x="1276350" y="2932843"/>
            <a:ext cx="7477125" cy="476250"/>
          </a:xfrm>
          <a:prstGeom prst="rect">
            <a:avLst/>
          </a:prstGeom>
        </p:spPr>
        <p:txBody>
          <a:bodyPr anchor="t" rtlCol="false" tIns="0" lIns="0" bIns="0" rIns="0">
            <a:spAutoFit/>
          </a:bodyPr>
          <a:lstStyle/>
          <a:p>
            <a:pPr algn="l">
              <a:lnSpc>
                <a:spcPts val="3366"/>
              </a:lnSpc>
            </a:pPr>
            <a:r>
              <a:rPr lang="en-US" b="true" sz="2475">
                <a:solidFill>
                  <a:srgbClr val="201E1D"/>
                </a:solidFill>
                <a:latin typeface="Arimo Bold"/>
                <a:ea typeface="Arimo Bold"/>
                <a:cs typeface="Arimo Bold"/>
                <a:sym typeface="Arimo Bold"/>
              </a:rPr>
              <a:t>12x + 18 = k(2x + 3). Find k.</a:t>
            </a:r>
          </a:p>
        </p:txBody>
      </p:sp>
      <p:grpSp>
        <p:nvGrpSpPr>
          <p:cNvPr name="Group 18" id="18"/>
          <p:cNvGrpSpPr/>
          <p:nvPr/>
        </p:nvGrpSpPr>
        <p:grpSpPr>
          <a:xfrm rot="0">
            <a:off x="3884009" y="3565588"/>
            <a:ext cx="1333500" cy="552450"/>
            <a:chOff x="0" y="0"/>
            <a:chExt cx="1778000" cy="736600"/>
          </a:xfrm>
        </p:grpSpPr>
        <p:sp>
          <p:nvSpPr>
            <p:cNvPr name="Freeform 19" id="19"/>
            <p:cNvSpPr/>
            <p:nvPr/>
          </p:nvSpPr>
          <p:spPr>
            <a:xfrm flipH="false" flipV="false" rot="0">
              <a:off x="0" y="0"/>
              <a:ext cx="1778000" cy="736600"/>
            </a:xfrm>
            <a:custGeom>
              <a:avLst/>
              <a:gdLst/>
              <a:ahLst/>
              <a:cxnLst/>
              <a:rect r="r" b="b" t="t" l="l"/>
              <a:pathLst>
                <a:path h="736600" w="1778000">
                  <a:moveTo>
                    <a:pt x="368300" y="0"/>
                  </a:moveTo>
                  <a:lnTo>
                    <a:pt x="1409700" y="0"/>
                  </a:lnTo>
                  <a:cubicBezTo>
                    <a:pt x="1613154" y="0"/>
                    <a:pt x="1778000" y="164846"/>
                    <a:pt x="1778000" y="368300"/>
                  </a:cubicBezTo>
                  <a:cubicBezTo>
                    <a:pt x="1778000" y="571754"/>
                    <a:pt x="1613154" y="736600"/>
                    <a:pt x="1409700" y="736600"/>
                  </a:cubicBezTo>
                  <a:lnTo>
                    <a:pt x="368300" y="736600"/>
                  </a:lnTo>
                  <a:cubicBezTo>
                    <a:pt x="164846" y="736600"/>
                    <a:pt x="0" y="571754"/>
                    <a:pt x="0" y="368300"/>
                  </a:cubicBezTo>
                  <a:cubicBezTo>
                    <a:pt x="0" y="164846"/>
                    <a:pt x="164846" y="0"/>
                    <a:pt x="368300" y="0"/>
                  </a:cubicBezTo>
                  <a:close/>
                </a:path>
              </a:pathLst>
            </a:custGeom>
            <a:solidFill>
              <a:srgbClr val="C67139"/>
            </a:solidFill>
          </p:spPr>
        </p:sp>
        <p:sp>
          <p:nvSpPr>
            <p:cNvPr name="TextBox 20" id="20"/>
            <p:cNvSpPr txBox="true"/>
            <p:nvPr/>
          </p:nvSpPr>
          <p:spPr>
            <a:xfrm>
              <a:off x="0" y="-9525"/>
              <a:ext cx="1778000" cy="746125"/>
            </a:xfrm>
            <a:prstGeom prst="rect">
              <a:avLst/>
            </a:prstGeom>
          </p:spPr>
          <p:txBody>
            <a:bodyPr anchor="t" rtlCol="false" tIns="149860" lIns="149860" bIns="149860" rIns="149860"/>
            <a:lstStyle/>
            <a:p>
              <a:pPr algn="ctr">
                <a:lnSpc>
                  <a:spcPts val="2430"/>
                </a:lnSpc>
              </a:pPr>
              <a:r>
                <a:rPr lang="en-US" b="true" sz="2025" spc="-40">
                  <a:solidFill>
                    <a:srgbClr val="F5EAD8"/>
                  </a:solidFill>
                  <a:latin typeface="Arimo Bold"/>
                  <a:ea typeface="Arimo Bold"/>
                  <a:cs typeface="Arimo Bold"/>
                  <a:sym typeface="Arimo Bold"/>
                </a:rPr>
                <a:t>Check</a:t>
              </a:r>
            </a:p>
          </p:txBody>
        </p:sp>
      </p:grpSp>
      <p:sp>
        <p:nvSpPr>
          <p:cNvPr name="TextBox 21" id="21"/>
          <p:cNvSpPr txBox="true"/>
          <p:nvPr/>
        </p:nvSpPr>
        <p:spPr>
          <a:xfrm rot="0">
            <a:off x="5348478" y="3556063"/>
            <a:ext cx="1981200" cy="561975"/>
          </a:xfrm>
          <a:prstGeom prst="rect">
            <a:avLst/>
          </a:prstGeom>
        </p:spPr>
        <p:txBody>
          <a:bodyPr anchor="t" rtlCol="false" tIns="0" lIns="0" bIns="0" rIns="0">
            <a:spAutoFit/>
          </a:bodyPr>
          <a:lstStyle/>
          <a:p>
            <a:pPr algn="ctr">
              <a:lnSpc>
                <a:spcPts val="2430"/>
              </a:lnSpc>
            </a:pPr>
            <a:r>
              <a:rPr lang="en-US" b="true" sz="2025" spc="-40">
                <a:solidFill>
                  <a:srgbClr val="C67139"/>
                </a:solidFill>
                <a:latin typeface="Arimo Bold"/>
                <a:ea typeface="Arimo Bold"/>
                <a:cs typeface="Arimo Bold"/>
                <a:sym typeface="Arimo Bold"/>
              </a:rPr>
              <a:t>Show answer</a:t>
            </a:r>
          </a:p>
        </p:txBody>
      </p:sp>
      <p:grpSp>
        <p:nvGrpSpPr>
          <p:cNvPr name="Group 22" id="22"/>
          <p:cNvGrpSpPr/>
          <p:nvPr/>
        </p:nvGrpSpPr>
        <p:grpSpPr>
          <a:xfrm rot="0">
            <a:off x="9248775" y="2303240"/>
            <a:ext cx="8048625" cy="2066925"/>
            <a:chOff x="0" y="0"/>
            <a:chExt cx="10731500" cy="2755900"/>
          </a:xfrm>
        </p:grpSpPr>
        <p:sp>
          <p:nvSpPr>
            <p:cNvPr name="Freeform 23" id="23"/>
            <p:cNvSpPr/>
            <p:nvPr/>
          </p:nvSpPr>
          <p:spPr>
            <a:xfrm flipH="false" flipV="false" rot="0">
              <a:off x="0" y="0"/>
              <a:ext cx="10731500" cy="2755900"/>
            </a:xfrm>
            <a:custGeom>
              <a:avLst/>
              <a:gdLst/>
              <a:ahLst/>
              <a:cxnLst/>
              <a:rect r="r" b="b" t="t" l="l"/>
              <a:pathLst>
                <a:path h="2755900" w="10731500">
                  <a:moveTo>
                    <a:pt x="355600" y="0"/>
                  </a:moveTo>
                  <a:lnTo>
                    <a:pt x="10375900" y="0"/>
                  </a:lnTo>
                  <a:cubicBezTo>
                    <a:pt x="10572242" y="0"/>
                    <a:pt x="10731500" y="159258"/>
                    <a:pt x="10731500" y="355600"/>
                  </a:cubicBezTo>
                  <a:lnTo>
                    <a:pt x="10731500" y="2400300"/>
                  </a:lnTo>
                  <a:cubicBezTo>
                    <a:pt x="10731500" y="2596642"/>
                    <a:pt x="10572242" y="2755900"/>
                    <a:pt x="10375900" y="2755900"/>
                  </a:cubicBezTo>
                  <a:lnTo>
                    <a:pt x="355600" y="2755900"/>
                  </a:lnTo>
                  <a:cubicBezTo>
                    <a:pt x="159258" y="2755900"/>
                    <a:pt x="0" y="2596642"/>
                    <a:pt x="0" y="2400300"/>
                  </a:cubicBezTo>
                  <a:lnTo>
                    <a:pt x="0" y="355600"/>
                  </a:lnTo>
                  <a:cubicBezTo>
                    <a:pt x="0" y="159258"/>
                    <a:pt x="159258" y="0"/>
                    <a:pt x="355600" y="0"/>
                  </a:cubicBezTo>
                  <a:close/>
                </a:path>
              </a:pathLst>
            </a:custGeom>
            <a:solidFill>
              <a:srgbClr val="EBDDC5"/>
            </a:solidFill>
          </p:spPr>
        </p:sp>
      </p:grpSp>
      <p:sp>
        <p:nvSpPr>
          <p:cNvPr name="TextBox 24" id="24"/>
          <p:cNvSpPr txBox="true"/>
          <p:nvPr/>
        </p:nvSpPr>
        <p:spPr>
          <a:xfrm rot="0">
            <a:off x="9534525" y="2437257"/>
            <a:ext cx="7477125" cy="428625"/>
          </a:xfrm>
          <a:prstGeom prst="rect">
            <a:avLst/>
          </a:prstGeom>
        </p:spPr>
        <p:txBody>
          <a:bodyPr anchor="t" rtlCol="false" tIns="0" lIns="0" bIns="0" rIns="0">
            <a:spAutoFit/>
          </a:bodyPr>
          <a:lstStyle/>
          <a:p>
            <a:pPr algn="l">
              <a:lnSpc>
                <a:spcPts val="2790"/>
              </a:lnSpc>
            </a:pPr>
            <a:r>
              <a:rPr lang="en-US" b="true" sz="1800" spc="144">
                <a:solidFill>
                  <a:srgbClr val="56633F"/>
                </a:solidFill>
                <a:latin typeface="Arimo Bold"/>
                <a:ea typeface="Arimo Bold"/>
                <a:cs typeface="Arimo Bold"/>
                <a:sym typeface="Arimo Bold"/>
              </a:rPr>
              <a:t>QUESTION 10</a:t>
            </a:r>
          </a:p>
        </p:txBody>
      </p:sp>
      <p:sp>
        <p:nvSpPr>
          <p:cNvPr name="TextBox 25" id="25"/>
          <p:cNvSpPr txBox="true"/>
          <p:nvPr/>
        </p:nvSpPr>
        <p:spPr>
          <a:xfrm rot="0">
            <a:off x="9534525" y="2932843"/>
            <a:ext cx="7477125" cy="476250"/>
          </a:xfrm>
          <a:prstGeom prst="rect">
            <a:avLst/>
          </a:prstGeom>
        </p:spPr>
        <p:txBody>
          <a:bodyPr anchor="t" rtlCol="false" tIns="0" lIns="0" bIns="0" rIns="0">
            <a:spAutoFit/>
          </a:bodyPr>
          <a:lstStyle/>
          <a:p>
            <a:pPr algn="l">
              <a:lnSpc>
                <a:spcPts val="3366"/>
              </a:lnSpc>
            </a:pPr>
            <a:r>
              <a:rPr lang="en-US" b="true" sz="2475">
                <a:solidFill>
                  <a:srgbClr val="201E1D"/>
                </a:solidFill>
                <a:latin typeface="Arimo Bold"/>
                <a:ea typeface="Arimo Bold"/>
                <a:cs typeface="Arimo Bold"/>
                <a:sym typeface="Arimo Bold"/>
              </a:rPr>
              <a:t>20a²b − 15ab² = 5ab(pa − qb). Find p and q.</a:t>
            </a:r>
          </a:p>
        </p:txBody>
      </p:sp>
      <p:grpSp>
        <p:nvGrpSpPr>
          <p:cNvPr name="Group 26" id="26"/>
          <p:cNvGrpSpPr/>
          <p:nvPr/>
        </p:nvGrpSpPr>
        <p:grpSpPr>
          <a:xfrm rot="0">
            <a:off x="12142184" y="3565588"/>
            <a:ext cx="1333500" cy="552450"/>
            <a:chOff x="0" y="0"/>
            <a:chExt cx="1778000" cy="736600"/>
          </a:xfrm>
        </p:grpSpPr>
        <p:sp>
          <p:nvSpPr>
            <p:cNvPr name="Freeform 27" id="27"/>
            <p:cNvSpPr/>
            <p:nvPr/>
          </p:nvSpPr>
          <p:spPr>
            <a:xfrm flipH="false" flipV="false" rot="0">
              <a:off x="0" y="0"/>
              <a:ext cx="1778000" cy="736600"/>
            </a:xfrm>
            <a:custGeom>
              <a:avLst/>
              <a:gdLst/>
              <a:ahLst/>
              <a:cxnLst/>
              <a:rect r="r" b="b" t="t" l="l"/>
              <a:pathLst>
                <a:path h="736600" w="1778000">
                  <a:moveTo>
                    <a:pt x="368300" y="0"/>
                  </a:moveTo>
                  <a:lnTo>
                    <a:pt x="1409700" y="0"/>
                  </a:lnTo>
                  <a:cubicBezTo>
                    <a:pt x="1613154" y="0"/>
                    <a:pt x="1778000" y="164846"/>
                    <a:pt x="1778000" y="368300"/>
                  </a:cubicBezTo>
                  <a:cubicBezTo>
                    <a:pt x="1778000" y="571754"/>
                    <a:pt x="1613154" y="736600"/>
                    <a:pt x="1409700" y="736600"/>
                  </a:cubicBezTo>
                  <a:lnTo>
                    <a:pt x="368300" y="736600"/>
                  </a:lnTo>
                  <a:cubicBezTo>
                    <a:pt x="164846" y="736600"/>
                    <a:pt x="0" y="571754"/>
                    <a:pt x="0" y="368300"/>
                  </a:cubicBezTo>
                  <a:cubicBezTo>
                    <a:pt x="0" y="164846"/>
                    <a:pt x="164846" y="0"/>
                    <a:pt x="368300" y="0"/>
                  </a:cubicBezTo>
                  <a:close/>
                </a:path>
              </a:pathLst>
            </a:custGeom>
            <a:solidFill>
              <a:srgbClr val="C67139"/>
            </a:solidFill>
          </p:spPr>
        </p:sp>
        <p:sp>
          <p:nvSpPr>
            <p:cNvPr name="TextBox 28" id="28"/>
            <p:cNvSpPr txBox="true"/>
            <p:nvPr/>
          </p:nvSpPr>
          <p:spPr>
            <a:xfrm>
              <a:off x="0" y="-9525"/>
              <a:ext cx="1778000" cy="746125"/>
            </a:xfrm>
            <a:prstGeom prst="rect">
              <a:avLst/>
            </a:prstGeom>
          </p:spPr>
          <p:txBody>
            <a:bodyPr anchor="t" rtlCol="false" tIns="149860" lIns="149860" bIns="149860" rIns="149860"/>
            <a:lstStyle/>
            <a:p>
              <a:pPr algn="ctr">
                <a:lnSpc>
                  <a:spcPts val="2430"/>
                </a:lnSpc>
              </a:pPr>
              <a:r>
                <a:rPr lang="en-US" b="true" sz="2025" spc="-40">
                  <a:solidFill>
                    <a:srgbClr val="F5EAD8"/>
                  </a:solidFill>
                  <a:latin typeface="Arimo Bold"/>
                  <a:ea typeface="Arimo Bold"/>
                  <a:cs typeface="Arimo Bold"/>
                  <a:sym typeface="Arimo Bold"/>
                </a:rPr>
                <a:t>Check</a:t>
              </a:r>
            </a:p>
          </p:txBody>
        </p:sp>
      </p:grpSp>
      <p:sp>
        <p:nvSpPr>
          <p:cNvPr name="TextBox 29" id="29"/>
          <p:cNvSpPr txBox="true"/>
          <p:nvPr/>
        </p:nvSpPr>
        <p:spPr>
          <a:xfrm rot="0">
            <a:off x="13606653" y="3556063"/>
            <a:ext cx="1981200" cy="561975"/>
          </a:xfrm>
          <a:prstGeom prst="rect">
            <a:avLst/>
          </a:prstGeom>
        </p:spPr>
        <p:txBody>
          <a:bodyPr anchor="t" rtlCol="false" tIns="0" lIns="0" bIns="0" rIns="0">
            <a:spAutoFit/>
          </a:bodyPr>
          <a:lstStyle/>
          <a:p>
            <a:pPr algn="ctr">
              <a:lnSpc>
                <a:spcPts val="2430"/>
              </a:lnSpc>
            </a:pPr>
            <a:r>
              <a:rPr lang="en-US" b="true" sz="2025" spc="-40">
                <a:solidFill>
                  <a:srgbClr val="C67139"/>
                </a:solidFill>
                <a:latin typeface="Arimo Bold"/>
                <a:ea typeface="Arimo Bold"/>
                <a:cs typeface="Arimo Bold"/>
                <a:sym typeface="Arimo Bold"/>
              </a:rPr>
              <a:t>Show answer</a:t>
            </a:r>
          </a:p>
        </p:txBody>
      </p:sp>
      <p:grpSp>
        <p:nvGrpSpPr>
          <p:cNvPr name="Group 30" id="30"/>
          <p:cNvGrpSpPr/>
          <p:nvPr/>
        </p:nvGrpSpPr>
        <p:grpSpPr>
          <a:xfrm rot="0">
            <a:off x="990600" y="4579715"/>
            <a:ext cx="8048625" cy="2495550"/>
            <a:chOff x="0" y="0"/>
            <a:chExt cx="10731500" cy="3327400"/>
          </a:xfrm>
        </p:grpSpPr>
        <p:sp>
          <p:nvSpPr>
            <p:cNvPr name="Freeform 31" id="31"/>
            <p:cNvSpPr/>
            <p:nvPr/>
          </p:nvSpPr>
          <p:spPr>
            <a:xfrm flipH="false" flipV="false" rot="0">
              <a:off x="0" y="0"/>
              <a:ext cx="10731500" cy="3327400"/>
            </a:xfrm>
            <a:custGeom>
              <a:avLst/>
              <a:gdLst/>
              <a:ahLst/>
              <a:cxnLst/>
              <a:rect r="r" b="b" t="t" l="l"/>
              <a:pathLst>
                <a:path h="3327400" w="10731500">
                  <a:moveTo>
                    <a:pt x="355600" y="0"/>
                  </a:moveTo>
                  <a:lnTo>
                    <a:pt x="10375900" y="0"/>
                  </a:lnTo>
                  <a:cubicBezTo>
                    <a:pt x="10572242" y="0"/>
                    <a:pt x="10731500" y="159258"/>
                    <a:pt x="10731500" y="355600"/>
                  </a:cubicBezTo>
                  <a:lnTo>
                    <a:pt x="10731500" y="2971800"/>
                  </a:lnTo>
                  <a:cubicBezTo>
                    <a:pt x="10731500" y="3168142"/>
                    <a:pt x="10572242" y="3327400"/>
                    <a:pt x="10375900" y="3327400"/>
                  </a:cubicBezTo>
                  <a:lnTo>
                    <a:pt x="355600" y="3327400"/>
                  </a:lnTo>
                  <a:cubicBezTo>
                    <a:pt x="159258" y="3327400"/>
                    <a:pt x="0" y="3168142"/>
                    <a:pt x="0" y="2971800"/>
                  </a:cubicBezTo>
                  <a:lnTo>
                    <a:pt x="0" y="355600"/>
                  </a:lnTo>
                  <a:cubicBezTo>
                    <a:pt x="0" y="159258"/>
                    <a:pt x="159258" y="0"/>
                    <a:pt x="355600" y="0"/>
                  </a:cubicBezTo>
                  <a:close/>
                </a:path>
              </a:pathLst>
            </a:custGeom>
            <a:solidFill>
              <a:srgbClr val="EBDDC5"/>
            </a:solidFill>
          </p:spPr>
        </p:sp>
      </p:grpSp>
      <p:sp>
        <p:nvSpPr>
          <p:cNvPr name="TextBox 32" id="32"/>
          <p:cNvSpPr txBox="true"/>
          <p:nvPr/>
        </p:nvSpPr>
        <p:spPr>
          <a:xfrm rot="0">
            <a:off x="1276350" y="4714304"/>
            <a:ext cx="7477125" cy="428625"/>
          </a:xfrm>
          <a:prstGeom prst="rect">
            <a:avLst/>
          </a:prstGeom>
        </p:spPr>
        <p:txBody>
          <a:bodyPr anchor="t" rtlCol="false" tIns="0" lIns="0" bIns="0" rIns="0">
            <a:spAutoFit/>
          </a:bodyPr>
          <a:lstStyle/>
          <a:p>
            <a:pPr algn="l">
              <a:lnSpc>
                <a:spcPts val="2790"/>
              </a:lnSpc>
            </a:pPr>
            <a:r>
              <a:rPr lang="en-US" b="true" sz="1800" spc="144">
                <a:solidFill>
                  <a:srgbClr val="8C491A"/>
                </a:solidFill>
                <a:latin typeface="Arimo Bold"/>
                <a:ea typeface="Arimo Bold"/>
                <a:cs typeface="Arimo Bold"/>
                <a:sym typeface="Arimo Bold"/>
              </a:rPr>
              <a:t>QUESTION 11</a:t>
            </a:r>
          </a:p>
        </p:txBody>
      </p:sp>
      <p:sp>
        <p:nvSpPr>
          <p:cNvPr name="TextBox 33" id="33"/>
          <p:cNvSpPr txBox="true"/>
          <p:nvPr/>
        </p:nvSpPr>
        <p:spPr>
          <a:xfrm rot="0">
            <a:off x="1276350" y="5209889"/>
            <a:ext cx="7477125" cy="476250"/>
          </a:xfrm>
          <a:prstGeom prst="rect">
            <a:avLst/>
          </a:prstGeom>
        </p:spPr>
        <p:txBody>
          <a:bodyPr anchor="t" rtlCol="false" tIns="0" lIns="0" bIns="0" rIns="0">
            <a:spAutoFit/>
          </a:bodyPr>
          <a:lstStyle/>
          <a:p>
            <a:pPr algn="l">
              <a:lnSpc>
                <a:spcPts val="3366"/>
              </a:lnSpc>
            </a:pPr>
            <a:r>
              <a:rPr lang="en-US" b="true" sz="2475">
                <a:solidFill>
                  <a:srgbClr val="201E1D"/>
                </a:solidFill>
                <a:latin typeface="Arimo Bold"/>
                <a:ea typeface="Arimo Bold"/>
                <a:cs typeface="Arimo Bold"/>
                <a:sym typeface="Arimo Bold"/>
              </a:rPr>
              <a:t>ax + 2a + bx + 2b = (a + b)(x + c). Find c.</a:t>
            </a:r>
          </a:p>
        </p:txBody>
      </p:sp>
      <p:grpSp>
        <p:nvGrpSpPr>
          <p:cNvPr name="Group 34" id="34"/>
          <p:cNvGrpSpPr/>
          <p:nvPr/>
        </p:nvGrpSpPr>
        <p:grpSpPr>
          <a:xfrm rot="0">
            <a:off x="3884009" y="5842635"/>
            <a:ext cx="1333500" cy="552450"/>
            <a:chOff x="0" y="0"/>
            <a:chExt cx="1778000" cy="736600"/>
          </a:xfrm>
        </p:grpSpPr>
        <p:sp>
          <p:nvSpPr>
            <p:cNvPr name="Freeform 35" id="35"/>
            <p:cNvSpPr/>
            <p:nvPr/>
          </p:nvSpPr>
          <p:spPr>
            <a:xfrm flipH="false" flipV="false" rot="0">
              <a:off x="0" y="0"/>
              <a:ext cx="1778000" cy="736600"/>
            </a:xfrm>
            <a:custGeom>
              <a:avLst/>
              <a:gdLst/>
              <a:ahLst/>
              <a:cxnLst/>
              <a:rect r="r" b="b" t="t" l="l"/>
              <a:pathLst>
                <a:path h="736600" w="1778000">
                  <a:moveTo>
                    <a:pt x="368300" y="0"/>
                  </a:moveTo>
                  <a:lnTo>
                    <a:pt x="1409700" y="0"/>
                  </a:lnTo>
                  <a:cubicBezTo>
                    <a:pt x="1613154" y="0"/>
                    <a:pt x="1778000" y="164846"/>
                    <a:pt x="1778000" y="368300"/>
                  </a:cubicBezTo>
                  <a:cubicBezTo>
                    <a:pt x="1778000" y="571754"/>
                    <a:pt x="1613154" y="736600"/>
                    <a:pt x="1409700" y="736600"/>
                  </a:cubicBezTo>
                  <a:lnTo>
                    <a:pt x="368300" y="736600"/>
                  </a:lnTo>
                  <a:cubicBezTo>
                    <a:pt x="164846" y="736600"/>
                    <a:pt x="0" y="571754"/>
                    <a:pt x="0" y="368300"/>
                  </a:cubicBezTo>
                  <a:cubicBezTo>
                    <a:pt x="0" y="164846"/>
                    <a:pt x="164846" y="0"/>
                    <a:pt x="368300" y="0"/>
                  </a:cubicBezTo>
                  <a:close/>
                </a:path>
              </a:pathLst>
            </a:custGeom>
            <a:solidFill>
              <a:srgbClr val="C67139"/>
            </a:solidFill>
          </p:spPr>
        </p:sp>
        <p:sp>
          <p:nvSpPr>
            <p:cNvPr name="TextBox 36" id="36"/>
            <p:cNvSpPr txBox="true"/>
            <p:nvPr/>
          </p:nvSpPr>
          <p:spPr>
            <a:xfrm>
              <a:off x="0" y="-9525"/>
              <a:ext cx="1778000" cy="746125"/>
            </a:xfrm>
            <a:prstGeom prst="rect">
              <a:avLst/>
            </a:prstGeom>
          </p:spPr>
          <p:txBody>
            <a:bodyPr anchor="t" rtlCol="false" tIns="149860" lIns="149860" bIns="149860" rIns="149860"/>
            <a:lstStyle/>
            <a:p>
              <a:pPr algn="ctr">
                <a:lnSpc>
                  <a:spcPts val="2430"/>
                </a:lnSpc>
              </a:pPr>
              <a:r>
                <a:rPr lang="en-US" b="true" sz="2025" spc="-40">
                  <a:solidFill>
                    <a:srgbClr val="F5EAD8"/>
                  </a:solidFill>
                  <a:latin typeface="Arimo Bold"/>
                  <a:ea typeface="Arimo Bold"/>
                  <a:cs typeface="Arimo Bold"/>
                  <a:sym typeface="Arimo Bold"/>
                </a:rPr>
                <a:t>Check</a:t>
              </a:r>
            </a:p>
          </p:txBody>
        </p:sp>
      </p:grpSp>
      <p:sp>
        <p:nvSpPr>
          <p:cNvPr name="TextBox 37" id="37"/>
          <p:cNvSpPr txBox="true"/>
          <p:nvPr/>
        </p:nvSpPr>
        <p:spPr>
          <a:xfrm rot="0">
            <a:off x="5348478" y="5833110"/>
            <a:ext cx="1981200" cy="561975"/>
          </a:xfrm>
          <a:prstGeom prst="rect">
            <a:avLst/>
          </a:prstGeom>
        </p:spPr>
        <p:txBody>
          <a:bodyPr anchor="t" rtlCol="false" tIns="0" lIns="0" bIns="0" rIns="0">
            <a:spAutoFit/>
          </a:bodyPr>
          <a:lstStyle/>
          <a:p>
            <a:pPr algn="ctr">
              <a:lnSpc>
                <a:spcPts val="2430"/>
              </a:lnSpc>
            </a:pPr>
            <a:r>
              <a:rPr lang="en-US" b="true" sz="2025" spc="-40">
                <a:solidFill>
                  <a:srgbClr val="C67139"/>
                </a:solidFill>
                <a:latin typeface="Arimo Bold"/>
                <a:ea typeface="Arimo Bold"/>
                <a:cs typeface="Arimo Bold"/>
                <a:sym typeface="Arimo Bold"/>
              </a:rPr>
              <a:t>Show answer</a:t>
            </a:r>
          </a:p>
        </p:txBody>
      </p:sp>
      <p:grpSp>
        <p:nvGrpSpPr>
          <p:cNvPr name="Group 38" id="38"/>
          <p:cNvGrpSpPr/>
          <p:nvPr/>
        </p:nvGrpSpPr>
        <p:grpSpPr>
          <a:xfrm rot="0">
            <a:off x="9248775" y="4579715"/>
            <a:ext cx="8048625" cy="2495550"/>
            <a:chOff x="0" y="0"/>
            <a:chExt cx="10731500" cy="3327400"/>
          </a:xfrm>
        </p:grpSpPr>
        <p:sp>
          <p:nvSpPr>
            <p:cNvPr name="Freeform 39" id="39"/>
            <p:cNvSpPr/>
            <p:nvPr/>
          </p:nvSpPr>
          <p:spPr>
            <a:xfrm flipH="false" flipV="false" rot="0">
              <a:off x="0" y="0"/>
              <a:ext cx="10731500" cy="3327400"/>
            </a:xfrm>
            <a:custGeom>
              <a:avLst/>
              <a:gdLst/>
              <a:ahLst/>
              <a:cxnLst/>
              <a:rect r="r" b="b" t="t" l="l"/>
              <a:pathLst>
                <a:path h="3327400" w="10731500">
                  <a:moveTo>
                    <a:pt x="355600" y="0"/>
                  </a:moveTo>
                  <a:lnTo>
                    <a:pt x="10375900" y="0"/>
                  </a:lnTo>
                  <a:cubicBezTo>
                    <a:pt x="10572242" y="0"/>
                    <a:pt x="10731500" y="159258"/>
                    <a:pt x="10731500" y="355600"/>
                  </a:cubicBezTo>
                  <a:lnTo>
                    <a:pt x="10731500" y="2971800"/>
                  </a:lnTo>
                  <a:cubicBezTo>
                    <a:pt x="10731500" y="3168142"/>
                    <a:pt x="10572242" y="3327400"/>
                    <a:pt x="10375900" y="3327400"/>
                  </a:cubicBezTo>
                  <a:lnTo>
                    <a:pt x="355600" y="3327400"/>
                  </a:lnTo>
                  <a:cubicBezTo>
                    <a:pt x="159258" y="3327400"/>
                    <a:pt x="0" y="3168142"/>
                    <a:pt x="0" y="2971800"/>
                  </a:cubicBezTo>
                  <a:lnTo>
                    <a:pt x="0" y="355600"/>
                  </a:lnTo>
                  <a:cubicBezTo>
                    <a:pt x="0" y="159258"/>
                    <a:pt x="159258" y="0"/>
                    <a:pt x="355600" y="0"/>
                  </a:cubicBezTo>
                  <a:close/>
                </a:path>
              </a:pathLst>
            </a:custGeom>
            <a:solidFill>
              <a:srgbClr val="EBDDC5"/>
            </a:solidFill>
          </p:spPr>
        </p:sp>
      </p:grpSp>
      <p:sp>
        <p:nvSpPr>
          <p:cNvPr name="TextBox 40" id="40"/>
          <p:cNvSpPr txBox="true"/>
          <p:nvPr/>
        </p:nvSpPr>
        <p:spPr>
          <a:xfrm rot="0">
            <a:off x="9534525" y="4714304"/>
            <a:ext cx="7477125" cy="428625"/>
          </a:xfrm>
          <a:prstGeom prst="rect">
            <a:avLst/>
          </a:prstGeom>
        </p:spPr>
        <p:txBody>
          <a:bodyPr anchor="t" rtlCol="false" tIns="0" lIns="0" bIns="0" rIns="0">
            <a:spAutoFit/>
          </a:bodyPr>
          <a:lstStyle/>
          <a:p>
            <a:pPr algn="l">
              <a:lnSpc>
                <a:spcPts val="2790"/>
              </a:lnSpc>
            </a:pPr>
            <a:r>
              <a:rPr lang="en-US" b="true" sz="1800" spc="144">
                <a:solidFill>
                  <a:srgbClr val="56633F"/>
                </a:solidFill>
                <a:latin typeface="Arimo Bold"/>
                <a:ea typeface="Arimo Bold"/>
                <a:cs typeface="Arimo Bold"/>
                <a:sym typeface="Arimo Bold"/>
              </a:rPr>
              <a:t>QUESTION 12</a:t>
            </a:r>
          </a:p>
        </p:txBody>
      </p:sp>
      <p:sp>
        <p:nvSpPr>
          <p:cNvPr name="TextBox 41" id="41"/>
          <p:cNvSpPr txBox="true"/>
          <p:nvPr/>
        </p:nvSpPr>
        <p:spPr>
          <a:xfrm rot="0">
            <a:off x="9534525" y="5209318"/>
            <a:ext cx="7477125" cy="904875"/>
          </a:xfrm>
          <a:prstGeom prst="rect">
            <a:avLst/>
          </a:prstGeom>
        </p:spPr>
        <p:txBody>
          <a:bodyPr anchor="t" rtlCol="false" tIns="0" lIns="0" bIns="0" rIns="0">
            <a:spAutoFit/>
          </a:bodyPr>
          <a:lstStyle/>
          <a:p>
            <a:pPr algn="l">
              <a:lnSpc>
                <a:spcPts val="3366"/>
              </a:lnSpc>
            </a:pPr>
            <a:r>
              <a:rPr lang="en-US" b="true" sz="2475">
                <a:solidFill>
                  <a:srgbClr val="201E1D"/>
                </a:solidFill>
                <a:latin typeface="Arimo Bold"/>
                <a:ea typeface="Arimo Bold"/>
                <a:cs typeface="Arimo Bold"/>
                <a:sym typeface="Arimo Bold"/>
              </a:rPr>
              <a:t>The sum of five consecutive numbers starting at n is 5(n + c). Find c.</a:t>
            </a:r>
          </a:p>
        </p:txBody>
      </p:sp>
      <p:grpSp>
        <p:nvGrpSpPr>
          <p:cNvPr name="Group 42" id="42"/>
          <p:cNvGrpSpPr/>
          <p:nvPr/>
        </p:nvGrpSpPr>
        <p:grpSpPr>
          <a:xfrm rot="0">
            <a:off x="12142184" y="6270022"/>
            <a:ext cx="1333500" cy="552450"/>
            <a:chOff x="0" y="0"/>
            <a:chExt cx="1778000" cy="736600"/>
          </a:xfrm>
        </p:grpSpPr>
        <p:sp>
          <p:nvSpPr>
            <p:cNvPr name="Freeform 43" id="43"/>
            <p:cNvSpPr/>
            <p:nvPr/>
          </p:nvSpPr>
          <p:spPr>
            <a:xfrm flipH="false" flipV="false" rot="0">
              <a:off x="0" y="0"/>
              <a:ext cx="1778000" cy="736600"/>
            </a:xfrm>
            <a:custGeom>
              <a:avLst/>
              <a:gdLst/>
              <a:ahLst/>
              <a:cxnLst/>
              <a:rect r="r" b="b" t="t" l="l"/>
              <a:pathLst>
                <a:path h="736600" w="1778000">
                  <a:moveTo>
                    <a:pt x="368300" y="0"/>
                  </a:moveTo>
                  <a:lnTo>
                    <a:pt x="1409700" y="0"/>
                  </a:lnTo>
                  <a:cubicBezTo>
                    <a:pt x="1613154" y="0"/>
                    <a:pt x="1778000" y="164846"/>
                    <a:pt x="1778000" y="368300"/>
                  </a:cubicBezTo>
                  <a:cubicBezTo>
                    <a:pt x="1778000" y="571754"/>
                    <a:pt x="1613154" y="736600"/>
                    <a:pt x="1409700" y="736600"/>
                  </a:cubicBezTo>
                  <a:lnTo>
                    <a:pt x="368300" y="736600"/>
                  </a:lnTo>
                  <a:cubicBezTo>
                    <a:pt x="164846" y="736600"/>
                    <a:pt x="0" y="571754"/>
                    <a:pt x="0" y="368300"/>
                  </a:cubicBezTo>
                  <a:cubicBezTo>
                    <a:pt x="0" y="164846"/>
                    <a:pt x="164846" y="0"/>
                    <a:pt x="368300" y="0"/>
                  </a:cubicBezTo>
                  <a:close/>
                </a:path>
              </a:pathLst>
            </a:custGeom>
            <a:solidFill>
              <a:srgbClr val="C67139"/>
            </a:solidFill>
          </p:spPr>
        </p:sp>
        <p:sp>
          <p:nvSpPr>
            <p:cNvPr name="TextBox 44" id="44"/>
            <p:cNvSpPr txBox="true"/>
            <p:nvPr/>
          </p:nvSpPr>
          <p:spPr>
            <a:xfrm>
              <a:off x="0" y="-9525"/>
              <a:ext cx="1778000" cy="746125"/>
            </a:xfrm>
            <a:prstGeom prst="rect">
              <a:avLst/>
            </a:prstGeom>
          </p:spPr>
          <p:txBody>
            <a:bodyPr anchor="t" rtlCol="false" tIns="149987" lIns="149987" bIns="149987" rIns="149987"/>
            <a:lstStyle/>
            <a:p>
              <a:pPr algn="ctr">
                <a:lnSpc>
                  <a:spcPts val="2430"/>
                </a:lnSpc>
              </a:pPr>
              <a:r>
                <a:rPr lang="en-US" b="true" sz="2025" spc="-40">
                  <a:solidFill>
                    <a:srgbClr val="F5EAD8"/>
                  </a:solidFill>
                  <a:latin typeface="Arimo Bold"/>
                  <a:ea typeface="Arimo Bold"/>
                  <a:cs typeface="Arimo Bold"/>
                  <a:sym typeface="Arimo Bold"/>
                </a:rPr>
                <a:t>Check</a:t>
              </a:r>
            </a:p>
          </p:txBody>
        </p:sp>
      </p:grpSp>
      <p:sp>
        <p:nvSpPr>
          <p:cNvPr name="TextBox 45" id="45"/>
          <p:cNvSpPr txBox="true"/>
          <p:nvPr/>
        </p:nvSpPr>
        <p:spPr>
          <a:xfrm rot="0">
            <a:off x="13606653" y="6260497"/>
            <a:ext cx="1981200" cy="561975"/>
          </a:xfrm>
          <a:prstGeom prst="rect">
            <a:avLst/>
          </a:prstGeom>
        </p:spPr>
        <p:txBody>
          <a:bodyPr anchor="t" rtlCol="false" tIns="0" lIns="0" bIns="0" rIns="0">
            <a:spAutoFit/>
          </a:bodyPr>
          <a:lstStyle/>
          <a:p>
            <a:pPr algn="ctr">
              <a:lnSpc>
                <a:spcPts val="2430"/>
              </a:lnSpc>
            </a:pPr>
            <a:r>
              <a:rPr lang="en-US" b="true" sz="2025" spc="-40">
                <a:solidFill>
                  <a:srgbClr val="C67139"/>
                </a:solidFill>
                <a:latin typeface="Arimo Bold"/>
                <a:ea typeface="Arimo Bold"/>
                <a:cs typeface="Arimo Bold"/>
                <a:sym typeface="Arimo Bold"/>
              </a:rPr>
              <a:t>Show answer</a:t>
            </a:r>
          </a:p>
        </p:txBody>
      </p:sp>
      <p:grpSp>
        <p:nvGrpSpPr>
          <p:cNvPr name="Group 46" id="46"/>
          <p:cNvGrpSpPr/>
          <p:nvPr/>
        </p:nvGrpSpPr>
        <p:grpSpPr>
          <a:xfrm rot="0">
            <a:off x="1276350" y="3522726"/>
            <a:ext cx="2476500" cy="638175"/>
            <a:chOff x="0" y="0"/>
            <a:chExt cx="3302000" cy="850900"/>
          </a:xfrm>
        </p:grpSpPr>
        <p:sp>
          <p:nvSpPr>
            <p:cNvPr name="Freeform 47" id="47"/>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F5EAD8"/>
            </a:solidFill>
          </p:spPr>
        </p:sp>
        <p:sp>
          <p:nvSpPr>
            <p:cNvPr name="Freeform 48" id="48"/>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000000">
                <a:alpha val="0"/>
              </a:srgbClr>
            </a:solidFill>
            <a:ln w="28575" cap="sq">
              <a:solidFill>
                <a:srgbClr val="FFC6A5"/>
              </a:solidFill>
              <a:prstDash val="solid"/>
              <a:miter/>
            </a:ln>
          </p:spPr>
        </p:sp>
      </p:grpSp>
      <p:grpSp>
        <p:nvGrpSpPr>
          <p:cNvPr name="Group 49" id="49"/>
          <p:cNvGrpSpPr/>
          <p:nvPr/>
        </p:nvGrpSpPr>
        <p:grpSpPr>
          <a:xfrm rot="0">
            <a:off x="9534525" y="3522726"/>
            <a:ext cx="2476500" cy="638175"/>
            <a:chOff x="0" y="0"/>
            <a:chExt cx="3302000" cy="850900"/>
          </a:xfrm>
        </p:grpSpPr>
        <p:sp>
          <p:nvSpPr>
            <p:cNvPr name="Freeform 50" id="50"/>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F5EAD8"/>
            </a:solidFill>
          </p:spPr>
        </p:sp>
        <p:sp>
          <p:nvSpPr>
            <p:cNvPr name="Freeform 51" id="51"/>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000000">
                <a:alpha val="0"/>
              </a:srgbClr>
            </a:solidFill>
            <a:ln w="28575" cap="sq">
              <a:solidFill>
                <a:srgbClr val="FFC6A5"/>
              </a:solidFill>
              <a:prstDash val="solid"/>
              <a:miter/>
            </a:ln>
          </p:spPr>
        </p:sp>
      </p:grpSp>
      <p:grpSp>
        <p:nvGrpSpPr>
          <p:cNvPr name="Group 52" id="52"/>
          <p:cNvGrpSpPr/>
          <p:nvPr/>
        </p:nvGrpSpPr>
        <p:grpSpPr>
          <a:xfrm rot="0">
            <a:off x="1276350" y="5799868"/>
            <a:ext cx="2476500" cy="638175"/>
            <a:chOff x="0" y="0"/>
            <a:chExt cx="3302000" cy="850900"/>
          </a:xfrm>
        </p:grpSpPr>
        <p:sp>
          <p:nvSpPr>
            <p:cNvPr name="Freeform 53" id="53"/>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F5EAD8"/>
            </a:solidFill>
          </p:spPr>
        </p:sp>
        <p:sp>
          <p:nvSpPr>
            <p:cNvPr name="Freeform 54" id="54"/>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000000">
                <a:alpha val="0"/>
              </a:srgbClr>
            </a:solidFill>
            <a:ln w="28575" cap="sq">
              <a:solidFill>
                <a:srgbClr val="FFC6A5"/>
              </a:solidFill>
              <a:prstDash val="solid"/>
              <a:miter/>
            </a:ln>
          </p:spPr>
        </p:sp>
      </p:grpSp>
      <p:grpSp>
        <p:nvGrpSpPr>
          <p:cNvPr name="Group 55" id="55"/>
          <p:cNvGrpSpPr/>
          <p:nvPr/>
        </p:nvGrpSpPr>
        <p:grpSpPr>
          <a:xfrm rot="0">
            <a:off x="9534525" y="6227254"/>
            <a:ext cx="2476500" cy="638175"/>
            <a:chOff x="0" y="0"/>
            <a:chExt cx="3302000" cy="850900"/>
          </a:xfrm>
        </p:grpSpPr>
        <p:sp>
          <p:nvSpPr>
            <p:cNvPr name="Freeform 56" id="56"/>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F5EAD8"/>
            </a:solidFill>
          </p:spPr>
        </p:sp>
        <p:sp>
          <p:nvSpPr>
            <p:cNvPr name="Freeform 57" id="57"/>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000000">
                <a:alpha val="0"/>
              </a:srgbClr>
            </a:solidFill>
            <a:ln w="28575" cap="sq">
              <a:solidFill>
                <a:srgbClr val="FFC6A5"/>
              </a:solidFill>
              <a:prstDash val="solid"/>
              <a:miter/>
            </a:ln>
          </p:spPr>
        </p:sp>
      </p:grpSp>
    </p:spTree>
  </p:cSld>
  <p:clrMapOvr>
    <a:masterClrMapping/>
  </p:clrMapOvr>
</p:sld>
</file>

<file path=ppt/slides/slide3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E1D0"/>
          </a:solidFill>
        </p:spPr>
      </p:sp>
      <p:grpSp>
        <p:nvGrpSpPr>
          <p:cNvPr name="Group 3" id="3"/>
          <p:cNvGrpSpPr/>
          <p:nvPr/>
        </p:nvGrpSpPr>
        <p:grpSpPr>
          <a:xfrm rot="0">
            <a:off x="12001500" y="-2095500"/>
            <a:ext cx="8191500" cy="8191500"/>
            <a:chOff x="0" y="0"/>
            <a:chExt cx="10922000" cy="10922000"/>
          </a:xfrm>
        </p:grpSpPr>
        <p:sp>
          <p:nvSpPr>
            <p:cNvPr name="Freeform 4" id="4"/>
            <p:cNvSpPr/>
            <p:nvPr/>
          </p:nvSpPr>
          <p:spPr>
            <a:xfrm flipH="false" flipV="false" rot="0">
              <a:off x="0" y="0"/>
              <a:ext cx="10922000" cy="10922000"/>
            </a:xfrm>
            <a:custGeom>
              <a:avLst/>
              <a:gdLst/>
              <a:ahLst/>
              <a:cxnLst/>
              <a:rect r="r" b="b" t="t" l="l"/>
              <a:pathLst>
                <a:path h="10922000" w="10922000">
                  <a:moveTo>
                    <a:pt x="5461000" y="0"/>
                  </a:moveTo>
                  <a:cubicBezTo>
                    <a:pt x="8476996" y="0"/>
                    <a:pt x="10922000" y="2445004"/>
                    <a:pt x="10922000" y="5461000"/>
                  </a:cubicBezTo>
                  <a:cubicBezTo>
                    <a:pt x="10922000" y="8476996"/>
                    <a:pt x="8476996" y="10922000"/>
                    <a:pt x="5461000" y="10922000"/>
                  </a:cubicBezTo>
                  <a:cubicBezTo>
                    <a:pt x="2445004" y="10922000"/>
                    <a:pt x="0" y="8476996"/>
                    <a:pt x="0" y="5461000"/>
                  </a:cubicBezTo>
                  <a:cubicBezTo>
                    <a:pt x="0" y="2445004"/>
                    <a:pt x="2445004" y="0"/>
                    <a:pt x="5461000" y="0"/>
                  </a:cubicBezTo>
                  <a:close/>
                </a:path>
              </a:pathLst>
            </a:custGeom>
            <a:solidFill>
              <a:srgbClr val="FFC6A5"/>
            </a:solidFill>
          </p:spPr>
        </p:sp>
      </p:grpSp>
      <p:grpSp>
        <p:nvGrpSpPr>
          <p:cNvPr name="Group 5" id="5"/>
          <p:cNvGrpSpPr/>
          <p:nvPr/>
        </p:nvGrpSpPr>
        <p:grpSpPr>
          <a:xfrm rot="0">
            <a:off x="10096500" y="7620000"/>
            <a:ext cx="5334000" cy="5334000"/>
            <a:chOff x="0" y="0"/>
            <a:chExt cx="7112000" cy="7112000"/>
          </a:xfrm>
        </p:grpSpPr>
        <p:sp>
          <p:nvSpPr>
            <p:cNvPr name="Freeform 6" id="6"/>
            <p:cNvSpPr/>
            <p:nvPr/>
          </p:nvSpPr>
          <p:spPr>
            <a:xfrm flipH="false" flipV="false" rot="0">
              <a:off x="0" y="0"/>
              <a:ext cx="7112000" cy="7112000"/>
            </a:xfrm>
            <a:custGeom>
              <a:avLst/>
              <a:gdLst/>
              <a:ahLst/>
              <a:cxnLst/>
              <a:rect r="r" b="b" t="t" l="l"/>
              <a:pathLst>
                <a:path h="7112000" w="7112000">
                  <a:moveTo>
                    <a:pt x="3556000" y="0"/>
                  </a:moveTo>
                  <a:cubicBezTo>
                    <a:pt x="5519928" y="0"/>
                    <a:pt x="7112000" y="1592072"/>
                    <a:pt x="7112000" y="3556000"/>
                  </a:cubicBezTo>
                  <a:cubicBezTo>
                    <a:pt x="7112000" y="5519928"/>
                    <a:pt x="5519928" y="7112000"/>
                    <a:pt x="3556000" y="7112000"/>
                  </a:cubicBezTo>
                  <a:cubicBezTo>
                    <a:pt x="1592072" y="7112000"/>
                    <a:pt x="0" y="5519928"/>
                    <a:pt x="0" y="3556000"/>
                  </a:cubicBezTo>
                  <a:cubicBezTo>
                    <a:pt x="0" y="1592072"/>
                    <a:pt x="1592072" y="0"/>
                    <a:pt x="3556000" y="0"/>
                  </a:cubicBezTo>
                  <a:close/>
                </a:path>
              </a:pathLst>
            </a:custGeom>
            <a:solidFill>
              <a:srgbClr val="CCDBB2"/>
            </a:solidFill>
          </p:spPr>
        </p:sp>
      </p:grpSp>
      <p:grpSp>
        <p:nvGrpSpPr>
          <p:cNvPr name="Group 7" id="7"/>
          <p:cNvGrpSpPr/>
          <p:nvPr/>
        </p:nvGrpSpPr>
        <p:grpSpPr>
          <a:xfrm rot="0">
            <a:off x="15144750" y="3143250"/>
            <a:ext cx="1428750" cy="1428750"/>
            <a:chOff x="0" y="0"/>
            <a:chExt cx="1905000" cy="1905000"/>
          </a:xfrm>
        </p:grpSpPr>
        <p:sp>
          <p:nvSpPr>
            <p:cNvPr name="Freeform 8" id="8"/>
            <p:cNvSpPr/>
            <p:nvPr/>
          </p:nvSpPr>
          <p:spPr>
            <a:xfrm flipH="false" flipV="false" rot="0">
              <a:off x="0" y="0"/>
              <a:ext cx="1905000" cy="1905000"/>
            </a:xfrm>
            <a:custGeom>
              <a:avLst/>
              <a:gdLst/>
              <a:ahLst/>
              <a:cxnLst/>
              <a:rect r="r" b="b" t="t" l="l"/>
              <a:pathLst>
                <a:path h="1905000" w="1905000">
                  <a:moveTo>
                    <a:pt x="952500" y="0"/>
                  </a:moveTo>
                  <a:cubicBezTo>
                    <a:pt x="1478534" y="0"/>
                    <a:pt x="1905000" y="426466"/>
                    <a:pt x="1905000" y="952500"/>
                  </a:cubicBezTo>
                  <a:cubicBezTo>
                    <a:pt x="1905000" y="1478534"/>
                    <a:pt x="1478534" y="1905000"/>
                    <a:pt x="952500" y="1905000"/>
                  </a:cubicBezTo>
                  <a:cubicBezTo>
                    <a:pt x="426466" y="1905000"/>
                    <a:pt x="0" y="1478534"/>
                    <a:pt x="0" y="952500"/>
                  </a:cubicBezTo>
                  <a:cubicBezTo>
                    <a:pt x="0" y="426466"/>
                    <a:pt x="426466" y="0"/>
                    <a:pt x="952500" y="0"/>
                  </a:cubicBezTo>
                  <a:close/>
                </a:path>
              </a:pathLst>
            </a:custGeom>
            <a:solidFill>
              <a:srgbClr val="8FA073"/>
            </a:solidFill>
          </p:spPr>
        </p:sp>
      </p:grpSp>
      <p:sp>
        <p:nvSpPr>
          <p:cNvPr name="TextBox 9" id="9"/>
          <p:cNvSpPr txBox="true"/>
          <p:nvPr/>
        </p:nvSpPr>
        <p:spPr>
          <a:xfrm rot="0">
            <a:off x="13792010" y="1438275"/>
            <a:ext cx="3352800" cy="2181225"/>
          </a:xfrm>
          <a:prstGeom prst="rect">
            <a:avLst/>
          </a:prstGeom>
        </p:spPr>
        <p:txBody>
          <a:bodyPr anchor="t" rtlCol="false" tIns="0" lIns="0" bIns="0" rIns="0">
            <a:spAutoFit/>
          </a:bodyPr>
          <a:lstStyle/>
          <a:p>
            <a:pPr algn="l">
              <a:lnSpc>
                <a:spcPts val="19500"/>
              </a:lnSpc>
            </a:pPr>
            <a:r>
              <a:rPr lang="en-US" b="true" sz="19500" spc="-390">
                <a:solidFill>
                  <a:srgbClr val="8C491A"/>
                </a:solidFill>
                <a:latin typeface="Arimo Bold"/>
                <a:ea typeface="Arimo Bold"/>
                <a:cs typeface="Arimo Bold"/>
                <a:sym typeface="Arimo Bold"/>
              </a:rPr>
              <a:t>6.3</a:t>
            </a:r>
          </a:p>
        </p:txBody>
      </p:sp>
      <p:sp>
        <p:nvSpPr>
          <p:cNvPr name="TextBox 10" id="10"/>
          <p:cNvSpPr txBox="true"/>
          <p:nvPr/>
        </p:nvSpPr>
        <p:spPr>
          <a:xfrm rot="0">
            <a:off x="1143000" y="2176177"/>
            <a:ext cx="16002000" cy="600075"/>
          </a:xfrm>
          <a:prstGeom prst="rect">
            <a:avLst/>
          </a:prstGeom>
        </p:spPr>
        <p:txBody>
          <a:bodyPr anchor="t" rtlCol="false" tIns="0" lIns="0" bIns="0" rIns="0">
            <a:spAutoFit/>
          </a:bodyPr>
          <a:lstStyle/>
          <a:p>
            <a:pPr algn="l">
              <a:lnSpc>
                <a:spcPts val="3952"/>
              </a:lnSpc>
            </a:pPr>
            <a:r>
              <a:rPr lang="en-US" b="true" sz="2550" spc="254">
                <a:solidFill>
                  <a:srgbClr val="643312"/>
                </a:solidFill>
                <a:latin typeface="Arimo Bold"/>
                <a:ea typeface="Arimo Bold"/>
                <a:cs typeface="Arimo Bold"/>
                <a:sym typeface="Arimo Bold"/>
              </a:rPr>
              <a:t>LESSON 6.3</a:t>
            </a:r>
          </a:p>
        </p:txBody>
      </p:sp>
      <p:sp>
        <p:nvSpPr>
          <p:cNvPr name="TextBox 11" id="11"/>
          <p:cNvSpPr txBox="true"/>
          <p:nvPr/>
        </p:nvSpPr>
        <p:spPr>
          <a:xfrm rot="0">
            <a:off x="1143000" y="3231928"/>
            <a:ext cx="10953750" cy="2152650"/>
          </a:xfrm>
          <a:prstGeom prst="rect">
            <a:avLst/>
          </a:prstGeom>
        </p:spPr>
        <p:txBody>
          <a:bodyPr anchor="t" rtlCol="false" tIns="0" lIns="0" bIns="0" rIns="0">
            <a:spAutoFit/>
          </a:bodyPr>
          <a:lstStyle/>
          <a:p>
            <a:pPr algn="l">
              <a:lnSpc>
                <a:spcPts val="9000"/>
              </a:lnSpc>
            </a:pPr>
            <a:r>
              <a:rPr lang="en-US" b="true" sz="9000" spc="-179">
                <a:solidFill>
                  <a:srgbClr val="201E1D"/>
                </a:solidFill>
                <a:latin typeface="Arimo Bold"/>
                <a:ea typeface="Arimo Bold"/>
                <a:cs typeface="Arimo Bold"/>
                <a:sym typeface="Arimo Bold"/>
              </a:rPr>
              <a:t>Rearranging formulae</a:t>
            </a:r>
          </a:p>
        </p:txBody>
      </p:sp>
      <p:sp>
        <p:nvSpPr>
          <p:cNvPr name="TextBox 12" id="12"/>
          <p:cNvSpPr txBox="true"/>
          <p:nvPr/>
        </p:nvSpPr>
        <p:spPr>
          <a:xfrm rot="0">
            <a:off x="1143000" y="5611273"/>
            <a:ext cx="10477500" cy="571500"/>
          </a:xfrm>
          <a:prstGeom prst="rect">
            <a:avLst/>
          </a:prstGeom>
        </p:spPr>
        <p:txBody>
          <a:bodyPr anchor="t" rtlCol="false" tIns="0" lIns="0" bIns="0" rIns="0">
            <a:spAutoFit/>
          </a:bodyPr>
          <a:lstStyle/>
          <a:p>
            <a:pPr algn="l">
              <a:lnSpc>
                <a:spcPts val="3720"/>
              </a:lnSpc>
            </a:pPr>
            <a:r>
              <a:rPr lang="en-US" b="true" sz="2400">
                <a:solidFill>
                  <a:srgbClr val="643312"/>
                </a:solidFill>
                <a:latin typeface="Arimo Bold"/>
                <a:ea typeface="Arimo Bold"/>
                <a:cs typeface="Arimo Bold"/>
                <a:sym typeface="Arimo Bold"/>
              </a:rPr>
              <a:t>In this lesson you will</a:t>
            </a:r>
          </a:p>
        </p:txBody>
      </p:sp>
      <p:grpSp>
        <p:nvGrpSpPr>
          <p:cNvPr name="Group 13" id="13"/>
          <p:cNvGrpSpPr/>
          <p:nvPr/>
        </p:nvGrpSpPr>
        <p:grpSpPr>
          <a:xfrm rot="0">
            <a:off x="1143000" y="6448234"/>
            <a:ext cx="209550" cy="209550"/>
            <a:chOff x="0" y="0"/>
            <a:chExt cx="279400" cy="279400"/>
          </a:xfrm>
        </p:grpSpPr>
        <p:sp>
          <p:nvSpPr>
            <p:cNvPr name="Freeform 14" id="14"/>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C67139"/>
            </a:solidFill>
          </p:spPr>
        </p:sp>
      </p:grpSp>
      <p:sp>
        <p:nvSpPr>
          <p:cNvPr name="TextBox 15" id="15"/>
          <p:cNvSpPr txBox="true"/>
          <p:nvPr/>
        </p:nvSpPr>
        <p:spPr>
          <a:xfrm rot="0">
            <a:off x="1524572" y="6267259"/>
            <a:ext cx="6172200" cy="523875"/>
          </a:xfrm>
          <a:prstGeom prst="rect">
            <a:avLst/>
          </a:prstGeom>
        </p:spPr>
        <p:txBody>
          <a:bodyPr anchor="t" rtlCol="false" tIns="0" lIns="0" bIns="0" rIns="0">
            <a:spAutoFit/>
          </a:bodyPr>
          <a:lstStyle/>
          <a:p>
            <a:pPr algn="l">
              <a:lnSpc>
                <a:spcPts val="3762"/>
              </a:lnSpc>
            </a:pPr>
            <a:r>
              <a:rPr lang="en-US" b="true" sz="2850">
                <a:solidFill>
                  <a:srgbClr val="201E1D"/>
                </a:solidFill>
                <a:latin typeface="Arimo Bold"/>
                <a:ea typeface="Arimo Bold"/>
                <a:cs typeface="Arimo Bold"/>
                <a:sym typeface="Arimo Bold"/>
              </a:rPr>
              <a:t>know what the subject of a formula is</a:t>
            </a:r>
          </a:p>
        </p:txBody>
      </p:sp>
      <p:grpSp>
        <p:nvGrpSpPr>
          <p:cNvPr name="Group 16" id="16"/>
          <p:cNvGrpSpPr/>
          <p:nvPr/>
        </p:nvGrpSpPr>
        <p:grpSpPr>
          <a:xfrm rot="0">
            <a:off x="1143000" y="7059358"/>
            <a:ext cx="209550" cy="209550"/>
            <a:chOff x="0" y="0"/>
            <a:chExt cx="279400" cy="279400"/>
          </a:xfrm>
        </p:grpSpPr>
        <p:sp>
          <p:nvSpPr>
            <p:cNvPr name="Freeform 17" id="17"/>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7A8A5E"/>
            </a:solidFill>
          </p:spPr>
        </p:sp>
      </p:grpSp>
      <p:sp>
        <p:nvSpPr>
          <p:cNvPr name="TextBox 18" id="18"/>
          <p:cNvSpPr txBox="true"/>
          <p:nvPr/>
        </p:nvSpPr>
        <p:spPr>
          <a:xfrm rot="0">
            <a:off x="1524476" y="6878383"/>
            <a:ext cx="7372350" cy="523875"/>
          </a:xfrm>
          <a:prstGeom prst="rect">
            <a:avLst/>
          </a:prstGeom>
        </p:spPr>
        <p:txBody>
          <a:bodyPr anchor="t" rtlCol="false" tIns="0" lIns="0" bIns="0" rIns="0">
            <a:spAutoFit/>
          </a:bodyPr>
          <a:lstStyle/>
          <a:p>
            <a:pPr algn="l">
              <a:lnSpc>
                <a:spcPts val="3762"/>
              </a:lnSpc>
            </a:pPr>
            <a:r>
              <a:rPr lang="en-US" b="true" sz="2850">
                <a:solidFill>
                  <a:srgbClr val="201E1D"/>
                </a:solidFill>
                <a:latin typeface="Arimo Bold"/>
                <a:ea typeface="Arimo Bold"/>
                <a:cs typeface="Arimo Bold"/>
                <a:sym typeface="Arimo Bold"/>
              </a:rPr>
              <a:t>use inverse operations to change the subject</a:t>
            </a:r>
          </a:p>
        </p:txBody>
      </p:sp>
      <p:grpSp>
        <p:nvGrpSpPr>
          <p:cNvPr name="Group 19" id="19"/>
          <p:cNvGrpSpPr/>
          <p:nvPr/>
        </p:nvGrpSpPr>
        <p:grpSpPr>
          <a:xfrm rot="0">
            <a:off x="1143000" y="7670482"/>
            <a:ext cx="209550" cy="209550"/>
            <a:chOff x="0" y="0"/>
            <a:chExt cx="279400" cy="279400"/>
          </a:xfrm>
        </p:grpSpPr>
        <p:sp>
          <p:nvSpPr>
            <p:cNvPr name="Freeform 20" id="20"/>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C67139"/>
            </a:solidFill>
          </p:spPr>
        </p:sp>
      </p:grpSp>
      <p:sp>
        <p:nvSpPr>
          <p:cNvPr name="TextBox 21" id="21"/>
          <p:cNvSpPr txBox="true"/>
          <p:nvPr/>
        </p:nvSpPr>
        <p:spPr>
          <a:xfrm rot="0">
            <a:off x="1525810" y="7489507"/>
            <a:ext cx="6905625" cy="523875"/>
          </a:xfrm>
          <a:prstGeom prst="rect">
            <a:avLst/>
          </a:prstGeom>
        </p:spPr>
        <p:txBody>
          <a:bodyPr anchor="t" rtlCol="false" tIns="0" lIns="0" bIns="0" rIns="0">
            <a:spAutoFit/>
          </a:bodyPr>
          <a:lstStyle/>
          <a:p>
            <a:pPr algn="l">
              <a:lnSpc>
                <a:spcPts val="3762"/>
              </a:lnSpc>
            </a:pPr>
            <a:r>
              <a:rPr lang="en-US" b="true" sz="2850">
                <a:solidFill>
                  <a:srgbClr val="201E1D"/>
                </a:solidFill>
                <a:latin typeface="Arimo Bold"/>
                <a:ea typeface="Arimo Bold"/>
                <a:cs typeface="Arimo Bold"/>
                <a:sym typeface="Arimo Bold"/>
              </a:rPr>
              <a:t>rearrange formulae with roots and powers</a:t>
            </a:r>
          </a:p>
        </p:txBody>
      </p:sp>
    </p:spTree>
  </p:cSld>
  <p:clrMapOvr>
    <a:masterClrMapping/>
  </p:clrMapOvr>
</p:sld>
</file>

<file path=ppt/slides/slide3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FFE1D0"/>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CCDBB2"/>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FFC6A5"/>
            </a:solidFill>
          </p:spPr>
        </p:sp>
      </p:grpSp>
      <p:grpSp>
        <p:nvGrpSpPr>
          <p:cNvPr name="Group 9" id="9"/>
          <p:cNvGrpSpPr/>
          <p:nvPr/>
        </p:nvGrpSpPr>
        <p:grpSpPr>
          <a:xfrm rot="0">
            <a:off x="914590" y="611505"/>
            <a:ext cx="2743200" cy="600075"/>
            <a:chOff x="0" y="0"/>
            <a:chExt cx="3657600" cy="800100"/>
          </a:xfrm>
        </p:grpSpPr>
        <p:sp>
          <p:nvSpPr>
            <p:cNvPr name="Freeform 10" id="10"/>
            <p:cNvSpPr/>
            <p:nvPr/>
          </p:nvSpPr>
          <p:spPr>
            <a:xfrm flipH="false" flipV="false" rot="0">
              <a:off x="0" y="0"/>
              <a:ext cx="3657600" cy="800100"/>
            </a:xfrm>
            <a:custGeom>
              <a:avLst/>
              <a:gdLst/>
              <a:ahLst/>
              <a:cxnLst/>
              <a:rect r="r" b="b" t="t" l="l"/>
              <a:pathLst>
                <a:path h="800100" w="3657600">
                  <a:moveTo>
                    <a:pt x="400050" y="0"/>
                  </a:moveTo>
                  <a:lnTo>
                    <a:pt x="3257550" y="0"/>
                  </a:lnTo>
                  <a:cubicBezTo>
                    <a:pt x="3478530" y="0"/>
                    <a:pt x="3657600" y="179070"/>
                    <a:pt x="3657600" y="400050"/>
                  </a:cubicBezTo>
                  <a:cubicBezTo>
                    <a:pt x="3657600" y="621030"/>
                    <a:pt x="3478530" y="800100"/>
                    <a:pt x="3257550" y="800100"/>
                  </a:cubicBezTo>
                  <a:lnTo>
                    <a:pt x="400050" y="800100"/>
                  </a:lnTo>
                  <a:cubicBezTo>
                    <a:pt x="179070" y="800100"/>
                    <a:pt x="0" y="621030"/>
                    <a:pt x="0" y="400050"/>
                  </a:cubicBezTo>
                  <a:cubicBezTo>
                    <a:pt x="0" y="179070"/>
                    <a:pt x="179070" y="0"/>
                    <a:pt x="400050" y="0"/>
                  </a:cubicBezTo>
                  <a:close/>
                </a:path>
              </a:pathLst>
            </a:custGeom>
            <a:solidFill>
              <a:srgbClr val="8C491A"/>
            </a:solidFill>
          </p:spPr>
        </p:sp>
        <p:sp>
          <p:nvSpPr>
            <p:cNvPr name="TextBox 11" id="11"/>
            <p:cNvSpPr txBox="true"/>
            <p:nvPr/>
          </p:nvSpPr>
          <p:spPr>
            <a:xfrm>
              <a:off x="0" y="-76200"/>
              <a:ext cx="36576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INTRODUCTION</a:t>
              </a:r>
            </a:p>
          </p:txBody>
        </p:sp>
      </p:grpSp>
      <p:sp>
        <p:nvSpPr>
          <p:cNvPr name="TextBox 12" id="12"/>
          <p:cNvSpPr txBox="true"/>
          <p:nvPr/>
        </p:nvSpPr>
        <p:spPr>
          <a:xfrm rot="0">
            <a:off x="3849434" y="630555"/>
            <a:ext cx="1704975" cy="485775"/>
          </a:xfrm>
          <a:prstGeom prst="rect">
            <a:avLst/>
          </a:prstGeom>
        </p:spPr>
        <p:txBody>
          <a:bodyPr anchor="t" rtlCol="false" tIns="0" lIns="0" bIns="0" rIns="0">
            <a:spAutoFit/>
          </a:bodyPr>
          <a:lstStyle/>
          <a:p>
            <a:pPr algn="l">
              <a:lnSpc>
                <a:spcPts val="3255"/>
              </a:lnSpc>
            </a:pPr>
            <a:r>
              <a:rPr lang="en-US" b="true" sz="2100">
                <a:solidFill>
                  <a:srgbClr val="3D472B"/>
                </a:solidFill>
                <a:latin typeface="Arimo Bold"/>
                <a:ea typeface="Arimo Bold"/>
                <a:cs typeface="Arimo Bold"/>
                <a:sym typeface="Arimo Bold"/>
              </a:rPr>
              <a:t>6.3 · Formulae</a:t>
            </a:r>
          </a:p>
        </p:txBody>
      </p:sp>
      <p:sp>
        <p:nvSpPr>
          <p:cNvPr name="TextBox 13" id="13"/>
          <p:cNvSpPr txBox="true"/>
          <p:nvPr/>
        </p:nvSpPr>
        <p:spPr>
          <a:xfrm rot="0">
            <a:off x="914400" y="1462564"/>
            <a:ext cx="6438900" cy="1028700"/>
          </a:xfrm>
          <a:prstGeom prst="rect">
            <a:avLst/>
          </a:prstGeom>
        </p:spPr>
        <p:txBody>
          <a:bodyPr anchor="t" rtlCol="false" tIns="0" lIns="0" bIns="0" rIns="0">
            <a:spAutoFit/>
          </a:bodyPr>
          <a:lstStyle/>
          <a:p>
            <a:pPr algn="l">
              <a:lnSpc>
                <a:spcPts val="4212"/>
              </a:lnSpc>
            </a:pPr>
            <a:r>
              <a:rPr lang="en-US" b="true" sz="4050" spc="-81">
                <a:solidFill>
                  <a:srgbClr val="201E1D"/>
                </a:solidFill>
                <a:latin typeface="Arimo Bold"/>
                <a:ea typeface="Arimo Bold"/>
                <a:cs typeface="Arimo Bold"/>
                <a:sym typeface="Arimo Bold"/>
              </a:rPr>
              <a:t>Make a the subject of v = u + at</a:t>
            </a:r>
          </a:p>
        </p:txBody>
      </p:sp>
      <p:grpSp>
        <p:nvGrpSpPr>
          <p:cNvPr name="Group 14" id="14"/>
          <p:cNvGrpSpPr/>
          <p:nvPr/>
        </p:nvGrpSpPr>
        <p:grpSpPr>
          <a:xfrm rot="0">
            <a:off x="914400" y="2701385"/>
            <a:ext cx="6438900" cy="2343150"/>
            <a:chOff x="0" y="0"/>
            <a:chExt cx="8585200" cy="3124200"/>
          </a:xfrm>
        </p:grpSpPr>
        <p:sp>
          <p:nvSpPr>
            <p:cNvPr name="Freeform 15" id="15"/>
            <p:cNvSpPr/>
            <p:nvPr/>
          </p:nvSpPr>
          <p:spPr>
            <a:xfrm flipH="false" flipV="false" rot="0">
              <a:off x="0" y="0"/>
              <a:ext cx="8585200" cy="3124200"/>
            </a:xfrm>
            <a:custGeom>
              <a:avLst/>
              <a:gdLst/>
              <a:ahLst/>
              <a:cxnLst/>
              <a:rect r="r" b="b" t="t" l="l"/>
              <a:pathLst>
                <a:path h="3124200" w="8585200">
                  <a:moveTo>
                    <a:pt x="355600" y="0"/>
                  </a:moveTo>
                  <a:lnTo>
                    <a:pt x="8229600" y="0"/>
                  </a:lnTo>
                  <a:cubicBezTo>
                    <a:pt x="8425942" y="0"/>
                    <a:pt x="8585200" y="159258"/>
                    <a:pt x="8585200" y="355600"/>
                  </a:cubicBezTo>
                  <a:lnTo>
                    <a:pt x="8585200" y="2768600"/>
                  </a:lnTo>
                  <a:cubicBezTo>
                    <a:pt x="8585200" y="2964942"/>
                    <a:pt x="8425942" y="3124200"/>
                    <a:pt x="8229600" y="3124200"/>
                  </a:cubicBezTo>
                  <a:lnTo>
                    <a:pt x="355600" y="3124200"/>
                  </a:lnTo>
                  <a:cubicBezTo>
                    <a:pt x="159258" y="3124200"/>
                    <a:pt x="0" y="2964942"/>
                    <a:pt x="0" y="2768600"/>
                  </a:cubicBezTo>
                  <a:lnTo>
                    <a:pt x="0" y="355600"/>
                  </a:lnTo>
                  <a:cubicBezTo>
                    <a:pt x="0" y="159258"/>
                    <a:pt x="159258" y="0"/>
                    <a:pt x="355600" y="0"/>
                  </a:cubicBezTo>
                  <a:close/>
                </a:path>
              </a:pathLst>
            </a:custGeom>
            <a:solidFill>
              <a:srgbClr val="FFF2EB"/>
            </a:solidFill>
          </p:spPr>
        </p:sp>
        <p:sp>
          <p:nvSpPr>
            <p:cNvPr name="Freeform 16" id="16"/>
            <p:cNvSpPr/>
            <p:nvPr/>
          </p:nvSpPr>
          <p:spPr>
            <a:xfrm flipH="false" flipV="false" rot="0">
              <a:off x="0" y="0"/>
              <a:ext cx="8585200" cy="3124200"/>
            </a:xfrm>
            <a:custGeom>
              <a:avLst/>
              <a:gdLst/>
              <a:ahLst/>
              <a:cxnLst/>
              <a:rect r="r" b="b" t="t" l="l"/>
              <a:pathLst>
                <a:path h="3124200" w="8585200">
                  <a:moveTo>
                    <a:pt x="355600" y="0"/>
                  </a:moveTo>
                  <a:lnTo>
                    <a:pt x="8229600" y="0"/>
                  </a:lnTo>
                  <a:cubicBezTo>
                    <a:pt x="8425942" y="0"/>
                    <a:pt x="8585200" y="159258"/>
                    <a:pt x="8585200" y="355600"/>
                  </a:cubicBezTo>
                  <a:lnTo>
                    <a:pt x="8585200" y="2768600"/>
                  </a:lnTo>
                  <a:cubicBezTo>
                    <a:pt x="8585200" y="2964942"/>
                    <a:pt x="8425942" y="3124200"/>
                    <a:pt x="8229600" y="3124200"/>
                  </a:cubicBezTo>
                  <a:lnTo>
                    <a:pt x="355600" y="3124200"/>
                  </a:lnTo>
                  <a:cubicBezTo>
                    <a:pt x="159258" y="3124200"/>
                    <a:pt x="0" y="2964942"/>
                    <a:pt x="0" y="2768600"/>
                  </a:cubicBezTo>
                  <a:lnTo>
                    <a:pt x="0" y="355600"/>
                  </a:lnTo>
                  <a:cubicBezTo>
                    <a:pt x="0" y="159258"/>
                    <a:pt x="159258" y="0"/>
                    <a:pt x="355600" y="0"/>
                  </a:cubicBezTo>
                  <a:close/>
                </a:path>
              </a:pathLst>
            </a:custGeom>
            <a:solidFill>
              <a:srgbClr val="000000">
                <a:alpha val="0"/>
              </a:srgbClr>
            </a:solidFill>
            <a:ln w="28575" cap="sq">
              <a:solidFill>
                <a:srgbClr val="FFC6A5"/>
              </a:solidFill>
              <a:prstDash val="solid"/>
              <a:miter/>
            </a:ln>
          </p:spPr>
        </p:sp>
      </p:grpSp>
      <p:grpSp>
        <p:nvGrpSpPr>
          <p:cNvPr name="Group 17" id="17"/>
          <p:cNvGrpSpPr/>
          <p:nvPr/>
        </p:nvGrpSpPr>
        <p:grpSpPr>
          <a:xfrm rot="0">
            <a:off x="1208818" y="2902744"/>
            <a:ext cx="1676400" cy="400050"/>
            <a:chOff x="0" y="0"/>
            <a:chExt cx="2235200" cy="533400"/>
          </a:xfrm>
        </p:grpSpPr>
        <p:sp>
          <p:nvSpPr>
            <p:cNvPr name="Freeform 18" id="18"/>
            <p:cNvSpPr/>
            <p:nvPr/>
          </p:nvSpPr>
          <p:spPr>
            <a:xfrm flipH="false" flipV="false" rot="0">
              <a:off x="0" y="0"/>
              <a:ext cx="2235200" cy="533400"/>
            </a:xfrm>
            <a:custGeom>
              <a:avLst/>
              <a:gdLst/>
              <a:ahLst/>
              <a:cxnLst/>
              <a:rect r="r" b="b" t="t" l="l"/>
              <a:pathLst>
                <a:path h="533400" w="2235200">
                  <a:moveTo>
                    <a:pt x="266700" y="0"/>
                  </a:moveTo>
                  <a:lnTo>
                    <a:pt x="1968500" y="0"/>
                  </a:lnTo>
                  <a:cubicBezTo>
                    <a:pt x="2115820" y="0"/>
                    <a:pt x="2235200" y="119380"/>
                    <a:pt x="2235200" y="266700"/>
                  </a:cubicBezTo>
                  <a:cubicBezTo>
                    <a:pt x="2235200" y="414020"/>
                    <a:pt x="2115820" y="533400"/>
                    <a:pt x="1968500" y="533400"/>
                  </a:cubicBezTo>
                  <a:lnTo>
                    <a:pt x="266700" y="533400"/>
                  </a:lnTo>
                  <a:cubicBezTo>
                    <a:pt x="119380" y="533400"/>
                    <a:pt x="0" y="414020"/>
                    <a:pt x="0" y="266700"/>
                  </a:cubicBezTo>
                  <a:cubicBezTo>
                    <a:pt x="0" y="119380"/>
                    <a:pt x="119380" y="0"/>
                    <a:pt x="266700" y="0"/>
                  </a:cubicBezTo>
                  <a:close/>
                </a:path>
              </a:pathLst>
            </a:custGeom>
            <a:solidFill>
              <a:srgbClr val="C67139"/>
            </a:solidFill>
          </p:spPr>
        </p:sp>
        <p:sp>
          <p:nvSpPr>
            <p:cNvPr name="TextBox 19" id="19"/>
            <p:cNvSpPr txBox="true"/>
            <p:nvPr/>
          </p:nvSpPr>
          <p:spPr>
            <a:xfrm>
              <a:off x="0" y="-76200"/>
              <a:ext cx="2235200" cy="609600"/>
            </a:xfrm>
            <a:prstGeom prst="rect">
              <a:avLst/>
            </a:prstGeom>
          </p:spPr>
          <p:txBody>
            <a:bodyPr anchor="t" rtlCol="false" tIns="88265" lIns="88265" bIns="88265" rIns="88265"/>
            <a:lstStyle/>
            <a:p>
              <a:pPr algn="l">
                <a:lnSpc>
                  <a:spcPts val="2557"/>
                </a:lnSpc>
              </a:pPr>
              <a:r>
                <a:rPr lang="en-US" b="true" sz="1650" spc="165">
                  <a:solidFill>
                    <a:srgbClr val="F5EAD8"/>
                  </a:solidFill>
                  <a:latin typeface="Arimo Bold"/>
                  <a:ea typeface="Arimo Bold"/>
                  <a:cs typeface="Arimo Bold"/>
                  <a:sym typeface="Arimo Bold"/>
                </a:rPr>
                <a:t>NEW WORD</a:t>
              </a:r>
            </a:p>
          </p:txBody>
        </p:sp>
      </p:grpSp>
      <p:sp>
        <p:nvSpPr>
          <p:cNvPr name="TextBox 20" id="20"/>
          <p:cNvSpPr txBox="true"/>
          <p:nvPr/>
        </p:nvSpPr>
        <p:spPr>
          <a:xfrm rot="0">
            <a:off x="1209675" y="3199352"/>
            <a:ext cx="5848350" cy="790575"/>
          </a:xfrm>
          <a:prstGeom prst="rect">
            <a:avLst/>
          </a:prstGeom>
        </p:spPr>
        <p:txBody>
          <a:bodyPr anchor="t" rtlCol="false" tIns="0" lIns="0" bIns="0" rIns="0">
            <a:spAutoFit/>
          </a:bodyPr>
          <a:lstStyle/>
          <a:p>
            <a:pPr algn="l">
              <a:lnSpc>
                <a:spcPts val="5115"/>
              </a:lnSpc>
            </a:pPr>
            <a:r>
              <a:rPr lang="en-US" b="true" sz="3300" spc="-66">
                <a:solidFill>
                  <a:srgbClr val="643312"/>
                </a:solidFill>
                <a:latin typeface="Arimo Bold"/>
                <a:ea typeface="Arimo Bold"/>
                <a:cs typeface="Arimo Bold"/>
                <a:sym typeface="Arimo Bold"/>
              </a:rPr>
              <a:t>Subject</a:t>
            </a:r>
          </a:p>
        </p:txBody>
      </p:sp>
      <p:sp>
        <p:nvSpPr>
          <p:cNvPr name="TextBox 21" id="21"/>
          <p:cNvSpPr txBox="true"/>
          <p:nvPr/>
        </p:nvSpPr>
        <p:spPr>
          <a:xfrm rot="0">
            <a:off x="1209675" y="3969544"/>
            <a:ext cx="5848350" cy="876300"/>
          </a:xfrm>
          <a:prstGeom prst="rect">
            <a:avLst/>
          </a:prstGeom>
        </p:spPr>
        <p:txBody>
          <a:bodyPr anchor="t" rtlCol="false" tIns="0" lIns="0" bIns="0" rIns="0">
            <a:spAutoFit/>
          </a:bodyPr>
          <a:lstStyle/>
          <a:p>
            <a:pPr algn="l">
              <a:lnSpc>
                <a:spcPts val="3208"/>
              </a:lnSpc>
            </a:pPr>
            <a:r>
              <a:rPr lang="en-US" b="true" sz="2325">
                <a:solidFill>
                  <a:srgbClr val="201E1D"/>
                </a:solidFill>
                <a:latin typeface="Arimo Bold"/>
                <a:ea typeface="Arimo Bold"/>
                <a:cs typeface="Arimo Bold"/>
                <a:sym typeface="Arimo Bold"/>
              </a:rPr>
              <a:t>The variable on its own on one side of a formula. In v = u + at, v is the subject.</a:t>
            </a:r>
          </a:p>
        </p:txBody>
      </p:sp>
      <p:grpSp>
        <p:nvGrpSpPr>
          <p:cNvPr name="Group 22" id="22"/>
          <p:cNvGrpSpPr/>
          <p:nvPr/>
        </p:nvGrpSpPr>
        <p:grpSpPr>
          <a:xfrm rot="0">
            <a:off x="916495" y="9010650"/>
            <a:ext cx="2333625" cy="666750"/>
            <a:chOff x="0" y="0"/>
            <a:chExt cx="3111500" cy="889000"/>
          </a:xfrm>
        </p:grpSpPr>
        <p:sp>
          <p:nvSpPr>
            <p:cNvPr name="Freeform 23" id="23"/>
            <p:cNvSpPr/>
            <p:nvPr/>
          </p:nvSpPr>
          <p:spPr>
            <a:xfrm flipH="false" flipV="false" rot="0">
              <a:off x="0" y="0"/>
              <a:ext cx="3111500" cy="889000"/>
            </a:xfrm>
            <a:custGeom>
              <a:avLst/>
              <a:gdLst/>
              <a:ahLst/>
              <a:cxnLst/>
              <a:rect r="r" b="b" t="t" l="l"/>
              <a:pathLst>
                <a:path h="889000" w="3111500">
                  <a:moveTo>
                    <a:pt x="444500" y="0"/>
                  </a:moveTo>
                  <a:lnTo>
                    <a:pt x="2667000" y="0"/>
                  </a:lnTo>
                  <a:cubicBezTo>
                    <a:pt x="2912491" y="0"/>
                    <a:pt x="3111500" y="199009"/>
                    <a:pt x="3111500" y="444500"/>
                  </a:cubicBezTo>
                  <a:cubicBezTo>
                    <a:pt x="3111500" y="689991"/>
                    <a:pt x="2912491" y="889000"/>
                    <a:pt x="26670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sp>
          <p:nvSpPr>
            <p:cNvPr name="TextBox 24" id="24"/>
            <p:cNvSpPr txBox="true"/>
            <p:nvPr/>
          </p:nvSpPr>
          <p:spPr>
            <a:xfrm>
              <a:off x="0" y="-19050"/>
              <a:ext cx="3111500" cy="908050"/>
            </a:xfrm>
            <a:prstGeom prst="rect">
              <a:avLst/>
            </a:prstGeom>
          </p:spPr>
          <p:txBody>
            <a:bodyPr anchor="t" rtlCol="false" tIns="203200" lIns="203200" bIns="203200" rIns="203200"/>
            <a:lstStyle/>
            <a:p>
              <a:pPr algn="ctr">
                <a:lnSpc>
                  <a:spcPts val="2700"/>
                </a:lnSpc>
              </a:pPr>
              <a:r>
                <a:rPr lang="en-US" b="true" sz="2250" spc="-44">
                  <a:solidFill>
                    <a:srgbClr val="F5EAD8"/>
                  </a:solidFill>
                  <a:latin typeface="Arimo Bold"/>
                  <a:ea typeface="Arimo Bold"/>
                  <a:cs typeface="Arimo Bold"/>
                  <a:sym typeface="Arimo Bold"/>
                </a:rPr>
                <a:t>Next step →</a:t>
              </a:r>
            </a:p>
          </p:txBody>
        </p:sp>
      </p:grpSp>
      <p:sp>
        <p:nvSpPr>
          <p:cNvPr name="TextBox 25" id="25"/>
          <p:cNvSpPr txBox="true"/>
          <p:nvPr/>
        </p:nvSpPr>
        <p:spPr>
          <a:xfrm rot="0">
            <a:off x="3405759" y="8991600"/>
            <a:ext cx="2143125" cy="685800"/>
          </a:xfrm>
          <a:prstGeom prst="rect">
            <a:avLst/>
          </a:prstGeom>
        </p:spPr>
        <p:txBody>
          <a:bodyPr anchor="t" rtlCol="false" tIns="0" lIns="0" bIns="0" rIns="0">
            <a:spAutoFit/>
          </a:bodyPr>
          <a:lstStyle/>
          <a:p>
            <a:pPr algn="ctr">
              <a:lnSpc>
                <a:spcPts val="2700"/>
              </a:lnSpc>
            </a:pPr>
            <a:r>
              <a:rPr lang="en-US" b="true" sz="2250" spc="-44">
                <a:solidFill>
                  <a:srgbClr val="201E1D"/>
                </a:solidFill>
                <a:latin typeface="Arimo Bold"/>
                <a:ea typeface="Arimo Bold"/>
                <a:cs typeface="Arimo Bold"/>
                <a:sym typeface="Arimo Bold"/>
              </a:rPr>
              <a:t>Start again</a:t>
            </a:r>
          </a:p>
        </p:txBody>
      </p:sp>
      <p:grpSp>
        <p:nvGrpSpPr>
          <p:cNvPr name="Group 26" id="26"/>
          <p:cNvGrpSpPr/>
          <p:nvPr/>
        </p:nvGrpSpPr>
        <p:grpSpPr>
          <a:xfrm rot="0">
            <a:off x="1043178" y="5472684"/>
            <a:ext cx="475488" cy="475488"/>
            <a:chOff x="0" y="0"/>
            <a:chExt cx="633984" cy="633984"/>
          </a:xfrm>
        </p:grpSpPr>
        <p:sp>
          <p:nvSpPr>
            <p:cNvPr name="Freeform 27" id="27"/>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C67139"/>
            </a:solidFill>
          </p:spPr>
        </p:sp>
      </p:grpSp>
      <p:sp>
        <p:nvSpPr>
          <p:cNvPr name="TextBox 28" id="28"/>
          <p:cNvSpPr txBox="true"/>
          <p:nvPr/>
        </p:nvSpPr>
        <p:spPr>
          <a:xfrm rot="0">
            <a:off x="1043178" y="5444109"/>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1</a:t>
            </a:r>
          </a:p>
        </p:txBody>
      </p:sp>
      <p:sp>
        <p:nvSpPr>
          <p:cNvPr name="TextBox 29" id="29"/>
          <p:cNvSpPr txBox="true"/>
          <p:nvPr/>
        </p:nvSpPr>
        <p:spPr>
          <a:xfrm rot="0">
            <a:off x="1683258" y="5484876"/>
            <a:ext cx="3630168" cy="413004"/>
          </a:xfrm>
          <a:prstGeom prst="rect">
            <a:avLst/>
          </a:prstGeom>
        </p:spPr>
        <p:txBody>
          <a:bodyPr anchor="t" rtlCol="false" tIns="0" lIns="0" bIns="0" rIns="0">
            <a:spAutoFit/>
          </a:bodyPr>
          <a:lstStyle/>
          <a:p>
            <a:pPr algn="l">
              <a:lnSpc>
                <a:spcPts val="2946"/>
              </a:lnSpc>
            </a:pPr>
            <a:r>
              <a:rPr lang="en-US" b="true" sz="2232">
                <a:solidFill>
                  <a:srgbClr val="201E1D"/>
                </a:solidFill>
                <a:latin typeface="Arimo Bold"/>
                <a:ea typeface="Arimo Bold"/>
                <a:cs typeface="Arimo Bold"/>
                <a:sym typeface="Arimo Bold"/>
              </a:rPr>
              <a:t>v is the subject of v = u + at.</a:t>
            </a:r>
          </a:p>
        </p:txBody>
      </p:sp>
      <p:grpSp>
        <p:nvGrpSpPr>
          <p:cNvPr name="Group 30" id="30"/>
          <p:cNvGrpSpPr/>
          <p:nvPr/>
        </p:nvGrpSpPr>
        <p:grpSpPr>
          <a:xfrm rot="0">
            <a:off x="1043178" y="6082284"/>
            <a:ext cx="475488" cy="475488"/>
            <a:chOff x="0" y="0"/>
            <a:chExt cx="633984" cy="633984"/>
          </a:xfrm>
        </p:grpSpPr>
        <p:sp>
          <p:nvSpPr>
            <p:cNvPr name="Freeform 31" id="31"/>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7A8A5E"/>
            </a:solidFill>
          </p:spPr>
        </p:sp>
      </p:grpSp>
      <p:sp>
        <p:nvSpPr>
          <p:cNvPr name="TextBox 32" id="32"/>
          <p:cNvSpPr txBox="true"/>
          <p:nvPr/>
        </p:nvSpPr>
        <p:spPr>
          <a:xfrm rot="0">
            <a:off x="1043178" y="6053709"/>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2</a:t>
            </a:r>
          </a:p>
        </p:txBody>
      </p:sp>
      <p:sp>
        <p:nvSpPr>
          <p:cNvPr name="TextBox 33" id="33"/>
          <p:cNvSpPr txBox="true"/>
          <p:nvPr/>
        </p:nvSpPr>
        <p:spPr>
          <a:xfrm rot="0">
            <a:off x="1681829" y="6094476"/>
            <a:ext cx="3986784" cy="413004"/>
          </a:xfrm>
          <a:prstGeom prst="rect">
            <a:avLst/>
          </a:prstGeom>
        </p:spPr>
        <p:txBody>
          <a:bodyPr anchor="t" rtlCol="false" tIns="0" lIns="0" bIns="0" rIns="0">
            <a:spAutoFit/>
          </a:bodyPr>
          <a:lstStyle/>
          <a:p>
            <a:pPr algn="l">
              <a:lnSpc>
                <a:spcPts val="2946"/>
              </a:lnSpc>
            </a:pPr>
            <a:r>
              <a:rPr lang="en-US" b="true" sz="2232">
                <a:solidFill>
                  <a:srgbClr val="201E1D"/>
                </a:solidFill>
                <a:latin typeface="Arimo Bold"/>
                <a:ea typeface="Arimo Bold"/>
                <a:cs typeface="Arimo Bold"/>
                <a:sym typeface="Arimo Bold"/>
              </a:rPr>
              <a:t>Build u + at from a: ×t, then +u.</a:t>
            </a:r>
          </a:p>
        </p:txBody>
      </p:sp>
      <p:grpSp>
        <p:nvGrpSpPr>
          <p:cNvPr name="Group 34" id="34"/>
          <p:cNvGrpSpPr/>
          <p:nvPr/>
        </p:nvGrpSpPr>
        <p:grpSpPr>
          <a:xfrm rot="0">
            <a:off x="1043178" y="6691884"/>
            <a:ext cx="475488" cy="475488"/>
            <a:chOff x="0" y="0"/>
            <a:chExt cx="633984" cy="633984"/>
          </a:xfrm>
        </p:grpSpPr>
        <p:sp>
          <p:nvSpPr>
            <p:cNvPr name="Freeform 35" id="35"/>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C67139"/>
            </a:solidFill>
          </p:spPr>
        </p:sp>
      </p:grpSp>
      <p:sp>
        <p:nvSpPr>
          <p:cNvPr name="TextBox 36" id="36"/>
          <p:cNvSpPr txBox="true"/>
          <p:nvPr/>
        </p:nvSpPr>
        <p:spPr>
          <a:xfrm rot="0">
            <a:off x="1043178" y="6663309"/>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3</a:t>
            </a:r>
          </a:p>
        </p:txBody>
      </p:sp>
      <p:sp>
        <p:nvSpPr>
          <p:cNvPr name="TextBox 37" id="37"/>
          <p:cNvSpPr txBox="true"/>
          <p:nvPr/>
        </p:nvSpPr>
        <p:spPr>
          <a:xfrm rot="0">
            <a:off x="1681639" y="6704076"/>
            <a:ext cx="3364992" cy="413004"/>
          </a:xfrm>
          <a:prstGeom prst="rect">
            <a:avLst/>
          </a:prstGeom>
        </p:spPr>
        <p:txBody>
          <a:bodyPr anchor="t" rtlCol="false" tIns="0" lIns="0" bIns="0" rIns="0">
            <a:spAutoFit/>
          </a:bodyPr>
          <a:lstStyle/>
          <a:p>
            <a:pPr algn="l">
              <a:lnSpc>
                <a:spcPts val="2946"/>
              </a:lnSpc>
            </a:pPr>
            <a:r>
              <a:rPr lang="en-US" b="true" sz="2232">
                <a:solidFill>
                  <a:srgbClr val="201E1D"/>
                </a:solidFill>
                <a:latin typeface="Arimo Bold"/>
                <a:ea typeface="Arimo Bold"/>
                <a:cs typeface="Arimo Bold"/>
                <a:sym typeface="Arimo Bold"/>
              </a:rPr>
              <a:t>Undo in reverse: v − u = at</a:t>
            </a:r>
          </a:p>
        </p:txBody>
      </p:sp>
      <p:grpSp>
        <p:nvGrpSpPr>
          <p:cNvPr name="Group 38" id="38"/>
          <p:cNvGrpSpPr/>
          <p:nvPr/>
        </p:nvGrpSpPr>
        <p:grpSpPr>
          <a:xfrm rot="0">
            <a:off x="1043178" y="7524369"/>
            <a:ext cx="475488" cy="475488"/>
            <a:chOff x="0" y="0"/>
            <a:chExt cx="633984" cy="633984"/>
          </a:xfrm>
        </p:grpSpPr>
        <p:sp>
          <p:nvSpPr>
            <p:cNvPr name="Freeform 39" id="39"/>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7A8A5E"/>
            </a:solidFill>
          </p:spPr>
        </p:sp>
      </p:grpSp>
      <p:sp>
        <p:nvSpPr>
          <p:cNvPr name="TextBox 40" id="40"/>
          <p:cNvSpPr txBox="true"/>
          <p:nvPr/>
        </p:nvSpPr>
        <p:spPr>
          <a:xfrm rot="0">
            <a:off x="1043178" y="7495794"/>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4</a:t>
            </a:r>
          </a:p>
        </p:txBody>
      </p:sp>
      <p:sp>
        <p:nvSpPr>
          <p:cNvPr name="TextBox 41" id="41"/>
          <p:cNvSpPr txBox="true"/>
          <p:nvPr/>
        </p:nvSpPr>
        <p:spPr>
          <a:xfrm rot="0">
            <a:off x="1684782" y="7271861"/>
            <a:ext cx="658368" cy="413004"/>
          </a:xfrm>
          <a:prstGeom prst="rect">
            <a:avLst/>
          </a:prstGeom>
        </p:spPr>
        <p:txBody>
          <a:bodyPr anchor="t" rtlCol="false" tIns="0" lIns="0" bIns="0" rIns="0">
            <a:spAutoFit/>
          </a:bodyPr>
          <a:lstStyle/>
          <a:p>
            <a:pPr algn="l">
              <a:lnSpc>
                <a:spcPts val="2946"/>
              </a:lnSpc>
            </a:pPr>
            <a:r>
              <a:rPr lang="en-US" b="true" sz="2232">
                <a:solidFill>
                  <a:srgbClr val="201E1D"/>
                </a:solidFill>
                <a:latin typeface="Arimo Bold"/>
                <a:ea typeface="Arimo Bold"/>
                <a:cs typeface="Arimo Bold"/>
                <a:sym typeface="Arimo Bold"/>
              </a:rPr>
              <a:t>a =</a:t>
            </a:r>
          </a:p>
        </p:txBody>
      </p:sp>
      <p:sp>
        <p:nvSpPr>
          <p:cNvPr name="AutoShape 42" id="42"/>
          <p:cNvSpPr/>
          <p:nvPr/>
        </p:nvSpPr>
        <p:spPr>
          <a:xfrm rot="0">
            <a:off x="1712214" y="7932230"/>
            <a:ext cx="603504" cy="28575"/>
          </a:xfrm>
          <a:prstGeom prst="rect">
            <a:avLst/>
          </a:prstGeom>
          <a:solidFill>
            <a:srgbClr val="201E1D"/>
          </a:solidFill>
        </p:spPr>
      </p:sp>
      <p:sp>
        <p:nvSpPr>
          <p:cNvPr name="TextBox 43" id="43"/>
          <p:cNvSpPr txBox="true"/>
          <p:nvPr/>
        </p:nvSpPr>
        <p:spPr>
          <a:xfrm rot="0">
            <a:off x="1712214" y="7686484"/>
            <a:ext cx="603504" cy="274320"/>
          </a:xfrm>
          <a:prstGeom prst="rect">
            <a:avLst/>
          </a:prstGeom>
        </p:spPr>
        <p:txBody>
          <a:bodyPr anchor="t" rtlCol="false" tIns="0" lIns="0" bIns="0" rIns="0">
            <a:spAutoFit/>
          </a:bodyPr>
          <a:lstStyle/>
          <a:p>
            <a:pPr algn="l">
              <a:lnSpc>
                <a:spcPts val="1976"/>
              </a:lnSpc>
            </a:pPr>
            <a:r>
              <a:rPr lang="en-US" b="true" sz="1829">
                <a:solidFill>
                  <a:srgbClr val="201E1D"/>
                </a:solidFill>
                <a:latin typeface="Arimo Bold"/>
                <a:ea typeface="Arimo Bold"/>
                <a:cs typeface="Arimo Bold"/>
                <a:sym typeface="Arimo Bold"/>
              </a:rPr>
              <a:t>v − u</a:t>
            </a:r>
          </a:p>
        </p:txBody>
      </p:sp>
      <p:sp>
        <p:nvSpPr>
          <p:cNvPr name="TextBox 44" id="44"/>
          <p:cNvSpPr txBox="true"/>
          <p:nvPr/>
        </p:nvSpPr>
        <p:spPr>
          <a:xfrm rot="0">
            <a:off x="1922431" y="7964900"/>
            <a:ext cx="182880" cy="246888"/>
          </a:xfrm>
          <a:prstGeom prst="rect">
            <a:avLst/>
          </a:prstGeom>
        </p:spPr>
        <p:txBody>
          <a:bodyPr anchor="t" rtlCol="false" tIns="0" lIns="0" bIns="0" rIns="0">
            <a:spAutoFit/>
          </a:bodyPr>
          <a:lstStyle/>
          <a:p>
            <a:pPr algn="l">
              <a:lnSpc>
                <a:spcPts val="1976"/>
              </a:lnSpc>
            </a:pPr>
            <a:r>
              <a:rPr lang="en-US" b="true" sz="1829">
                <a:solidFill>
                  <a:srgbClr val="201E1D"/>
                </a:solidFill>
                <a:latin typeface="Arimo Bold"/>
                <a:ea typeface="Arimo Bold"/>
                <a:cs typeface="Arimo Bold"/>
                <a:sym typeface="Arimo Bold"/>
              </a:rPr>
              <a:t>t</a:t>
            </a:r>
          </a:p>
        </p:txBody>
      </p:sp>
      <p:grpSp>
        <p:nvGrpSpPr>
          <p:cNvPr name="Group 45" id="45"/>
          <p:cNvGrpSpPr/>
          <p:nvPr/>
        </p:nvGrpSpPr>
        <p:grpSpPr>
          <a:xfrm rot="0">
            <a:off x="7848600" y="609600"/>
            <a:ext cx="9525000" cy="9067800"/>
            <a:chOff x="0" y="0"/>
            <a:chExt cx="12700000" cy="12090400"/>
          </a:xfrm>
        </p:grpSpPr>
        <p:sp>
          <p:nvSpPr>
            <p:cNvPr name="Freeform 46" id="46"/>
            <p:cNvSpPr/>
            <p:nvPr/>
          </p:nvSpPr>
          <p:spPr>
            <a:xfrm flipH="false" flipV="false" rot="0">
              <a:off x="0" y="0"/>
              <a:ext cx="12700000" cy="12090400"/>
            </a:xfrm>
            <a:custGeom>
              <a:avLst/>
              <a:gdLst/>
              <a:ahLst/>
              <a:cxnLst/>
              <a:rect r="r" b="b" t="t" l="l"/>
              <a:pathLst>
                <a:path h="12090400" w="12700000">
                  <a:moveTo>
                    <a:pt x="711200" y="0"/>
                  </a:moveTo>
                  <a:lnTo>
                    <a:pt x="11988800" y="0"/>
                  </a:lnTo>
                  <a:cubicBezTo>
                    <a:pt x="12381611" y="0"/>
                    <a:pt x="12700000" y="318389"/>
                    <a:pt x="12700000" y="711200"/>
                  </a:cubicBezTo>
                  <a:lnTo>
                    <a:pt x="12700000" y="11379200"/>
                  </a:lnTo>
                  <a:cubicBezTo>
                    <a:pt x="12700000" y="11772011"/>
                    <a:pt x="12381611" y="12090400"/>
                    <a:pt x="11988800" y="12090400"/>
                  </a:cubicBezTo>
                  <a:lnTo>
                    <a:pt x="711200" y="12090400"/>
                  </a:lnTo>
                  <a:cubicBezTo>
                    <a:pt x="318389" y="12090400"/>
                    <a:pt x="0" y="11772011"/>
                    <a:pt x="0" y="11379200"/>
                  </a:cubicBezTo>
                  <a:lnTo>
                    <a:pt x="0" y="711200"/>
                  </a:lnTo>
                  <a:cubicBezTo>
                    <a:pt x="0" y="318389"/>
                    <a:pt x="318389" y="0"/>
                    <a:pt x="711200" y="0"/>
                  </a:cubicBezTo>
                  <a:close/>
                </a:path>
              </a:pathLst>
            </a:custGeom>
            <a:solidFill>
              <a:srgbClr val="EBDDC5"/>
            </a:solidFill>
          </p:spPr>
        </p:sp>
      </p:grpSp>
    </p:spTree>
  </p:cSld>
  <p:clrMapOvr>
    <a:masterClrMapping/>
  </p:clrMapOvr>
</p:sld>
</file>

<file path=ppt/slides/slide3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FFE1D0"/>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CCDBB2"/>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FFC6A5"/>
            </a:solidFill>
          </p:spPr>
        </p:sp>
      </p:grpSp>
      <p:grpSp>
        <p:nvGrpSpPr>
          <p:cNvPr name="Group 9" id="9"/>
          <p:cNvGrpSpPr/>
          <p:nvPr/>
        </p:nvGrpSpPr>
        <p:grpSpPr>
          <a:xfrm rot="0">
            <a:off x="912781" y="611505"/>
            <a:ext cx="3467100" cy="600075"/>
            <a:chOff x="0" y="0"/>
            <a:chExt cx="4622800" cy="800100"/>
          </a:xfrm>
        </p:grpSpPr>
        <p:sp>
          <p:nvSpPr>
            <p:cNvPr name="Freeform 10" id="10"/>
            <p:cNvSpPr/>
            <p:nvPr/>
          </p:nvSpPr>
          <p:spPr>
            <a:xfrm flipH="false" flipV="false" rot="0">
              <a:off x="0" y="0"/>
              <a:ext cx="4622800" cy="800100"/>
            </a:xfrm>
            <a:custGeom>
              <a:avLst/>
              <a:gdLst/>
              <a:ahLst/>
              <a:cxnLst/>
              <a:rect r="r" b="b" t="t" l="l"/>
              <a:pathLst>
                <a:path h="800100" w="4622800">
                  <a:moveTo>
                    <a:pt x="400050" y="0"/>
                  </a:moveTo>
                  <a:lnTo>
                    <a:pt x="4222750" y="0"/>
                  </a:lnTo>
                  <a:cubicBezTo>
                    <a:pt x="4443730" y="0"/>
                    <a:pt x="4622800" y="179070"/>
                    <a:pt x="4622800" y="400050"/>
                  </a:cubicBezTo>
                  <a:cubicBezTo>
                    <a:pt x="4622800" y="621030"/>
                    <a:pt x="4443730" y="800100"/>
                    <a:pt x="4222750" y="800100"/>
                  </a:cubicBezTo>
                  <a:lnTo>
                    <a:pt x="400050" y="800100"/>
                  </a:lnTo>
                  <a:cubicBezTo>
                    <a:pt x="179070" y="800100"/>
                    <a:pt x="0" y="621030"/>
                    <a:pt x="0" y="400050"/>
                  </a:cubicBezTo>
                  <a:cubicBezTo>
                    <a:pt x="0" y="179070"/>
                    <a:pt x="179070" y="0"/>
                    <a:pt x="400050" y="0"/>
                  </a:cubicBezTo>
                  <a:close/>
                </a:path>
              </a:pathLst>
            </a:custGeom>
            <a:solidFill>
              <a:srgbClr val="8C491A"/>
            </a:solidFill>
          </p:spPr>
        </p:sp>
        <p:sp>
          <p:nvSpPr>
            <p:cNvPr name="TextBox 11" id="11"/>
            <p:cNvSpPr txBox="true"/>
            <p:nvPr/>
          </p:nvSpPr>
          <p:spPr>
            <a:xfrm>
              <a:off x="0" y="-76200"/>
              <a:ext cx="46228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WORKED EXAMPLE 4</a:t>
              </a:r>
            </a:p>
          </p:txBody>
        </p:sp>
      </p:grpSp>
      <p:sp>
        <p:nvSpPr>
          <p:cNvPr name="TextBox 12" id="12"/>
          <p:cNvSpPr txBox="true"/>
          <p:nvPr/>
        </p:nvSpPr>
        <p:spPr>
          <a:xfrm rot="0">
            <a:off x="4569619" y="630555"/>
            <a:ext cx="1704975" cy="485775"/>
          </a:xfrm>
          <a:prstGeom prst="rect">
            <a:avLst/>
          </a:prstGeom>
        </p:spPr>
        <p:txBody>
          <a:bodyPr anchor="t" rtlCol="false" tIns="0" lIns="0" bIns="0" rIns="0">
            <a:spAutoFit/>
          </a:bodyPr>
          <a:lstStyle/>
          <a:p>
            <a:pPr algn="l">
              <a:lnSpc>
                <a:spcPts val="3255"/>
              </a:lnSpc>
            </a:pPr>
            <a:r>
              <a:rPr lang="en-US" b="true" sz="2100">
                <a:solidFill>
                  <a:srgbClr val="3D472B"/>
                </a:solidFill>
                <a:latin typeface="Arimo Bold"/>
                <a:ea typeface="Arimo Bold"/>
                <a:cs typeface="Arimo Bold"/>
                <a:sym typeface="Arimo Bold"/>
              </a:rPr>
              <a:t>6.3 · Formulae</a:t>
            </a:r>
          </a:p>
        </p:txBody>
      </p:sp>
      <p:sp>
        <p:nvSpPr>
          <p:cNvPr name="TextBox 13" id="13"/>
          <p:cNvSpPr txBox="true"/>
          <p:nvPr/>
        </p:nvSpPr>
        <p:spPr>
          <a:xfrm rot="0">
            <a:off x="914400" y="1471708"/>
            <a:ext cx="6438900" cy="504825"/>
          </a:xfrm>
          <a:prstGeom prst="rect">
            <a:avLst/>
          </a:prstGeom>
        </p:spPr>
        <p:txBody>
          <a:bodyPr anchor="t" rtlCol="false" tIns="0" lIns="0" bIns="0" rIns="0">
            <a:spAutoFit/>
          </a:bodyPr>
          <a:lstStyle/>
          <a:p>
            <a:pPr algn="l">
              <a:lnSpc>
                <a:spcPts val="4368"/>
              </a:lnSpc>
            </a:pPr>
            <a:r>
              <a:rPr lang="en-US" b="true" sz="4200" spc="-84">
                <a:solidFill>
                  <a:srgbClr val="201E1D"/>
                </a:solidFill>
                <a:latin typeface="Arimo Bold"/>
                <a:ea typeface="Arimo Bold"/>
                <a:cs typeface="Arimo Bold"/>
                <a:sym typeface="Arimo Bold"/>
              </a:rPr>
              <a:t>Three rearrangements</a:t>
            </a:r>
          </a:p>
        </p:txBody>
      </p:sp>
      <p:grpSp>
        <p:nvGrpSpPr>
          <p:cNvPr name="Group 14" id="14"/>
          <p:cNvGrpSpPr/>
          <p:nvPr/>
        </p:nvGrpSpPr>
        <p:grpSpPr>
          <a:xfrm rot="0">
            <a:off x="914400" y="5169218"/>
            <a:ext cx="6438900" cy="1047750"/>
            <a:chOff x="0" y="0"/>
            <a:chExt cx="8585200" cy="1397000"/>
          </a:xfrm>
        </p:grpSpPr>
        <p:sp>
          <p:nvSpPr>
            <p:cNvPr name="Freeform 15" id="15"/>
            <p:cNvSpPr/>
            <p:nvPr/>
          </p:nvSpPr>
          <p:spPr>
            <a:xfrm flipH="false" flipV="false" rot="0">
              <a:off x="0" y="0"/>
              <a:ext cx="8585200" cy="1397000"/>
            </a:xfrm>
            <a:custGeom>
              <a:avLst/>
              <a:gdLst/>
              <a:ahLst/>
              <a:cxnLst/>
              <a:rect r="r" b="b" t="t" l="l"/>
              <a:pathLst>
                <a:path h="1397000" w="8585200">
                  <a:moveTo>
                    <a:pt x="355600" y="0"/>
                  </a:moveTo>
                  <a:lnTo>
                    <a:pt x="8229600" y="0"/>
                  </a:lnTo>
                  <a:cubicBezTo>
                    <a:pt x="8425942" y="0"/>
                    <a:pt x="8585200" y="159258"/>
                    <a:pt x="8585200" y="355600"/>
                  </a:cubicBezTo>
                  <a:lnTo>
                    <a:pt x="8585200" y="1041400"/>
                  </a:lnTo>
                  <a:cubicBezTo>
                    <a:pt x="8585200" y="1237742"/>
                    <a:pt x="8425942" y="1397000"/>
                    <a:pt x="8229600" y="1397000"/>
                  </a:cubicBezTo>
                  <a:lnTo>
                    <a:pt x="355600" y="1397000"/>
                  </a:lnTo>
                  <a:cubicBezTo>
                    <a:pt x="159258" y="1397000"/>
                    <a:pt x="0" y="1237742"/>
                    <a:pt x="0" y="1041400"/>
                  </a:cubicBezTo>
                  <a:lnTo>
                    <a:pt x="0" y="355600"/>
                  </a:lnTo>
                  <a:cubicBezTo>
                    <a:pt x="0" y="159258"/>
                    <a:pt x="159258" y="0"/>
                    <a:pt x="355600" y="0"/>
                  </a:cubicBezTo>
                  <a:close/>
                </a:path>
              </a:pathLst>
            </a:custGeom>
            <a:solidFill>
              <a:srgbClr val="FFE1D0"/>
            </a:solidFill>
          </p:spPr>
        </p:sp>
      </p:grpSp>
      <p:sp>
        <p:nvSpPr>
          <p:cNvPr name="TextBox 16" id="16"/>
          <p:cNvSpPr txBox="true"/>
          <p:nvPr/>
        </p:nvSpPr>
        <p:spPr>
          <a:xfrm rot="0">
            <a:off x="914400" y="5121593"/>
            <a:ext cx="6438900" cy="1095375"/>
          </a:xfrm>
          <a:prstGeom prst="rect">
            <a:avLst/>
          </a:prstGeom>
        </p:spPr>
        <p:txBody>
          <a:bodyPr anchor="t" rtlCol="false" tIns="0" lIns="0" bIns="0" rIns="0">
            <a:spAutoFit/>
          </a:bodyPr>
          <a:lstStyle/>
          <a:p>
            <a:pPr algn="l">
              <a:lnSpc>
                <a:spcPts val="2940"/>
              </a:lnSpc>
            </a:pPr>
            <a:r>
              <a:rPr lang="en-US" b="true" sz="2100">
                <a:solidFill>
                  <a:srgbClr val="643312"/>
                </a:solidFill>
                <a:latin typeface="Arimo Bold"/>
                <a:ea typeface="Arimo Bold"/>
                <a:cs typeface="Arimo Bold"/>
                <a:sym typeface="Arimo Bold"/>
              </a:rPr>
              <a:t>Tip </a:t>
            </a:r>
            <a:r>
              <a:rPr lang="en-US" b="true" sz="2100">
                <a:solidFill>
                  <a:srgbClr val="201E1D"/>
                </a:solidFill>
                <a:latin typeface="Arimo Bold"/>
                <a:ea typeface="Arimo Bold"/>
                <a:cs typeface="Arimo Bold"/>
                <a:sym typeface="Arimo Bold"/>
              </a:rPr>
              <a:t>⇒ means “implies”. Write it between the lines of a rearrangement.</a:t>
            </a:r>
          </a:p>
        </p:txBody>
      </p:sp>
      <p:grpSp>
        <p:nvGrpSpPr>
          <p:cNvPr name="Group 17" id="17"/>
          <p:cNvGrpSpPr/>
          <p:nvPr/>
        </p:nvGrpSpPr>
        <p:grpSpPr>
          <a:xfrm rot="0">
            <a:off x="916495" y="9010650"/>
            <a:ext cx="2333625" cy="666750"/>
            <a:chOff x="0" y="0"/>
            <a:chExt cx="3111500" cy="889000"/>
          </a:xfrm>
        </p:grpSpPr>
        <p:sp>
          <p:nvSpPr>
            <p:cNvPr name="Freeform 18" id="18"/>
            <p:cNvSpPr/>
            <p:nvPr/>
          </p:nvSpPr>
          <p:spPr>
            <a:xfrm flipH="false" flipV="false" rot="0">
              <a:off x="0" y="0"/>
              <a:ext cx="3111500" cy="889000"/>
            </a:xfrm>
            <a:custGeom>
              <a:avLst/>
              <a:gdLst/>
              <a:ahLst/>
              <a:cxnLst/>
              <a:rect r="r" b="b" t="t" l="l"/>
              <a:pathLst>
                <a:path h="889000" w="3111500">
                  <a:moveTo>
                    <a:pt x="444500" y="0"/>
                  </a:moveTo>
                  <a:lnTo>
                    <a:pt x="2667000" y="0"/>
                  </a:lnTo>
                  <a:cubicBezTo>
                    <a:pt x="2912491" y="0"/>
                    <a:pt x="3111500" y="199009"/>
                    <a:pt x="3111500" y="444500"/>
                  </a:cubicBezTo>
                  <a:cubicBezTo>
                    <a:pt x="3111500" y="689991"/>
                    <a:pt x="2912491" y="889000"/>
                    <a:pt x="26670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sp>
          <p:nvSpPr>
            <p:cNvPr name="TextBox 19" id="19"/>
            <p:cNvSpPr txBox="true"/>
            <p:nvPr/>
          </p:nvSpPr>
          <p:spPr>
            <a:xfrm>
              <a:off x="0" y="-19050"/>
              <a:ext cx="3111500" cy="908050"/>
            </a:xfrm>
            <a:prstGeom prst="rect">
              <a:avLst/>
            </a:prstGeom>
          </p:spPr>
          <p:txBody>
            <a:bodyPr anchor="t" rtlCol="false" tIns="203200" lIns="203200" bIns="203200" rIns="203200"/>
            <a:lstStyle/>
            <a:p>
              <a:pPr algn="ctr">
                <a:lnSpc>
                  <a:spcPts val="2700"/>
                </a:lnSpc>
              </a:pPr>
              <a:r>
                <a:rPr lang="en-US" b="true" sz="2250" spc="-44">
                  <a:solidFill>
                    <a:srgbClr val="F5EAD8"/>
                  </a:solidFill>
                  <a:latin typeface="Arimo Bold"/>
                  <a:ea typeface="Arimo Bold"/>
                  <a:cs typeface="Arimo Bold"/>
                  <a:sym typeface="Arimo Bold"/>
                </a:rPr>
                <a:t>Next step →</a:t>
              </a:r>
            </a:p>
          </p:txBody>
        </p:sp>
      </p:grpSp>
      <p:sp>
        <p:nvSpPr>
          <p:cNvPr name="TextBox 20" id="20"/>
          <p:cNvSpPr txBox="true"/>
          <p:nvPr/>
        </p:nvSpPr>
        <p:spPr>
          <a:xfrm rot="0">
            <a:off x="3405759" y="8991600"/>
            <a:ext cx="2143125" cy="685800"/>
          </a:xfrm>
          <a:prstGeom prst="rect">
            <a:avLst/>
          </a:prstGeom>
        </p:spPr>
        <p:txBody>
          <a:bodyPr anchor="t" rtlCol="false" tIns="0" lIns="0" bIns="0" rIns="0">
            <a:spAutoFit/>
          </a:bodyPr>
          <a:lstStyle/>
          <a:p>
            <a:pPr algn="ctr">
              <a:lnSpc>
                <a:spcPts val="2700"/>
              </a:lnSpc>
            </a:pPr>
            <a:r>
              <a:rPr lang="en-US" b="true" sz="2250" spc="-44">
                <a:solidFill>
                  <a:srgbClr val="201E1D"/>
                </a:solidFill>
                <a:latin typeface="Arimo Bold"/>
                <a:ea typeface="Arimo Bold"/>
                <a:cs typeface="Arimo Bold"/>
                <a:sym typeface="Arimo Bold"/>
              </a:rPr>
              <a:t>Start again</a:t>
            </a:r>
          </a:p>
        </p:txBody>
      </p:sp>
      <p:grpSp>
        <p:nvGrpSpPr>
          <p:cNvPr name="Group 21" id="21"/>
          <p:cNvGrpSpPr/>
          <p:nvPr/>
        </p:nvGrpSpPr>
        <p:grpSpPr>
          <a:xfrm rot="0">
            <a:off x="7848600" y="609600"/>
            <a:ext cx="9525000" cy="9067800"/>
            <a:chOff x="0" y="0"/>
            <a:chExt cx="12700000" cy="12090400"/>
          </a:xfrm>
        </p:grpSpPr>
        <p:sp>
          <p:nvSpPr>
            <p:cNvPr name="Freeform 22" id="22"/>
            <p:cNvSpPr/>
            <p:nvPr/>
          </p:nvSpPr>
          <p:spPr>
            <a:xfrm flipH="false" flipV="false" rot="0">
              <a:off x="0" y="0"/>
              <a:ext cx="12700000" cy="12090400"/>
            </a:xfrm>
            <a:custGeom>
              <a:avLst/>
              <a:gdLst/>
              <a:ahLst/>
              <a:cxnLst/>
              <a:rect r="r" b="b" t="t" l="l"/>
              <a:pathLst>
                <a:path h="12090400" w="12700000">
                  <a:moveTo>
                    <a:pt x="711200" y="0"/>
                  </a:moveTo>
                  <a:lnTo>
                    <a:pt x="11988800" y="0"/>
                  </a:lnTo>
                  <a:cubicBezTo>
                    <a:pt x="12381611" y="0"/>
                    <a:pt x="12700000" y="318389"/>
                    <a:pt x="12700000" y="711200"/>
                  </a:cubicBezTo>
                  <a:lnTo>
                    <a:pt x="12700000" y="11379200"/>
                  </a:lnTo>
                  <a:cubicBezTo>
                    <a:pt x="12700000" y="11772011"/>
                    <a:pt x="12381611" y="12090400"/>
                    <a:pt x="11988800" y="12090400"/>
                  </a:cubicBezTo>
                  <a:lnTo>
                    <a:pt x="711200" y="12090400"/>
                  </a:lnTo>
                  <a:cubicBezTo>
                    <a:pt x="318389" y="12090400"/>
                    <a:pt x="0" y="11772011"/>
                    <a:pt x="0" y="11379200"/>
                  </a:cubicBezTo>
                  <a:lnTo>
                    <a:pt x="0" y="711200"/>
                  </a:lnTo>
                  <a:cubicBezTo>
                    <a:pt x="0" y="318389"/>
                    <a:pt x="318389" y="0"/>
                    <a:pt x="711200" y="0"/>
                  </a:cubicBezTo>
                  <a:close/>
                </a:path>
              </a:pathLst>
            </a:custGeom>
            <a:solidFill>
              <a:srgbClr val="EBDDC5"/>
            </a:solidFill>
          </p:spPr>
        </p:sp>
      </p:grpSp>
    </p:spTree>
  </p:cSld>
  <p:clrMapOvr>
    <a:masterClrMapping/>
  </p:clrMapOvr>
</p:sld>
</file>

<file path=ppt/slides/slide3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FFE1D0"/>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CCDBB2"/>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FFC6A5"/>
            </a:solidFill>
          </p:spPr>
        </p:sp>
      </p:grpSp>
      <p:grpSp>
        <p:nvGrpSpPr>
          <p:cNvPr name="Group 9" id="9"/>
          <p:cNvGrpSpPr/>
          <p:nvPr/>
        </p:nvGrpSpPr>
        <p:grpSpPr>
          <a:xfrm rot="0">
            <a:off x="916591" y="611505"/>
            <a:ext cx="1400175" cy="600075"/>
            <a:chOff x="0" y="0"/>
            <a:chExt cx="1866900" cy="800100"/>
          </a:xfrm>
        </p:grpSpPr>
        <p:sp>
          <p:nvSpPr>
            <p:cNvPr name="Freeform 10" id="10"/>
            <p:cNvSpPr/>
            <p:nvPr/>
          </p:nvSpPr>
          <p:spPr>
            <a:xfrm flipH="false" flipV="false" rot="0">
              <a:off x="0" y="0"/>
              <a:ext cx="1866900" cy="800100"/>
            </a:xfrm>
            <a:custGeom>
              <a:avLst/>
              <a:gdLst/>
              <a:ahLst/>
              <a:cxnLst/>
              <a:rect r="r" b="b" t="t" l="l"/>
              <a:pathLst>
                <a:path h="800100" w="1866900">
                  <a:moveTo>
                    <a:pt x="400050" y="0"/>
                  </a:moveTo>
                  <a:lnTo>
                    <a:pt x="1466850" y="0"/>
                  </a:lnTo>
                  <a:cubicBezTo>
                    <a:pt x="1687830" y="0"/>
                    <a:pt x="1866900" y="179070"/>
                    <a:pt x="1866900" y="400050"/>
                  </a:cubicBezTo>
                  <a:cubicBezTo>
                    <a:pt x="1866900" y="621030"/>
                    <a:pt x="1687830" y="800100"/>
                    <a:pt x="1466850" y="800100"/>
                  </a:cubicBezTo>
                  <a:lnTo>
                    <a:pt x="400050" y="800100"/>
                  </a:lnTo>
                  <a:cubicBezTo>
                    <a:pt x="179070" y="800100"/>
                    <a:pt x="0" y="621030"/>
                    <a:pt x="0" y="400050"/>
                  </a:cubicBezTo>
                  <a:cubicBezTo>
                    <a:pt x="0" y="179070"/>
                    <a:pt x="179070" y="0"/>
                    <a:pt x="400050" y="0"/>
                  </a:cubicBezTo>
                  <a:close/>
                </a:path>
              </a:pathLst>
            </a:custGeom>
            <a:solidFill>
              <a:srgbClr val="8C491A"/>
            </a:solidFill>
          </p:spPr>
        </p:sp>
        <p:sp>
          <p:nvSpPr>
            <p:cNvPr name="TextBox 11" id="11"/>
            <p:cNvSpPr txBox="true"/>
            <p:nvPr/>
          </p:nvSpPr>
          <p:spPr>
            <a:xfrm>
              <a:off x="0" y="-76200"/>
              <a:ext cx="18669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TRY IT</a:t>
              </a:r>
            </a:p>
          </p:txBody>
        </p:sp>
      </p:grpSp>
      <p:sp>
        <p:nvSpPr>
          <p:cNvPr name="TextBox 12" id="12"/>
          <p:cNvSpPr txBox="true"/>
          <p:nvPr/>
        </p:nvSpPr>
        <p:spPr>
          <a:xfrm rot="0">
            <a:off x="2508980" y="630555"/>
            <a:ext cx="1905000" cy="485775"/>
          </a:xfrm>
          <a:prstGeom prst="rect">
            <a:avLst/>
          </a:prstGeom>
        </p:spPr>
        <p:txBody>
          <a:bodyPr anchor="t" rtlCol="false" tIns="0" lIns="0" bIns="0" rIns="0">
            <a:spAutoFit/>
          </a:bodyPr>
          <a:lstStyle/>
          <a:p>
            <a:pPr algn="l">
              <a:lnSpc>
                <a:spcPts val="3255"/>
              </a:lnSpc>
            </a:pPr>
            <a:r>
              <a:rPr lang="en-US" b="true" sz="2100">
                <a:solidFill>
                  <a:srgbClr val="3D472B"/>
                </a:solidFill>
                <a:latin typeface="Arimo Bold"/>
                <a:ea typeface="Arimo Bold"/>
                <a:cs typeface="Arimo Bold"/>
                <a:sym typeface="Arimo Bold"/>
              </a:rPr>
              <a:t>6.3 · Interactive</a:t>
            </a:r>
          </a:p>
        </p:txBody>
      </p:sp>
      <p:sp>
        <p:nvSpPr>
          <p:cNvPr name="TextBox 13" id="13"/>
          <p:cNvSpPr txBox="true"/>
          <p:nvPr/>
        </p:nvSpPr>
        <p:spPr>
          <a:xfrm rot="0">
            <a:off x="914400" y="1471708"/>
            <a:ext cx="6438900" cy="504825"/>
          </a:xfrm>
          <a:prstGeom prst="rect">
            <a:avLst/>
          </a:prstGeom>
        </p:spPr>
        <p:txBody>
          <a:bodyPr anchor="t" rtlCol="false" tIns="0" lIns="0" bIns="0" rIns="0">
            <a:spAutoFit/>
          </a:bodyPr>
          <a:lstStyle/>
          <a:p>
            <a:pPr algn="l">
              <a:lnSpc>
                <a:spcPts val="4368"/>
              </a:lnSpc>
            </a:pPr>
            <a:r>
              <a:rPr lang="en-US" b="true" sz="4200" spc="-84">
                <a:solidFill>
                  <a:srgbClr val="201E1D"/>
                </a:solidFill>
                <a:latin typeface="Arimo Bold"/>
                <a:ea typeface="Arimo Bold"/>
                <a:cs typeface="Arimo Bold"/>
                <a:sym typeface="Arimo Bold"/>
              </a:rPr>
              <a:t>Rearrange v = u + at</a:t>
            </a:r>
          </a:p>
        </p:txBody>
      </p:sp>
      <p:sp>
        <p:nvSpPr>
          <p:cNvPr name="TextBox 14" id="14"/>
          <p:cNvSpPr txBox="true"/>
          <p:nvPr/>
        </p:nvSpPr>
        <p:spPr>
          <a:xfrm rot="0">
            <a:off x="914400" y="2129028"/>
            <a:ext cx="6438900" cy="485775"/>
          </a:xfrm>
          <a:prstGeom prst="rect">
            <a:avLst/>
          </a:prstGeom>
        </p:spPr>
        <p:txBody>
          <a:bodyPr anchor="t" rtlCol="false" tIns="0" lIns="0" bIns="0" rIns="0">
            <a:spAutoFit/>
          </a:bodyPr>
          <a:lstStyle/>
          <a:p>
            <a:pPr algn="l">
              <a:lnSpc>
                <a:spcPts val="3359"/>
              </a:lnSpc>
            </a:pPr>
            <a:r>
              <a:rPr lang="en-US" b="true" sz="2400">
                <a:solidFill>
                  <a:srgbClr val="201E1D"/>
                </a:solidFill>
                <a:latin typeface="Arimo Bold"/>
                <a:ea typeface="Arimo Bold"/>
                <a:cs typeface="Arimo Bold"/>
                <a:sym typeface="Arimo Bold"/>
              </a:rPr>
              <a:t>Make this letter the subject:</a:t>
            </a:r>
          </a:p>
        </p:txBody>
      </p:sp>
      <p:sp>
        <p:nvSpPr>
          <p:cNvPr name="TextBox 15" id="15"/>
          <p:cNvSpPr txBox="true"/>
          <p:nvPr/>
        </p:nvSpPr>
        <p:spPr>
          <a:xfrm rot="0">
            <a:off x="916019" y="2793873"/>
            <a:ext cx="1123950" cy="819150"/>
          </a:xfrm>
          <a:prstGeom prst="rect">
            <a:avLst/>
          </a:prstGeom>
        </p:spPr>
        <p:txBody>
          <a:bodyPr anchor="t" rtlCol="false" tIns="0" lIns="0" bIns="0" rIns="0">
            <a:spAutoFit/>
          </a:bodyPr>
          <a:lstStyle/>
          <a:p>
            <a:pPr algn="ctr">
              <a:lnSpc>
                <a:spcPts val="3960"/>
              </a:lnSpc>
            </a:pPr>
            <a:r>
              <a:rPr lang="en-US" b="true" sz="3300" spc="-66">
                <a:solidFill>
                  <a:srgbClr val="201E1D"/>
                </a:solidFill>
                <a:latin typeface="Arimo Bold"/>
                <a:ea typeface="Arimo Bold"/>
                <a:cs typeface="Arimo Bold"/>
                <a:sym typeface="Arimo Bold"/>
              </a:rPr>
              <a:t>u</a:t>
            </a:r>
          </a:p>
        </p:txBody>
      </p:sp>
      <p:sp>
        <p:nvSpPr>
          <p:cNvPr name="TextBox 16" id="16"/>
          <p:cNvSpPr txBox="true"/>
          <p:nvPr/>
        </p:nvSpPr>
        <p:spPr>
          <a:xfrm rot="0">
            <a:off x="2212562" y="2793873"/>
            <a:ext cx="1114425" cy="819150"/>
          </a:xfrm>
          <a:prstGeom prst="rect">
            <a:avLst/>
          </a:prstGeom>
        </p:spPr>
        <p:txBody>
          <a:bodyPr anchor="t" rtlCol="false" tIns="0" lIns="0" bIns="0" rIns="0">
            <a:spAutoFit/>
          </a:bodyPr>
          <a:lstStyle/>
          <a:p>
            <a:pPr algn="ctr">
              <a:lnSpc>
                <a:spcPts val="3960"/>
              </a:lnSpc>
            </a:pPr>
            <a:r>
              <a:rPr lang="en-US" b="true" sz="3300" spc="-66">
                <a:solidFill>
                  <a:srgbClr val="201E1D"/>
                </a:solidFill>
                <a:latin typeface="Arimo Bold"/>
                <a:ea typeface="Arimo Bold"/>
                <a:cs typeface="Arimo Bold"/>
                <a:sym typeface="Arimo Bold"/>
              </a:rPr>
              <a:t>a</a:t>
            </a:r>
          </a:p>
        </p:txBody>
      </p:sp>
      <p:sp>
        <p:nvSpPr>
          <p:cNvPr name="TextBox 17" id="17"/>
          <p:cNvSpPr txBox="true"/>
          <p:nvPr/>
        </p:nvSpPr>
        <p:spPr>
          <a:xfrm rot="0">
            <a:off x="3499580" y="2793873"/>
            <a:ext cx="1057275" cy="819150"/>
          </a:xfrm>
          <a:prstGeom prst="rect">
            <a:avLst/>
          </a:prstGeom>
        </p:spPr>
        <p:txBody>
          <a:bodyPr anchor="t" rtlCol="false" tIns="0" lIns="0" bIns="0" rIns="0">
            <a:spAutoFit/>
          </a:bodyPr>
          <a:lstStyle/>
          <a:p>
            <a:pPr algn="ctr">
              <a:lnSpc>
                <a:spcPts val="3960"/>
              </a:lnSpc>
            </a:pPr>
            <a:r>
              <a:rPr lang="en-US" b="true" sz="3300" spc="-66">
                <a:solidFill>
                  <a:srgbClr val="201E1D"/>
                </a:solidFill>
                <a:latin typeface="Arimo Bold"/>
                <a:ea typeface="Arimo Bold"/>
                <a:cs typeface="Arimo Bold"/>
                <a:sym typeface="Arimo Bold"/>
              </a:rPr>
              <a:t>t</a:t>
            </a:r>
          </a:p>
        </p:txBody>
      </p:sp>
      <p:grpSp>
        <p:nvGrpSpPr>
          <p:cNvPr name="Group 18" id="18"/>
          <p:cNvGrpSpPr/>
          <p:nvPr/>
        </p:nvGrpSpPr>
        <p:grpSpPr>
          <a:xfrm rot="0">
            <a:off x="914400" y="3820096"/>
            <a:ext cx="6438900" cy="1238250"/>
            <a:chOff x="0" y="0"/>
            <a:chExt cx="8585200" cy="1651000"/>
          </a:xfrm>
        </p:grpSpPr>
        <p:sp>
          <p:nvSpPr>
            <p:cNvPr name="Freeform 19" id="19"/>
            <p:cNvSpPr/>
            <p:nvPr/>
          </p:nvSpPr>
          <p:spPr>
            <a:xfrm flipH="false" flipV="false" rot="0">
              <a:off x="0" y="0"/>
              <a:ext cx="8585200" cy="1651000"/>
            </a:xfrm>
            <a:custGeom>
              <a:avLst/>
              <a:gdLst/>
              <a:ahLst/>
              <a:cxnLst/>
              <a:rect r="r" b="b" t="t" l="l"/>
              <a:pathLst>
                <a:path h="1651000" w="8585200">
                  <a:moveTo>
                    <a:pt x="355600" y="0"/>
                  </a:moveTo>
                  <a:lnTo>
                    <a:pt x="8229600" y="0"/>
                  </a:lnTo>
                  <a:cubicBezTo>
                    <a:pt x="8425942" y="0"/>
                    <a:pt x="8585200" y="159258"/>
                    <a:pt x="8585200" y="355600"/>
                  </a:cubicBezTo>
                  <a:lnTo>
                    <a:pt x="8585200" y="1295400"/>
                  </a:lnTo>
                  <a:cubicBezTo>
                    <a:pt x="8585200" y="1491742"/>
                    <a:pt x="8425942" y="1651000"/>
                    <a:pt x="8229600" y="1651000"/>
                  </a:cubicBezTo>
                  <a:lnTo>
                    <a:pt x="355600" y="1651000"/>
                  </a:lnTo>
                  <a:cubicBezTo>
                    <a:pt x="159258" y="1651000"/>
                    <a:pt x="0" y="1491742"/>
                    <a:pt x="0" y="1295400"/>
                  </a:cubicBezTo>
                  <a:lnTo>
                    <a:pt x="0" y="355600"/>
                  </a:lnTo>
                  <a:cubicBezTo>
                    <a:pt x="0" y="159258"/>
                    <a:pt x="159258" y="0"/>
                    <a:pt x="355600" y="0"/>
                  </a:cubicBezTo>
                  <a:close/>
                </a:path>
              </a:pathLst>
            </a:custGeom>
            <a:solidFill>
              <a:srgbClr val="FFF2EB"/>
            </a:solidFill>
          </p:spPr>
        </p:sp>
        <p:sp>
          <p:nvSpPr>
            <p:cNvPr name="Freeform 20" id="20"/>
            <p:cNvSpPr/>
            <p:nvPr/>
          </p:nvSpPr>
          <p:spPr>
            <a:xfrm flipH="false" flipV="false" rot="0">
              <a:off x="0" y="0"/>
              <a:ext cx="8585200" cy="1651000"/>
            </a:xfrm>
            <a:custGeom>
              <a:avLst/>
              <a:gdLst/>
              <a:ahLst/>
              <a:cxnLst/>
              <a:rect r="r" b="b" t="t" l="l"/>
              <a:pathLst>
                <a:path h="1651000" w="8585200">
                  <a:moveTo>
                    <a:pt x="355600" y="0"/>
                  </a:moveTo>
                  <a:lnTo>
                    <a:pt x="8229600" y="0"/>
                  </a:lnTo>
                  <a:cubicBezTo>
                    <a:pt x="8425942" y="0"/>
                    <a:pt x="8585200" y="159258"/>
                    <a:pt x="8585200" y="355600"/>
                  </a:cubicBezTo>
                  <a:lnTo>
                    <a:pt x="8585200" y="1295400"/>
                  </a:lnTo>
                  <a:cubicBezTo>
                    <a:pt x="8585200" y="1491742"/>
                    <a:pt x="8425942" y="1651000"/>
                    <a:pt x="8229600" y="1651000"/>
                  </a:cubicBezTo>
                  <a:lnTo>
                    <a:pt x="355600" y="1651000"/>
                  </a:lnTo>
                  <a:cubicBezTo>
                    <a:pt x="159258" y="1651000"/>
                    <a:pt x="0" y="1491742"/>
                    <a:pt x="0" y="1295400"/>
                  </a:cubicBezTo>
                  <a:lnTo>
                    <a:pt x="0" y="355600"/>
                  </a:lnTo>
                  <a:cubicBezTo>
                    <a:pt x="0" y="159258"/>
                    <a:pt x="159258" y="0"/>
                    <a:pt x="355600" y="0"/>
                  </a:cubicBezTo>
                  <a:close/>
                </a:path>
              </a:pathLst>
            </a:custGeom>
            <a:solidFill>
              <a:srgbClr val="000000">
                <a:alpha val="0"/>
              </a:srgbClr>
            </a:solidFill>
            <a:ln w="28575" cap="sq">
              <a:solidFill>
                <a:srgbClr val="FFC6A5"/>
              </a:solidFill>
              <a:prstDash val="solid"/>
              <a:miter/>
            </a:ln>
          </p:spPr>
        </p:sp>
        <p:sp>
          <p:nvSpPr>
            <p:cNvPr name="TextBox 21" id="21"/>
            <p:cNvSpPr txBox="true"/>
            <p:nvPr/>
          </p:nvSpPr>
          <p:spPr>
            <a:xfrm>
              <a:off x="0" y="-152400"/>
              <a:ext cx="8585200" cy="1803400"/>
            </a:xfrm>
            <a:prstGeom prst="rect">
              <a:avLst/>
            </a:prstGeom>
          </p:spPr>
          <p:txBody>
            <a:bodyPr anchor="t" rtlCol="false" tIns="370332" lIns="370332" bIns="370332" rIns="370332"/>
            <a:lstStyle/>
            <a:p>
              <a:pPr algn="l">
                <a:lnSpc>
                  <a:spcPts val="6277"/>
                </a:lnSpc>
              </a:pPr>
              <a:r>
                <a:rPr lang="en-US" b="true" sz="4050">
                  <a:solidFill>
                    <a:srgbClr val="201E1D"/>
                  </a:solidFill>
                  <a:latin typeface="Arimo Bold"/>
                  <a:ea typeface="Arimo Bold"/>
                  <a:cs typeface="Arimo Bold"/>
                  <a:sym typeface="Arimo Bold"/>
                </a:rPr>
                <a:t>a = (v − u) ÷ t</a:t>
              </a:r>
            </a:p>
          </p:txBody>
        </p:sp>
      </p:grpSp>
      <p:sp>
        <p:nvSpPr>
          <p:cNvPr name="TextBox 22" id="22"/>
          <p:cNvSpPr txBox="true"/>
          <p:nvPr/>
        </p:nvSpPr>
        <p:spPr>
          <a:xfrm rot="0">
            <a:off x="914400" y="5208270"/>
            <a:ext cx="6438900" cy="885825"/>
          </a:xfrm>
          <a:prstGeom prst="rect">
            <a:avLst/>
          </a:prstGeom>
        </p:spPr>
        <p:txBody>
          <a:bodyPr anchor="t" rtlCol="false" tIns="0" lIns="0" bIns="0" rIns="0">
            <a:spAutoFit/>
          </a:bodyPr>
          <a:lstStyle/>
          <a:p>
            <a:pPr algn="l">
              <a:lnSpc>
                <a:spcPts val="3254"/>
              </a:lnSpc>
            </a:pPr>
            <a:r>
              <a:rPr lang="en-US" b="true" sz="2325">
                <a:solidFill>
                  <a:srgbClr val="201E1D"/>
                </a:solidFill>
                <a:latin typeface="Arimo Bold"/>
                <a:ea typeface="Arimo Bold"/>
                <a:cs typeface="Arimo Bold"/>
                <a:sym typeface="Arimo Bold"/>
              </a:rPr>
              <a:t>a was multiplied by t, then u was added. Undo: subtract u, then divide by t.</a:t>
            </a:r>
          </a:p>
        </p:txBody>
      </p:sp>
      <p:grpSp>
        <p:nvGrpSpPr>
          <p:cNvPr name="Group 23" id="23"/>
          <p:cNvGrpSpPr/>
          <p:nvPr/>
        </p:nvGrpSpPr>
        <p:grpSpPr>
          <a:xfrm rot="0">
            <a:off x="7848600" y="609600"/>
            <a:ext cx="9525000" cy="9067800"/>
            <a:chOff x="0" y="0"/>
            <a:chExt cx="12700000" cy="12090400"/>
          </a:xfrm>
        </p:grpSpPr>
        <p:sp>
          <p:nvSpPr>
            <p:cNvPr name="Freeform 24" id="24"/>
            <p:cNvSpPr/>
            <p:nvPr/>
          </p:nvSpPr>
          <p:spPr>
            <a:xfrm flipH="false" flipV="false" rot="0">
              <a:off x="0" y="0"/>
              <a:ext cx="12700000" cy="12090400"/>
            </a:xfrm>
            <a:custGeom>
              <a:avLst/>
              <a:gdLst/>
              <a:ahLst/>
              <a:cxnLst/>
              <a:rect r="r" b="b" t="t" l="l"/>
              <a:pathLst>
                <a:path h="12090400" w="12700000">
                  <a:moveTo>
                    <a:pt x="711200" y="0"/>
                  </a:moveTo>
                  <a:lnTo>
                    <a:pt x="11988800" y="0"/>
                  </a:lnTo>
                  <a:cubicBezTo>
                    <a:pt x="12381611" y="0"/>
                    <a:pt x="12700000" y="318389"/>
                    <a:pt x="12700000" y="711200"/>
                  </a:cubicBezTo>
                  <a:lnTo>
                    <a:pt x="12700000" y="11379200"/>
                  </a:lnTo>
                  <a:cubicBezTo>
                    <a:pt x="12700000" y="11772011"/>
                    <a:pt x="12381611" y="12090400"/>
                    <a:pt x="11988800" y="12090400"/>
                  </a:cubicBezTo>
                  <a:lnTo>
                    <a:pt x="711200" y="12090400"/>
                  </a:lnTo>
                  <a:cubicBezTo>
                    <a:pt x="318389" y="12090400"/>
                    <a:pt x="0" y="11772011"/>
                    <a:pt x="0" y="11379200"/>
                  </a:cubicBezTo>
                  <a:lnTo>
                    <a:pt x="0" y="711200"/>
                  </a:lnTo>
                  <a:cubicBezTo>
                    <a:pt x="0" y="318389"/>
                    <a:pt x="318389" y="0"/>
                    <a:pt x="711200" y="0"/>
                  </a:cubicBezTo>
                  <a:close/>
                </a:path>
              </a:pathLst>
            </a:custGeom>
            <a:solidFill>
              <a:srgbClr val="EBDDC5"/>
            </a:solidFill>
          </p:spPr>
        </p:sp>
      </p:grpSp>
    </p:spTree>
  </p:cSld>
  <p:clrMapOvr>
    <a:masterClrMapping/>
  </p:clrMapOvr>
</p:sld>
</file>

<file path=ppt/slides/slide3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FFE1D0"/>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CCDBB2"/>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FFC6A5"/>
            </a:solidFill>
          </p:spPr>
        </p:sp>
      </p:grpSp>
      <p:grpSp>
        <p:nvGrpSpPr>
          <p:cNvPr name="Group 9" id="9"/>
          <p:cNvGrpSpPr/>
          <p:nvPr/>
        </p:nvGrpSpPr>
        <p:grpSpPr>
          <a:xfrm rot="0">
            <a:off x="990124" y="611505"/>
            <a:ext cx="3790950" cy="600075"/>
            <a:chOff x="0" y="0"/>
            <a:chExt cx="5054600" cy="800100"/>
          </a:xfrm>
        </p:grpSpPr>
        <p:sp>
          <p:nvSpPr>
            <p:cNvPr name="Freeform 10" id="10"/>
            <p:cNvSpPr/>
            <p:nvPr/>
          </p:nvSpPr>
          <p:spPr>
            <a:xfrm flipH="false" flipV="false" rot="0">
              <a:off x="0" y="0"/>
              <a:ext cx="5054600" cy="800100"/>
            </a:xfrm>
            <a:custGeom>
              <a:avLst/>
              <a:gdLst/>
              <a:ahLst/>
              <a:cxnLst/>
              <a:rect r="r" b="b" t="t" l="l"/>
              <a:pathLst>
                <a:path h="800100" w="5054600">
                  <a:moveTo>
                    <a:pt x="400050" y="0"/>
                  </a:moveTo>
                  <a:lnTo>
                    <a:pt x="4654550" y="0"/>
                  </a:lnTo>
                  <a:cubicBezTo>
                    <a:pt x="4875530" y="0"/>
                    <a:pt x="5054600" y="179070"/>
                    <a:pt x="5054600" y="400050"/>
                  </a:cubicBezTo>
                  <a:cubicBezTo>
                    <a:pt x="5054600" y="621030"/>
                    <a:pt x="4875530" y="800100"/>
                    <a:pt x="4654550" y="800100"/>
                  </a:cubicBezTo>
                  <a:lnTo>
                    <a:pt x="400050" y="800100"/>
                  </a:lnTo>
                  <a:cubicBezTo>
                    <a:pt x="179070" y="800100"/>
                    <a:pt x="0" y="621030"/>
                    <a:pt x="0" y="400050"/>
                  </a:cubicBezTo>
                  <a:cubicBezTo>
                    <a:pt x="0" y="179070"/>
                    <a:pt x="179070" y="0"/>
                    <a:pt x="400050" y="0"/>
                  </a:cubicBezTo>
                  <a:close/>
                </a:path>
              </a:pathLst>
            </a:custGeom>
            <a:solidFill>
              <a:srgbClr val="8C491A"/>
            </a:solidFill>
          </p:spPr>
        </p:sp>
        <p:sp>
          <p:nvSpPr>
            <p:cNvPr name="TextBox 11" id="11"/>
            <p:cNvSpPr txBox="true"/>
            <p:nvPr/>
          </p:nvSpPr>
          <p:spPr>
            <a:xfrm>
              <a:off x="0" y="-76200"/>
              <a:ext cx="50546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EXERCISE 6.3 · Q3 &amp; Q4</a:t>
              </a:r>
            </a:p>
          </p:txBody>
        </p:sp>
      </p:grpSp>
      <p:sp>
        <p:nvSpPr>
          <p:cNvPr name="TextBox 12" id="12"/>
          <p:cNvSpPr txBox="true"/>
          <p:nvPr/>
        </p:nvSpPr>
        <p:spPr>
          <a:xfrm rot="0">
            <a:off x="4972907" y="630555"/>
            <a:ext cx="1581150" cy="485775"/>
          </a:xfrm>
          <a:prstGeom prst="rect">
            <a:avLst/>
          </a:prstGeom>
        </p:spPr>
        <p:txBody>
          <a:bodyPr anchor="t" rtlCol="false" tIns="0" lIns="0" bIns="0" rIns="0">
            <a:spAutoFit/>
          </a:bodyPr>
          <a:lstStyle/>
          <a:p>
            <a:pPr algn="l">
              <a:lnSpc>
                <a:spcPts val="3255"/>
              </a:lnSpc>
            </a:pPr>
            <a:r>
              <a:rPr lang="en-US" b="true" sz="2100">
                <a:solidFill>
                  <a:srgbClr val="3D472B"/>
                </a:solidFill>
                <a:latin typeface="Arimo Bold"/>
                <a:ea typeface="Arimo Bold"/>
                <a:cs typeface="Arimo Bold"/>
                <a:sym typeface="Arimo Bold"/>
              </a:rPr>
              <a:t>6.3 · Practice</a:t>
            </a:r>
          </a:p>
        </p:txBody>
      </p:sp>
      <p:sp>
        <p:nvSpPr>
          <p:cNvPr name="TextBox 13" id="13"/>
          <p:cNvSpPr txBox="true"/>
          <p:nvPr/>
        </p:nvSpPr>
        <p:spPr>
          <a:xfrm rot="0">
            <a:off x="990600" y="1510189"/>
            <a:ext cx="16306800" cy="523875"/>
          </a:xfrm>
          <a:prstGeom prst="rect">
            <a:avLst/>
          </a:prstGeom>
        </p:spPr>
        <p:txBody>
          <a:bodyPr anchor="t" rtlCol="false" tIns="0" lIns="0" bIns="0" rIns="0">
            <a:spAutoFit/>
          </a:bodyPr>
          <a:lstStyle/>
          <a:p>
            <a:pPr algn="l">
              <a:lnSpc>
                <a:spcPts val="4524"/>
              </a:lnSpc>
            </a:pPr>
            <a:r>
              <a:rPr lang="en-US" b="true" sz="4350" spc="-86">
                <a:solidFill>
                  <a:srgbClr val="201E1D"/>
                </a:solidFill>
                <a:latin typeface="Arimo Bold"/>
                <a:ea typeface="Arimo Bold"/>
                <a:cs typeface="Arimo Bold"/>
                <a:sym typeface="Arimo Bold"/>
              </a:rPr>
              <a:t>Fractions and roots</a:t>
            </a:r>
          </a:p>
        </p:txBody>
      </p:sp>
      <p:sp>
        <p:nvSpPr>
          <p:cNvPr name="TextBox 14" id="14"/>
          <p:cNvSpPr txBox="true"/>
          <p:nvPr/>
        </p:nvSpPr>
        <p:spPr>
          <a:xfrm rot="0">
            <a:off x="990981" y="2214943"/>
            <a:ext cx="381000" cy="542925"/>
          </a:xfrm>
          <a:prstGeom prst="rect">
            <a:avLst/>
          </a:prstGeom>
        </p:spPr>
        <p:txBody>
          <a:bodyPr anchor="t" rtlCol="false" tIns="0" lIns="0" bIns="0" rIns="0">
            <a:spAutoFit/>
          </a:bodyPr>
          <a:lstStyle/>
          <a:p>
            <a:pPr algn="l">
              <a:lnSpc>
                <a:spcPts val="3726"/>
              </a:lnSpc>
            </a:pPr>
            <a:r>
              <a:rPr lang="en-US" b="true" sz="2700">
                <a:solidFill>
                  <a:srgbClr val="8C491A"/>
                </a:solidFill>
                <a:latin typeface="Arimo Bold"/>
                <a:ea typeface="Arimo Bold"/>
                <a:cs typeface="Arimo Bold"/>
                <a:sym typeface="Arimo Bold"/>
              </a:rPr>
              <a:t>3a</a:t>
            </a:r>
          </a:p>
        </p:txBody>
      </p:sp>
      <p:sp>
        <p:nvSpPr>
          <p:cNvPr name="TextBox 15" id="15"/>
          <p:cNvSpPr txBox="true"/>
          <p:nvPr/>
        </p:nvSpPr>
        <p:spPr>
          <a:xfrm rot="0">
            <a:off x="1523333" y="2214943"/>
            <a:ext cx="895350" cy="542925"/>
          </a:xfrm>
          <a:prstGeom prst="rect">
            <a:avLst/>
          </a:prstGeom>
        </p:spPr>
        <p:txBody>
          <a:bodyPr anchor="t" rtlCol="false" tIns="0" lIns="0" bIns="0" rIns="0">
            <a:spAutoFit/>
          </a:bodyPr>
          <a:lstStyle/>
          <a:p>
            <a:pPr algn="l">
              <a:lnSpc>
                <a:spcPts val="3726"/>
              </a:lnSpc>
            </a:pPr>
            <a:r>
              <a:rPr lang="en-US" b="true" sz="2700">
                <a:solidFill>
                  <a:srgbClr val="201E1D"/>
                </a:solidFill>
                <a:latin typeface="Arimo Bold"/>
                <a:ea typeface="Arimo Bold"/>
                <a:cs typeface="Arimo Bold"/>
                <a:sym typeface="Arimo Bold"/>
              </a:rPr>
              <a:t>p −</a:t>
            </a:r>
          </a:p>
        </p:txBody>
      </p:sp>
      <p:sp>
        <p:nvSpPr>
          <p:cNvPr name="AutoShape 16" id="16"/>
          <p:cNvSpPr/>
          <p:nvPr/>
        </p:nvSpPr>
        <p:spPr>
          <a:xfrm rot="0">
            <a:off x="1583246" y="3060478"/>
            <a:ext cx="200025" cy="28575"/>
          </a:xfrm>
          <a:prstGeom prst="rect">
            <a:avLst/>
          </a:prstGeom>
          <a:solidFill>
            <a:srgbClr val="201E1D"/>
          </a:solidFill>
        </p:spPr>
      </p:sp>
      <p:sp>
        <p:nvSpPr>
          <p:cNvPr name="TextBox 17" id="17"/>
          <p:cNvSpPr txBox="true"/>
          <p:nvPr/>
        </p:nvSpPr>
        <p:spPr>
          <a:xfrm rot="0">
            <a:off x="1583246" y="2774728"/>
            <a:ext cx="200025" cy="314325"/>
          </a:xfrm>
          <a:prstGeom prst="rect">
            <a:avLst/>
          </a:prstGeom>
        </p:spPr>
        <p:txBody>
          <a:bodyPr anchor="t" rtlCol="false" tIns="0" lIns="0" bIns="0" rIns="0">
            <a:spAutoFit/>
          </a:bodyPr>
          <a:lstStyle/>
          <a:p>
            <a:pPr algn="l">
              <a:lnSpc>
                <a:spcPts val="2391"/>
              </a:lnSpc>
            </a:pPr>
            <a:r>
              <a:rPr lang="en-US" b="true" sz="2214">
                <a:solidFill>
                  <a:srgbClr val="201E1D"/>
                </a:solidFill>
                <a:latin typeface="Arimo Bold"/>
                <a:ea typeface="Arimo Bold"/>
                <a:cs typeface="Arimo Bold"/>
                <a:sym typeface="Arimo Bold"/>
              </a:rPr>
              <a:t>r</a:t>
            </a:r>
          </a:p>
        </p:txBody>
      </p:sp>
      <p:sp>
        <p:nvSpPr>
          <p:cNvPr name="TextBox 18" id="18"/>
          <p:cNvSpPr txBox="true"/>
          <p:nvPr/>
        </p:nvSpPr>
        <p:spPr>
          <a:xfrm rot="0">
            <a:off x="1554766" y="3106960"/>
            <a:ext cx="257175" cy="285750"/>
          </a:xfrm>
          <a:prstGeom prst="rect">
            <a:avLst/>
          </a:prstGeom>
        </p:spPr>
        <p:txBody>
          <a:bodyPr anchor="t" rtlCol="false" tIns="0" lIns="0" bIns="0" rIns="0">
            <a:spAutoFit/>
          </a:bodyPr>
          <a:lstStyle/>
          <a:p>
            <a:pPr algn="l">
              <a:lnSpc>
                <a:spcPts val="2391"/>
              </a:lnSpc>
            </a:pPr>
            <a:r>
              <a:rPr lang="en-US" b="true" sz="2214">
                <a:solidFill>
                  <a:srgbClr val="201E1D"/>
                </a:solidFill>
                <a:latin typeface="Arimo Bold"/>
                <a:ea typeface="Arimo Bold"/>
                <a:cs typeface="Arimo Bold"/>
                <a:sym typeface="Arimo Bold"/>
              </a:rPr>
              <a:t>q</a:t>
            </a:r>
          </a:p>
        </p:txBody>
      </p:sp>
      <p:sp>
        <p:nvSpPr>
          <p:cNvPr name="TextBox 19" id="19"/>
          <p:cNvSpPr txBox="true"/>
          <p:nvPr/>
        </p:nvSpPr>
        <p:spPr>
          <a:xfrm rot="0">
            <a:off x="1523333" y="3323844"/>
            <a:ext cx="895350" cy="542925"/>
          </a:xfrm>
          <a:prstGeom prst="rect">
            <a:avLst/>
          </a:prstGeom>
        </p:spPr>
        <p:txBody>
          <a:bodyPr anchor="t" rtlCol="false" tIns="0" lIns="0" bIns="0" rIns="0">
            <a:spAutoFit/>
          </a:bodyPr>
          <a:lstStyle/>
          <a:p>
            <a:pPr algn="l">
              <a:lnSpc>
                <a:spcPts val="3726"/>
              </a:lnSpc>
            </a:pPr>
            <a:r>
              <a:rPr lang="en-US" b="true" sz="2700">
                <a:solidFill>
                  <a:srgbClr val="201E1D"/>
                </a:solidFill>
                <a:latin typeface="Arimo Bold"/>
                <a:ea typeface="Arimo Bold"/>
                <a:cs typeface="Arimo Bold"/>
                <a:sym typeface="Arimo Bold"/>
              </a:rPr>
              <a:t>= t (r)</a:t>
            </a:r>
          </a:p>
        </p:txBody>
      </p:sp>
      <p:sp>
        <p:nvSpPr>
          <p:cNvPr name="TextBox 20" id="20"/>
          <p:cNvSpPr txBox="true"/>
          <p:nvPr/>
        </p:nvSpPr>
        <p:spPr>
          <a:xfrm rot="0">
            <a:off x="991362" y="3943445"/>
            <a:ext cx="400050" cy="542925"/>
          </a:xfrm>
          <a:prstGeom prst="rect">
            <a:avLst/>
          </a:prstGeom>
        </p:spPr>
        <p:txBody>
          <a:bodyPr anchor="t" rtlCol="false" tIns="0" lIns="0" bIns="0" rIns="0">
            <a:spAutoFit/>
          </a:bodyPr>
          <a:lstStyle/>
          <a:p>
            <a:pPr algn="l">
              <a:lnSpc>
                <a:spcPts val="3726"/>
              </a:lnSpc>
            </a:pPr>
            <a:r>
              <a:rPr lang="en-US" b="true" sz="2700">
                <a:solidFill>
                  <a:srgbClr val="8C491A"/>
                </a:solidFill>
                <a:latin typeface="Arimo Bold"/>
                <a:ea typeface="Arimo Bold"/>
                <a:cs typeface="Arimo Bold"/>
                <a:sym typeface="Arimo Bold"/>
              </a:rPr>
              <a:t>3d</a:t>
            </a:r>
          </a:p>
        </p:txBody>
      </p:sp>
      <p:sp>
        <p:nvSpPr>
          <p:cNvPr name="AutoShape 21" id="21"/>
          <p:cNvSpPr/>
          <p:nvPr/>
        </p:nvSpPr>
        <p:spPr>
          <a:xfrm rot="0">
            <a:off x="1584865" y="4264628"/>
            <a:ext cx="238125" cy="28575"/>
          </a:xfrm>
          <a:prstGeom prst="rect">
            <a:avLst/>
          </a:prstGeom>
          <a:solidFill>
            <a:srgbClr val="201E1D"/>
          </a:solidFill>
        </p:spPr>
      </p:sp>
      <p:sp>
        <p:nvSpPr>
          <p:cNvPr name="TextBox 22" id="22"/>
          <p:cNvSpPr txBox="true"/>
          <p:nvPr/>
        </p:nvSpPr>
        <p:spPr>
          <a:xfrm rot="0">
            <a:off x="1584865" y="3978878"/>
            <a:ext cx="238125" cy="314325"/>
          </a:xfrm>
          <a:prstGeom prst="rect">
            <a:avLst/>
          </a:prstGeom>
        </p:spPr>
        <p:txBody>
          <a:bodyPr anchor="t" rtlCol="false" tIns="0" lIns="0" bIns="0" rIns="0">
            <a:spAutoFit/>
          </a:bodyPr>
          <a:lstStyle/>
          <a:p>
            <a:pPr algn="l">
              <a:lnSpc>
                <a:spcPts val="2391"/>
              </a:lnSpc>
            </a:pPr>
            <a:r>
              <a:rPr lang="en-US" b="true" sz="2214">
                <a:solidFill>
                  <a:srgbClr val="201E1D"/>
                </a:solidFill>
                <a:latin typeface="Arimo Bold"/>
                <a:ea typeface="Arimo Bold"/>
                <a:cs typeface="Arimo Bold"/>
                <a:sym typeface="Arimo Bold"/>
              </a:rPr>
              <a:t>a</a:t>
            </a:r>
          </a:p>
        </p:txBody>
      </p:sp>
      <p:sp>
        <p:nvSpPr>
          <p:cNvPr name="TextBox 23" id="23"/>
          <p:cNvSpPr txBox="true"/>
          <p:nvPr/>
        </p:nvSpPr>
        <p:spPr>
          <a:xfrm rot="0">
            <a:off x="1575435" y="4311110"/>
            <a:ext cx="257175" cy="285750"/>
          </a:xfrm>
          <a:prstGeom prst="rect">
            <a:avLst/>
          </a:prstGeom>
        </p:spPr>
        <p:txBody>
          <a:bodyPr anchor="t" rtlCol="false" tIns="0" lIns="0" bIns="0" rIns="0">
            <a:spAutoFit/>
          </a:bodyPr>
          <a:lstStyle/>
          <a:p>
            <a:pPr algn="l">
              <a:lnSpc>
                <a:spcPts val="2391"/>
              </a:lnSpc>
            </a:pPr>
            <a:r>
              <a:rPr lang="en-US" b="true" sz="2214">
                <a:solidFill>
                  <a:srgbClr val="201E1D"/>
                </a:solidFill>
                <a:latin typeface="Arimo Bold"/>
                <a:ea typeface="Arimo Bold"/>
                <a:cs typeface="Arimo Bold"/>
                <a:sym typeface="Arimo Bold"/>
              </a:rPr>
              <a:t>b</a:t>
            </a:r>
          </a:p>
        </p:txBody>
      </p:sp>
      <p:sp>
        <p:nvSpPr>
          <p:cNvPr name="TextBox 24" id="24"/>
          <p:cNvSpPr txBox="true"/>
          <p:nvPr/>
        </p:nvSpPr>
        <p:spPr>
          <a:xfrm rot="0">
            <a:off x="1545526" y="4527995"/>
            <a:ext cx="428625" cy="542925"/>
          </a:xfrm>
          <a:prstGeom prst="rect">
            <a:avLst/>
          </a:prstGeom>
        </p:spPr>
        <p:txBody>
          <a:bodyPr anchor="t" rtlCol="false" tIns="0" lIns="0" bIns="0" rIns="0">
            <a:spAutoFit/>
          </a:bodyPr>
          <a:lstStyle/>
          <a:p>
            <a:pPr algn="l">
              <a:lnSpc>
                <a:spcPts val="3726"/>
              </a:lnSpc>
            </a:pPr>
            <a:r>
              <a:rPr lang="en-US" b="true" sz="2700">
                <a:solidFill>
                  <a:srgbClr val="201E1D"/>
                </a:solidFill>
                <a:latin typeface="Arimo Bold"/>
                <a:ea typeface="Arimo Bold"/>
                <a:cs typeface="Arimo Bold"/>
                <a:sym typeface="Arimo Bold"/>
              </a:rPr>
              <a:t>=</a:t>
            </a:r>
          </a:p>
        </p:txBody>
      </p:sp>
      <p:sp>
        <p:nvSpPr>
          <p:cNvPr name="AutoShape 25" id="25"/>
          <p:cNvSpPr/>
          <p:nvPr/>
        </p:nvSpPr>
        <p:spPr>
          <a:xfrm rot="0">
            <a:off x="1580007" y="5373624"/>
            <a:ext cx="247650" cy="28575"/>
          </a:xfrm>
          <a:prstGeom prst="rect">
            <a:avLst/>
          </a:prstGeom>
          <a:solidFill>
            <a:srgbClr val="201E1D"/>
          </a:solidFill>
        </p:spPr>
      </p:sp>
      <p:sp>
        <p:nvSpPr>
          <p:cNvPr name="TextBox 26" id="26"/>
          <p:cNvSpPr txBox="true"/>
          <p:nvPr/>
        </p:nvSpPr>
        <p:spPr>
          <a:xfrm rot="0">
            <a:off x="1580007" y="5087874"/>
            <a:ext cx="247650" cy="314325"/>
          </a:xfrm>
          <a:prstGeom prst="rect">
            <a:avLst/>
          </a:prstGeom>
        </p:spPr>
        <p:txBody>
          <a:bodyPr anchor="t" rtlCol="false" tIns="0" lIns="0" bIns="0" rIns="0">
            <a:spAutoFit/>
          </a:bodyPr>
          <a:lstStyle/>
          <a:p>
            <a:pPr algn="l">
              <a:lnSpc>
                <a:spcPts val="2391"/>
              </a:lnSpc>
            </a:pPr>
            <a:r>
              <a:rPr lang="en-US" b="true" sz="2214">
                <a:solidFill>
                  <a:srgbClr val="201E1D"/>
                </a:solidFill>
                <a:latin typeface="Arimo Bold"/>
                <a:ea typeface="Arimo Bold"/>
                <a:cs typeface="Arimo Bold"/>
                <a:sym typeface="Arimo Bold"/>
              </a:rPr>
              <a:t>c</a:t>
            </a:r>
          </a:p>
        </p:txBody>
      </p:sp>
      <p:sp>
        <p:nvSpPr>
          <p:cNvPr name="TextBox 27" id="27"/>
          <p:cNvSpPr txBox="true"/>
          <p:nvPr/>
        </p:nvSpPr>
        <p:spPr>
          <a:xfrm rot="0">
            <a:off x="1575244" y="5420011"/>
            <a:ext cx="257175" cy="285750"/>
          </a:xfrm>
          <a:prstGeom prst="rect">
            <a:avLst/>
          </a:prstGeom>
        </p:spPr>
        <p:txBody>
          <a:bodyPr anchor="t" rtlCol="false" tIns="0" lIns="0" bIns="0" rIns="0">
            <a:spAutoFit/>
          </a:bodyPr>
          <a:lstStyle/>
          <a:p>
            <a:pPr algn="l">
              <a:lnSpc>
                <a:spcPts val="2391"/>
              </a:lnSpc>
            </a:pPr>
            <a:r>
              <a:rPr lang="en-US" b="true" sz="2214">
                <a:solidFill>
                  <a:srgbClr val="201E1D"/>
                </a:solidFill>
                <a:latin typeface="Arimo Bold"/>
                <a:ea typeface="Arimo Bold"/>
                <a:cs typeface="Arimo Bold"/>
                <a:sym typeface="Arimo Bold"/>
              </a:rPr>
              <a:t>d</a:t>
            </a:r>
          </a:p>
        </p:txBody>
      </p:sp>
      <p:sp>
        <p:nvSpPr>
          <p:cNvPr name="TextBox 28" id="28"/>
          <p:cNvSpPr txBox="true"/>
          <p:nvPr/>
        </p:nvSpPr>
        <p:spPr>
          <a:xfrm rot="0">
            <a:off x="1545526" y="5636895"/>
            <a:ext cx="428625" cy="542925"/>
          </a:xfrm>
          <a:prstGeom prst="rect">
            <a:avLst/>
          </a:prstGeom>
        </p:spPr>
        <p:txBody>
          <a:bodyPr anchor="t" rtlCol="false" tIns="0" lIns="0" bIns="0" rIns="0">
            <a:spAutoFit/>
          </a:bodyPr>
          <a:lstStyle/>
          <a:p>
            <a:pPr algn="l">
              <a:lnSpc>
                <a:spcPts val="3726"/>
              </a:lnSpc>
            </a:pPr>
            <a:r>
              <a:rPr lang="en-US" b="true" sz="2700">
                <a:solidFill>
                  <a:srgbClr val="201E1D"/>
                </a:solidFill>
                <a:latin typeface="Arimo Bold"/>
                <a:ea typeface="Arimo Bold"/>
                <a:cs typeface="Arimo Bold"/>
                <a:sym typeface="Arimo Bold"/>
              </a:rPr>
              <a:t>(a)</a:t>
            </a:r>
          </a:p>
        </p:txBody>
      </p:sp>
      <p:sp>
        <p:nvSpPr>
          <p:cNvPr name="TextBox 29" id="29"/>
          <p:cNvSpPr txBox="true"/>
          <p:nvPr/>
        </p:nvSpPr>
        <p:spPr>
          <a:xfrm rot="0">
            <a:off x="6527864" y="2214943"/>
            <a:ext cx="428625" cy="542925"/>
          </a:xfrm>
          <a:prstGeom prst="rect">
            <a:avLst/>
          </a:prstGeom>
        </p:spPr>
        <p:txBody>
          <a:bodyPr anchor="t" rtlCol="false" tIns="0" lIns="0" bIns="0" rIns="0">
            <a:spAutoFit/>
          </a:bodyPr>
          <a:lstStyle/>
          <a:p>
            <a:pPr algn="l">
              <a:lnSpc>
                <a:spcPts val="3726"/>
              </a:lnSpc>
            </a:pPr>
            <a:r>
              <a:rPr lang="en-US" b="true" sz="2700">
                <a:solidFill>
                  <a:srgbClr val="8C491A"/>
                </a:solidFill>
                <a:latin typeface="Arimo Bold"/>
                <a:ea typeface="Arimo Bold"/>
                <a:cs typeface="Arimo Bold"/>
                <a:sym typeface="Arimo Bold"/>
              </a:rPr>
              <a:t>4b</a:t>
            </a:r>
          </a:p>
        </p:txBody>
      </p:sp>
      <p:sp>
        <p:nvSpPr>
          <p:cNvPr name="TextBox 30" id="30"/>
          <p:cNvSpPr txBox="true"/>
          <p:nvPr/>
        </p:nvSpPr>
        <p:spPr>
          <a:xfrm rot="0">
            <a:off x="7110984" y="2214943"/>
            <a:ext cx="1914525" cy="542925"/>
          </a:xfrm>
          <a:prstGeom prst="rect">
            <a:avLst/>
          </a:prstGeom>
        </p:spPr>
        <p:txBody>
          <a:bodyPr anchor="t" rtlCol="false" tIns="0" lIns="0" bIns="0" rIns="0">
            <a:spAutoFit/>
          </a:bodyPr>
          <a:lstStyle/>
          <a:p>
            <a:pPr algn="l">
              <a:lnSpc>
                <a:spcPts val="3726"/>
              </a:lnSpc>
            </a:pPr>
            <a:r>
              <a:rPr lang="en-US" b="true" sz="2700">
                <a:solidFill>
                  <a:srgbClr val="201E1D"/>
                </a:solidFill>
                <a:latin typeface="Arimo Bold"/>
                <a:ea typeface="Arimo Bold"/>
                <a:cs typeface="Arimo Bold"/>
                <a:sym typeface="Arimo Bold"/>
              </a:rPr>
              <a:t>√(ab) = c (b)</a:t>
            </a:r>
          </a:p>
        </p:txBody>
      </p:sp>
      <p:sp>
        <p:nvSpPr>
          <p:cNvPr name="TextBox 31" id="31"/>
          <p:cNvSpPr txBox="true"/>
          <p:nvPr/>
        </p:nvSpPr>
        <p:spPr>
          <a:xfrm rot="0">
            <a:off x="6527864" y="2783300"/>
            <a:ext cx="409575" cy="542925"/>
          </a:xfrm>
          <a:prstGeom prst="rect">
            <a:avLst/>
          </a:prstGeom>
        </p:spPr>
        <p:txBody>
          <a:bodyPr anchor="t" rtlCol="false" tIns="0" lIns="0" bIns="0" rIns="0">
            <a:spAutoFit/>
          </a:bodyPr>
          <a:lstStyle/>
          <a:p>
            <a:pPr algn="l">
              <a:lnSpc>
                <a:spcPts val="3726"/>
              </a:lnSpc>
            </a:pPr>
            <a:r>
              <a:rPr lang="en-US" b="true" sz="2700">
                <a:solidFill>
                  <a:srgbClr val="8C491A"/>
                </a:solidFill>
                <a:latin typeface="Arimo Bold"/>
                <a:ea typeface="Arimo Bold"/>
                <a:cs typeface="Arimo Bold"/>
                <a:sym typeface="Arimo Bold"/>
              </a:rPr>
              <a:t>4c</a:t>
            </a:r>
          </a:p>
        </p:txBody>
      </p:sp>
      <p:sp>
        <p:nvSpPr>
          <p:cNvPr name="TextBox 32" id="32"/>
          <p:cNvSpPr txBox="true"/>
          <p:nvPr/>
        </p:nvSpPr>
        <p:spPr>
          <a:xfrm rot="0">
            <a:off x="7092029" y="2783300"/>
            <a:ext cx="1666875" cy="542925"/>
          </a:xfrm>
          <a:prstGeom prst="rect">
            <a:avLst/>
          </a:prstGeom>
        </p:spPr>
        <p:txBody>
          <a:bodyPr anchor="t" rtlCol="false" tIns="0" lIns="0" bIns="0" rIns="0">
            <a:spAutoFit/>
          </a:bodyPr>
          <a:lstStyle/>
          <a:p>
            <a:pPr algn="l">
              <a:lnSpc>
                <a:spcPts val="3726"/>
              </a:lnSpc>
            </a:pPr>
            <a:r>
              <a:rPr lang="en-US" b="true" sz="2700">
                <a:solidFill>
                  <a:srgbClr val="201E1D"/>
                </a:solidFill>
                <a:latin typeface="Arimo Bold"/>
                <a:ea typeface="Arimo Bold"/>
                <a:cs typeface="Arimo Bold"/>
                <a:sym typeface="Arimo Bold"/>
              </a:rPr>
              <a:t>a√b = c (b)</a:t>
            </a:r>
          </a:p>
        </p:txBody>
      </p:sp>
      <p:sp>
        <p:nvSpPr>
          <p:cNvPr name="TextBox 33" id="33"/>
          <p:cNvSpPr txBox="true"/>
          <p:nvPr/>
        </p:nvSpPr>
        <p:spPr>
          <a:xfrm rot="0">
            <a:off x="12064746" y="2214943"/>
            <a:ext cx="428625" cy="542925"/>
          </a:xfrm>
          <a:prstGeom prst="rect">
            <a:avLst/>
          </a:prstGeom>
        </p:spPr>
        <p:txBody>
          <a:bodyPr anchor="t" rtlCol="false" tIns="0" lIns="0" bIns="0" rIns="0">
            <a:spAutoFit/>
          </a:bodyPr>
          <a:lstStyle/>
          <a:p>
            <a:pPr algn="l">
              <a:lnSpc>
                <a:spcPts val="3726"/>
              </a:lnSpc>
            </a:pPr>
            <a:r>
              <a:rPr lang="en-US" b="true" sz="2700">
                <a:solidFill>
                  <a:srgbClr val="8C491A"/>
                </a:solidFill>
                <a:latin typeface="Arimo Bold"/>
                <a:ea typeface="Arimo Bold"/>
                <a:cs typeface="Arimo Bold"/>
                <a:sym typeface="Arimo Bold"/>
              </a:rPr>
              <a:t>4d</a:t>
            </a:r>
          </a:p>
        </p:txBody>
      </p:sp>
      <p:sp>
        <p:nvSpPr>
          <p:cNvPr name="TextBox 34" id="34"/>
          <p:cNvSpPr txBox="true"/>
          <p:nvPr/>
        </p:nvSpPr>
        <p:spPr>
          <a:xfrm rot="0">
            <a:off x="12647866" y="2214943"/>
            <a:ext cx="2305050" cy="542925"/>
          </a:xfrm>
          <a:prstGeom prst="rect">
            <a:avLst/>
          </a:prstGeom>
        </p:spPr>
        <p:txBody>
          <a:bodyPr anchor="t" rtlCol="false" tIns="0" lIns="0" bIns="0" rIns="0">
            <a:spAutoFit/>
          </a:bodyPr>
          <a:lstStyle/>
          <a:p>
            <a:pPr algn="l">
              <a:lnSpc>
                <a:spcPts val="3726"/>
              </a:lnSpc>
            </a:pPr>
            <a:r>
              <a:rPr lang="en-US" b="true" sz="2700">
                <a:solidFill>
                  <a:srgbClr val="201E1D"/>
                </a:solidFill>
                <a:latin typeface="Arimo Bold"/>
                <a:ea typeface="Arimo Bold"/>
                <a:cs typeface="Arimo Bold"/>
                <a:sym typeface="Arimo Bold"/>
              </a:rPr>
              <a:t>√(b + c) = c (b)</a:t>
            </a:r>
          </a:p>
        </p:txBody>
      </p:sp>
      <p:sp>
        <p:nvSpPr>
          <p:cNvPr name="TextBox 35" id="35"/>
          <p:cNvSpPr txBox="true"/>
          <p:nvPr/>
        </p:nvSpPr>
        <p:spPr>
          <a:xfrm rot="0">
            <a:off x="12065698" y="2834545"/>
            <a:ext cx="361950" cy="542925"/>
          </a:xfrm>
          <a:prstGeom prst="rect">
            <a:avLst/>
          </a:prstGeom>
        </p:spPr>
        <p:txBody>
          <a:bodyPr anchor="t" rtlCol="false" tIns="0" lIns="0" bIns="0" rIns="0">
            <a:spAutoFit/>
          </a:bodyPr>
          <a:lstStyle/>
          <a:p>
            <a:pPr algn="l">
              <a:lnSpc>
                <a:spcPts val="3726"/>
              </a:lnSpc>
            </a:pPr>
            <a:r>
              <a:rPr lang="en-US" b="true" sz="2700">
                <a:solidFill>
                  <a:srgbClr val="8C491A"/>
                </a:solidFill>
                <a:latin typeface="Arimo Bold"/>
                <a:ea typeface="Arimo Bold"/>
                <a:cs typeface="Arimo Bold"/>
                <a:sym typeface="Arimo Bold"/>
              </a:rPr>
              <a:t>4f</a:t>
            </a:r>
          </a:p>
        </p:txBody>
      </p:sp>
      <p:sp>
        <p:nvSpPr>
          <p:cNvPr name="AutoShape 36" id="36"/>
          <p:cNvSpPr/>
          <p:nvPr/>
        </p:nvSpPr>
        <p:spPr>
          <a:xfrm rot="0">
            <a:off x="12691586" y="3155728"/>
            <a:ext cx="238125" cy="28575"/>
          </a:xfrm>
          <a:prstGeom prst="rect">
            <a:avLst/>
          </a:prstGeom>
          <a:solidFill>
            <a:srgbClr val="201E1D"/>
          </a:solidFill>
        </p:spPr>
      </p:sp>
      <p:sp>
        <p:nvSpPr>
          <p:cNvPr name="TextBox 37" id="37"/>
          <p:cNvSpPr txBox="true"/>
          <p:nvPr/>
        </p:nvSpPr>
        <p:spPr>
          <a:xfrm rot="0">
            <a:off x="12691586" y="2869978"/>
            <a:ext cx="238125" cy="314325"/>
          </a:xfrm>
          <a:prstGeom prst="rect">
            <a:avLst/>
          </a:prstGeom>
        </p:spPr>
        <p:txBody>
          <a:bodyPr anchor="t" rtlCol="false" tIns="0" lIns="0" bIns="0" rIns="0">
            <a:spAutoFit/>
          </a:bodyPr>
          <a:lstStyle/>
          <a:p>
            <a:pPr algn="l">
              <a:lnSpc>
                <a:spcPts val="2391"/>
              </a:lnSpc>
            </a:pPr>
            <a:r>
              <a:rPr lang="en-US" b="true" sz="2214">
                <a:solidFill>
                  <a:srgbClr val="201E1D"/>
                </a:solidFill>
                <a:latin typeface="Arimo Bold"/>
                <a:ea typeface="Arimo Bold"/>
                <a:cs typeface="Arimo Bold"/>
                <a:sym typeface="Arimo Bold"/>
              </a:rPr>
              <a:t>x</a:t>
            </a:r>
          </a:p>
        </p:txBody>
      </p:sp>
      <p:sp>
        <p:nvSpPr>
          <p:cNvPr name="TextBox 38" id="38"/>
          <p:cNvSpPr txBox="true"/>
          <p:nvPr/>
        </p:nvSpPr>
        <p:spPr>
          <a:xfrm rot="0">
            <a:off x="12610719" y="3202210"/>
            <a:ext cx="400050" cy="285750"/>
          </a:xfrm>
          <a:prstGeom prst="rect">
            <a:avLst/>
          </a:prstGeom>
        </p:spPr>
        <p:txBody>
          <a:bodyPr anchor="t" rtlCol="false" tIns="0" lIns="0" bIns="0" rIns="0">
            <a:spAutoFit/>
          </a:bodyPr>
          <a:lstStyle/>
          <a:p>
            <a:pPr algn="l">
              <a:lnSpc>
                <a:spcPts val="2391"/>
              </a:lnSpc>
            </a:pPr>
            <a:r>
              <a:rPr lang="en-US" b="true" sz="2214">
                <a:solidFill>
                  <a:srgbClr val="201E1D"/>
                </a:solidFill>
                <a:latin typeface="Arimo Bold"/>
                <a:ea typeface="Arimo Bold"/>
                <a:cs typeface="Arimo Bold"/>
                <a:sym typeface="Arimo Bold"/>
              </a:rPr>
              <a:t>√y</a:t>
            </a:r>
          </a:p>
        </p:txBody>
      </p:sp>
      <p:sp>
        <p:nvSpPr>
          <p:cNvPr name="TextBox 39" id="39"/>
          <p:cNvSpPr txBox="true"/>
          <p:nvPr/>
        </p:nvSpPr>
        <p:spPr>
          <a:xfrm rot="0">
            <a:off x="12582049" y="3419094"/>
            <a:ext cx="1009650" cy="542925"/>
          </a:xfrm>
          <a:prstGeom prst="rect">
            <a:avLst/>
          </a:prstGeom>
        </p:spPr>
        <p:txBody>
          <a:bodyPr anchor="t" rtlCol="false" tIns="0" lIns="0" bIns="0" rIns="0">
            <a:spAutoFit/>
          </a:bodyPr>
          <a:lstStyle/>
          <a:p>
            <a:pPr algn="l">
              <a:lnSpc>
                <a:spcPts val="3726"/>
              </a:lnSpc>
            </a:pPr>
            <a:r>
              <a:rPr lang="en-US" b="true" sz="2700">
                <a:solidFill>
                  <a:srgbClr val="201E1D"/>
                </a:solidFill>
                <a:latin typeface="Arimo Bold"/>
                <a:ea typeface="Arimo Bold"/>
                <a:cs typeface="Arimo Bold"/>
                <a:sym typeface="Arimo Bold"/>
              </a:rPr>
              <a:t>= c (y)</a:t>
            </a:r>
          </a:p>
        </p:txBody>
      </p:sp>
      <p:grpSp>
        <p:nvGrpSpPr>
          <p:cNvPr name="Group 40" id="40"/>
          <p:cNvGrpSpPr/>
          <p:nvPr/>
        </p:nvGrpSpPr>
        <p:grpSpPr>
          <a:xfrm rot="0">
            <a:off x="1315117" y="6668548"/>
            <a:ext cx="5074920" cy="1536192"/>
            <a:chOff x="0" y="0"/>
            <a:chExt cx="6766560" cy="2048256"/>
          </a:xfrm>
        </p:grpSpPr>
        <p:sp>
          <p:nvSpPr>
            <p:cNvPr name="Freeform 41" id="41"/>
            <p:cNvSpPr/>
            <p:nvPr/>
          </p:nvSpPr>
          <p:spPr>
            <a:xfrm flipH="false" flipV="false" rot="0">
              <a:off x="0" y="0"/>
              <a:ext cx="6766560" cy="2048256"/>
            </a:xfrm>
            <a:custGeom>
              <a:avLst/>
              <a:gdLst/>
              <a:ahLst/>
              <a:cxnLst/>
              <a:rect r="r" b="b" t="t" l="l"/>
              <a:pathLst>
                <a:path h="2048256" w="6766560">
                  <a:moveTo>
                    <a:pt x="355600" y="0"/>
                  </a:moveTo>
                  <a:lnTo>
                    <a:pt x="6410960" y="0"/>
                  </a:lnTo>
                  <a:cubicBezTo>
                    <a:pt x="6607302" y="0"/>
                    <a:pt x="6766560" y="159258"/>
                    <a:pt x="6766560" y="355600"/>
                  </a:cubicBezTo>
                  <a:lnTo>
                    <a:pt x="6766560" y="1692656"/>
                  </a:lnTo>
                  <a:cubicBezTo>
                    <a:pt x="6766560" y="1888998"/>
                    <a:pt x="6607302" y="2048256"/>
                    <a:pt x="6410960" y="2048256"/>
                  </a:cubicBezTo>
                  <a:lnTo>
                    <a:pt x="355600" y="2048256"/>
                  </a:lnTo>
                  <a:cubicBezTo>
                    <a:pt x="159258" y="2048256"/>
                    <a:pt x="0" y="1888998"/>
                    <a:pt x="0" y="1692656"/>
                  </a:cubicBezTo>
                  <a:lnTo>
                    <a:pt x="0" y="355600"/>
                  </a:lnTo>
                  <a:cubicBezTo>
                    <a:pt x="0" y="159258"/>
                    <a:pt x="159258" y="0"/>
                    <a:pt x="355600" y="0"/>
                  </a:cubicBezTo>
                  <a:close/>
                </a:path>
              </a:pathLst>
            </a:custGeom>
            <a:solidFill>
              <a:srgbClr val="F0FAE1"/>
            </a:solidFill>
          </p:spPr>
        </p:sp>
        <p:sp>
          <p:nvSpPr>
            <p:cNvPr name="Freeform 42" id="42"/>
            <p:cNvSpPr/>
            <p:nvPr/>
          </p:nvSpPr>
          <p:spPr>
            <a:xfrm flipH="false" flipV="false" rot="0">
              <a:off x="0" y="0"/>
              <a:ext cx="6766560" cy="2048256"/>
            </a:xfrm>
            <a:custGeom>
              <a:avLst/>
              <a:gdLst/>
              <a:ahLst/>
              <a:cxnLst/>
              <a:rect r="r" b="b" t="t" l="l"/>
              <a:pathLst>
                <a:path h="2048256" w="6766560">
                  <a:moveTo>
                    <a:pt x="355600" y="0"/>
                  </a:moveTo>
                  <a:lnTo>
                    <a:pt x="6410960" y="0"/>
                  </a:lnTo>
                  <a:cubicBezTo>
                    <a:pt x="6607302" y="0"/>
                    <a:pt x="6766560" y="159258"/>
                    <a:pt x="6766560" y="355600"/>
                  </a:cubicBezTo>
                  <a:lnTo>
                    <a:pt x="6766560" y="1692656"/>
                  </a:lnTo>
                  <a:cubicBezTo>
                    <a:pt x="6766560" y="1888998"/>
                    <a:pt x="6607302" y="2048256"/>
                    <a:pt x="6410960" y="2048256"/>
                  </a:cubicBezTo>
                  <a:lnTo>
                    <a:pt x="355600" y="2048256"/>
                  </a:lnTo>
                  <a:cubicBezTo>
                    <a:pt x="159258" y="2048256"/>
                    <a:pt x="0" y="1888998"/>
                    <a:pt x="0" y="1692656"/>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43" id="43"/>
          <p:cNvSpPr txBox="true"/>
          <p:nvPr/>
        </p:nvSpPr>
        <p:spPr>
          <a:xfrm rot="0">
            <a:off x="1598581" y="6810185"/>
            <a:ext cx="4507992"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44" id="44"/>
          <p:cNvSpPr txBox="true"/>
          <p:nvPr/>
        </p:nvSpPr>
        <p:spPr>
          <a:xfrm rot="0">
            <a:off x="1600200" y="7164229"/>
            <a:ext cx="329184" cy="422529"/>
          </a:xfrm>
          <a:prstGeom prst="rect">
            <a:avLst/>
          </a:prstGeom>
        </p:spPr>
        <p:txBody>
          <a:bodyPr anchor="t" rtlCol="false" tIns="0" lIns="0" bIns="0" rIns="0">
            <a:spAutoFit/>
          </a:bodyPr>
          <a:lstStyle/>
          <a:p>
            <a:pPr algn="l">
              <a:lnSpc>
                <a:spcPts val="2937"/>
              </a:lnSpc>
            </a:pPr>
            <a:r>
              <a:rPr lang="en-US" b="true" sz="2160">
                <a:solidFill>
                  <a:srgbClr val="3D472B"/>
                </a:solidFill>
                <a:latin typeface="Arimo Bold"/>
                <a:ea typeface="Arimo Bold"/>
                <a:cs typeface="Arimo Bold"/>
                <a:sym typeface="Arimo Bold"/>
              </a:rPr>
              <a:t>3a</a:t>
            </a:r>
          </a:p>
        </p:txBody>
      </p:sp>
      <p:sp>
        <p:nvSpPr>
          <p:cNvPr name="TextBox 45" id="45"/>
          <p:cNvSpPr txBox="true"/>
          <p:nvPr/>
        </p:nvSpPr>
        <p:spPr>
          <a:xfrm rot="0">
            <a:off x="2074069" y="7164229"/>
            <a:ext cx="3008376" cy="422529"/>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r/q = p − t ⇒ r = q(p − t)</a:t>
            </a:r>
          </a:p>
        </p:txBody>
      </p:sp>
      <p:sp>
        <p:nvSpPr>
          <p:cNvPr name="TextBox 46" id="46"/>
          <p:cNvSpPr txBox="true"/>
          <p:nvPr/>
        </p:nvSpPr>
        <p:spPr>
          <a:xfrm rot="0">
            <a:off x="1600200" y="7592092"/>
            <a:ext cx="329184" cy="422529"/>
          </a:xfrm>
          <a:prstGeom prst="rect">
            <a:avLst/>
          </a:prstGeom>
        </p:spPr>
        <p:txBody>
          <a:bodyPr anchor="t" rtlCol="false" tIns="0" lIns="0" bIns="0" rIns="0">
            <a:spAutoFit/>
          </a:bodyPr>
          <a:lstStyle/>
          <a:p>
            <a:pPr algn="l">
              <a:lnSpc>
                <a:spcPts val="2937"/>
              </a:lnSpc>
            </a:pPr>
            <a:r>
              <a:rPr lang="en-US" b="true" sz="2160">
                <a:solidFill>
                  <a:srgbClr val="3D472B"/>
                </a:solidFill>
                <a:latin typeface="Arimo Bold"/>
                <a:ea typeface="Arimo Bold"/>
                <a:cs typeface="Arimo Bold"/>
                <a:sym typeface="Arimo Bold"/>
              </a:rPr>
              <a:t>3d</a:t>
            </a:r>
          </a:p>
        </p:txBody>
      </p:sp>
      <p:sp>
        <p:nvSpPr>
          <p:cNvPr name="TextBox 47" id="47"/>
          <p:cNvSpPr txBox="true"/>
          <p:nvPr/>
        </p:nvSpPr>
        <p:spPr>
          <a:xfrm rot="0">
            <a:off x="2077117" y="7592092"/>
            <a:ext cx="1033272" cy="422529"/>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a = bc/d</a:t>
            </a:r>
          </a:p>
        </p:txBody>
      </p:sp>
      <p:grpSp>
        <p:nvGrpSpPr>
          <p:cNvPr name="Group 48" id="48"/>
          <p:cNvGrpSpPr/>
          <p:nvPr/>
        </p:nvGrpSpPr>
        <p:grpSpPr>
          <a:xfrm rot="0">
            <a:off x="6606445" y="6668548"/>
            <a:ext cx="5074920" cy="1536192"/>
            <a:chOff x="0" y="0"/>
            <a:chExt cx="6766560" cy="2048256"/>
          </a:xfrm>
        </p:grpSpPr>
        <p:sp>
          <p:nvSpPr>
            <p:cNvPr name="Freeform 49" id="49"/>
            <p:cNvSpPr/>
            <p:nvPr/>
          </p:nvSpPr>
          <p:spPr>
            <a:xfrm flipH="false" flipV="false" rot="0">
              <a:off x="0" y="0"/>
              <a:ext cx="6766560" cy="2048256"/>
            </a:xfrm>
            <a:custGeom>
              <a:avLst/>
              <a:gdLst/>
              <a:ahLst/>
              <a:cxnLst/>
              <a:rect r="r" b="b" t="t" l="l"/>
              <a:pathLst>
                <a:path h="2048256" w="6766560">
                  <a:moveTo>
                    <a:pt x="355600" y="0"/>
                  </a:moveTo>
                  <a:lnTo>
                    <a:pt x="6410960" y="0"/>
                  </a:lnTo>
                  <a:cubicBezTo>
                    <a:pt x="6607302" y="0"/>
                    <a:pt x="6766560" y="159258"/>
                    <a:pt x="6766560" y="355600"/>
                  </a:cubicBezTo>
                  <a:lnTo>
                    <a:pt x="6766560" y="1692656"/>
                  </a:lnTo>
                  <a:cubicBezTo>
                    <a:pt x="6766560" y="1888998"/>
                    <a:pt x="6607302" y="2048256"/>
                    <a:pt x="6410960" y="2048256"/>
                  </a:cubicBezTo>
                  <a:lnTo>
                    <a:pt x="355600" y="2048256"/>
                  </a:lnTo>
                  <a:cubicBezTo>
                    <a:pt x="159258" y="2048256"/>
                    <a:pt x="0" y="1888998"/>
                    <a:pt x="0" y="1692656"/>
                  </a:cubicBezTo>
                  <a:lnTo>
                    <a:pt x="0" y="355600"/>
                  </a:lnTo>
                  <a:cubicBezTo>
                    <a:pt x="0" y="159258"/>
                    <a:pt x="159258" y="0"/>
                    <a:pt x="355600" y="0"/>
                  </a:cubicBezTo>
                  <a:close/>
                </a:path>
              </a:pathLst>
            </a:custGeom>
            <a:solidFill>
              <a:srgbClr val="F0FAE1"/>
            </a:solidFill>
          </p:spPr>
        </p:sp>
        <p:sp>
          <p:nvSpPr>
            <p:cNvPr name="Freeform 50" id="50"/>
            <p:cNvSpPr/>
            <p:nvPr/>
          </p:nvSpPr>
          <p:spPr>
            <a:xfrm flipH="false" flipV="false" rot="0">
              <a:off x="0" y="0"/>
              <a:ext cx="6766560" cy="2048256"/>
            </a:xfrm>
            <a:custGeom>
              <a:avLst/>
              <a:gdLst/>
              <a:ahLst/>
              <a:cxnLst/>
              <a:rect r="r" b="b" t="t" l="l"/>
              <a:pathLst>
                <a:path h="2048256" w="6766560">
                  <a:moveTo>
                    <a:pt x="355600" y="0"/>
                  </a:moveTo>
                  <a:lnTo>
                    <a:pt x="6410960" y="0"/>
                  </a:lnTo>
                  <a:cubicBezTo>
                    <a:pt x="6607302" y="0"/>
                    <a:pt x="6766560" y="159258"/>
                    <a:pt x="6766560" y="355600"/>
                  </a:cubicBezTo>
                  <a:lnTo>
                    <a:pt x="6766560" y="1692656"/>
                  </a:lnTo>
                  <a:cubicBezTo>
                    <a:pt x="6766560" y="1888998"/>
                    <a:pt x="6607302" y="2048256"/>
                    <a:pt x="6410960" y="2048256"/>
                  </a:cubicBezTo>
                  <a:lnTo>
                    <a:pt x="355600" y="2048256"/>
                  </a:lnTo>
                  <a:cubicBezTo>
                    <a:pt x="159258" y="2048256"/>
                    <a:pt x="0" y="1888998"/>
                    <a:pt x="0" y="1692656"/>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51" id="51"/>
          <p:cNvSpPr txBox="true"/>
          <p:nvPr/>
        </p:nvSpPr>
        <p:spPr>
          <a:xfrm rot="0">
            <a:off x="6889909" y="6810185"/>
            <a:ext cx="4507992"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52" id="52"/>
          <p:cNvSpPr txBox="true"/>
          <p:nvPr/>
        </p:nvSpPr>
        <p:spPr>
          <a:xfrm rot="0">
            <a:off x="6889147" y="7164229"/>
            <a:ext cx="347472" cy="422529"/>
          </a:xfrm>
          <a:prstGeom prst="rect">
            <a:avLst/>
          </a:prstGeom>
        </p:spPr>
        <p:txBody>
          <a:bodyPr anchor="t" rtlCol="false" tIns="0" lIns="0" bIns="0" rIns="0">
            <a:spAutoFit/>
          </a:bodyPr>
          <a:lstStyle/>
          <a:p>
            <a:pPr algn="l">
              <a:lnSpc>
                <a:spcPts val="2937"/>
              </a:lnSpc>
            </a:pPr>
            <a:r>
              <a:rPr lang="en-US" b="true" sz="2160">
                <a:solidFill>
                  <a:srgbClr val="3D472B"/>
                </a:solidFill>
                <a:latin typeface="Arimo Bold"/>
                <a:ea typeface="Arimo Bold"/>
                <a:cs typeface="Arimo Bold"/>
                <a:sym typeface="Arimo Bold"/>
              </a:rPr>
              <a:t>4b</a:t>
            </a:r>
          </a:p>
        </p:txBody>
      </p:sp>
      <p:sp>
        <p:nvSpPr>
          <p:cNvPr name="TextBox 53" id="53"/>
          <p:cNvSpPr txBox="true"/>
          <p:nvPr/>
        </p:nvSpPr>
        <p:spPr>
          <a:xfrm rot="0">
            <a:off x="7381018" y="7164229"/>
            <a:ext cx="2240280" cy="422529"/>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ab = c² ⇒ b = c²/a</a:t>
            </a:r>
          </a:p>
        </p:txBody>
      </p:sp>
      <p:sp>
        <p:nvSpPr>
          <p:cNvPr name="TextBox 54" id="54"/>
          <p:cNvSpPr txBox="true"/>
          <p:nvPr/>
        </p:nvSpPr>
        <p:spPr>
          <a:xfrm rot="0">
            <a:off x="6891433" y="7592092"/>
            <a:ext cx="329184" cy="422529"/>
          </a:xfrm>
          <a:prstGeom prst="rect">
            <a:avLst/>
          </a:prstGeom>
        </p:spPr>
        <p:txBody>
          <a:bodyPr anchor="t" rtlCol="false" tIns="0" lIns="0" bIns="0" rIns="0">
            <a:spAutoFit/>
          </a:bodyPr>
          <a:lstStyle/>
          <a:p>
            <a:pPr algn="l">
              <a:lnSpc>
                <a:spcPts val="2937"/>
              </a:lnSpc>
            </a:pPr>
            <a:r>
              <a:rPr lang="en-US" b="true" sz="2160">
                <a:solidFill>
                  <a:srgbClr val="3D472B"/>
                </a:solidFill>
                <a:latin typeface="Arimo Bold"/>
                <a:ea typeface="Arimo Bold"/>
                <a:cs typeface="Arimo Bold"/>
                <a:sym typeface="Arimo Bold"/>
              </a:rPr>
              <a:t>4c</a:t>
            </a:r>
          </a:p>
        </p:txBody>
      </p:sp>
      <p:sp>
        <p:nvSpPr>
          <p:cNvPr name="TextBox 55" id="55"/>
          <p:cNvSpPr txBox="true"/>
          <p:nvPr/>
        </p:nvSpPr>
        <p:spPr>
          <a:xfrm rot="0">
            <a:off x="7365301" y="7592092"/>
            <a:ext cx="2505456" cy="422529"/>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√b = c/a ⇒ b = c²/a²</a:t>
            </a:r>
          </a:p>
        </p:txBody>
      </p:sp>
      <p:grpSp>
        <p:nvGrpSpPr>
          <p:cNvPr name="Group 56" id="56"/>
          <p:cNvGrpSpPr/>
          <p:nvPr/>
        </p:nvGrpSpPr>
        <p:grpSpPr>
          <a:xfrm rot="0">
            <a:off x="11897868" y="6668548"/>
            <a:ext cx="5074920" cy="1536192"/>
            <a:chOff x="0" y="0"/>
            <a:chExt cx="6766560" cy="2048256"/>
          </a:xfrm>
        </p:grpSpPr>
        <p:sp>
          <p:nvSpPr>
            <p:cNvPr name="Freeform 57" id="57"/>
            <p:cNvSpPr/>
            <p:nvPr/>
          </p:nvSpPr>
          <p:spPr>
            <a:xfrm flipH="false" flipV="false" rot="0">
              <a:off x="0" y="0"/>
              <a:ext cx="6766560" cy="2048256"/>
            </a:xfrm>
            <a:custGeom>
              <a:avLst/>
              <a:gdLst/>
              <a:ahLst/>
              <a:cxnLst/>
              <a:rect r="r" b="b" t="t" l="l"/>
              <a:pathLst>
                <a:path h="2048256" w="6766560">
                  <a:moveTo>
                    <a:pt x="355600" y="0"/>
                  </a:moveTo>
                  <a:lnTo>
                    <a:pt x="6410960" y="0"/>
                  </a:lnTo>
                  <a:cubicBezTo>
                    <a:pt x="6607302" y="0"/>
                    <a:pt x="6766560" y="159258"/>
                    <a:pt x="6766560" y="355600"/>
                  </a:cubicBezTo>
                  <a:lnTo>
                    <a:pt x="6766560" y="1692656"/>
                  </a:lnTo>
                  <a:cubicBezTo>
                    <a:pt x="6766560" y="1888998"/>
                    <a:pt x="6607302" y="2048256"/>
                    <a:pt x="6410960" y="2048256"/>
                  </a:cubicBezTo>
                  <a:lnTo>
                    <a:pt x="355600" y="2048256"/>
                  </a:lnTo>
                  <a:cubicBezTo>
                    <a:pt x="159258" y="2048256"/>
                    <a:pt x="0" y="1888998"/>
                    <a:pt x="0" y="1692656"/>
                  </a:cubicBezTo>
                  <a:lnTo>
                    <a:pt x="0" y="355600"/>
                  </a:lnTo>
                  <a:cubicBezTo>
                    <a:pt x="0" y="159258"/>
                    <a:pt x="159258" y="0"/>
                    <a:pt x="355600" y="0"/>
                  </a:cubicBezTo>
                  <a:close/>
                </a:path>
              </a:pathLst>
            </a:custGeom>
            <a:solidFill>
              <a:srgbClr val="F0FAE1"/>
            </a:solidFill>
          </p:spPr>
        </p:sp>
        <p:sp>
          <p:nvSpPr>
            <p:cNvPr name="Freeform 58" id="58"/>
            <p:cNvSpPr/>
            <p:nvPr/>
          </p:nvSpPr>
          <p:spPr>
            <a:xfrm flipH="false" flipV="false" rot="0">
              <a:off x="0" y="0"/>
              <a:ext cx="6766560" cy="2048256"/>
            </a:xfrm>
            <a:custGeom>
              <a:avLst/>
              <a:gdLst/>
              <a:ahLst/>
              <a:cxnLst/>
              <a:rect r="r" b="b" t="t" l="l"/>
              <a:pathLst>
                <a:path h="2048256" w="6766560">
                  <a:moveTo>
                    <a:pt x="355600" y="0"/>
                  </a:moveTo>
                  <a:lnTo>
                    <a:pt x="6410960" y="0"/>
                  </a:lnTo>
                  <a:cubicBezTo>
                    <a:pt x="6607302" y="0"/>
                    <a:pt x="6766560" y="159258"/>
                    <a:pt x="6766560" y="355600"/>
                  </a:cubicBezTo>
                  <a:lnTo>
                    <a:pt x="6766560" y="1692656"/>
                  </a:lnTo>
                  <a:cubicBezTo>
                    <a:pt x="6766560" y="1888998"/>
                    <a:pt x="6607302" y="2048256"/>
                    <a:pt x="6410960" y="2048256"/>
                  </a:cubicBezTo>
                  <a:lnTo>
                    <a:pt x="355600" y="2048256"/>
                  </a:lnTo>
                  <a:cubicBezTo>
                    <a:pt x="159258" y="2048256"/>
                    <a:pt x="0" y="1888998"/>
                    <a:pt x="0" y="1692656"/>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59" id="59"/>
          <p:cNvSpPr txBox="true"/>
          <p:nvPr/>
        </p:nvSpPr>
        <p:spPr>
          <a:xfrm rot="0">
            <a:off x="12181332" y="6810185"/>
            <a:ext cx="4507992"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60" id="60"/>
          <p:cNvSpPr txBox="true"/>
          <p:nvPr/>
        </p:nvSpPr>
        <p:spPr>
          <a:xfrm rot="0">
            <a:off x="12185047" y="7164229"/>
            <a:ext cx="338328" cy="422529"/>
          </a:xfrm>
          <a:prstGeom prst="rect">
            <a:avLst/>
          </a:prstGeom>
        </p:spPr>
        <p:txBody>
          <a:bodyPr anchor="t" rtlCol="false" tIns="0" lIns="0" bIns="0" rIns="0">
            <a:spAutoFit/>
          </a:bodyPr>
          <a:lstStyle/>
          <a:p>
            <a:pPr algn="l">
              <a:lnSpc>
                <a:spcPts val="2937"/>
              </a:lnSpc>
            </a:pPr>
            <a:r>
              <a:rPr lang="en-US" b="true" sz="2160">
                <a:solidFill>
                  <a:srgbClr val="3D472B"/>
                </a:solidFill>
                <a:latin typeface="Arimo Bold"/>
                <a:ea typeface="Arimo Bold"/>
                <a:cs typeface="Arimo Bold"/>
                <a:sym typeface="Arimo Bold"/>
              </a:rPr>
              <a:t>4d</a:t>
            </a:r>
          </a:p>
        </p:txBody>
      </p:sp>
      <p:sp>
        <p:nvSpPr>
          <p:cNvPr name="TextBox 61" id="61"/>
          <p:cNvSpPr txBox="true"/>
          <p:nvPr/>
        </p:nvSpPr>
        <p:spPr>
          <a:xfrm rot="0">
            <a:off x="12674060" y="7164229"/>
            <a:ext cx="2743200" cy="422529"/>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b + c = c² ⇒ b = c² − c</a:t>
            </a:r>
          </a:p>
        </p:txBody>
      </p:sp>
      <p:sp>
        <p:nvSpPr>
          <p:cNvPr name="TextBox 62" id="62"/>
          <p:cNvSpPr txBox="true"/>
          <p:nvPr/>
        </p:nvSpPr>
        <p:spPr>
          <a:xfrm rot="0">
            <a:off x="12182761" y="7592092"/>
            <a:ext cx="329184" cy="422529"/>
          </a:xfrm>
          <a:prstGeom prst="rect">
            <a:avLst/>
          </a:prstGeom>
        </p:spPr>
        <p:txBody>
          <a:bodyPr anchor="t" rtlCol="false" tIns="0" lIns="0" bIns="0" rIns="0">
            <a:spAutoFit/>
          </a:bodyPr>
          <a:lstStyle/>
          <a:p>
            <a:pPr algn="l">
              <a:lnSpc>
                <a:spcPts val="2937"/>
              </a:lnSpc>
            </a:pPr>
            <a:r>
              <a:rPr lang="en-US" b="true" sz="2160">
                <a:solidFill>
                  <a:srgbClr val="3D472B"/>
                </a:solidFill>
                <a:latin typeface="Arimo Bold"/>
                <a:ea typeface="Arimo Bold"/>
                <a:cs typeface="Arimo Bold"/>
                <a:sym typeface="Arimo Bold"/>
              </a:rPr>
              <a:t>4f</a:t>
            </a:r>
          </a:p>
        </p:txBody>
      </p:sp>
      <p:sp>
        <p:nvSpPr>
          <p:cNvPr name="TextBox 63" id="63"/>
          <p:cNvSpPr txBox="true"/>
          <p:nvPr/>
        </p:nvSpPr>
        <p:spPr>
          <a:xfrm rot="0">
            <a:off x="12657201" y="7592092"/>
            <a:ext cx="2478024" cy="422529"/>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√y = x/c ⇒ y = x²/c²</a:t>
            </a:r>
          </a:p>
        </p:txBody>
      </p:sp>
      <p:grpSp>
        <p:nvGrpSpPr>
          <p:cNvPr name="Group 64" id="64"/>
          <p:cNvGrpSpPr/>
          <p:nvPr/>
        </p:nvGrpSpPr>
        <p:grpSpPr>
          <a:xfrm rot="0">
            <a:off x="989838" y="9010650"/>
            <a:ext cx="3209925" cy="666750"/>
            <a:chOff x="0" y="0"/>
            <a:chExt cx="4279900" cy="889000"/>
          </a:xfrm>
        </p:grpSpPr>
        <p:sp>
          <p:nvSpPr>
            <p:cNvPr name="Freeform 65" id="65"/>
            <p:cNvSpPr/>
            <p:nvPr/>
          </p:nvSpPr>
          <p:spPr>
            <a:xfrm flipH="false" flipV="false" rot="0">
              <a:off x="0" y="0"/>
              <a:ext cx="4279900" cy="889000"/>
            </a:xfrm>
            <a:custGeom>
              <a:avLst/>
              <a:gdLst/>
              <a:ahLst/>
              <a:cxnLst/>
              <a:rect r="r" b="b" t="t" l="l"/>
              <a:pathLst>
                <a:path h="889000" w="4279900">
                  <a:moveTo>
                    <a:pt x="444500" y="0"/>
                  </a:moveTo>
                  <a:lnTo>
                    <a:pt x="3835400" y="0"/>
                  </a:lnTo>
                  <a:cubicBezTo>
                    <a:pt x="4080891" y="0"/>
                    <a:pt x="4279900" y="199009"/>
                    <a:pt x="4279900" y="444500"/>
                  </a:cubicBezTo>
                  <a:cubicBezTo>
                    <a:pt x="4279900" y="689991"/>
                    <a:pt x="4080891" y="889000"/>
                    <a:pt x="38354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grpSp>
      <p:sp>
        <p:nvSpPr>
          <p:cNvPr name="TextBox 66" id="66"/>
          <p:cNvSpPr txBox="true"/>
          <p:nvPr/>
        </p:nvSpPr>
        <p:spPr>
          <a:xfrm rot="0">
            <a:off x="1361313" y="9153525"/>
            <a:ext cx="2466975" cy="361950"/>
          </a:xfrm>
          <a:prstGeom prst="rect">
            <a:avLst/>
          </a:prstGeom>
        </p:spPr>
        <p:txBody>
          <a:bodyPr anchor="t" rtlCol="false" tIns="0" lIns="0" bIns="0" rIns="0">
            <a:spAutoFit/>
          </a:bodyPr>
          <a:lstStyle/>
          <a:p>
            <a:pPr algn="ctr">
              <a:lnSpc>
                <a:spcPts val="2700"/>
              </a:lnSpc>
            </a:pPr>
            <a:r>
              <a:rPr lang="en-US" b="true" sz="2250" spc="-44">
                <a:solidFill>
                  <a:srgbClr val="F5EAD8"/>
                </a:solidFill>
                <a:latin typeface="Arimo Bold"/>
                <a:ea typeface="Arimo Bold"/>
                <a:cs typeface="Arimo Bold"/>
                <a:sym typeface="Arimo Bold"/>
              </a:rPr>
              <a:t>Reveal the answers</a:t>
            </a:r>
          </a:p>
        </p:txBody>
      </p:sp>
    </p:spTree>
  </p:cSld>
  <p:clrMapOvr>
    <a:masterClrMapping/>
  </p:clrMapOvr>
</p:sld>
</file>

<file path=ppt/slides/slide3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FFE1D0"/>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CCDBB2"/>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FFC6A5"/>
            </a:solidFill>
          </p:spPr>
        </p:sp>
      </p:grpSp>
      <p:grpSp>
        <p:nvGrpSpPr>
          <p:cNvPr name="Group 9" id="9"/>
          <p:cNvGrpSpPr/>
          <p:nvPr/>
        </p:nvGrpSpPr>
        <p:grpSpPr>
          <a:xfrm rot="0">
            <a:off x="990790" y="611505"/>
            <a:ext cx="3781425" cy="600075"/>
            <a:chOff x="0" y="0"/>
            <a:chExt cx="5041900" cy="800100"/>
          </a:xfrm>
        </p:grpSpPr>
        <p:sp>
          <p:nvSpPr>
            <p:cNvPr name="Freeform 10" id="10"/>
            <p:cNvSpPr/>
            <p:nvPr/>
          </p:nvSpPr>
          <p:spPr>
            <a:xfrm flipH="false" flipV="false" rot="0">
              <a:off x="0" y="0"/>
              <a:ext cx="5041900" cy="800100"/>
            </a:xfrm>
            <a:custGeom>
              <a:avLst/>
              <a:gdLst/>
              <a:ahLst/>
              <a:cxnLst/>
              <a:rect r="r" b="b" t="t" l="l"/>
              <a:pathLst>
                <a:path h="800100" w="5041900">
                  <a:moveTo>
                    <a:pt x="400050" y="0"/>
                  </a:moveTo>
                  <a:lnTo>
                    <a:pt x="4641850" y="0"/>
                  </a:lnTo>
                  <a:cubicBezTo>
                    <a:pt x="4862830" y="0"/>
                    <a:pt x="5041900" y="179070"/>
                    <a:pt x="5041900" y="400050"/>
                  </a:cubicBezTo>
                  <a:cubicBezTo>
                    <a:pt x="5041900" y="621030"/>
                    <a:pt x="4862830" y="800100"/>
                    <a:pt x="4641850" y="800100"/>
                  </a:cubicBezTo>
                  <a:lnTo>
                    <a:pt x="400050" y="800100"/>
                  </a:lnTo>
                  <a:cubicBezTo>
                    <a:pt x="179070" y="800100"/>
                    <a:pt x="0" y="621030"/>
                    <a:pt x="0" y="400050"/>
                  </a:cubicBezTo>
                  <a:cubicBezTo>
                    <a:pt x="0" y="179070"/>
                    <a:pt x="179070" y="0"/>
                    <a:pt x="400050" y="0"/>
                  </a:cubicBezTo>
                  <a:close/>
                </a:path>
              </a:pathLst>
            </a:custGeom>
            <a:solidFill>
              <a:srgbClr val="8C491A"/>
            </a:solidFill>
          </p:spPr>
        </p:sp>
        <p:sp>
          <p:nvSpPr>
            <p:cNvPr name="TextBox 11" id="11"/>
            <p:cNvSpPr txBox="true"/>
            <p:nvPr/>
          </p:nvSpPr>
          <p:spPr>
            <a:xfrm>
              <a:off x="0" y="-76200"/>
              <a:ext cx="50419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EXERCISE 6.3 · Q5 &amp; Q6</a:t>
              </a:r>
            </a:p>
          </p:txBody>
        </p:sp>
      </p:grpSp>
      <p:sp>
        <p:nvSpPr>
          <p:cNvPr name="TextBox 12" id="12"/>
          <p:cNvSpPr txBox="true"/>
          <p:nvPr/>
        </p:nvSpPr>
        <p:spPr>
          <a:xfrm rot="0">
            <a:off x="4964906" y="630555"/>
            <a:ext cx="1581150" cy="485775"/>
          </a:xfrm>
          <a:prstGeom prst="rect">
            <a:avLst/>
          </a:prstGeom>
        </p:spPr>
        <p:txBody>
          <a:bodyPr anchor="t" rtlCol="false" tIns="0" lIns="0" bIns="0" rIns="0">
            <a:spAutoFit/>
          </a:bodyPr>
          <a:lstStyle/>
          <a:p>
            <a:pPr algn="l">
              <a:lnSpc>
                <a:spcPts val="3255"/>
              </a:lnSpc>
            </a:pPr>
            <a:r>
              <a:rPr lang="en-US" b="true" sz="2100">
                <a:solidFill>
                  <a:srgbClr val="3D472B"/>
                </a:solidFill>
                <a:latin typeface="Arimo Bold"/>
                <a:ea typeface="Arimo Bold"/>
                <a:cs typeface="Arimo Bold"/>
                <a:sym typeface="Arimo Bold"/>
              </a:rPr>
              <a:t>6.3 · Practice</a:t>
            </a:r>
          </a:p>
        </p:txBody>
      </p:sp>
      <p:sp>
        <p:nvSpPr>
          <p:cNvPr name="TextBox 13" id="13"/>
          <p:cNvSpPr txBox="true"/>
          <p:nvPr/>
        </p:nvSpPr>
        <p:spPr>
          <a:xfrm rot="0">
            <a:off x="990600" y="1510189"/>
            <a:ext cx="16306800" cy="523875"/>
          </a:xfrm>
          <a:prstGeom prst="rect">
            <a:avLst/>
          </a:prstGeom>
        </p:spPr>
        <p:txBody>
          <a:bodyPr anchor="t" rtlCol="false" tIns="0" lIns="0" bIns="0" rIns="0">
            <a:spAutoFit/>
          </a:bodyPr>
          <a:lstStyle/>
          <a:p>
            <a:pPr algn="l">
              <a:lnSpc>
                <a:spcPts val="4524"/>
              </a:lnSpc>
            </a:pPr>
            <a:r>
              <a:rPr lang="en-US" b="true" sz="4350" spc="-86">
                <a:solidFill>
                  <a:srgbClr val="201E1D"/>
                </a:solidFill>
                <a:latin typeface="Arimo Bold"/>
                <a:ea typeface="Arimo Bold"/>
                <a:cs typeface="Arimo Bold"/>
                <a:sym typeface="Arimo Bold"/>
              </a:rPr>
              <a:t>Rearrange, then substitute</a:t>
            </a:r>
          </a:p>
        </p:txBody>
      </p:sp>
      <p:grpSp>
        <p:nvGrpSpPr>
          <p:cNvPr name="Group 14" id="14"/>
          <p:cNvGrpSpPr/>
          <p:nvPr/>
        </p:nvGrpSpPr>
        <p:grpSpPr>
          <a:xfrm rot="0">
            <a:off x="990600" y="2282000"/>
            <a:ext cx="8020050" cy="2686050"/>
            <a:chOff x="0" y="0"/>
            <a:chExt cx="10693400" cy="3581400"/>
          </a:xfrm>
        </p:grpSpPr>
        <p:sp>
          <p:nvSpPr>
            <p:cNvPr name="Freeform 15" id="15"/>
            <p:cNvSpPr/>
            <p:nvPr/>
          </p:nvSpPr>
          <p:spPr>
            <a:xfrm flipH="false" flipV="false" rot="0">
              <a:off x="0" y="0"/>
              <a:ext cx="10693400" cy="3581400"/>
            </a:xfrm>
            <a:custGeom>
              <a:avLst/>
              <a:gdLst/>
              <a:ahLst/>
              <a:cxnLst/>
              <a:rect r="r" b="b" t="t" l="l"/>
              <a:pathLst>
                <a:path h="3581400" w="10693400">
                  <a:moveTo>
                    <a:pt x="355600" y="0"/>
                  </a:moveTo>
                  <a:lnTo>
                    <a:pt x="10337800" y="0"/>
                  </a:lnTo>
                  <a:cubicBezTo>
                    <a:pt x="10534142" y="0"/>
                    <a:pt x="10693400" y="159258"/>
                    <a:pt x="10693400" y="355600"/>
                  </a:cubicBezTo>
                  <a:lnTo>
                    <a:pt x="10693400" y="3225800"/>
                  </a:lnTo>
                  <a:cubicBezTo>
                    <a:pt x="10693400" y="3422142"/>
                    <a:pt x="10534142" y="3581400"/>
                    <a:pt x="10337800" y="3581400"/>
                  </a:cubicBezTo>
                  <a:lnTo>
                    <a:pt x="355600" y="3581400"/>
                  </a:lnTo>
                  <a:cubicBezTo>
                    <a:pt x="159258" y="3581400"/>
                    <a:pt x="0" y="3422142"/>
                    <a:pt x="0" y="3225800"/>
                  </a:cubicBezTo>
                  <a:lnTo>
                    <a:pt x="0" y="355600"/>
                  </a:lnTo>
                  <a:cubicBezTo>
                    <a:pt x="0" y="159258"/>
                    <a:pt x="159258" y="0"/>
                    <a:pt x="355600" y="0"/>
                  </a:cubicBezTo>
                  <a:close/>
                </a:path>
              </a:pathLst>
            </a:custGeom>
            <a:solidFill>
              <a:srgbClr val="F0FAE1"/>
            </a:solidFill>
          </p:spPr>
        </p:sp>
        <p:sp>
          <p:nvSpPr>
            <p:cNvPr name="Freeform 16" id="16"/>
            <p:cNvSpPr/>
            <p:nvPr/>
          </p:nvSpPr>
          <p:spPr>
            <a:xfrm flipH="false" flipV="false" rot="0">
              <a:off x="0" y="0"/>
              <a:ext cx="10693400" cy="3581400"/>
            </a:xfrm>
            <a:custGeom>
              <a:avLst/>
              <a:gdLst/>
              <a:ahLst/>
              <a:cxnLst/>
              <a:rect r="r" b="b" t="t" l="l"/>
              <a:pathLst>
                <a:path h="3581400" w="10693400">
                  <a:moveTo>
                    <a:pt x="355600" y="0"/>
                  </a:moveTo>
                  <a:lnTo>
                    <a:pt x="10337800" y="0"/>
                  </a:lnTo>
                  <a:cubicBezTo>
                    <a:pt x="10534142" y="0"/>
                    <a:pt x="10693400" y="159258"/>
                    <a:pt x="10693400" y="355600"/>
                  </a:cubicBezTo>
                  <a:lnTo>
                    <a:pt x="10693400" y="3225800"/>
                  </a:lnTo>
                  <a:cubicBezTo>
                    <a:pt x="10693400" y="3422142"/>
                    <a:pt x="10534142" y="3581400"/>
                    <a:pt x="10337800" y="3581400"/>
                  </a:cubicBezTo>
                  <a:lnTo>
                    <a:pt x="355600" y="3581400"/>
                  </a:lnTo>
                  <a:cubicBezTo>
                    <a:pt x="159258" y="3581400"/>
                    <a:pt x="0" y="3422142"/>
                    <a:pt x="0" y="3225800"/>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17" id="17"/>
          <p:cNvSpPr txBox="true"/>
          <p:nvPr/>
        </p:nvSpPr>
        <p:spPr>
          <a:xfrm rot="0">
            <a:off x="1285875" y="2424589"/>
            <a:ext cx="7429500" cy="600075"/>
          </a:xfrm>
          <a:prstGeom prst="rect">
            <a:avLst/>
          </a:prstGeom>
        </p:spPr>
        <p:txBody>
          <a:bodyPr anchor="t" rtlCol="false" tIns="0" lIns="0" bIns="0" rIns="0">
            <a:spAutoFit/>
          </a:bodyPr>
          <a:lstStyle/>
          <a:p>
            <a:pPr algn="l">
              <a:lnSpc>
                <a:spcPts val="3952"/>
              </a:lnSpc>
            </a:pPr>
            <a:r>
              <a:rPr lang="en-US" b="true" sz="2550" spc="-51">
                <a:solidFill>
                  <a:srgbClr val="3D472B"/>
                </a:solidFill>
                <a:latin typeface="Arimo Bold"/>
                <a:ea typeface="Arimo Bold"/>
                <a:cs typeface="Arimo Bold"/>
                <a:sym typeface="Arimo Bold"/>
              </a:rPr>
              <a:t>Q5 · Rectangle</a:t>
            </a:r>
          </a:p>
        </p:txBody>
      </p:sp>
      <p:sp>
        <p:nvSpPr>
          <p:cNvPr name="TextBox 18" id="18"/>
          <p:cNvSpPr txBox="true"/>
          <p:nvPr/>
        </p:nvSpPr>
        <p:spPr>
          <a:xfrm rot="0">
            <a:off x="1285875" y="3043619"/>
            <a:ext cx="7429500" cy="1276350"/>
          </a:xfrm>
          <a:prstGeom prst="rect">
            <a:avLst/>
          </a:prstGeom>
        </p:spPr>
        <p:txBody>
          <a:bodyPr anchor="t" rtlCol="false" tIns="0" lIns="0" bIns="0" rIns="0">
            <a:spAutoFit/>
          </a:bodyPr>
          <a:lstStyle/>
          <a:p>
            <a:pPr algn="l">
              <a:lnSpc>
                <a:spcPts val="3208"/>
              </a:lnSpc>
            </a:pPr>
            <a:r>
              <a:rPr lang="en-US" b="true" sz="2325">
                <a:solidFill>
                  <a:srgbClr val="201E1D"/>
                </a:solidFill>
                <a:latin typeface="Arimo Bold"/>
                <a:ea typeface="Arimo Bold"/>
                <a:cs typeface="Arimo Bold"/>
                <a:sym typeface="Arimo Bold"/>
              </a:rPr>
              <a:t>P = 2(l + w).</a:t>
            </a:r>
          </a:p>
          <a:p>
            <a:pPr algn="l">
              <a:lnSpc>
                <a:spcPts val="3208"/>
              </a:lnSpc>
            </a:pPr>
            <a:r>
              <a:rPr lang="en-US" b="true" sz="2325">
                <a:solidFill>
                  <a:srgbClr val="201E1D"/>
                </a:solidFill>
                <a:latin typeface="Arimo Bold"/>
                <a:ea typeface="Arimo Bold"/>
                <a:cs typeface="Arimo Bold"/>
                <a:sym typeface="Arimo Bold"/>
              </a:rPr>
              <a:t>a Make w the subject.</a:t>
            </a:r>
          </a:p>
          <a:p>
            <a:pPr algn="l">
              <a:lnSpc>
                <a:spcPts val="3208"/>
              </a:lnSpc>
            </a:pPr>
            <a:r>
              <a:rPr lang="en-US" b="true" sz="2325">
                <a:solidFill>
                  <a:srgbClr val="201E1D"/>
                </a:solidFill>
                <a:latin typeface="Arimo Bold"/>
                <a:ea typeface="Arimo Bold"/>
                <a:cs typeface="Arimo Bold"/>
                <a:sym typeface="Arimo Bold"/>
              </a:rPr>
              <a:t>b Find w when l = 45 cm and P = 161 cm.</a:t>
            </a:r>
          </a:p>
        </p:txBody>
      </p:sp>
      <p:grpSp>
        <p:nvGrpSpPr>
          <p:cNvPr name="Group 19" id="19"/>
          <p:cNvGrpSpPr/>
          <p:nvPr/>
        </p:nvGrpSpPr>
        <p:grpSpPr>
          <a:xfrm rot="0">
            <a:off x="9277350" y="2282000"/>
            <a:ext cx="8020050" cy="2686050"/>
            <a:chOff x="0" y="0"/>
            <a:chExt cx="10693400" cy="3581400"/>
          </a:xfrm>
        </p:grpSpPr>
        <p:sp>
          <p:nvSpPr>
            <p:cNvPr name="Freeform 20" id="20"/>
            <p:cNvSpPr/>
            <p:nvPr/>
          </p:nvSpPr>
          <p:spPr>
            <a:xfrm flipH="false" flipV="false" rot="0">
              <a:off x="0" y="0"/>
              <a:ext cx="10693400" cy="3581400"/>
            </a:xfrm>
            <a:custGeom>
              <a:avLst/>
              <a:gdLst/>
              <a:ahLst/>
              <a:cxnLst/>
              <a:rect r="r" b="b" t="t" l="l"/>
              <a:pathLst>
                <a:path h="3581400" w="10693400">
                  <a:moveTo>
                    <a:pt x="355600" y="0"/>
                  </a:moveTo>
                  <a:lnTo>
                    <a:pt x="10337800" y="0"/>
                  </a:lnTo>
                  <a:cubicBezTo>
                    <a:pt x="10534142" y="0"/>
                    <a:pt x="10693400" y="159258"/>
                    <a:pt x="10693400" y="355600"/>
                  </a:cubicBezTo>
                  <a:lnTo>
                    <a:pt x="10693400" y="3225800"/>
                  </a:lnTo>
                  <a:cubicBezTo>
                    <a:pt x="10693400" y="3422142"/>
                    <a:pt x="10534142" y="3581400"/>
                    <a:pt x="10337800" y="3581400"/>
                  </a:cubicBezTo>
                  <a:lnTo>
                    <a:pt x="355600" y="3581400"/>
                  </a:lnTo>
                  <a:cubicBezTo>
                    <a:pt x="159258" y="3581400"/>
                    <a:pt x="0" y="3422142"/>
                    <a:pt x="0" y="3225800"/>
                  </a:cubicBezTo>
                  <a:lnTo>
                    <a:pt x="0" y="355600"/>
                  </a:lnTo>
                  <a:cubicBezTo>
                    <a:pt x="0" y="159258"/>
                    <a:pt x="159258" y="0"/>
                    <a:pt x="355600" y="0"/>
                  </a:cubicBezTo>
                  <a:close/>
                </a:path>
              </a:pathLst>
            </a:custGeom>
            <a:solidFill>
              <a:srgbClr val="FFF2EB"/>
            </a:solidFill>
          </p:spPr>
        </p:sp>
        <p:sp>
          <p:nvSpPr>
            <p:cNvPr name="Freeform 21" id="21"/>
            <p:cNvSpPr/>
            <p:nvPr/>
          </p:nvSpPr>
          <p:spPr>
            <a:xfrm flipH="false" flipV="false" rot="0">
              <a:off x="0" y="0"/>
              <a:ext cx="10693400" cy="3581400"/>
            </a:xfrm>
            <a:custGeom>
              <a:avLst/>
              <a:gdLst/>
              <a:ahLst/>
              <a:cxnLst/>
              <a:rect r="r" b="b" t="t" l="l"/>
              <a:pathLst>
                <a:path h="3581400" w="10693400">
                  <a:moveTo>
                    <a:pt x="355600" y="0"/>
                  </a:moveTo>
                  <a:lnTo>
                    <a:pt x="10337800" y="0"/>
                  </a:lnTo>
                  <a:cubicBezTo>
                    <a:pt x="10534142" y="0"/>
                    <a:pt x="10693400" y="159258"/>
                    <a:pt x="10693400" y="355600"/>
                  </a:cubicBezTo>
                  <a:lnTo>
                    <a:pt x="10693400" y="3225800"/>
                  </a:lnTo>
                  <a:cubicBezTo>
                    <a:pt x="10693400" y="3422142"/>
                    <a:pt x="10534142" y="3581400"/>
                    <a:pt x="10337800" y="3581400"/>
                  </a:cubicBezTo>
                  <a:lnTo>
                    <a:pt x="355600" y="3581400"/>
                  </a:lnTo>
                  <a:cubicBezTo>
                    <a:pt x="159258" y="3581400"/>
                    <a:pt x="0" y="3422142"/>
                    <a:pt x="0" y="3225800"/>
                  </a:cubicBezTo>
                  <a:lnTo>
                    <a:pt x="0" y="355600"/>
                  </a:lnTo>
                  <a:cubicBezTo>
                    <a:pt x="0" y="159258"/>
                    <a:pt x="159258" y="0"/>
                    <a:pt x="355600" y="0"/>
                  </a:cubicBezTo>
                  <a:close/>
                </a:path>
              </a:pathLst>
            </a:custGeom>
            <a:solidFill>
              <a:srgbClr val="000000">
                <a:alpha val="0"/>
              </a:srgbClr>
            </a:solidFill>
            <a:ln w="28575" cap="sq">
              <a:solidFill>
                <a:srgbClr val="FFC6A5"/>
              </a:solidFill>
              <a:prstDash val="solid"/>
              <a:miter/>
            </a:ln>
          </p:spPr>
        </p:sp>
      </p:grpSp>
      <p:sp>
        <p:nvSpPr>
          <p:cNvPr name="TextBox 22" id="22"/>
          <p:cNvSpPr txBox="true"/>
          <p:nvPr/>
        </p:nvSpPr>
        <p:spPr>
          <a:xfrm rot="0">
            <a:off x="9572625" y="2424589"/>
            <a:ext cx="7429500" cy="600075"/>
          </a:xfrm>
          <a:prstGeom prst="rect">
            <a:avLst/>
          </a:prstGeom>
        </p:spPr>
        <p:txBody>
          <a:bodyPr anchor="t" rtlCol="false" tIns="0" lIns="0" bIns="0" rIns="0">
            <a:spAutoFit/>
          </a:bodyPr>
          <a:lstStyle/>
          <a:p>
            <a:pPr algn="l">
              <a:lnSpc>
                <a:spcPts val="3952"/>
              </a:lnSpc>
            </a:pPr>
            <a:r>
              <a:rPr lang="en-US" b="true" sz="2550" spc="-51">
                <a:solidFill>
                  <a:srgbClr val="643312"/>
                </a:solidFill>
                <a:latin typeface="Arimo Bold"/>
                <a:ea typeface="Arimo Bold"/>
                <a:cs typeface="Arimo Bold"/>
                <a:sym typeface="Arimo Bold"/>
              </a:rPr>
              <a:t>Q6 · Plane on a carrier</a:t>
            </a:r>
          </a:p>
        </p:txBody>
      </p:sp>
      <p:sp>
        <p:nvSpPr>
          <p:cNvPr name="TextBox 23" id="23"/>
          <p:cNvSpPr txBox="true"/>
          <p:nvPr/>
        </p:nvSpPr>
        <p:spPr>
          <a:xfrm rot="0">
            <a:off x="9572625" y="3042476"/>
            <a:ext cx="7429500" cy="1685925"/>
          </a:xfrm>
          <a:prstGeom prst="rect">
            <a:avLst/>
          </a:prstGeom>
        </p:spPr>
        <p:txBody>
          <a:bodyPr anchor="t" rtlCol="false" tIns="0" lIns="0" bIns="0" rIns="0">
            <a:spAutoFit/>
          </a:bodyPr>
          <a:lstStyle/>
          <a:p>
            <a:pPr algn="l">
              <a:lnSpc>
                <a:spcPts val="3208"/>
              </a:lnSpc>
            </a:pPr>
            <a:r>
              <a:rPr lang="en-US" b="true" sz="2325">
                <a:solidFill>
                  <a:srgbClr val="201E1D"/>
                </a:solidFill>
                <a:latin typeface="Arimo Bold"/>
                <a:ea typeface="Arimo Bold"/>
                <a:cs typeface="Arimo Bold"/>
                <a:sym typeface="Arimo Bold"/>
              </a:rPr>
              <a:t>v = u + at.</a:t>
            </a:r>
          </a:p>
          <a:p>
            <a:pPr algn="l">
              <a:lnSpc>
                <a:spcPts val="3208"/>
              </a:lnSpc>
            </a:pPr>
            <a:r>
              <a:rPr lang="en-US" b="true" sz="2325">
                <a:solidFill>
                  <a:srgbClr val="201E1D"/>
                </a:solidFill>
                <a:latin typeface="Arimo Bold"/>
                <a:ea typeface="Arimo Bold"/>
                <a:cs typeface="Arimo Bold"/>
                <a:sym typeface="Arimo Bold"/>
              </a:rPr>
              <a:t>a Make t the subject.</a:t>
            </a:r>
          </a:p>
          <a:p>
            <a:pPr algn="l">
              <a:lnSpc>
                <a:spcPts val="3208"/>
              </a:lnSpc>
            </a:pPr>
            <a:r>
              <a:rPr lang="en-US" b="true" sz="2325">
                <a:solidFill>
                  <a:srgbClr val="201E1D"/>
                </a:solidFill>
                <a:latin typeface="Arimo Bold"/>
                <a:ea typeface="Arimo Bold"/>
                <a:cs typeface="Arimo Bold"/>
                <a:sym typeface="Arimo Bold"/>
              </a:rPr>
              <a:t>b Find the initial speed u when v = 78 m/s at t = 2 s and a = 33.64 m/s².</a:t>
            </a:r>
          </a:p>
        </p:txBody>
      </p:sp>
      <p:grpSp>
        <p:nvGrpSpPr>
          <p:cNvPr name="Group 24" id="24"/>
          <p:cNvGrpSpPr/>
          <p:nvPr/>
        </p:nvGrpSpPr>
        <p:grpSpPr>
          <a:xfrm rot="0">
            <a:off x="1316736" y="5486305"/>
            <a:ext cx="7699248" cy="3008376"/>
            <a:chOff x="0" y="0"/>
            <a:chExt cx="10265664" cy="4011168"/>
          </a:xfrm>
        </p:grpSpPr>
        <p:sp>
          <p:nvSpPr>
            <p:cNvPr name="Freeform 25" id="25"/>
            <p:cNvSpPr/>
            <p:nvPr/>
          </p:nvSpPr>
          <p:spPr>
            <a:xfrm flipH="false" flipV="false" rot="0">
              <a:off x="0" y="0"/>
              <a:ext cx="10265664" cy="4011168"/>
            </a:xfrm>
            <a:custGeom>
              <a:avLst/>
              <a:gdLst/>
              <a:ahLst/>
              <a:cxnLst/>
              <a:rect r="r" b="b" t="t" l="l"/>
              <a:pathLst>
                <a:path h="4011168" w="10265664">
                  <a:moveTo>
                    <a:pt x="355600" y="0"/>
                  </a:moveTo>
                  <a:lnTo>
                    <a:pt x="9910064" y="0"/>
                  </a:lnTo>
                  <a:cubicBezTo>
                    <a:pt x="10106406" y="0"/>
                    <a:pt x="10265664" y="159258"/>
                    <a:pt x="10265664" y="355600"/>
                  </a:cubicBezTo>
                  <a:lnTo>
                    <a:pt x="10265664" y="3655568"/>
                  </a:lnTo>
                  <a:cubicBezTo>
                    <a:pt x="10265664" y="3851910"/>
                    <a:pt x="10106406" y="4011168"/>
                    <a:pt x="9910064" y="4011168"/>
                  </a:cubicBezTo>
                  <a:lnTo>
                    <a:pt x="355600" y="4011168"/>
                  </a:lnTo>
                  <a:cubicBezTo>
                    <a:pt x="159258" y="4011168"/>
                    <a:pt x="0" y="3851910"/>
                    <a:pt x="0" y="3655568"/>
                  </a:cubicBezTo>
                  <a:lnTo>
                    <a:pt x="0" y="355600"/>
                  </a:lnTo>
                  <a:cubicBezTo>
                    <a:pt x="0" y="159258"/>
                    <a:pt x="159258" y="0"/>
                    <a:pt x="355600" y="0"/>
                  </a:cubicBezTo>
                  <a:close/>
                </a:path>
              </a:pathLst>
            </a:custGeom>
            <a:solidFill>
              <a:srgbClr val="F0FAE1"/>
            </a:solidFill>
          </p:spPr>
        </p:sp>
        <p:sp>
          <p:nvSpPr>
            <p:cNvPr name="Freeform 26" id="26"/>
            <p:cNvSpPr/>
            <p:nvPr/>
          </p:nvSpPr>
          <p:spPr>
            <a:xfrm flipH="false" flipV="false" rot="0">
              <a:off x="0" y="0"/>
              <a:ext cx="10265664" cy="4011168"/>
            </a:xfrm>
            <a:custGeom>
              <a:avLst/>
              <a:gdLst/>
              <a:ahLst/>
              <a:cxnLst/>
              <a:rect r="r" b="b" t="t" l="l"/>
              <a:pathLst>
                <a:path h="4011168" w="10265664">
                  <a:moveTo>
                    <a:pt x="355600" y="0"/>
                  </a:moveTo>
                  <a:lnTo>
                    <a:pt x="9910064" y="0"/>
                  </a:lnTo>
                  <a:cubicBezTo>
                    <a:pt x="10106406" y="0"/>
                    <a:pt x="10265664" y="159258"/>
                    <a:pt x="10265664" y="355600"/>
                  </a:cubicBezTo>
                  <a:lnTo>
                    <a:pt x="10265664" y="3655568"/>
                  </a:lnTo>
                  <a:cubicBezTo>
                    <a:pt x="10265664" y="3851910"/>
                    <a:pt x="10106406" y="4011168"/>
                    <a:pt x="9910064" y="4011168"/>
                  </a:cubicBezTo>
                  <a:lnTo>
                    <a:pt x="355600" y="4011168"/>
                  </a:lnTo>
                  <a:cubicBezTo>
                    <a:pt x="159258" y="4011168"/>
                    <a:pt x="0" y="3851910"/>
                    <a:pt x="0" y="3655568"/>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27" id="27"/>
          <p:cNvSpPr txBox="true"/>
          <p:nvPr/>
        </p:nvSpPr>
        <p:spPr>
          <a:xfrm rot="0">
            <a:off x="1600200" y="5629370"/>
            <a:ext cx="7132320"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28" id="28"/>
          <p:cNvSpPr txBox="true"/>
          <p:nvPr/>
        </p:nvSpPr>
        <p:spPr>
          <a:xfrm rot="0">
            <a:off x="1600200" y="5985034"/>
            <a:ext cx="329184" cy="431673"/>
          </a:xfrm>
          <a:prstGeom prst="rect">
            <a:avLst/>
          </a:prstGeom>
        </p:spPr>
        <p:txBody>
          <a:bodyPr anchor="t" rtlCol="false" tIns="0" lIns="0" bIns="0" rIns="0">
            <a:spAutoFit/>
          </a:bodyPr>
          <a:lstStyle/>
          <a:p>
            <a:pPr algn="l">
              <a:lnSpc>
                <a:spcPts val="3035"/>
              </a:lnSpc>
            </a:pPr>
            <a:r>
              <a:rPr lang="en-US" b="true" sz="2232">
                <a:solidFill>
                  <a:srgbClr val="3D472B"/>
                </a:solidFill>
                <a:latin typeface="Arimo Bold"/>
                <a:ea typeface="Arimo Bold"/>
                <a:cs typeface="Arimo Bold"/>
                <a:sym typeface="Arimo Bold"/>
              </a:rPr>
              <a:t>a</a:t>
            </a:r>
          </a:p>
        </p:txBody>
      </p:sp>
      <p:sp>
        <p:nvSpPr>
          <p:cNvPr name="TextBox 29" id="29"/>
          <p:cNvSpPr txBox="true"/>
          <p:nvPr/>
        </p:nvSpPr>
        <p:spPr>
          <a:xfrm rot="0">
            <a:off x="2074450" y="5985034"/>
            <a:ext cx="1197864" cy="431673"/>
          </a:xfrm>
          <a:prstGeom prst="rect">
            <a:avLst/>
          </a:prstGeom>
        </p:spPr>
        <p:txBody>
          <a:bodyPr anchor="t" rtlCol="false" tIns="0" lIns="0" bIns="0" rIns="0">
            <a:spAutoFit/>
          </a:bodyPr>
          <a:lstStyle/>
          <a:p>
            <a:pPr algn="l">
              <a:lnSpc>
                <a:spcPts val="3035"/>
              </a:lnSpc>
            </a:pPr>
            <a:r>
              <a:rPr lang="en-US" b="true" sz="2232">
                <a:solidFill>
                  <a:srgbClr val="201E1D"/>
                </a:solidFill>
                <a:latin typeface="Arimo Bold"/>
                <a:ea typeface="Arimo Bold"/>
                <a:cs typeface="Arimo Bold"/>
                <a:sym typeface="Arimo Bold"/>
              </a:rPr>
              <a:t>w =</a:t>
            </a:r>
          </a:p>
        </p:txBody>
      </p:sp>
      <p:sp>
        <p:nvSpPr>
          <p:cNvPr name="AutoShape 30" id="30"/>
          <p:cNvSpPr/>
          <p:nvPr/>
        </p:nvSpPr>
        <p:spPr>
          <a:xfrm rot="0">
            <a:off x="2103501" y="6665214"/>
            <a:ext cx="228600" cy="28575"/>
          </a:xfrm>
          <a:prstGeom prst="rect">
            <a:avLst/>
          </a:prstGeom>
          <a:solidFill>
            <a:srgbClr val="201E1D"/>
          </a:solidFill>
        </p:spPr>
      </p:sp>
      <p:sp>
        <p:nvSpPr>
          <p:cNvPr name="TextBox 31" id="31"/>
          <p:cNvSpPr txBox="true"/>
          <p:nvPr/>
        </p:nvSpPr>
        <p:spPr>
          <a:xfrm rot="0">
            <a:off x="2103501" y="6419469"/>
            <a:ext cx="228600" cy="274320"/>
          </a:xfrm>
          <a:prstGeom prst="rect">
            <a:avLst/>
          </a:prstGeom>
        </p:spPr>
        <p:txBody>
          <a:bodyPr anchor="t" rtlCol="false" tIns="0" lIns="0" bIns="0" rIns="0">
            <a:spAutoFit/>
          </a:bodyPr>
          <a:lstStyle/>
          <a:p>
            <a:pPr algn="l">
              <a:lnSpc>
                <a:spcPts val="1976"/>
              </a:lnSpc>
            </a:pPr>
            <a:r>
              <a:rPr lang="en-US" b="true" sz="1829">
                <a:solidFill>
                  <a:srgbClr val="201E1D"/>
                </a:solidFill>
                <a:latin typeface="Arimo Bold"/>
                <a:ea typeface="Arimo Bold"/>
                <a:cs typeface="Arimo Bold"/>
                <a:sym typeface="Arimo Bold"/>
              </a:rPr>
              <a:t>P</a:t>
            </a:r>
          </a:p>
        </p:txBody>
      </p:sp>
      <p:sp>
        <p:nvSpPr>
          <p:cNvPr name="TextBox 32" id="32"/>
          <p:cNvSpPr txBox="true"/>
          <p:nvPr/>
        </p:nvSpPr>
        <p:spPr>
          <a:xfrm rot="0">
            <a:off x="2103501" y="6697885"/>
            <a:ext cx="228600" cy="246888"/>
          </a:xfrm>
          <a:prstGeom prst="rect">
            <a:avLst/>
          </a:prstGeom>
        </p:spPr>
        <p:txBody>
          <a:bodyPr anchor="t" rtlCol="false" tIns="0" lIns="0" bIns="0" rIns="0">
            <a:spAutoFit/>
          </a:bodyPr>
          <a:lstStyle/>
          <a:p>
            <a:pPr algn="l">
              <a:lnSpc>
                <a:spcPts val="1976"/>
              </a:lnSpc>
            </a:pPr>
            <a:r>
              <a:rPr lang="en-US" b="true" sz="1829">
                <a:solidFill>
                  <a:srgbClr val="201E1D"/>
                </a:solidFill>
                <a:latin typeface="Arimo Bold"/>
                <a:ea typeface="Arimo Bold"/>
                <a:cs typeface="Arimo Bold"/>
                <a:sym typeface="Arimo Bold"/>
              </a:rPr>
              <a:t>2</a:t>
            </a:r>
          </a:p>
        </p:txBody>
      </p:sp>
      <p:sp>
        <p:nvSpPr>
          <p:cNvPr name="TextBox 33" id="33"/>
          <p:cNvSpPr txBox="true"/>
          <p:nvPr/>
        </p:nvSpPr>
        <p:spPr>
          <a:xfrm rot="0">
            <a:off x="2074450" y="6900005"/>
            <a:ext cx="1197864" cy="431673"/>
          </a:xfrm>
          <a:prstGeom prst="rect">
            <a:avLst/>
          </a:prstGeom>
        </p:spPr>
        <p:txBody>
          <a:bodyPr anchor="t" rtlCol="false" tIns="0" lIns="0" bIns="0" rIns="0">
            <a:spAutoFit/>
          </a:bodyPr>
          <a:lstStyle/>
          <a:p>
            <a:pPr algn="l">
              <a:lnSpc>
                <a:spcPts val="3035"/>
              </a:lnSpc>
            </a:pPr>
            <a:r>
              <a:rPr lang="en-US" b="true" sz="2232">
                <a:solidFill>
                  <a:srgbClr val="201E1D"/>
                </a:solidFill>
                <a:latin typeface="Arimo Bold"/>
                <a:ea typeface="Arimo Bold"/>
                <a:cs typeface="Arimo Bold"/>
                <a:sym typeface="Arimo Bold"/>
              </a:rPr>
              <a:t>− l or w =</a:t>
            </a:r>
          </a:p>
        </p:txBody>
      </p:sp>
      <p:sp>
        <p:nvSpPr>
          <p:cNvPr name="AutoShape 34" id="34"/>
          <p:cNvSpPr/>
          <p:nvPr/>
        </p:nvSpPr>
        <p:spPr>
          <a:xfrm rot="0">
            <a:off x="2102358" y="7580186"/>
            <a:ext cx="676656" cy="28575"/>
          </a:xfrm>
          <a:prstGeom prst="rect">
            <a:avLst/>
          </a:prstGeom>
          <a:solidFill>
            <a:srgbClr val="201E1D"/>
          </a:solidFill>
        </p:spPr>
      </p:sp>
      <p:sp>
        <p:nvSpPr>
          <p:cNvPr name="TextBox 35" id="35"/>
          <p:cNvSpPr txBox="true"/>
          <p:nvPr/>
        </p:nvSpPr>
        <p:spPr>
          <a:xfrm rot="0">
            <a:off x="2102358" y="7334440"/>
            <a:ext cx="676656" cy="274320"/>
          </a:xfrm>
          <a:prstGeom prst="rect">
            <a:avLst/>
          </a:prstGeom>
        </p:spPr>
        <p:txBody>
          <a:bodyPr anchor="t" rtlCol="false" tIns="0" lIns="0" bIns="0" rIns="0">
            <a:spAutoFit/>
          </a:bodyPr>
          <a:lstStyle/>
          <a:p>
            <a:pPr algn="l">
              <a:lnSpc>
                <a:spcPts val="1976"/>
              </a:lnSpc>
            </a:pPr>
            <a:r>
              <a:rPr lang="en-US" b="true" sz="1829">
                <a:solidFill>
                  <a:srgbClr val="201E1D"/>
                </a:solidFill>
                <a:latin typeface="Arimo Bold"/>
                <a:ea typeface="Arimo Bold"/>
                <a:cs typeface="Arimo Bold"/>
                <a:sym typeface="Arimo Bold"/>
              </a:rPr>
              <a:t>P − 2l</a:t>
            </a:r>
          </a:p>
        </p:txBody>
      </p:sp>
      <p:sp>
        <p:nvSpPr>
          <p:cNvPr name="TextBox 36" id="36"/>
          <p:cNvSpPr txBox="true"/>
          <p:nvPr/>
        </p:nvSpPr>
        <p:spPr>
          <a:xfrm rot="0">
            <a:off x="2326386" y="7612856"/>
            <a:ext cx="228600" cy="246888"/>
          </a:xfrm>
          <a:prstGeom prst="rect">
            <a:avLst/>
          </a:prstGeom>
        </p:spPr>
        <p:txBody>
          <a:bodyPr anchor="t" rtlCol="false" tIns="0" lIns="0" bIns="0" rIns="0">
            <a:spAutoFit/>
          </a:bodyPr>
          <a:lstStyle/>
          <a:p>
            <a:pPr algn="l">
              <a:lnSpc>
                <a:spcPts val="1976"/>
              </a:lnSpc>
            </a:pPr>
            <a:r>
              <a:rPr lang="en-US" b="true" sz="1829">
                <a:solidFill>
                  <a:srgbClr val="201E1D"/>
                </a:solidFill>
                <a:latin typeface="Arimo Bold"/>
                <a:ea typeface="Arimo Bold"/>
                <a:cs typeface="Arimo Bold"/>
                <a:sym typeface="Arimo Bold"/>
              </a:rPr>
              <a:t>2</a:t>
            </a:r>
          </a:p>
        </p:txBody>
      </p:sp>
      <p:sp>
        <p:nvSpPr>
          <p:cNvPr name="TextBox 37" id="37"/>
          <p:cNvSpPr txBox="true"/>
          <p:nvPr/>
        </p:nvSpPr>
        <p:spPr>
          <a:xfrm rot="0">
            <a:off x="1600200" y="7869841"/>
            <a:ext cx="329184" cy="431673"/>
          </a:xfrm>
          <a:prstGeom prst="rect">
            <a:avLst/>
          </a:prstGeom>
        </p:spPr>
        <p:txBody>
          <a:bodyPr anchor="t" rtlCol="false" tIns="0" lIns="0" bIns="0" rIns="0">
            <a:spAutoFit/>
          </a:bodyPr>
          <a:lstStyle/>
          <a:p>
            <a:pPr algn="l">
              <a:lnSpc>
                <a:spcPts val="3035"/>
              </a:lnSpc>
            </a:pPr>
            <a:r>
              <a:rPr lang="en-US" b="true" sz="2232">
                <a:solidFill>
                  <a:srgbClr val="3D472B"/>
                </a:solidFill>
                <a:latin typeface="Arimo Bold"/>
                <a:ea typeface="Arimo Bold"/>
                <a:cs typeface="Arimo Bold"/>
                <a:sym typeface="Arimo Bold"/>
              </a:rPr>
              <a:t>b</a:t>
            </a:r>
          </a:p>
        </p:txBody>
      </p:sp>
      <p:sp>
        <p:nvSpPr>
          <p:cNvPr name="TextBox 38" id="38"/>
          <p:cNvSpPr txBox="true"/>
          <p:nvPr/>
        </p:nvSpPr>
        <p:spPr>
          <a:xfrm rot="0">
            <a:off x="2077117" y="7869841"/>
            <a:ext cx="3118104" cy="431673"/>
          </a:xfrm>
          <a:prstGeom prst="rect">
            <a:avLst/>
          </a:prstGeom>
        </p:spPr>
        <p:txBody>
          <a:bodyPr anchor="t" rtlCol="false" tIns="0" lIns="0" bIns="0" rIns="0">
            <a:spAutoFit/>
          </a:bodyPr>
          <a:lstStyle/>
          <a:p>
            <a:pPr algn="l">
              <a:lnSpc>
                <a:spcPts val="3035"/>
              </a:lnSpc>
            </a:pPr>
            <a:r>
              <a:rPr lang="en-US" b="true" sz="2232">
                <a:solidFill>
                  <a:srgbClr val="201E1D"/>
                </a:solidFill>
                <a:latin typeface="Arimo Bold"/>
                <a:ea typeface="Arimo Bold"/>
                <a:cs typeface="Arimo Bold"/>
                <a:sym typeface="Arimo Bold"/>
              </a:rPr>
              <a:t>w = 80.5 − 45 = 35.5 cm</a:t>
            </a:r>
          </a:p>
        </p:txBody>
      </p:sp>
      <p:grpSp>
        <p:nvGrpSpPr>
          <p:cNvPr name="Group 39" id="39"/>
          <p:cNvGrpSpPr/>
          <p:nvPr/>
        </p:nvGrpSpPr>
        <p:grpSpPr>
          <a:xfrm rot="0">
            <a:off x="9272016" y="5486305"/>
            <a:ext cx="7699248" cy="3008376"/>
            <a:chOff x="0" y="0"/>
            <a:chExt cx="10265664" cy="4011168"/>
          </a:xfrm>
        </p:grpSpPr>
        <p:sp>
          <p:nvSpPr>
            <p:cNvPr name="Freeform 40" id="40"/>
            <p:cNvSpPr/>
            <p:nvPr/>
          </p:nvSpPr>
          <p:spPr>
            <a:xfrm flipH="false" flipV="false" rot="0">
              <a:off x="0" y="0"/>
              <a:ext cx="10265664" cy="4011168"/>
            </a:xfrm>
            <a:custGeom>
              <a:avLst/>
              <a:gdLst/>
              <a:ahLst/>
              <a:cxnLst/>
              <a:rect r="r" b="b" t="t" l="l"/>
              <a:pathLst>
                <a:path h="4011168" w="10265664">
                  <a:moveTo>
                    <a:pt x="355600" y="0"/>
                  </a:moveTo>
                  <a:lnTo>
                    <a:pt x="9910064" y="0"/>
                  </a:lnTo>
                  <a:cubicBezTo>
                    <a:pt x="10106406" y="0"/>
                    <a:pt x="10265664" y="159258"/>
                    <a:pt x="10265664" y="355600"/>
                  </a:cubicBezTo>
                  <a:lnTo>
                    <a:pt x="10265664" y="3655568"/>
                  </a:lnTo>
                  <a:cubicBezTo>
                    <a:pt x="10265664" y="3851910"/>
                    <a:pt x="10106406" y="4011168"/>
                    <a:pt x="9910064" y="4011168"/>
                  </a:cubicBezTo>
                  <a:lnTo>
                    <a:pt x="355600" y="4011168"/>
                  </a:lnTo>
                  <a:cubicBezTo>
                    <a:pt x="159258" y="4011168"/>
                    <a:pt x="0" y="3851910"/>
                    <a:pt x="0" y="3655568"/>
                  </a:cubicBezTo>
                  <a:lnTo>
                    <a:pt x="0" y="355600"/>
                  </a:lnTo>
                  <a:cubicBezTo>
                    <a:pt x="0" y="159258"/>
                    <a:pt x="159258" y="0"/>
                    <a:pt x="355600" y="0"/>
                  </a:cubicBezTo>
                  <a:close/>
                </a:path>
              </a:pathLst>
            </a:custGeom>
            <a:solidFill>
              <a:srgbClr val="F0FAE1"/>
            </a:solidFill>
          </p:spPr>
        </p:sp>
        <p:sp>
          <p:nvSpPr>
            <p:cNvPr name="Freeform 41" id="41"/>
            <p:cNvSpPr/>
            <p:nvPr/>
          </p:nvSpPr>
          <p:spPr>
            <a:xfrm flipH="false" flipV="false" rot="0">
              <a:off x="0" y="0"/>
              <a:ext cx="10265664" cy="4011168"/>
            </a:xfrm>
            <a:custGeom>
              <a:avLst/>
              <a:gdLst/>
              <a:ahLst/>
              <a:cxnLst/>
              <a:rect r="r" b="b" t="t" l="l"/>
              <a:pathLst>
                <a:path h="4011168" w="10265664">
                  <a:moveTo>
                    <a:pt x="355600" y="0"/>
                  </a:moveTo>
                  <a:lnTo>
                    <a:pt x="9910064" y="0"/>
                  </a:lnTo>
                  <a:cubicBezTo>
                    <a:pt x="10106406" y="0"/>
                    <a:pt x="10265664" y="159258"/>
                    <a:pt x="10265664" y="355600"/>
                  </a:cubicBezTo>
                  <a:lnTo>
                    <a:pt x="10265664" y="3655568"/>
                  </a:lnTo>
                  <a:cubicBezTo>
                    <a:pt x="10265664" y="3851910"/>
                    <a:pt x="10106406" y="4011168"/>
                    <a:pt x="9910064" y="4011168"/>
                  </a:cubicBezTo>
                  <a:lnTo>
                    <a:pt x="355600" y="4011168"/>
                  </a:lnTo>
                  <a:cubicBezTo>
                    <a:pt x="159258" y="4011168"/>
                    <a:pt x="0" y="3851910"/>
                    <a:pt x="0" y="3655568"/>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42" id="42"/>
          <p:cNvSpPr txBox="true"/>
          <p:nvPr/>
        </p:nvSpPr>
        <p:spPr>
          <a:xfrm rot="0">
            <a:off x="9555480" y="5629370"/>
            <a:ext cx="7132320"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43" id="43"/>
          <p:cNvSpPr txBox="true"/>
          <p:nvPr/>
        </p:nvSpPr>
        <p:spPr>
          <a:xfrm rot="0">
            <a:off x="9555480" y="5985034"/>
            <a:ext cx="329184" cy="431673"/>
          </a:xfrm>
          <a:prstGeom prst="rect">
            <a:avLst/>
          </a:prstGeom>
        </p:spPr>
        <p:txBody>
          <a:bodyPr anchor="t" rtlCol="false" tIns="0" lIns="0" bIns="0" rIns="0">
            <a:spAutoFit/>
          </a:bodyPr>
          <a:lstStyle/>
          <a:p>
            <a:pPr algn="l">
              <a:lnSpc>
                <a:spcPts val="3035"/>
              </a:lnSpc>
            </a:pPr>
            <a:r>
              <a:rPr lang="en-US" b="true" sz="2232">
                <a:solidFill>
                  <a:srgbClr val="3D472B"/>
                </a:solidFill>
                <a:latin typeface="Arimo Bold"/>
                <a:ea typeface="Arimo Bold"/>
                <a:cs typeface="Arimo Bold"/>
                <a:sym typeface="Arimo Bold"/>
              </a:rPr>
              <a:t>a</a:t>
            </a:r>
          </a:p>
        </p:txBody>
      </p:sp>
      <p:sp>
        <p:nvSpPr>
          <p:cNvPr name="TextBox 44" id="44"/>
          <p:cNvSpPr txBox="true"/>
          <p:nvPr/>
        </p:nvSpPr>
        <p:spPr>
          <a:xfrm rot="0">
            <a:off x="10032492" y="5985034"/>
            <a:ext cx="658368" cy="431673"/>
          </a:xfrm>
          <a:prstGeom prst="rect">
            <a:avLst/>
          </a:prstGeom>
        </p:spPr>
        <p:txBody>
          <a:bodyPr anchor="t" rtlCol="false" tIns="0" lIns="0" bIns="0" rIns="0">
            <a:spAutoFit/>
          </a:bodyPr>
          <a:lstStyle/>
          <a:p>
            <a:pPr algn="l">
              <a:lnSpc>
                <a:spcPts val="3035"/>
              </a:lnSpc>
            </a:pPr>
            <a:r>
              <a:rPr lang="en-US" b="true" sz="2232">
                <a:solidFill>
                  <a:srgbClr val="201E1D"/>
                </a:solidFill>
                <a:latin typeface="Arimo Bold"/>
                <a:ea typeface="Arimo Bold"/>
                <a:cs typeface="Arimo Bold"/>
                <a:sym typeface="Arimo Bold"/>
              </a:rPr>
              <a:t>t =</a:t>
            </a:r>
          </a:p>
        </p:txBody>
      </p:sp>
      <p:sp>
        <p:nvSpPr>
          <p:cNvPr name="AutoShape 45" id="45"/>
          <p:cNvSpPr/>
          <p:nvPr/>
        </p:nvSpPr>
        <p:spPr>
          <a:xfrm rot="0">
            <a:off x="10059924" y="6665214"/>
            <a:ext cx="603504" cy="28575"/>
          </a:xfrm>
          <a:prstGeom prst="rect">
            <a:avLst/>
          </a:prstGeom>
          <a:solidFill>
            <a:srgbClr val="201E1D"/>
          </a:solidFill>
        </p:spPr>
      </p:sp>
      <p:sp>
        <p:nvSpPr>
          <p:cNvPr name="TextBox 46" id="46"/>
          <p:cNvSpPr txBox="true"/>
          <p:nvPr/>
        </p:nvSpPr>
        <p:spPr>
          <a:xfrm rot="0">
            <a:off x="10059924" y="6419469"/>
            <a:ext cx="603504" cy="274320"/>
          </a:xfrm>
          <a:prstGeom prst="rect">
            <a:avLst/>
          </a:prstGeom>
        </p:spPr>
        <p:txBody>
          <a:bodyPr anchor="t" rtlCol="false" tIns="0" lIns="0" bIns="0" rIns="0">
            <a:spAutoFit/>
          </a:bodyPr>
          <a:lstStyle/>
          <a:p>
            <a:pPr algn="l">
              <a:lnSpc>
                <a:spcPts val="1976"/>
              </a:lnSpc>
            </a:pPr>
            <a:r>
              <a:rPr lang="en-US" b="true" sz="1829">
                <a:solidFill>
                  <a:srgbClr val="201E1D"/>
                </a:solidFill>
                <a:latin typeface="Arimo Bold"/>
                <a:ea typeface="Arimo Bold"/>
                <a:cs typeface="Arimo Bold"/>
                <a:sym typeface="Arimo Bold"/>
              </a:rPr>
              <a:t>v − u</a:t>
            </a:r>
          </a:p>
        </p:txBody>
      </p:sp>
      <p:sp>
        <p:nvSpPr>
          <p:cNvPr name="TextBox 47" id="47"/>
          <p:cNvSpPr txBox="true"/>
          <p:nvPr/>
        </p:nvSpPr>
        <p:spPr>
          <a:xfrm rot="0">
            <a:off x="10256520" y="6697885"/>
            <a:ext cx="210312" cy="246888"/>
          </a:xfrm>
          <a:prstGeom prst="rect">
            <a:avLst/>
          </a:prstGeom>
        </p:spPr>
        <p:txBody>
          <a:bodyPr anchor="t" rtlCol="false" tIns="0" lIns="0" bIns="0" rIns="0">
            <a:spAutoFit/>
          </a:bodyPr>
          <a:lstStyle/>
          <a:p>
            <a:pPr algn="l">
              <a:lnSpc>
                <a:spcPts val="1976"/>
              </a:lnSpc>
            </a:pPr>
            <a:r>
              <a:rPr lang="en-US" b="true" sz="1829">
                <a:solidFill>
                  <a:srgbClr val="201E1D"/>
                </a:solidFill>
                <a:latin typeface="Arimo Bold"/>
                <a:ea typeface="Arimo Bold"/>
                <a:cs typeface="Arimo Bold"/>
                <a:sym typeface="Arimo Bold"/>
              </a:rPr>
              <a:t>a</a:t>
            </a:r>
          </a:p>
        </p:txBody>
      </p:sp>
      <p:sp>
        <p:nvSpPr>
          <p:cNvPr name="TextBox 48" id="48"/>
          <p:cNvSpPr txBox="true"/>
          <p:nvPr/>
        </p:nvSpPr>
        <p:spPr>
          <a:xfrm rot="0">
            <a:off x="9555480" y="6954869"/>
            <a:ext cx="329184" cy="431673"/>
          </a:xfrm>
          <a:prstGeom prst="rect">
            <a:avLst/>
          </a:prstGeom>
        </p:spPr>
        <p:txBody>
          <a:bodyPr anchor="t" rtlCol="false" tIns="0" lIns="0" bIns="0" rIns="0">
            <a:spAutoFit/>
          </a:bodyPr>
          <a:lstStyle/>
          <a:p>
            <a:pPr algn="l">
              <a:lnSpc>
                <a:spcPts val="3035"/>
              </a:lnSpc>
            </a:pPr>
            <a:r>
              <a:rPr lang="en-US" b="true" sz="2232">
                <a:solidFill>
                  <a:srgbClr val="3D472B"/>
                </a:solidFill>
                <a:latin typeface="Arimo Bold"/>
                <a:ea typeface="Arimo Bold"/>
                <a:cs typeface="Arimo Bold"/>
                <a:sym typeface="Arimo Bold"/>
              </a:rPr>
              <a:t>b</a:t>
            </a:r>
          </a:p>
        </p:txBody>
      </p:sp>
      <p:sp>
        <p:nvSpPr>
          <p:cNvPr name="TextBox 49" id="49"/>
          <p:cNvSpPr txBox="true"/>
          <p:nvPr/>
        </p:nvSpPr>
        <p:spPr>
          <a:xfrm rot="0">
            <a:off x="10031444" y="6954869"/>
            <a:ext cx="4919472" cy="431673"/>
          </a:xfrm>
          <a:prstGeom prst="rect">
            <a:avLst/>
          </a:prstGeom>
        </p:spPr>
        <p:txBody>
          <a:bodyPr anchor="t" rtlCol="false" tIns="0" lIns="0" bIns="0" rIns="0">
            <a:spAutoFit/>
          </a:bodyPr>
          <a:lstStyle/>
          <a:p>
            <a:pPr algn="l">
              <a:lnSpc>
                <a:spcPts val="3035"/>
              </a:lnSpc>
            </a:pPr>
            <a:r>
              <a:rPr lang="en-US" b="true" sz="2232">
                <a:solidFill>
                  <a:srgbClr val="201E1D"/>
                </a:solidFill>
                <a:latin typeface="Arimo Bold"/>
                <a:ea typeface="Arimo Bold"/>
                <a:cs typeface="Arimo Bold"/>
                <a:sym typeface="Arimo Bold"/>
              </a:rPr>
              <a:t>u = v − at = 78 − 2 × 33.64 = 10.72 m/s</a:t>
            </a:r>
          </a:p>
        </p:txBody>
      </p:sp>
      <p:grpSp>
        <p:nvGrpSpPr>
          <p:cNvPr name="Group 50" id="50"/>
          <p:cNvGrpSpPr/>
          <p:nvPr/>
        </p:nvGrpSpPr>
        <p:grpSpPr>
          <a:xfrm rot="0">
            <a:off x="989838" y="9010650"/>
            <a:ext cx="3209925" cy="666750"/>
            <a:chOff x="0" y="0"/>
            <a:chExt cx="4279900" cy="889000"/>
          </a:xfrm>
        </p:grpSpPr>
        <p:sp>
          <p:nvSpPr>
            <p:cNvPr name="Freeform 51" id="51"/>
            <p:cNvSpPr/>
            <p:nvPr/>
          </p:nvSpPr>
          <p:spPr>
            <a:xfrm flipH="false" flipV="false" rot="0">
              <a:off x="0" y="0"/>
              <a:ext cx="4279900" cy="889000"/>
            </a:xfrm>
            <a:custGeom>
              <a:avLst/>
              <a:gdLst/>
              <a:ahLst/>
              <a:cxnLst/>
              <a:rect r="r" b="b" t="t" l="l"/>
              <a:pathLst>
                <a:path h="889000" w="4279900">
                  <a:moveTo>
                    <a:pt x="444500" y="0"/>
                  </a:moveTo>
                  <a:lnTo>
                    <a:pt x="3835400" y="0"/>
                  </a:lnTo>
                  <a:cubicBezTo>
                    <a:pt x="4080891" y="0"/>
                    <a:pt x="4279900" y="199009"/>
                    <a:pt x="4279900" y="444500"/>
                  </a:cubicBezTo>
                  <a:cubicBezTo>
                    <a:pt x="4279900" y="689991"/>
                    <a:pt x="4080891" y="889000"/>
                    <a:pt x="38354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grpSp>
      <p:sp>
        <p:nvSpPr>
          <p:cNvPr name="TextBox 52" id="52"/>
          <p:cNvSpPr txBox="true"/>
          <p:nvPr/>
        </p:nvSpPr>
        <p:spPr>
          <a:xfrm rot="0">
            <a:off x="1361313" y="9153525"/>
            <a:ext cx="2466975" cy="361950"/>
          </a:xfrm>
          <a:prstGeom prst="rect">
            <a:avLst/>
          </a:prstGeom>
        </p:spPr>
        <p:txBody>
          <a:bodyPr anchor="t" rtlCol="false" tIns="0" lIns="0" bIns="0" rIns="0">
            <a:spAutoFit/>
          </a:bodyPr>
          <a:lstStyle/>
          <a:p>
            <a:pPr algn="ctr">
              <a:lnSpc>
                <a:spcPts val="2700"/>
              </a:lnSpc>
            </a:pPr>
            <a:r>
              <a:rPr lang="en-US" b="true" sz="2250" spc="-44">
                <a:solidFill>
                  <a:srgbClr val="F5EAD8"/>
                </a:solidFill>
                <a:latin typeface="Arimo Bold"/>
                <a:ea typeface="Arimo Bold"/>
                <a:cs typeface="Arimo Bold"/>
                <a:sym typeface="Arimo Bold"/>
              </a:rPr>
              <a:t>Reveal the answers</a:t>
            </a:r>
          </a:p>
        </p:txBody>
      </p:sp>
    </p:spTree>
  </p:cSld>
  <p:clrMapOvr>
    <a:masterClrMapping/>
  </p:clrMapOvr>
</p:sld>
</file>

<file path=ppt/slides/slide3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FFE1D0"/>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CCDBB2"/>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FFC6A5"/>
            </a:solidFill>
          </p:spPr>
        </p:sp>
      </p:grpSp>
      <p:grpSp>
        <p:nvGrpSpPr>
          <p:cNvPr name="Group 9" id="9"/>
          <p:cNvGrpSpPr/>
          <p:nvPr/>
        </p:nvGrpSpPr>
        <p:grpSpPr>
          <a:xfrm rot="0">
            <a:off x="915352" y="611505"/>
            <a:ext cx="3028950" cy="600075"/>
            <a:chOff x="0" y="0"/>
            <a:chExt cx="4038600" cy="800100"/>
          </a:xfrm>
        </p:grpSpPr>
        <p:sp>
          <p:nvSpPr>
            <p:cNvPr name="Freeform 10" id="10"/>
            <p:cNvSpPr/>
            <p:nvPr/>
          </p:nvSpPr>
          <p:spPr>
            <a:xfrm flipH="false" flipV="false" rot="0">
              <a:off x="0" y="0"/>
              <a:ext cx="4038600" cy="800100"/>
            </a:xfrm>
            <a:custGeom>
              <a:avLst/>
              <a:gdLst/>
              <a:ahLst/>
              <a:cxnLst/>
              <a:rect r="r" b="b" t="t" l="l"/>
              <a:pathLst>
                <a:path h="800100" w="4038600">
                  <a:moveTo>
                    <a:pt x="400050" y="0"/>
                  </a:moveTo>
                  <a:lnTo>
                    <a:pt x="3638550" y="0"/>
                  </a:lnTo>
                  <a:cubicBezTo>
                    <a:pt x="3859530" y="0"/>
                    <a:pt x="4038600" y="179070"/>
                    <a:pt x="4038600" y="400050"/>
                  </a:cubicBezTo>
                  <a:cubicBezTo>
                    <a:pt x="4038600" y="621030"/>
                    <a:pt x="3859530" y="800100"/>
                    <a:pt x="3638550" y="800100"/>
                  </a:cubicBezTo>
                  <a:lnTo>
                    <a:pt x="400050" y="800100"/>
                  </a:lnTo>
                  <a:cubicBezTo>
                    <a:pt x="179070" y="800100"/>
                    <a:pt x="0" y="621030"/>
                    <a:pt x="0" y="400050"/>
                  </a:cubicBezTo>
                  <a:cubicBezTo>
                    <a:pt x="0" y="179070"/>
                    <a:pt x="179070" y="0"/>
                    <a:pt x="400050" y="0"/>
                  </a:cubicBezTo>
                  <a:close/>
                </a:path>
              </a:pathLst>
            </a:custGeom>
            <a:solidFill>
              <a:srgbClr val="8C491A"/>
            </a:solidFill>
          </p:spPr>
        </p:sp>
        <p:sp>
          <p:nvSpPr>
            <p:cNvPr name="TextBox 11" id="11"/>
            <p:cNvSpPr txBox="true"/>
            <p:nvPr/>
          </p:nvSpPr>
          <p:spPr>
            <a:xfrm>
              <a:off x="0" y="-76200"/>
              <a:ext cx="40386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EXERCISE 6.3 · Q7</a:t>
              </a:r>
            </a:p>
          </p:txBody>
        </p:sp>
      </p:grpSp>
      <p:sp>
        <p:nvSpPr>
          <p:cNvPr name="TextBox 12" id="12"/>
          <p:cNvSpPr txBox="true"/>
          <p:nvPr/>
        </p:nvSpPr>
        <p:spPr>
          <a:xfrm rot="0">
            <a:off x="4137755" y="630555"/>
            <a:ext cx="1581150" cy="485775"/>
          </a:xfrm>
          <a:prstGeom prst="rect">
            <a:avLst/>
          </a:prstGeom>
        </p:spPr>
        <p:txBody>
          <a:bodyPr anchor="t" rtlCol="false" tIns="0" lIns="0" bIns="0" rIns="0">
            <a:spAutoFit/>
          </a:bodyPr>
          <a:lstStyle/>
          <a:p>
            <a:pPr algn="l">
              <a:lnSpc>
                <a:spcPts val="3255"/>
              </a:lnSpc>
            </a:pPr>
            <a:r>
              <a:rPr lang="en-US" b="true" sz="2100">
                <a:solidFill>
                  <a:srgbClr val="3D472B"/>
                </a:solidFill>
                <a:latin typeface="Arimo Bold"/>
                <a:ea typeface="Arimo Bold"/>
                <a:cs typeface="Arimo Bold"/>
                <a:sym typeface="Arimo Bold"/>
              </a:rPr>
              <a:t>6.3 · Practice</a:t>
            </a:r>
          </a:p>
        </p:txBody>
      </p:sp>
      <p:sp>
        <p:nvSpPr>
          <p:cNvPr name="TextBox 13" id="13"/>
          <p:cNvSpPr txBox="true"/>
          <p:nvPr/>
        </p:nvSpPr>
        <p:spPr>
          <a:xfrm rot="0">
            <a:off x="914400" y="1471708"/>
            <a:ext cx="5676900" cy="504825"/>
          </a:xfrm>
          <a:prstGeom prst="rect">
            <a:avLst/>
          </a:prstGeom>
        </p:spPr>
        <p:txBody>
          <a:bodyPr anchor="t" rtlCol="false" tIns="0" lIns="0" bIns="0" rIns="0">
            <a:spAutoFit/>
          </a:bodyPr>
          <a:lstStyle/>
          <a:p>
            <a:pPr algn="l">
              <a:lnSpc>
                <a:spcPts val="4368"/>
              </a:lnSpc>
            </a:pPr>
            <a:r>
              <a:rPr lang="en-US" b="true" sz="4200" spc="-84">
                <a:solidFill>
                  <a:srgbClr val="201E1D"/>
                </a:solidFill>
                <a:latin typeface="Arimo Bold"/>
                <a:ea typeface="Arimo Bold"/>
                <a:cs typeface="Arimo Bold"/>
                <a:sym typeface="Arimo Bold"/>
              </a:rPr>
              <a:t>Make l the subject</a:t>
            </a:r>
          </a:p>
        </p:txBody>
      </p:sp>
      <p:sp>
        <p:nvSpPr>
          <p:cNvPr name="TextBox 14" id="14"/>
          <p:cNvSpPr txBox="true"/>
          <p:nvPr/>
        </p:nvSpPr>
        <p:spPr>
          <a:xfrm rot="0">
            <a:off x="914400" y="2100453"/>
            <a:ext cx="5676900" cy="647700"/>
          </a:xfrm>
          <a:prstGeom prst="rect">
            <a:avLst/>
          </a:prstGeom>
        </p:spPr>
        <p:txBody>
          <a:bodyPr anchor="t" rtlCol="false" tIns="0" lIns="0" bIns="0" rIns="0">
            <a:spAutoFit/>
          </a:bodyPr>
          <a:lstStyle/>
          <a:p>
            <a:pPr algn="l">
              <a:lnSpc>
                <a:spcPts val="4409"/>
              </a:lnSpc>
            </a:pPr>
            <a:r>
              <a:rPr lang="en-US" b="true" sz="3150">
                <a:solidFill>
                  <a:srgbClr val="201E1D"/>
                </a:solidFill>
                <a:latin typeface="Arimo Bold"/>
                <a:ea typeface="Arimo Bold"/>
                <a:cs typeface="Arimo Bold"/>
                <a:sym typeface="Arimo Bold"/>
              </a:rPr>
              <a:t>T = 2π√(l ÷ g)</a:t>
            </a:r>
          </a:p>
        </p:txBody>
      </p:sp>
      <p:grpSp>
        <p:nvGrpSpPr>
          <p:cNvPr name="Group 15" id="15"/>
          <p:cNvGrpSpPr/>
          <p:nvPr/>
        </p:nvGrpSpPr>
        <p:grpSpPr>
          <a:xfrm rot="0">
            <a:off x="916495" y="9010650"/>
            <a:ext cx="2333625" cy="666750"/>
            <a:chOff x="0" y="0"/>
            <a:chExt cx="3111500" cy="889000"/>
          </a:xfrm>
        </p:grpSpPr>
        <p:sp>
          <p:nvSpPr>
            <p:cNvPr name="Freeform 16" id="16"/>
            <p:cNvSpPr/>
            <p:nvPr/>
          </p:nvSpPr>
          <p:spPr>
            <a:xfrm flipH="false" flipV="false" rot="0">
              <a:off x="0" y="0"/>
              <a:ext cx="3111500" cy="889000"/>
            </a:xfrm>
            <a:custGeom>
              <a:avLst/>
              <a:gdLst/>
              <a:ahLst/>
              <a:cxnLst/>
              <a:rect r="r" b="b" t="t" l="l"/>
              <a:pathLst>
                <a:path h="889000" w="3111500">
                  <a:moveTo>
                    <a:pt x="444500" y="0"/>
                  </a:moveTo>
                  <a:lnTo>
                    <a:pt x="2667000" y="0"/>
                  </a:lnTo>
                  <a:cubicBezTo>
                    <a:pt x="2912491" y="0"/>
                    <a:pt x="3111500" y="199009"/>
                    <a:pt x="3111500" y="444500"/>
                  </a:cubicBezTo>
                  <a:cubicBezTo>
                    <a:pt x="3111500" y="689991"/>
                    <a:pt x="2912491" y="889000"/>
                    <a:pt x="26670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sp>
          <p:nvSpPr>
            <p:cNvPr name="TextBox 17" id="17"/>
            <p:cNvSpPr txBox="true"/>
            <p:nvPr/>
          </p:nvSpPr>
          <p:spPr>
            <a:xfrm>
              <a:off x="0" y="-19050"/>
              <a:ext cx="3111500" cy="908050"/>
            </a:xfrm>
            <a:prstGeom prst="rect">
              <a:avLst/>
            </a:prstGeom>
          </p:spPr>
          <p:txBody>
            <a:bodyPr anchor="t" rtlCol="false" tIns="203200" lIns="203200" bIns="203200" rIns="203200"/>
            <a:lstStyle/>
            <a:p>
              <a:pPr algn="ctr">
                <a:lnSpc>
                  <a:spcPts val="2700"/>
                </a:lnSpc>
              </a:pPr>
              <a:r>
                <a:rPr lang="en-US" b="true" sz="2250" spc="-44">
                  <a:solidFill>
                    <a:srgbClr val="F5EAD8"/>
                  </a:solidFill>
                  <a:latin typeface="Arimo Bold"/>
                  <a:ea typeface="Arimo Bold"/>
                  <a:cs typeface="Arimo Bold"/>
                  <a:sym typeface="Arimo Bold"/>
                </a:rPr>
                <a:t>Next step →</a:t>
              </a:r>
            </a:p>
          </p:txBody>
        </p:sp>
      </p:grpSp>
      <p:sp>
        <p:nvSpPr>
          <p:cNvPr name="TextBox 18" id="18"/>
          <p:cNvSpPr txBox="true"/>
          <p:nvPr/>
        </p:nvSpPr>
        <p:spPr>
          <a:xfrm rot="0">
            <a:off x="3405759" y="8991600"/>
            <a:ext cx="2143125" cy="685800"/>
          </a:xfrm>
          <a:prstGeom prst="rect">
            <a:avLst/>
          </a:prstGeom>
        </p:spPr>
        <p:txBody>
          <a:bodyPr anchor="t" rtlCol="false" tIns="0" lIns="0" bIns="0" rIns="0">
            <a:spAutoFit/>
          </a:bodyPr>
          <a:lstStyle/>
          <a:p>
            <a:pPr algn="ctr">
              <a:lnSpc>
                <a:spcPts val="2700"/>
              </a:lnSpc>
            </a:pPr>
            <a:r>
              <a:rPr lang="en-US" b="true" sz="2250" spc="-44">
                <a:solidFill>
                  <a:srgbClr val="201E1D"/>
                </a:solidFill>
                <a:latin typeface="Arimo Bold"/>
                <a:ea typeface="Arimo Bold"/>
                <a:cs typeface="Arimo Bold"/>
                <a:sym typeface="Arimo Bold"/>
              </a:rPr>
              <a:t>Start again</a:t>
            </a:r>
          </a:p>
        </p:txBody>
      </p:sp>
      <p:grpSp>
        <p:nvGrpSpPr>
          <p:cNvPr name="Group 19" id="19"/>
          <p:cNvGrpSpPr/>
          <p:nvPr/>
        </p:nvGrpSpPr>
        <p:grpSpPr>
          <a:xfrm rot="0">
            <a:off x="1027938" y="3176206"/>
            <a:ext cx="475488" cy="475488"/>
            <a:chOff x="0" y="0"/>
            <a:chExt cx="633984" cy="633984"/>
          </a:xfrm>
        </p:grpSpPr>
        <p:sp>
          <p:nvSpPr>
            <p:cNvPr name="Freeform 20" id="20"/>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C67139"/>
            </a:solidFill>
          </p:spPr>
        </p:sp>
      </p:grpSp>
      <p:sp>
        <p:nvSpPr>
          <p:cNvPr name="TextBox 21" id="21"/>
          <p:cNvSpPr txBox="true"/>
          <p:nvPr/>
        </p:nvSpPr>
        <p:spPr>
          <a:xfrm rot="0">
            <a:off x="1027938" y="3147631"/>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1</a:t>
            </a:r>
          </a:p>
        </p:txBody>
      </p:sp>
      <p:sp>
        <p:nvSpPr>
          <p:cNvPr name="TextBox 22" id="22"/>
          <p:cNvSpPr txBox="true"/>
          <p:nvPr/>
        </p:nvSpPr>
        <p:spPr>
          <a:xfrm rot="0">
            <a:off x="1667351" y="3174206"/>
            <a:ext cx="3218688" cy="431673"/>
          </a:xfrm>
          <a:prstGeom prst="rect">
            <a:avLst/>
          </a:prstGeom>
        </p:spPr>
        <p:txBody>
          <a:bodyPr anchor="t" rtlCol="false" tIns="0" lIns="0" bIns="0" rIns="0">
            <a:spAutoFit/>
          </a:bodyPr>
          <a:lstStyle/>
          <a:p>
            <a:pPr algn="l">
              <a:lnSpc>
                <a:spcPts val="3041"/>
              </a:lnSpc>
            </a:pPr>
            <a:r>
              <a:rPr lang="en-US" b="true" sz="2304">
                <a:solidFill>
                  <a:srgbClr val="201E1D"/>
                </a:solidFill>
                <a:latin typeface="Arimo Bold"/>
                <a:ea typeface="Arimo Bold"/>
                <a:cs typeface="Arimo Bold"/>
                <a:sym typeface="Arimo Bold"/>
              </a:rPr>
              <a:t>Build T from l: ÷g, √, ×2π</a:t>
            </a:r>
          </a:p>
        </p:txBody>
      </p:sp>
      <p:grpSp>
        <p:nvGrpSpPr>
          <p:cNvPr name="Group 23" id="23"/>
          <p:cNvGrpSpPr/>
          <p:nvPr/>
        </p:nvGrpSpPr>
        <p:grpSpPr>
          <a:xfrm rot="0">
            <a:off x="1027938" y="3785806"/>
            <a:ext cx="475488" cy="475488"/>
            <a:chOff x="0" y="0"/>
            <a:chExt cx="633984" cy="633984"/>
          </a:xfrm>
        </p:grpSpPr>
        <p:sp>
          <p:nvSpPr>
            <p:cNvPr name="Freeform 24" id="24"/>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7A8A5E"/>
            </a:solidFill>
          </p:spPr>
        </p:sp>
      </p:grpSp>
      <p:sp>
        <p:nvSpPr>
          <p:cNvPr name="TextBox 25" id="25"/>
          <p:cNvSpPr txBox="true"/>
          <p:nvPr/>
        </p:nvSpPr>
        <p:spPr>
          <a:xfrm rot="0">
            <a:off x="1027938" y="3757231"/>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2</a:t>
            </a:r>
          </a:p>
        </p:txBody>
      </p:sp>
      <p:sp>
        <p:nvSpPr>
          <p:cNvPr name="TextBox 26" id="26"/>
          <p:cNvSpPr txBox="true"/>
          <p:nvPr/>
        </p:nvSpPr>
        <p:spPr>
          <a:xfrm rot="0">
            <a:off x="1669161" y="3783806"/>
            <a:ext cx="2916936" cy="431673"/>
          </a:xfrm>
          <a:prstGeom prst="rect">
            <a:avLst/>
          </a:prstGeom>
        </p:spPr>
        <p:txBody>
          <a:bodyPr anchor="t" rtlCol="false" tIns="0" lIns="0" bIns="0" rIns="0">
            <a:spAutoFit/>
          </a:bodyPr>
          <a:lstStyle/>
          <a:p>
            <a:pPr algn="l">
              <a:lnSpc>
                <a:spcPts val="3041"/>
              </a:lnSpc>
            </a:pPr>
            <a:r>
              <a:rPr lang="en-US" b="true" sz="2304">
                <a:solidFill>
                  <a:srgbClr val="201E1D"/>
                </a:solidFill>
                <a:latin typeface="Arimo Bold"/>
                <a:ea typeface="Arimo Bold"/>
                <a:cs typeface="Arimo Bold"/>
                <a:sym typeface="Arimo Bold"/>
              </a:rPr>
              <a:t>Undo: ÷2π, square, ×g</a:t>
            </a:r>
          </a:p>
        </p:txBody>
      </p:sp>
      <p:grpSp>
        <p:nvGrpSpPr>
          <p:cNvPr name="Group 27" id="27"/>
          <p:cNvGrpSpPr/>
          <p:nvPr/>
        </p:nvGrpSpPr>
        <p:grpSpPr>
          <a:xfrm rot="0">
            <a:off x="1027938" y="4632960"/>
            <a:ext cx="475488" cy="475488"/>
            <a:chOff x="0" y="0"/>
            <a:chExt cx="633984" cy="633984"/>
          </a:xfrm>
        </p:grpSpPr>
        <p:sp>
          <p:nvSpPr>
            <p:cNvPr name="Freeform 28" id="28"/>
            <p:cNvSpPr/>
            <p:nvPr/>
          </p:nvSpPr>
          <p:spPr>
            <a:xfrm flipH="false" flipV="false" rot="0">
              <a:off x="0" y="0"/>
              <a:ext cx="633984" cy="633984"/>
            </a:xfrm>
            <a:custGeom>
              <a:avLst/>
              <a:gdLst/>
              <a:ahLst/>
              <a:cxnLst/>
              <a:rect r="r" b="b" t="t" l="l"/>
              <a:pathLst>
                <a:path h="633984" w="633984">
                  <a:moveTo>
                    <a:pt x="316992" y="0"/>
                  </a:moveTo>
                  <a:cubicBezTo>
                    <a:pt x="492125" y="0"/>
                    <a:pt x="633984" y="141859"/>
                    <a:pt x="633984" y="316992"/>
                  </a:cubicBezTo>
                  <a:cubicBezTo>
                    <a:pt x="633984" y="492125"/>
                    <a:pt x="492125" y="633984"/>
                    <a:pt x="316992" y="633984"/>
                  </a:cubicBezTo>
                  <a:cubicBezTo>
                    <a:pt x="141859" y="633984"/>
                    <a:pt x="0" y="492125"/>
                    <a:pt x="0" y="316992"/>
                  </a:cubicBezTo>
                  <a:cubicBezTo>
                    <a:pt x="0" y="141859"/>
                    <a:pt x="141859" y="0"/>
                    <a:pt x="316992" y="0"/>
                  </a:cubicBezTo>
                  <a:close/>
                </a:path>
              </a:pathLst>
            </a:custGeom>
            <a:solidFill>
              <a:srgbClr val="C67139"/>
            </a:solidFill>
          </p:spPr>
        </p:sp>
      </p:grpSp>
      <p:sp>
        <p:nvSpPr>
          <p:cNvPr name="TextBox 29" id="29"/>
          <p:cNvSpPr txBox="true"/>
          <p:nvPr/>
        </p:nvSpPr>
        <p:spPr>
          <a:xfrm rot="0">
            <a:off x="1027938" y="4604385"/>
            <a:ext cx="475488" cy="504063"/>
          </a:xfrm>
          <a:prstGeom prst="rect">
            <a:avLst/>
          </a:prstGeom>
        </p:spPr>
        <p:txBody>
          <a:bodyPr anchor="t" rtlCol="false" tIns="0" lIns="0" bIns="0" rIns="0">
            <a:spAutoFit/>
          </a:bodyPr>
          <a:lstStyle/>
          <a:p>
            <a:pPr algn="l">
              <a:lnSpc>
                <a:spcPts val="2661"/>
              </a:lnSpc>
            </a:pPr>
            <a:r>
              <a:rPr lang="en-US" b="true" sz="2016">
                <a:solidFill>
                  <a:srgbClr val="F5EAD8"/>
                </a:solidFill>
                <a:latin typeface="Arimo Bold"/>
                <a:ea typeface="Arimo Bold"/>
                <a:cs typeface="Arimo Bold"/>
                <a:sym typeface="Arimo Bold"/>
              </a:rPr>
              <a:t>3</a:t>
            </a:r>
          </a:p>
        </p:txBody>
      </p:sp>
      <p:sp>
        <p:nvSpPr>
          <p:cNvPr name="TextBox 30" id="30"/>
          <p:cNvSpPr txBox="true"/>
          <p:nvPr/>
        </p:nvSpPr>
        <p:spPr>
          <a:xfrm rot="0">
            <a:off x="1667066" y="4358354"/>
            <a:ext cx="521208" cy="431673"/>
          </a:xfrm>
          <a:prstGeom prst="rect">
            <a:avLst/>
          </a:prstGeom>
        </p:spPr>
        <p:txBody>
          <a:bodyPr anchor="t" rtlCol="false" tIns="0" lIns="0" bIns="0" rIns="0">
            <a:spAutoFit/>
          </a:bodyPr>
          <a:lstStyle/>
          <a:p>
            <a:pPr algn="l">
              <a:lnSpc>
                <a:spcPts val="3041"/>
              </a:lnSpc>
            </a:pPr>
            <a:r>
              <a:rPr lang="en-US" b="true" sz="2304">
                <a:solidFill>
                  <a:srgbClr val="201E1D"/>
                </a:solidFill>
                <a:latin typeface="Arimo Bold"/>
                <a:ea typeface="Arimo Bold"/>
                <a:cs typeface="Arimo Bold"/>
                <a:sym typeface="Arimo Bold"/>
              </a:rPr>
              <a:t>l =</a:t>
            </a:r>
          </a:p>
        </p:txBody>
      </p:sp>
      <p:sp>
        <p:nvSpPr>
          <p:cNvPr name="AutoShape 31" id="31"/>
          <p:cNvSpPr/>
          <p:nvPr/>
        </p:nvSpPr>
        <p:spPr>
          <a:xfrm rot="0">
            <a:off x="1699070" y="5047488"/>
            <a:ext cx="457200" cy="28575"/>
          </a:xfrm>
          <a:prstGeom prst="rect">
            <a:avLst/>
          </a:prstGeom>
          <a:solidFill>
            <a:srgbClr val="201E1D"/>
          </a:solidFill>
        </p:spPr>
      </p:sp>
      <p:sp>
        <p:nvSpPr>
          <p:cNvPr name="TextBox 32" id="32"/>
          <p:cNvSpPr txBox="true"/>
          <p:nvPr/>
        </p:nvSpPr>
        <p:spPr>
          <a:xfrm rot="0">
            <a:off x="1699070" y="4802124"/>
            <a:ext cx="457200" cy="273939"/>
          </a:xfrm>
          <a:prstGeom prst="rect">
            <a:avLst/>
          </a:prstGeom>
        </p:spPr>
        <p:txBody>
          <a:bodyPr anchor="t" rtlCol="false" tIns="0" lIns="0" bIns="0" rIns="0">
            <a:spAutoFit/>
          </a:bodyPr>
          <a:lstStyle/>
          <a:p>
            <a:pPr algn="l">
              <a:lnSpc>
                <a:spcPts val="2040"/>
              </a:lnSpc>
            </a:pPr>
            <a:r>
              <a:rPr lang="en-US" b="true" sz="1889">
                <a:solidFill>
                  <a:srgbClr val="201E1D"/>
                </a:solidFill>
                <a:latin typeface="Arimo Bold"/>
                <a:ea typeface="Arimo Bold"/>
                <a:cs typeface="Arimo Bold"/>
                <a:sym typeface="Arimo Bold"/>
              </a:rPr>
              <a:t>gT²</a:t>
            </a:r>
          </a:p>
        </p:txBody>
      </p:sp>
      <p:sp>
        <p:nvSpPr>
          <p:cNvPr name="TextBox 33" id="33"/>
          <p:cNvSpPr txBox="true"/>
          <p:nvPr/>
        </p:nvSpPr>
        <p:spPr>
          <a:xfrm rot="0">
            <a:off x="1694498" y="5088636"/>
            <a:ext cx="466344" cy="246507"/>
          </a:xfrm>
          <a:prstGeom prst="rect">
            <a:avLst/>
          </a:prstGeom>
        </p:spPr>
        <p:txBody>
          <a:bodyPr anchor="t" rtlCol="false" tIns="0" lIns="0" bIns="0" rIns="0">
            <a:spAutoFit/>
          </a:bodyPr>
          <a:lstStyle/>
          <a:p>
            <a:pPr algn="l">
              <a:lnSpc>
                <a:spcPts val="2040"/>
              </a:lnSpc>
            </a:pPr>
            <a:r>
              <a:rPr lang="en-US" b="true" sz="1889">
                <a:solidFill>
                  <a:srgbClr val="201E1D"/>
                </a:solidFill>
                <a:latin typeface="Arimo Bold"/>
                <a:ea typeface="Arimo Bold"/>
                <a:cs typeface="Arimo Bold"/>
                <a:sym typeface="Arimo Bold"/>
              </a:rPr>
              <a:t>4π²</a:t>
            </a:r>
          </a:p>
        </p:txBody>
      </p:sp>
      <p:grpSp>
        <p:nvGrpSpPr>
          <p:cNvPr name="Group 34" id="34"/>
          <p:cNvGrpSpPr/>
          <p:nvPr/>
        </p:nvGrpSpPr>
        <p:grpSpPr>
          <a:xfrm rot="0">
            <a:off x="7086600" y="609600"/>
            <a:ext cx="10287000" cy="9067800"/>
            <a:chOff x="0" y="0"/>
            <a:chExt cx="13716000" cy="12090400"/>
          </a:xfrm>
        </p:grpSpPr>
        <p:sp>
          <p:nvSpPr>
            <p:cNvPr name="Freeform 35" id="35"/>
            <p:cNvSpPr/>
            <p:nvPr/>
          </p:nvSpPr>
          <p:spPr>
            <a:xfrm flipH="false" flipV="false" rot="0">
              <a:off x="0" y="0"/>
              <a:ext cx="13716000" cy="12090400"/>
            </a:xfrm>
            <a:custGeom>
              <a:avLst/>
              <a:gdLst/>
              <a:ahLst/>
              <a:cxnLst/>
              <a:rect r="r" b="b" t="t" l="l"/>
              <a:pathLst>
                <a:path h="12090400" w="13716000">
                  <a:moveTo>
                    <a:pt x="711200" y="0"/>
                  </a:moveTo>
                  <a:lnTo>
                    <a:pt x="13004800" y="0"/>
                  </a:lnTo>
                  <a:cubicBezTo>
                    <a:pt x="13397612" y="0"/>
                    <a:pt x="13716000" y="318389"/>
                    <a:pt x="13716000" y="711200"/>
                  </a:cubicBezTo>
                  <a:lnTo>
                    <a:pt x="13716000" y="11379200"/>
                  </a:lnTo>
                  <a:cubicBezTo>
                    <a:pt x="13716000" y="11772011"/>
                    <a:pt x="13397612" y="12090400"/>
                    <a:pt x="13004800" y="12090400"/>
                  </a:cubicBezTo>
                  <a:lnTo>
                    <a:pt x="711200" y="12090400"/>
                  </a:lnTo>
                  <a:cubicBezTo>
                    <a:pt x="318389" y="12090400"/>
                    <a:pt x="0" y="11772011"/>
                    <a:pt x="0" y="11379200"/>
                  </a:cubicBezTo>
                  <a:lnTo>
                    <a:pt x="0" y="711200"/>
                  </a:lnTo>
                  <a:cubicBezTo>
                    <a:pt x="0" y="318389"/>
                    <a:pt x="318389" y="0"/>
                    <a:pt x="711200" y="0"/>
                  </a:cubicBezTo>
                  <a:close/>
                </a:path>
              </a:pathLst>
            </a:custGeom>
            <a:solidFill>
              <a:srgbClr val="EBDDC5"/>
            </a:solidFill>
          </p:spPr>
        </p:sp>
      </p:grpSp>
    </p:spTree>
  </p:cSld>
  <p:clrMapOvr>
    <a:masterClrMapping/>
  </p:clrMapOvr>
</p:sld>
</file>

<file path=ppt/slides/slide4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FFE1D0"/>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CCDBB2"/>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FFC6A5"/>
            </a:solidFill>
          </p:spPr>
        </p:sp>
      </p:grpSp>
      <p:grpSp>
        <p:nvGrpSpPr>
          <p:cNvPr name="Group 9" id="9"/>
          <p:cNvGrpSpPr/>
          <p:nvPr/>
        </p:nvGrpSpPr>
        <p:grpSpPr>
          <a:xfrm rot="0">
            <a:off x="992695" y="611505"/>
            <a:ext cx="2514600" cy="600075"/>
            <a:chOff x="0" y="0"/>
            <a:chExt cx="3352800" cy="800100"/>
          </a:xfrm>
        </p:grpSpPr>
        <p:sp>
          <p:nvSpPr>
            <p:cNvPr name="Freeform 10" id="10"/>
            <p:cNvSpPr/>
            <p:nvPr/>
          </p:nvSpPr>
          <p:spPr>
            <a:xfrm flipH="false" flipV="false" rot="0">
              <a:off x="0" y="0"/>
              <a:ext cx="3352800" cy="800100"/>
            </a:xfrm>
            <a:custGeom>
              <a:avLst/>
              <a:gdLst/>
              <a:ahLst/>
              <a:cxnLst/>
              <a:rect r="r" b="b" t="t" l="l"/>
              <a:pathLst>
                <a:path h="800100" w="3352800">
                  <a:moveTo>
                    <a:pt x="400050" y="0"/>
                  </a:moveTo>
                  <a:lnTo>
                    <a:pt x="2952750" y="0"/>
                  </a:lnTo>
                  <a:cubicBezTo>
                    <a:pt x="3173730" y="0"/>
                    <a:pt x="3352800" y="179070"/>
                    <a:pt x="3352800" y="400050"/>
                  </a:cubicBezTo>
                  <a:cubicBezTo>
                    <a:pt x="3352800" y="621030"/>
                    <a:pt x="3173730" y="800100"/>
                    <a:pt x="2952750" y="800100"/>
                  </a:cubicBezTo>
                  <a:lnTo>
                    <a:pt x="400050" y="800100"/>
                  </a:lnTo>
                  <a:cubicBezTo>
                    <a:pt x="179070" y="800100"/>
                    <a:pt x="0" y="621030"/>
                    <a:pt x="0" y="400050"/>
                  </a:cubicBezTo>
                  <a:cubicBezTo>
                    <a:pt x="0" y="179070"/>
                    <a:pt x="179070" y="0"/>
                    <a:pt x="400050" y="0"/>
                  </a:cubicBezTo>
                  <a:close/>
                </a:path>
              </a:pathLst>
            </a:custGeom>
            <a:solidFill>
              <a:srgbClr val="8C491A"/>
            </a:solidFill>
          </p:spPr>
        </p:sp>
        <p:sp>
          <p:nvSpPr>
            <p:cNvPr name="TextBox 11" id="11"/>
            <p:cNvSpPr txBox="true"/>
            <p:nvPr/>
          </p:nvSpPr>
          <p:spPr>
            <a:xfrm>
              <a:off x="0" y="-76200"/>
              <a:ext cx="33528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QUICK CHECK</a:t>
              </a:r>
            </a:p>
          </p:txBody>
        </p:sp>
      </p:grpSp>
      <p:sp>
        <p:nvSpPr>
          <p:cNvPr name="TextBox 12" id="12"/>
          <p:cNvSpPr txBox="true"/>
          <p:nvPr/>
        </p:nvSpPr>
        <p:spPr>
          <a:xfrm rot="0">
            <a:off x="3698748" y="630555"/>
            <a:ext cx="371475" cy="485775"/>
          </a:xfrm>
          <a:prstGeom prst="rect">
            <a:avLst/>
          </a:prstGeom>
        </p:spPr>
        <p:txBody>
          <a:bodyPr anchor="t" rtlCol="false" tIns="0" lIns="0" bIns="0" rIns="0">
            <a:spAutoFit/>
          </a:bodyPr>
          <a:lstStyle/>
          <a:p>
            <a:pPr algn="l">
              <a:lnSpc>
                <a:spcPts val="3255"/>
              </a:lnSpc>
            </a:pPr>
            <a:r>
              <a:rPr lang="en-US" b="true" sz="2100">
                <a:solidFill>
                  <a:srgbClr val="3D472B"/>
                </a:solidFill>
                <a:latin typeface="Arimo Bold"/>
                <a:ea typeface="Arimo Bold"/>
                <a:cs typeface="Arimo Bold"/>
                <a:sym typeface="Arimo Bold"/>
              </a:rPr>
              <a:t>6.3</a:t>
            </a:r>
          </a:p>
        </p:txBody>
      </p:sp>
      <p:sp>
        <p:nvSpPr>
          <p:cNvPr name="TextBox 13" id="13"/>
          <p:cNvSpPr txBox="true"/>
          <p:nvPr/>
        </p:nvSpPr>
        <p:spPr>
          <a:xfrm rot="0">
            <a:off x="990600" y="1510570"/>
            <a:ext cx="16306800" cy="542925"/>
          </a:xfrm>
          <a:prstGeom prst="rect">
            <a:avLst/>
          </a:prstGeom>
        </p:spPr>
        <p:txBody>
          <a:bodyPr anchor="t" rtlCol="false" tIns="0" lIns="0" bIns="0" rIns="0">
            <a:spAutoFit/>
          </a:bodyPr>
          <a:lstStyle/>
          <a:p>
            <a:pPr algn="l">
              <a:lnSpc>
                <a:spcPts val="4680"/>
              </a:lnSpc>
            </a:pPr>
            <a:r>
              <a:rPr lang="en-US" b="true" sz="4500" spc="-89">
                <a:solidFill>
                  <a:srgbClr val="201E1D"/>
                </a:solidFill>
                <a:latin typeface="Arimo Bold"/>
                <a:ea typeface="Arimo Bold"/>
                <a:cs typeface="Arimo Bold"/>
                <a:sym typeface="Arimo Bold"/>
              </a:rPr>
              <a:t>Check your understanding</a:t>
            </a:r>
          </a:p>
        </p:txBody>
      </p:sp>
      <p:grpSp>
        <p:nvGrpSpPr>
          <p:cNvPr name="Group 14" id="14"/>
          <p:cNvGrpSpPr/>
          <p:nvPr/>
        </p:nvGrpSpPr>
        <p:grpSpPr>
          <a:xfrm rot="0">
            <a:off x="990600" y="2303240"/>
            <a:ext cx="8048625" cy="2066925"/>
            <a:chOff x="0" y="0"/>
            <a:chExt cx="10731500" cy="2755900"/>
          </a:xfrm>
        </p:grpSpPr>
        <p:sp>
          <p:nvSpPr>
            <p:cNvPr name="Freeform 15" id="15"/>
            <p:cNvSpPr/>
            <p:nvPr/>
          </p:nvSpPr>
          <p:spPr>
            <a:xfrm flipH="false" flipV="false" rot="0">
              <a:off x="0" y="0"/>
              <a:ext cx="10731500" cy="2755900"/>
            </a:xfrm>
            <a:custGeom>
              <a:avLst/>
              <a:gdLst/>
              <a:ahLst/>
              <a:cxnLst/>
              <a:rect r="r" b="b" t="t" l="l"/>
              <a:pathLst>
                <a:path h="2755900" w="10731500">
                  <a:moveTo>
                    <a:pt x="355600" y="0"/>
                  </a:moveTo>
                  <a:lnTo>
                    <a:pt x="10375900" y="0"/>
                  </a:lnTo>
                  <a:cubicBezTo>
                    <a:pt x="10572242" y="0"/>
                    <a:pt x="10731500" y="159258"/>
                    <a:pt x="10731500" y="355600"/>
                  </a:cubicBezTo>
                  <a:lnTo>
                    <a:pt x="10731500" y="2400300"/>
                  </a:lnTo>
                  <a:cubicBezTo>
                    <a:pt x="10731500" y="2596642"/>
                    <a:pt x="10572242" y="2755900"/>
                    <a:pt x="10375900" y="2755900"/>
                  </a:cubicBezTo>
                  <a:lnTo>
                    <a:pt x="355600" y="2755900"/>
                  </a:lnTo>
                  <a:cubicBezTo>
                    <a:pt x="159258" y="2755900"/>
                    <a:pt x="0" y="2596642"/>
                    <a:pt x="0" y="2400300"/>
                  </a:cubicBezTo>
                  <a:lnTo>
                    <a:pt x="0" y="355600"/>
                  </a:lnTo>
                  <a:cubicBezTo>
                    <a:pt x="0" y="159258"/>
                    <a:pt x="159258" y="0"/>
                    <a:pt x="355600" y="0"/>
                  </a:cubicBezTo>
                  <a:close/>
                </a:path>
              </a:pathLst>
            </a:custGeom>
            <a:solidFill>
              <a:srgbClr val="EBDDC5"/>
            </a:solidFill>
          </p:spPr>
        </p:sp>
      </p:grpSp>
      <p:sp>
        <p:nvSpPr>
          <p:cNvPr name="TextBox 16" id="16"/>
          <p:cNvSpPr txBox="true"/>
          <p:nvPr/>
        </p:nvSpPr>
        <p:spPr>
          <a:xfrm rot="0">
            <a:off x="1276350" y="2437257"/>
            <a:ext cx="7477125" cy="428625"/>
          </a:xfrm>
          <a:prstGeom prst="rect">
            <a:avLst/>
          </a:prstGeom>
        </p:spPr>
        <p:txBody>
          <a:bodyPr anchor="t" rtlCol="false" tIns="0" lIns="0" bIns="0" rIns="0">
            <a:spAutoFit/>
          </a:bodyPr>
          <a:lstStyle/>
          <a:p>
            <a:pPr algn="l">
              <a:lnSpc>
                <a:spcPts val="2790"/>
              </a:lnSpc>
            </a:pPr>
            <a:r>
              <a:rPr lang="en-US" b="true" sz="1800" spc="144">
                <a:solidFill>
                  <a:srgbClr val="8C491A"/>
                </a:solidFill>
                <a:latin typeface="Arimo Bold"/>
                <a:ea typeface="Arimo Bold"/>
                <a:cs typeface="Arimo Bold"/>
                <a:sym typeface="Arimo Bold"/>
              </a:rPr>
              <a:t>QUESTION 13</a:t>
            </a:r>
          </a:p>
        </p:txBody>
      </p:sp>
      <p:sp>
        <p:nvSpPr>
          <p:cNvPr name="TextBox 17" id="17"/>
          <p:cNvSpPr txBox="true"/>
          <p:nvPr/>
        </p:nvSpPr>
        <p:spPr>
          <a:xfrm rot="0">
            <a:off x="1276350" y="2932843"/>
            <a:ext cx="7477125" cy="476250"/>
          </a:xfrm>
          <a:prstGeom prst="rect">
            <a:avLst/>
          </a:prstGeom>
        </p:spPr>
        <p:txBody>
          <a:bodyPr anchor="t" rtlCol="false" tIns="0" lIns="0" bIns="0" rIns="0">
            <a:spAutoFit/>
          </a:bodyPr>
          <a:lstStyle/>
          <a:p>
            <a:pPr algn="l">
              <a:lnSpc>
                <a:spcPts val="3366"/>
              </a:lnSpc>
            </a:pPr>
            <a:r>
              <a:rPr lang="en-US" b="true" sz="2475">
                <a:solidFill>
                  <a:srgbClr val="201E1D"/>
                </a:solidFill>
                <a:latin typeface="Arimo Bold"/>
                <a:ea typeface="Arimo Bold"/>
                <a:cs typeface="Arimo Bold"/>
                <a:sym typeface="Arimo Bold"/>
              </a:rPr>
              <a:t>v = u + at. Find a when v = 20, u = 8 and t = 3.</a:t>
            </a:r>
          </a:p>
        </p:txBody>
      </p:sp>
      <p:grpSp>
        <p:nvGrpSpPr>
          <p:cNvPr name="Group 18" id="18"/>
          <p:cNvGrpSpPr/>
          <p:nvPr/>
        </p:nvGrpSpPr>
        <p:grpSpPr>
          <a:xfrm rot="0">
            <a:off x="3884009" y="3565588"/>
            <a:ext cx="1333500" cy="552450"/>
            <a:chOff x="0" y="0"/>
            <a:chExt cx="1778000" cy="736600"/>
          </a:xfrm>
        </p:grpSpPr>
        <p:sp>
          <p:nvSpPr>
            <p:cNvPr name="Freeform 19" id="19"/>
            <p:cNvSpPr/>
            <p:nvPr/>
          </p:nvSpPr>
          <p:spPr>
            <a:xfrm flipH="false" flipV="false" rot="0">
              <a:off x="0" y="0"/>
              <a:ext cx="1778000" cy="736600"/>
            </a:xfrm>
            <a:custGeom>
              <a:avLst/>
              <a:gdLst/>
              <a:ahLst/>
              <a:cxnLst/>
              <a:rect r="r" b="b" t="t" l="l"/>
              <a:pathLst>
                <a:path h="736600" w="1778000">
                  <a:moveTo>
                    <a:pt x="368300" y="0"/>
                  </a:moveTo>
                  <a:lnTo>
                    <a:pt x="1409700" y="0"/>
                  </a:lnTo>
                  <a:cubicBezTo>
                    <a:pt x="1613154" y="0"/>
                    <a:pt x="1778000" y="164846"/>
                    <a:pt x="1778000" y="368300"/>
                  </a:cubicBezTo>
                  <a:cubicBezTo>
                    <a:pt x="1778000" y="571754"/>
                    <a:pt x="1613154" y="736600"/>
                    <a:pt x="1409700" y="736600"/>
                  </a:cubicBezTo>
                  <a:lnTo>
                    <a:pt x="368300" y="736600"/>
                  </a:lnTo>
                  <a:cubicBezTo>
                    <a:pt x="164846" y="736600"/>
                    <a:pt x="0" y="571754"/>
                    <a:pt x="0" y="368300"/>
                  </a:cubicBezTo>
                  <a:cubicBezTo>
                    <a:pt x="0" y="164846"/>
                    <a:pt x="164846" y="0"/>
                    <a:pt x="368300" y="0"/>
                  </a:cubicBezTo>
                  <a:close/>
                </a:path>
              </a:pathLst>
            </a:custGeom>
            <a:solidFill>
              <a:srgbClr val="C67139"/>
            </a:solidFill>
          </p:spPr>
        </p:sp>
        <p:sp>
          <p:nvSpPr>
            <p:cNvPr name="TextBox 20" id="20"/>
            <p:cNvSpPr txBox="true"/>
            <p:nvPr/>
          </p:nvSpPr>
          <p:spPr>
            <a:xfrm>
              <a:off x="0" y="-9525"/>
              <a:ext cx="1778000" cy="746125"/>
            </a:xfrm>
            <a:prstGeom prst="rect">
              <a:avLst/>
            </a:prstGeom>
          </p:spPr>
          <p:txBody>
            <a:bodyPr anchor="t" rtlCol="false" tIns="149860" lIns="149860" bIns="149860" rIns="149860"/>
            <a:lstStyle/>
            <a:p>
              <a:pPr algn="ctr">
                <a:lnSpc>
                  <a:spcPts val="2430"/>
                </a:lnSpc>
              </a:pPr>
              <a:r>
                <a:rPr lang="en-US" b="true" sz="2025" spc="-40">
                  <a:solidFill>
                    <a:srgbClr val="F5EAD8"/>
                  </a:solidFill>
                  <a:latin typeface="Arimo Bold"/>
                  <a:ea typeface="Arimo Bold"/>
                  <a:cs typeface="Arimo Bold"/>
                  <a:sym typeface="Arimo Bold"/>
                </a:rPr>
                <a:t>Check</a:t>
              </a:r>
            </a:p>
          </p:txBody>
        </p:sp>
      </p:grpSp>
      <p:sp>
        <p:nvSpPr>
          <p:cNvPr name="TextBox 21" id="21"/>
          <p:cNvSpPr txBox="true"/>
          <p:nvPr/>
        </p:nvSpPr>
        <p:spPr>
          <a:xfrm rot="0">
            <a:off x="5348478" y="3556063"/>
            <a:ext cx="1981200" cy="561975"/>
          </a:xfrm>
          <a:prstGeom prst="rect">
            <a:avLst/>
          </a:prstGeom>
        </p:spPr>
        <p:txBody>
          <a:bodyPr anchor="t" rtlCol="false" tIns="0" lIns="0" bIns="0" rIns="0">
            <a:spAutoFit/>
          </a:bodyPr>
          <a:lstStyle/>
          <a:p>
            <a:pPr algn="ctr">
              <a:lnSpc>
                <a:spcPts val="2430"/>
              </a:lnSpc>
            </a:pPr>
            <a:r>
              <a:rPr lang="en-US" b="true" sz="2025" spc="-40">
                <a:solidFill>
                  <a:srgbClr val="C67139"/>
                </a:solidFill>
                <a:latin typeface="Arimo Bold"/>
                <a:ea typeface="Arimo Bold"/>
                <a:cs typeface="Arimo Bold"/>
                <a:sym typeface="Arimo Bold"/>
              </a:rPr>
              <a:t>Show answer</a:t>
            </a:r>
          </a:p>
        </p:txBody>
      </p:sp>
      <p:grpSp>
        <p:nvGrpSpPr>
          <p:cNvPr name="Group 22" id="22"/>
          <p:cNvGrpSpPr/>
          <p:nvPr/>
        </p:nvGrpSpPr>
        <p:grpSpPr>
          <a:xfrm rot="0">
            <a:off x="9248775" y="2303240"/>
            <a:ext cx="8048625" cy="2066925"/>
            <a:chOff x="0" y="0"/>
            <a:chExt cx="10731500" cy="2755900"/>
          </a:xfrm>
        </p:grpSpPr>
        <p:sp>
          <p:nvSpPr>
            <p:cNvPr name="Freeform 23" id="23"/>
            <p:cNvSpPr/>
            <p:nvPr/>
          </p:nvSpPr>
          <p:spPr>
            <a:xfrm flipH="false" flipV="false" rot="0">
              <a:off x="0" y="0"/>
              <a:ext cx="10731500" cy="2755900"/>
            </a:xfrm>
            <a:custGeom>
              <a:avLst/>
              <a:gdLst/>
              <a:ahLst/>
              <a:cxnLst/>
              <a:rect r="r" b="b" t="t" l="l"/>
              <a:pathLst>
                <a:path h="2755900" w="10731500">
                  <a:moveTo>
                    <a:pt x="355600" y="0"/>
                  </a:moveTo>
                  <a:lnTo>
                    <a:pt x="10375900" y="0"/>
                  </a:lnTo>
                  <a:cubicBezTo>
                    <a:pt x="10572242" y="0"/>
                    <a:pt x="10731500" y="159258"/>
                    <a:pt x="10731500" y="355600"/>
                  </a:cubicBezTo>
                  <a:lnTo>
                    <a:pt x="10731500" y="2400300"/>
                  </a:lnTo>
                  <a:cubicBezTo>
                    <a:pt x="10731500" y="2596642"/>
                    <a:pt x="10572242" y="2755900"/>
                    <a:pt x="10375900" y="2755900"/>
                  </a:cubicBezTo>
                  <a:lnTo>
                    <a:pt x="355600" y="2755900"/>
                  </a:lnTo>
                  <a:cubicBezTo>
                    <a:pt x="159258" y="2755900"/>
                    <a:pt x="0" y="2596642"/>
                    <a:pt x="0" y="2400300"/>
                  </a:cubicBezTo>
                  <a:lnTo>
                    <a:pt x="0" y="355600"/>
                  </a:lnTo>
                  <a:cubicBezTo>
                    <a:pt x="0" y="159258"/>
                    <a:pt x="159258" y="0"/>
                    <a:pt x="355600" y="0"/>
                  </a:cubicBezTo>
                  <a:close/>
                </a:path>
              </a:pathLst>
            </a:custGeom>
            <a:solidFill>
              <a:srgbClr val="EBDDC5"/>
            </a:solidFill>
          </p:spPr>
        </p:sp>
      </p:grpSp>
      <p:sp>
        <p:nvSpPr>
          <p:cNvPr name="TextBox 24" id="24"/>
          <p:cNvSpPr txBox="true"/>
          <p:nvPr/>
        </p:nvSpPr>
        <p:spPr>
          <a:xfrm rot="0">
            <a:off x="9534525" y="2437257"/>
            <a:ext cx="7477125" cy="428625"/>
          </a:xfrm>
          <a:prstGeom prst="rect">
            <a:avLst/>
          </a:prstGeom>
        </p:spPr>
        <p:txBody>
          <a:bodyPr anchor="t" rtlCol="false" tIns="0" lIns="0" bIns="0" rIns="0">
            <a:spAutoFit/>
          </a:bodyPr>
          <a:lstStyle/>
          <a:p>
            <a:pPr algn="l">
              <a:lnSpc>
                <a:spcPts val="2790"/>
              </a:lnSpc>
            </a:pPr>
            <a:r>
              <a:rPr lang="en-US" b="true" sz="1800" spc="144">
                <a:solidFill>
                  <a:srgbClr val="56633F"/>
                </a:solidFill>
                <a:latin typeface="Arimo Bold"/>
                <a:ea typeface="Arimo Bold"/>
                <a:cs typeface="Arimo Bold"/>
                <a:sym typeface="Arimo Bold"/>
              </a:rPr>
              <a:t>QUESTION 14</a:t>
            </a:r>
          </a:p>
        </p:txBody>
      </p:sp>
      <p:sp>
        <p:nvSpPr>
          <p:cNvPr name="TextBox 25" id="25"/>
          <p:cNvSpPr txBox="true"/>
          <p:nvPr/>
        </p:nvSpPr>
        <p:spPr>
          <a:xfrm rot="0">
            <a:off x="9534525" y="2932843"/>
            <a:ext cx="7477125" cy="476250"/>
          </a:xfrm>
          <a:prstGeom prst="rect">
            <a:avLst/>
          </a:prstGeom>
        </p:spPr>
        <p:txBody>
          <a:bodyPr anchor="t" rtlCol="false" tIns="0" lIns="0" bIns="0" rIns="0">
            <a:spAutoFit/>
          </a:bodyPr>
          <a:lstStyle/>
          <a:p>
            <a:pPr algn="l">
              <a:lnSpc>
                <a:spcPts val="3366"/>
              </a:lnSpc>
            </a:pPr>
            <a:r>
              <a:rPr lang="en-US" b="true" sz="2475">
                <a:solidFill>
                  <a:srgbClr val="201E1D"/>
                </a:solidFill>
                <a:latin typeface="Arimo Bold"/>
                <a:ea typeface="Arimo Bold"/>
                <a:cs typeface="Arimo Bold"/>
                <a:sym typeface="Arimo Bold"/>
              </a:rPr>
              <a:t>P = 2(l + w). Find w when P = 50 and l = 14.</a:t>
            </a:r>
          </a:p>
        </p:txBody>
      </p:sp>
      <p:grpSp>
        <p:nvGrpSpPr>
          <p:cNvPr name="Group 26" id="26"/>
          <p:cNvGrpSpPr/>
          <p:nvPr/>
        </p:nvGrpSpPr>
        <p:grpSpPr>
          <a:xfrm rot="0">
            <a:off x="12142184" y="3565588"/>
            <a:ext cx="1333500" cy="552450"/>
            <a:chOff x="0" y="0"/>
            <a:chExt cx="1778000" cy="736600"/>
          </a:xfrm>
        </p:grpSpPr>
        <p:sp>
          <p:nvSpPr>
            <p:cNvPr name="Freeform 27" id="27"/>
            <p:cNvSpPr/>
            <p:nvPr/>
          </p:nvSpPr>
          <p:spPr>
            <a:xfrm flipH="false" flipV="false" rot="0">
              <a:off x="0" y="0"/>
              <a:ext cx="1778000" cy="736600"/>
            </a:xfrm>
            <a:custGeom>
              <a:avLst/>
              <a:gdLst/>
              <a:ahLst/>
              <a:cxnLst/>
              <a:rect r="r" b="b" t="t" l="l"/>
              <a:pathLst>
                <a:path h="736600" w="1778000">
                  <a:moveTo>
                    <a:pt x="368300" y="0"/>
                  </a:moveTo>
                  <a:lnTo>
                    <a:pt x="1409700" y="0"/>
                  </a:lnTo>
                  <a:cubicBezTo>
                    <a:pt x="1613154" y="0"/>
                    <a:pt x="1778000" y="164846"/>
                    <a:pt x="1778000" y="368300"/>
                  </a:cubicBezTo>
                  <a:cubicBezTo>
                    <a:pt x="1778000" y="571754"/>
                    <a:pt x="1613154" y="736600"/>
                    <a:pt x="1409700" y="736600"/>
                  </a:cubicBezTo>
                  <a:lnTo>
                    <a:pt x="368300" y="736600"/>
                  </a:lnTo>
                  <a:cubicBezTo>
                    <a:pt x="164846" y="736600"/>
                    <a:pt x="0" y="571754"/>
                    <a:pt x="0" y="368300"/>
                  </a:cubicBezTo>
                  <a:cubicBezTo>
                    <a:pt x="0" y="164846"/>
                    <a:pt x="164846" y="0"/>
                    <a:pt x="368300" y="0"/>
                  </a:cubicBezTo>
                  <a:close/>
                </a:path>
              </a:pathLst>
            </a:custGeom>
            <a:solidFill>
              <a:srgbClr val="C67139"/>
            </a:solidFill>
          </p:spPr>
        </p:sp>
        <p:sp>
          <p:nvSpPr>
            <p:cNvPr name="TextBox 28" id="28"/>
            <p:cNvSpPr txBox="true"/>
            <p:nvPr/>
          </p:nvSpPr>
          <p:spPr>
            <a:xfrm>
              <a:off x="0" y="-9525"/>
              <a:ext cx="1778000" cy="746125"/>
            </a:xfrm>
            <a:prstGeom prst="rect">
              <a:avLst/>
            </a:prstGeom>
          </p:spPr>
          <p:txBody>
            <a:bodyPr anchor="t" rtlCol="false" tIns="149860" lIns="149860" bIns="149860" rIns="149860"/>
            <a:lstStyle/>
            <a:p>
              <a:pPr algn="ctr">
                <a:lnSpc>
                  <a:spcPts val="2430"/>
                </a:lnSpc>
              </a:pPr>
              <a:r>
                <a:rPr lang="en-US" b="true" sz="2025" spc="-40">
                  <a:solidFill>
                    <a:srgbClr val="F5EAD8"/>
                  </a:solidFill>
                  <a:latin typeface="Arimo Bold"/>
                  <a:ea typeface="Arimo Bold"/>
                  <a:cs typeface="Arimo Bold"/>
                  <a:sym typeface="Arimo Bold"/>
                </a:rPr>
                <a:t>Check</a:t>
              </a:r>
            </a:p>
          </p:txBody>
        </p:sp>
      </p:grpSp>
      <p:sp>
        <p:nvSpPr>
          <p:cNvPr name="TextBox 29" id="29"/>
          <p:cNvSpPr txBox="true"/>
          <p:nvPr/>
        </p:nvSpPr>
        <p:spPr>
          <a:xfrm rot="0">
            <a:off x="13606653" y="3556063"/>
            <a:ext cx="1981200" cy="561975"/>
          </a:xfrm>
          <a:prstGeom prst="rect">
            <a:avLst/>
          </a:prstGeom>
        </p:spPr>
        <p:txBody>
          <a:bodyPr anchor="t" rtlCol="false" tIns="0" lIns="0" bIns="0" rIns="0">
            <a:spAutoFit/>
          </a:bodyPr>
          <a:lstStyle/>
          <a:p>
            <a:pPr algn="ctr">
              <a:lnSpc>
                <a:spcPts val="2430"/>
              </a:lnSpc>
            </a:pPr>
            <a:r>
              <a:rPr lang="en-US" b="true" sz="2025" spc="-40">
                <a:solidFill>
                  <a:srgbClr val="C67139"/>
                </a:solidFill>
                <a:latin typeface="Arimo Bold"/>
                <a:ea typeface="Arimo Bold"/>
                <a:cs typeface="Arimo Bold"/>
                <a:sym typeface="Arimo Bold"/>
              </a:rPr>
              <a:t>Show answer</a:t>
            </a:r>
          </a:p>
        </p:txBody>
      </p:sp>
      <p:grpSp>
        <p:nvGrpSpPr>
          <p:cNvPr name="Group 30" id="30"/>
          <p:cNvGrpSpPr/>
          <p:nvPr/>
        </p:nvGrpSpPr>
        <p:grpSpPr>
          <a:xfrm rot="0">
            <a:off x="990600" y="4581811"/>
            <a:ext cx="8048625" cy="3076575"/>
            <a:chOff x="0" y="0"/>
            <a:chExt cx="10731500" cy="4102100"/>
          </a:xfrm>
        </p:grpSpPr>
        <p:sp>
          <p:nvSpPr>
            <p:cNvPr name="Freeform 31" id="31"/>
            <p:cNvSpPr/>
            <p:nvPr/>
          </p:nvSpPr>
          <p:spPr>
            <a:xfrm flipH="false" flipV="false" rot="0">
              <a:off x="0" y="0"/>
              <a:ext cx="10731500" cy="4102100"/>
            </a:xfrm>
            <a:custGeom>
              <a:avLst/>
              <a:gdLst/>
              <a:ahLst/>
              <a:cxnLst/>
              <a:rect r="r" b="b" t="t" l="l"/>
              <a:pathLst>
                <a:path h="4102100" w="10731500">
                  <a:moveTo>
                    <a:pt x="355600" y="0"/>
                  </a:moveTo>
                  <a:lnTo>
                    <a:pt x="10375900" y="0"/>
                  </a:lnTo>
                  <a:cubicBezTo>
                    <a:pt x="10572242" y="0"/>
                    <a:pt x="10731500" y="159258"/>
                    <a:pt x="10731500" y="355600"/>
                  </a:cubicBezTo>
                  <a:lnTo>
                    <a:pt x="10731500" y="3746500"/>
                  </a:lnTo>
                  <a:cubicBezTo>
                    <a:pt x="10731500" y="3942842"/>
                    <a:pt x="10572242" y="4102100"/>
                    <a:pt x="10375900" y="4102100"/>
                  </a:cubicBezTo>
                  <a:lnTo>
                    <a:pt x="355600" y="4102100"/>
                  </a:lnTo>
                  <a:cubicBezTo>
                    <a:pt x="159258" y="4102100"/>
                    <a:pt x="0" y="3942842"/>
                    <a:pt x="0" y="3746500"/>
                  </a:cubicBezTo>
                  <a:lnTo>
                    <a:pt x="0" y="355600"/>
                  </a:lnTo>
                  <a:cubicBezTo>
                    <a:pt x="0" y="159258"/>
                    <a:pt x="159258" y="0"/>
                    <a:pt x="355600" y="0"/>
                  </a:cubicBezTo>
                  <a:close/>
                </a:path>
              </a:pathLst>
            </a:custGeom>
            <a:solidFill>
              <a:srgbClr val="EBDDC5"/>
            </a:solidFill>
          </p:spPr>
        </p:sp>
      </p:grpSp>
      <p:sp>
        <p:nvSpPr>
          <p:cNvPr name="TextBox 32" id="32"/>
          <p:cNvSpPr txBox="true"/>
          <p:nvPr/>
        </p:nvSpPr>
        <p:spPr>
          <a:xfrm rot="0">
            <a:off x="1276350" y="4714304"/>
            <a:ext cx="7477125" cy="428625"/>
          </a:xfrm>
          <a:prstGeom prst="rect">
            <a:avLst/>
          </a:prstGeom>
        </p:spPr>
        <p:txBody>
          <a:bodyPr anchor="t" rtlCol="false" tIns="0" lIns="0" bIns="0" rIns="0">
            <a:spAutoFit/>
          </a:bodyPr>
          <a:lstStyle/>
          <a:p>
            <a:pPr algn="l">
              <a:lnSpc>
                <a:spcPts val="2790"/>
              </a:lnSpc>
            </a:pPr>
            <a:r>
              <a:rPr lang="en-US" b="true" sz="1800" spc="144">
                <a:solidFill>
                  <a:srgbClr val="8C491A"/>
                </a:solidFill>
                <a:latin typeface="Arimo Bold"/>
                <a:ea typeface="Arimo Bold"/>
                <a:cs typeface="Arimo Bold"/>
                <a:sym typeface="Arimo Bold"/>
              </a:rPr>
              <a:t>QUESTION 15</a:t>
            </a:r>
          </a:p>
        </p:txBody>
      </p:sp>
      <p:sp>
        <p:nvSpPr>
          <p:cNvPr name="TextBox 33" id="33"/>
          <p:cNvSpPr txBox="true"/>
          <p:nvPr/>
        </p:nvSpPr>
        <p:spPr>
          <a:xfrm rot="0">
            <a:off x="1276350" y="5209889"/>
            <a:ext cx="7477125" cy="476250"/>
          </a:xfrm>
          <a:prstGeom prst="rect">
            <a:avLst/>
          </a:prstGeom>
        </p:spPr>
        <p:txBody>
          <a:bodyPr anchor="t" rtlCol="false" tIns="0" lIns="0" bIns="0" rIns="0">
            <a:spAutoFit/>
          </a:bodyPr>
          <a:lstStyle/>
          <a:p>
            <a:pPr algn="l">
              <a:lnSpc>
                <a:spcPts val="3366"/>
              </a:lnSpc>
            </a:pPr>
            <a:r>
              <a:rPr lang="en-US" b="true" sz="2475">
                <a:solidFill>
                  <a:srgbClr val="201E1D"/>
                </a:solidFill>
                <a:latin typeface="Arimo Bold"/>
                <a:ea typeface="Arimo Bold"/>
                <a:cs typeface="Arimo Bold"/>
                <a:sym typeface="Arimo Bold"/>
              </a:rPr>
              <a:t>√b = c. Find b when c = 7.</a:t>
            </a:r>
          </a:p>
        </p:txBody>
      </p:sp>
      <p:grpSp>
        <p:nvGrpSpPr>
          <p:cNvPr name="Group 34" id="34"/>
          <p:cNvGrpSpPr/>
          <p:nvPr/>
        </p:nvGrpSpPr>
        <p:grpSpPr>
          <a:xfrm rot="0">
            <a:off x="3884009" y="5842635"/>
            <a:ext cx="1333500" cy="552450"/>
            <a:chOff x="0" y="0"/>
            <a:chExt cx="1778000" cy="736600"/>
          </a:xfrm>
        </p:grpSpPr>
        <p:sp>
          <p:nvSpPr>
            <p:cNvPr name="Freeform 35" id="35"/>
            <p:cNvSpPr/>
            <p:nvPr/>
          </p:nvSpPr>
          <p:spPr>
            <a:xfrm flipH="false" flipV="false" rot="0">
              <a:off x="0" y="0"/>
              <a:ext cx="1778000" cy="736600"/>
            </a:xfrm>
            <a:custGeom>
              <a:avLst/>
              <a:gdLst/>
              <a:ahLst/>
              <a:cxnLst/>
              <a:rect r="r" b="b" t="t" l="l"/>
              <a:pathLst>
                <a:path h="736600" w="1778000">
                  <a:moveTo>
                    <a:pt x="368300" y="0"/>
                  </a:moveTo>
                  <a:lnTo>
                    <a:pt x="1409700" y="0"/>
                  </a:lnTo>
                  <a:cubicBezTo>
                    <a:pt x="1613154" y="0"/>
                    <a:pt x="1778000" y="164846"/>
                    <a:pt x="1778000" y="368300"/>
                  </a:cubicBezTo>
                  <a:cubicBezTo>
                    <a:pt x="1778000" y="571754"/>
                    <a:pt x="1613154" y="736600"/>
                    <a:pt x="1409700" y="736600"/>
                  </a:cubicBezTo>
                  <a:lnTo>
                    <a:pt x="368300" y="736600"/>
                  </a:lnTo>
                  <a:cubicBezTo>
                    <a:pt x="164846" y="736600"/>
                    <a:pt x="0" y="571754"/>
                    <a:pt x="0" y="368300"/>
                  </a:cubicBezTo>
                  <a:cubicBezTo>
                    <a:pt x="0" y="164846"/>
                    <a:pt x="164846" y="0"/>
                    <a:pt x="368300" y="0"/>
                  </a:cubicBezTo>
                  <a:close/>
                </a:path>
              </a:pathLst>
            </a:custGeom>
            <a:solidFill>
              <a:srgbClr val="C67139"/>
            </a:solidFill>
          </p:spPr>
        </p:sp>
        <p:sp>
          <p:nvSpPr>
            <p:cNvPr name="TextBox 36" id="36"/>
            <p:cNvSpPr txBox="true"/>
            <p:nvPr/>
          </p:nvSpPr>
          <p:spPr>
            <a:xfrm>
              <a:off x="0" y="-9525"/>
              <a:ext cx="1778000" cy="746125"/>
            </a:xfrm>
            <a:prstGeom prst="rect">
              <a:avLst/>
            </a:prstGeom>
          </p:spPr>
          <p:txBody>
            <a:bodyPr anchor="t" rtlCol="false" tIns="149860" lIns="149860" bIns="149860" rIns="149860"/>
            <a:lstStyle/>
            <a:p>
              <a:pPr algn="ctr">
                <a:lnSpc>
                  <a:spcPts val="2430"/>
                </a:lnSpc>
              </a:pPr>
              <a:r>
                <a:rPr lang="en-US" b="true" sz="2025" spc="-40">
                  <a:solidFill>
                    <a:srgbClr val="F5EAD8"/>
                  </a:solidFill>
                  <a:latin typeface="Arimo Bold"/>
                  <a:ea typeface="Arimo Bold"/>
                  <a:cs typeface="Arimo Bold"/>
                  <a:sym typeface="Arimo Bold"/>
                </a:rPr>
                <a:t>Check</a:t>
              </a:r>
            </a:p>
          </p:txBody>
        </p:sp>
      </p:grpSp>
      <p:sp>
        <p:nvSpPr>
          <p:cNvPr name="TextBox 37" id="37"/>
          <p:cNvSpPr txBox="true"/>
          <p:nvPr/>
        </p:nvSpPr>
        <p:spPr>
          <a:xfrm rot="0">
            <a:off x="5348478" y="5833110"/>
            <a:ext cx="1981200" cy="561975"/>
          </a:xfrm>
          <a:prstGeom prst="rect">
            <a:avLst/>
          </a:prstGeom>
        </p:spPr>
        <p:txBody>
          <a:bodyPr anchor="t" rtlCol="false" tIns="0" lIns="0" bIns="0" rIns="0">
            <a:spAutoFit/>
          </a:bodyPr>
          <a:lstStyle/>
          <a:p>
            <a:pPr algn="ctr">
              <a:lnSpc>
                <a:spcPts val="2430"/>
              </a:lnSpc>
            </a:pPr>
            <a:r>
              <a:rPr lang="en-US" b="true" sz="2025" spc="-40">
                <a:solidFill>
                  <a:srgbClr val="C67139"/>
                </a:solidFill>
                <a:latin typeface="Arimo Bold"/>
                <a:ea typeface="Arimo Bold"/>
                <a:cs typeface="Arimo Bold"/>
                <a:sym typeface="Arimo Bold"/>
              </a:rPr>
              <a:t>Show answer</a:t>
            </a:r>
          </a:p>
        </p:txBody>
      </p:sp>
      <p:grpSp>
        <p:nvGrpSpPr>
          <p:cNvPr name="Group 38" id="38"/>
          <p:cNvGrpSpPr/>
          <p:nvPr/>
        </p:nvGrpSpPr>
        <p:grpSpPr>
          <a:xfrm rot="0">
            <a:off x="9248775" y="4581811"/>
            <a:ext cx="8048625" cy="3076575"/>
            <a:chOff x="0" y="0"/>
            <a:chExt cx="10731500" cy="4102100"/>
          </a:xfrm>
        </p:grpSpPr>
        <p:sp>
          <p:nvSpPr>
            <p:cNvPr name="Freeform 39" id="39"/>
            <p:cNvSpPr/>
            <p:nvPr/>
          </p:nvSpPr>
          <p:spPr>
            <a:xfrm flipH="false" flipV="false" rot="0">
              <a:off x="0" y="0"/>
              <a:ext cx="10731500" cy="4102100"/>
            </a:xfrm>
            <a:custGeom>
              <a:avLst/>
              <a:gdLst/>
              <a:ahLst/>
              <a:cxnLst/>
              <a:rect r="r" b="b" t="t" l="l"/>
              <a:pathLst>
                <a:path h="4102100" w="10731500">
                  <a:moveTo>
                    <a:pt x="355600" y="0"/>
                  </a:moveTo>
                  <a:lnTo>
                    <a:pt x="10375900" y="0"/>
                  </a:lnTo>
                  <a:cubicBezTo>
                    <a:pt x="10572242" y="0"/>
                    <a:pt x="10731500" y="159258"/>
                    <a:pt x="10731500" y="355600"/>
                  </a:cubicBezTo>
                  <a:lnTo>
                    <a:pt x="10731500" y="3746500"/>
                  </a:lnTo>
                  <a:cubicBezTo>
                    <a:pt x="10731500" y="3942842"/>
                    <a:pt x="10572242" y="4102100"/>
                    <a:pt x="10375900" y="4102100"/>
                  </a:cubicBezTo>
                  <a:lnTo>
                    <a:pt x="355600" y="4102100"/>
                  </a:lnTo>
                  <a:cubicBezTo>
                    <a:pt x="159258" y="4102100"/>
                    <a:pt x="0" y="3942842"/>
                    <a:pt x="0" y="3746500"/>
                  </a:cubicBezTo>
                  <a:lnTo>
                    <a:pt x="0" y="355600"/>
                  </a:lnTo>
                  <a:cubicBezTo>
                    <a:pt x="0" y="159258"/>
                    <a:pt x="159258" y="0"/>
                    <a:pt x="355600" y="0"/>
                  </a:cubicBezTo>
                  <a:close/>
                </a:path>
              </a:pathLst>
            </a:custGeom>
            <a:solidFill>
              <a:srgbClr val="EBDDC5"/>
            </a:solidFill>
          </p:spPr>
        </p:sp>
      </p:grpSp>
      <p:sp>
        <p:nvSpPr>
          <p:cNvPr name="TextBox 40" id="40"/>
          <p:cNvSpPr txBox="true"/>
          <p:nvPr/>
        </p:nvSpPr>
        <p:spPr>
          <a:xfrm rot="0">
            <a:off x="9534525" y="4714304"/>
            <a:ext cx="7477125" cy="428625"/>
          </a:xfrm>
          <a:prstGeom prst="rect">
            <a:avLst/>
          </a:prstGeom>
        </p:spPr>
        <p:txBody>
          <a:bodyPr anchor="t" rtlCol="false" tIns="0" lIns="0" bIns="0" rIns="0">
            <a:spAutoFit/>
          </a:bodyPr>
          <a:lstStyle/>
          <a:p>
            <a:pPr algn="l">
              <a:lnSpc>
                <a:spcPts val="2790"/>
              </a:lnSpc>
            </a:pPr>
            <a:r>
              <a:rPr lang="en-US" b="true" sz="1800" spc="144">
                <a:solidFill>
                  <a:srgbClr val="56633F"/>
                </a:solidFill>
                <a:latin typeface="Arimo Bold"/>
                <a:ea typeface="Arimo Bold"/>
                <a:cs typeface="Arimo Bold"/>
                <a:sym typeface="Arimo Bold"/>
              </a:rPr>
              <a:t>QUESTION 16</a:t>
            </a:r>
          </a:p>
        </p:txBody>
      </p:sp>
      <p:sp>
        <p:nvSpPr>
          <p:cNvPr name="TextBox 41" id="41"/>
          <p:cNvSpPr txBox="true"/>
          <p:nvPr/>
        </p:nvSpPr>
        <p:spPr>
          <a:xfrm rot="0">
            <a:off x="9534525" y="5209889"/>
            <a:ext cx="7477125" cy="476250"/>
          </a:xfrm>
          <a:prstGeom prst="rect">
            <a:avLst/>
          </a:prstGeom>
        </p:spPr>
        <p:txBody>
          <a:bodyPr anchor="t" rtlCol="false" tIns="0" lIns="0" bIns="0" rIns="0">
            <a:spAutoFit/>
          </a:bodyPr>
          <a:lstStyle/>
          <a:p>
            <a:pPr algn="l">
              <a:lnSpc>
                <a:spcPts val="3366"/>
              </a:lnSpc>
            </a:pPr>
            <a:r>
              <a:rPr lang="en-US" b="true" sz="2475">
                <a:solidFill>
                  <a:srgbClr val="201E1D"/>
                </a:solidFill>
                <a:latin typeface="Arimo Bold"/>
                <a:ea typeface="Arimo Bold"/>
                <a:cs typeface="Arimo Bold"/>
                <a:sym typeface="Arimo Bold"/>
              </a:rPr>
              <a:t>y =</a:t>
            </a:r>
          </a:p>
        </p:txBody>
      </p:sp>
      <p:sp>
        <p:nvSpPr>
          <p:cNvPr name="AutoShape 42" id="42"/>
          <p:cNvSpPr/>
          <p:nvPr/>
        </p:nvSpPr>
        <p:spPr>
          <a:xfrm rot="0">
            <a:off x="9563481" y="5962840"/>
            <a:ext cx="647700" cy="28575"/>
          </a:xfrm>
          <a:prstGeom prst="rect">
            <a:avLst/>
          </a:prstGeom>
          <a:solidFill>
            <a:srgbClr val="201E1D"/>
          </a:solidFill>
        </p:spPr>
      </p:sp>
      <p:sp>
        <p:nvSpPr>
          <p:cNvPr name="TextBox 43" id="43"/>
          <p:cNvSpPr txBox="true"/>
          <p:nvPr/>
        </p:nvSpPr>
        <p:spPr>
          <a:xfrm rot="0">
            <a:off x="9563481" y="5705666"/>
            <a:ext cx="647700" cy="285750"/>
          </a:xfrm>
          <a:prstGeom prst="rect">
            <a:avLst/>
          </a:prstGeom>
        </p:spPr>
        <p:txBody>
          <a:bodyPr anchor="t" rtlCol="false" tIns="0" lIns="0" bIns="0" rIns="0">
            <a:spAutoFit/>
          </a:bodyPr>
          <a:lstStyle/>
          <a:p>
            <a:pPr algn="l">
              <a:lnSpc>
                <a:spcPts val="2191"/>
              </a:lnSpc>
            </a:pPr>
            <a:r>
              <a:rPr lang="en-US" b="true" sz="2029">
                <a:solidFill>
                  <a:srgbClr val="201E1D"/>
                </a:solidFill>
                <a:latin typeface="Arimo Bold"/>
                <a:ea typeface="Arimo Bold"/>
                <a:cs typeface="Arimo Bold"/>
                <a:sym typeface="Arimo Bold"/>
              </a:rPr>
              <a:t>x − a</a:t>
            </a:r>
          </a:p>
        </p:txBody>
      </p:sp>
      <p:sp>
        <p:nvSpPr>
          <p:cNvPr name="TextBox 44" id="44"/>
          <p:cNvSpPr txBox="true"/>
          <p:nvPr/>
        </p:nvSpPr>
        <p:spPr>
          <a:xfrm rot="0">
            <a:off x="9763506" y="6012466"/>
            <a:ext cx="247650" cy="257175"/>
          </a:xfrm>
          <a:prstGeom prst="rect">
            <a:avLst/>
          </a:prstGeom>
        </p:spPr>
        <p:txBody>
          <a:bodyPr anchor="t" rtlCol="false" tIns="0" lIns="0" bIns="0" rIns="0">
            <a:spAutoFit/>
          </a:bodyPr>
          <a:lstStyle/>
          <a:p>
            <a:pPr algn="l">
              <a:lnSpc>
                <a:spcPts val="2191"/>
              </a:lnSpc>
            </a:pPr>
            <a:r>
              <a:rPr lang="en-US" b="true" sz="2029">
                <a:solidFill>
                  <a:srgbClr val="201E1D"/>
                </a:solidFill>
                <a:latin typeface="Arimo Bold"/>
                <a:ea typeface="Arimo Bold"/>
                <a:cs typeface="Arimo Bold"/>
                <a:sym typeface="Arimo Bold"/>
              </a:rPr>
              <a:t>b</a:t>
            </a:r>
          </a:p>
        </p:txBody>
      </p:sp>
      <p:sp>
        <p:nvSpPr>
          <p:cNvPr name="TextBox 45" id="45"/>
          <p:cNvSpPr txBox="true"/>
          <p:nvPr/>
        </p:nvSpPr>
        <p:spPr>
          <a:xfrm rot="0">
            <a:off x="9534525" y="6222492"/>
            <a:ext cx="7477125" cy="476250"/>
          </a:xfrm>
          <a:prstGeom prst="rect">
            <a:avLst/>
          </a:prstGeom>
        </p:spPr>
        <p:txBody>
          <a:bodyPr anchor="t" rtlCol="false" tIns="0" lIns="0" bIns="0" rIns="0">
            <a:spAutoFit/>
          </a:bodyPr>
          <a:lstStyle/>
          <a:p>
            <a:pPr algn="l">
              <a:lnSpc>
                <a:spcPts val="3366"/>
              </a:lnSpc>
            </a:pPr>
            <a:r>
              <a:rPr lang="en-US" b="true" sz="2475">
                <a:solidFill>
                  <a:srgbClr val="201E1D"/>
                </a:solidFill>
                <a:latin typeface="Arimo Bold"/>
                <a:ea typeface="Arimo Bold"/>
                <a:cs typeface="Arimo Bold"/>
                <a:sym typeface="Arimo Bold"/>
              </a:rPr>
              <a:t>. Find x when y = 3, a = 2 and b = 5.</a:t>
            </a:r>
          </a:p>
        </p:txBody>
      </p:sp>
      <p:grpSp>
        <p:nvGrpSpPr>
          <p:cNvPr name="Group 46" id="46"/>
          <p:cNvGrpSpPr/>
          <p:nvPr/>
        </p:nvGrpSpPr>
        <p:grpSpPr>
          <a:xfrm rot="0">
            <a:off x="12142184" y="6855238"/>
            <a:ext cx="1333500" cy="552450"/>
            <a:chOff x="0" y="0"/>
            <a:chExt cx="1778000" cy="736600"/>
          </a:xfrm>
        </p:grpSpPr>
        <p:sp>
          <p:nvSpPr>
            <p:cNvPr name="Freeform 47" id="47"/>
            <p:cNvSpPr/>
            <p:nvPr/>
          </p:nvSpPr>
          <p:spPr>
            <a:xfrm flipH="false" flipV="false" rot="0">
              <a:off x="0" y="0"/>
              <a:ext cx="1778000" cy="736600"/>
            </a:xfrm>
            <a:custGeom>
              <a:avLst/>
              <a:gdLst/>
              <a:ahLst/>
              <a:cxnLst/>
              <a:rect r="r" b="b" t="t" l="l"/>
              <a:pathLst>
                <a:path h="736600" w="1778000">
                  <a:moveTo>
                    <a:pt x="368300" y="0"/>
                  </a:moveTo>
                  <a:lnTo>
                    <a:pt x="1409700" y="0"/>
                  </a:lnTo>
                  <a:cubicBezTo>
                    <a:pt x="1613154" y="0"/>
                    <a:pt x="1778000" y="164846"/>
                    <a:pt x="1778000" y="368300"/>
                  </a:cubicBezTo>
                  <a:cubicBezTo>
                    <a:pt x="1778000" y="571754"/>
                    <a:pt x="1613154" y="736600"/>
                    <a:pt x="1409700" y="736600"/>
                  </a:cubicBezTo>
                  <a:lnTo>
                    <a:pt x="368300" y="736600"/>
                  </a:lnTo>
                  <a:cubicBezTo>
                    <a:pt x="164846" y="736600"/>
                    <a:pt x="0" y="571754"/>
                    <a:pt x="0" y="368300"/>
                  </a:cubicBezTo>
                  <a:cubicBezTo>
                    <a:pt x="0" y="164846"/>
                    <a:pt x="164846" y="0"/>
                    <a:pt x="368300" y="0"/>
                  </a:cubicBezTo>
                  <a:close/>
                </a:path>
              </a:pathLst>
            </a:custGeom>
            <a:solidFill>
              <a:srgbClr val="C67139"/>
            </a:solidFill>
          </p:spPr>
        </p:sp>
        <p:sp>
          <p:nvSpPr>
            <p:cNvPr name="TextBox 48" id="48"/>
            <p:cNvSpPr txBox="true"/>
            <p:nvPr/>
          </p:nvSpPr>
          <p:spPr>
            <a:xfrm>
              <a:off x="0" y="-9525"/>
              <a:ext cx="1778000" cy="746125"/>
            </a:xfrm>
            <a:prstGeom prst="rect">
              <a:avLst/>
            </a:prstGeom>
          </p:spPr>
          <p:txBody>
            <a:bodyPr anchor="t" rtlCol="false" tIns="149987" lIns="149987" bIns="149987" rIns="149987"/>
            <a:lstStyle/>
            <a:p>
              <a:pPr algn="ctr">
                <a:lnSpc>
                  <a:spcPts val="2430"/>
                </a:lnSpc>
              </a:pPr>
              <a:r>
                <a:rPr lang="en-US" b="true" sz="2025" spc="-40">
                  <a:solidFill>
                    <a:srgbClr val="F5EAD8"/>
                  </a:solidFill>
                  <a:latin typeface="Arimo Bold"/>
                  <a:ea typeface="Arimo Bold"/>
                  <a:cs typeface="Arimo Bold"/>
                  <a:sym typeface="Arimo Bold"/>
                </a:rPr>
                <a:t>Check</a:t>
              </a:r>
            </a:p>
          </p:txBody>
        </p:sp>
      </p:grpSp>
      <p:sp>
        <p:nvSpPr>
          <p:cNvPr name="TextBox 49" id="49"/>
          <p:cNvSpPr txBox="true"/>
          <p:nvPr/>
        </p:nvSpPr>
        <p:spPr>
          <a:xfrm rot="0">
            <a:off x="13606653" y="6845713"/>
            <a:ext cx="1981200" cy="561975"/>
          </a:xfrm>
          <a:prstGeom prst="rect">
            <a:avLst/>
          </a:prstGeom>
        </p:spPr>
        <p:txBody>
          <a:bodyPr anchor="t" rtlCol="false" tIns="0" lIns="0" bIns="0" rIns="0">
            <a:spAutoFit/>
          </a:bodyPr>
          <a:lstStyle/>
          <a:p>
            <a:pPr algn="ctr">
              <a:lnSpc>
                <a:spcPts val="2430"/>
              </a:lnSpc>
            </a:pPr>
            <a:r>
              <a:rPr lang="en-US" b="true" sz="2025" spc="-40">
                <a:solidFill>
                  <a:srgbClr val="C67139"/>
                </a:solidFill>
                <a:latin typeface="Arimo Bold"/>
                <a:ea typeface="Arimo Bold"/>
                <a:cs typeface="Arimo Bold"/>
                <a:sym typeface="Arimo Bold"/>
              </a:rPr>
              <a:t>Show answer</a:t>
            </a:r>
          </a:p>
        </p:txBody>
      </p:sp>
      <p:grpSp>
        <p:nvGrpSpPr>
          <p:cNvPr name="Group 50" id="50"/>
          <p:cNvGrpSpPr/>
          <p:nvPr/>
        </p:nvGrpSpPr>
        <p:grpSpPr>
          <a:xfrm rot="0">
            <a:off x="1276350" y="3522726"/>
            <a:ext cx="2476500" cy="638175"/>
            <a:chOff x="0" y="0"/>
            <a:chExt cx="3302000" cy="850900"/>
          </a:xfrm>
        </p:grpSpPr>
        <p:sp>
          <p:nvSpPr>
            <p:cNvPr name="Freeform 51" id="51"/>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F5EAD8"/>
            </a:solidFill>
          </p:spPr>
        </p:sp>
        <p:sp>
          <p:nvSpPr>
            <p:cNvPr name="Freeform 52" id="52"/>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000000">
                <a:alpha val="0"/>
              </a:srgbClr>
            </a:solidFill>
            <a:ln w="28575" cap="sq">
              <a:solidFill>
                <a:srgbClr val="FFC6A5"/>
              </a:solidFill>
              <a:prstDash val="solid"/>
              <a:miter/>
            </a:ln>
          </p:spPr>
        </p:sp>
      </p:grpSp>
      <p:grpSp>
        <p:nvGrpSpPr>
          <p:cNvPr name="Group 53" id="53"/>
          <p:cNvGrpSpPr/>
          <p:nvPr/>
        </p:nvGrpSpPr>
        <p:grpSpPr>
          <a:xfrm rot="0">
            <a:off x="9534525" y="3522726"/>
            <a:ext cx="2476500" cy="638175"/>
            <a:chOff x="0" y="0"/>
            <a:chExt cx="3302000" cy="850900"/>
          </a:xfrm>
        </p:grpSpPr>
        <p:sp>
          <p:nvSpPr>
            <p:cNvPr name="Freeform 54" id="54"/>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F5EAD8"/>
            </a:solidFill>
          </p:spPr>
        </p:sp>
        <p:sp>
          <p:nvSpPr>
            <p:cNvPr name="Freeform 55" id="55"/>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000000">
                <a:alpha val="0"/>
              </a:srgbClr>
            </a:solidFill>
            <a:ln w="28575" cap="sq">
              <a:solidFill>
                <a:srgbClr val="FFC6A5"/>
              </a:solidFill>
              <a:prstDash val="solid"/>
              <a:miter/>
            </a:ln>
          </p:spPr>
        </p:sp>
      </p:grpSp>
      <p:grpSp>
        <p:nvGrpSpPr>
          <p:cNvPr name="Group 56" id="56"/>
          <p:cNvGrpSpPr/>
          <p:nvPr/>
        </p:nvGrpSpPr>
        <p:grpSpPr>
          <a:xfrm rot="0">
            <a:off x="1276350" y="5799868"/>
            <a:ext cx="2476500" cy="638175"/>
            <a:chOff x="0" y="0"/>
            <a:chExt cx="3302000" cy="850900"/>
          </a:xfrm>
        </p:grpSpPr>
        <p:sp>
          <p:nvSpPr>
            <p:cNvPr name="Freeform 57" id="57"/>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F5EAD8"/>
            </a:solidFill>
          </p:spPr>
        </p:sp>
        <p:sp>
          <p:nvSpPr>
            <p:cNvPr name="Freeform 58" id="58"/>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000000">
                <a:alpha val="0"/>
              </a:srgbClr>
            </a:solidFill>
            <a:ln w="28575" cap="sq">
              <a:solidFill>
                <a:srgbClr val="FFC6A5"/>
              </a:solidFill>
              <a:prstDash val="solid"/>
              <a:miter/>
            </a:ln>
          </p:spPr>
        </p:sp>
      </p:grpSp>
      <p:grpSp>
        <p:nvGrpSpPr>
          <p:cNvPr name="Group 59" id="59"/>
          <p:cNvGrpSpPr/>
          <p:nvPr/>
        </p:nvGrpSpPr>
        <p:grpSpPr>
          <a:xfrm rot="0">
            <a:off x="9534525" y="6812470"/>
            <a:ext cx="2476500" cy="638175"/>
            <a:chOff x="0" y="0"/>
            <a:chExt cx="3302000" cy="850900"/>
          </a:xfrm>
        </p:grpSpPr>
        <p:sp>
          <p:nvSpPr>
            <p:cNvPr name="Freeform 60" id="60"/>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F5EAD8"/>
            </a:solidFill>
          </p:spPr>
        </p:sp>
        <p:sp>
          <p:nvSpPr>
            <p:cNvPr name="Freeform 61" id="61"/>
            <p:cNvSpPr/>
            <p:nvPr/>
          </p:nvSpPr>
          <p:spPr>
            <a:xfrm flipH="false" flipV="false" rot="0">
              <a:off x="0" y="0"/>
              <a:ext cx="3302000" cy="850900"/>
            </a:xfrm>
            <a:custGeom>
              <a:avLst/>
              <a:gdLst/>
              <a:ahLst/>
              <a:cxnLst/>
              <a:rect r="r" b="b" t="t" l="l"/>
              <a:pathLst>
                <a:path h="850900" w="3302000">
                  <a:moveTo>
                    <a:pt x="425450" y="0"/>
                  </a:moveTo>
                  <a:lnTo>
                    <a:pt x="2876550" y="0"/>
                  </a:lnTo>
                  <a:cubicBezTo>
                    <a:pt x="3111500" y="0"/>
                    <a:pt x="3302000" y="190500"/>
                    <a:pt x="3302000" y="425450"/>
                  </a:cubicBezTo>
                  <a:cubicBezTo>
                    <a:pt x="3302000" y="660400"/>
                    <a:pt x="3111500" y="850900"/>
                    <a:pt x="2876550" y="850900"/>
                  </a:cubicBezTo>
                  <a:lnTo>
                    <a:pt x="425450" y="850900"/>
                  </a:lnTo>
                  <a:cubicBezTo>
                    <a:pt x="190500" y="850900"/>
                    <a:pt x="0" y="660400"/>
                    <a:pt x="0" y="425450"/>
                  </a:cubicBezTo>
                  <a:cubicBezTo>
                    <a:pt x="0" y="190500"/>
                    <a:pt x="190500" y="0"/>
                    <a:pt x="425450" y="0"/>
                  </a:cubicBezTo>
                  <a:close/>
                </a:path>
              </a:pathLst>
            </a:custGeom>
            <a:solidFill>
              <a:srgbClr val="000000">
                <a:alpha val="0"/>
              </a:srgbClr>
            </a:solidFill>
            <a:ln w="28575" cap="sq">
              <a:solidFill>
                <a:srgbClr val="FFC6A5"/>
              </a:solidFill>
              <a:prstDash val="solid"/>
              <a:miter/>
            </a:ln>
          </p:spPr>
        </p:sp>
      </p:grpSp>
    </p:spTree>
  </p:cSld>
  <p:clrMapOvr>
    <a:masterClrMapping/>
  </p:clrMapOvr>
</p:sld>
</file>

<file path=ppt/slides/slide4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E1EECC"/>
          </a:solidFill>
        </p:spPr>
      </p:sp>
      <p:grpSp>
        <p:nvGrpSpPr>
          <p:cNvPr name="Group 3" id="3"/>
          <p:cNvGrpSpPr/>
          <p:nvPr/>
        </p:nvGrpSpPr>
        <p:grpSpPr>
          <a:xfrm rot="0">
            <a:off x="12001500" y="-2095500"/>
            <a:ext cx="8191500" cy="8191500"/>
            <a:chOff x="0" y="0"/>
            <a:chExt cx="10922000" cy="10922000"/>
          </a:xfrm>
        </p:grpSpPr>
        <p:sp>
          <p:nvSpPr>
            <p:cNvPr name="Freeform 4" id="4"/>
            <p:cNvSpPr/>
            <p:nvPr/>
          </p:nvSpPr>
          <p:spPr>
            <a:xfrm flipH="false" flipV="false" rot="0">
              <a:off x="0" y="0"/>
              <a:ext cx="10922000" cy="10922000"/>
            </a:xfrm>
            <a:custGeom>
              <a:avLst/>
              <a:gdLst/>
              <a:ahLst/>
              <a:cxnLst/>
              <a:rect r="r" b="b" t="t" l="l"/>
              <a:pathLst>
                <a:path h="10922000" w="10922000">
                  <a:moveTo>
                    <a:pt x="5461000" y="0"/>
                  </a:moveTo>
                  <a:cubicBezTo>
                    <a:pt x="8476996" y="0"/>
                    <a:pt x="10922000" y="2445004"/>
                    <a:pt x="10922000" y="5461000"/>
                  </a:cubicBezTo>
                  <a:cubicBezTo>
                    <a:pt x="10922000" y="8476996"/>
                    <a:pt x="8476996" y="10922000"/>
                    <a:pt x="5461000" y="10922000"/>
                  </a:cubicBezTo>
                  <a:cubicBezTo>
                    <a:pt x="2445004" y="10922000"/>
                    <a:pt x="0" y="8476996"/>
                    <a:pt x="0" y="5461000"/>
                  </a:cubicBezTo>
                  <a:cubicBezTo>
                    <a:pt x="0" y="2445004"/>
                    <a:pt x="2445004" y="0"/>
                    <a:pt x="5461000" y="0"/>
                  </a:cubicBezTo>
                  <a:close/>
                </a:path>
              </a:pathLst>
            </a:custGeom>
            <a:solidFill>
              <a:srgbClr val="CCDBB2"/>
            </a:solidFill>
          </p:spPr>
        </p:sp>
      </p:grpSp>
      <p:grpSp>
        <p:nvGrpSpPr>
          <p:cNvPr name="Group 5" id="5"/>
          <p:cNvGrpSpPr/>
          <p:nvPr/>
        </p:nvGrpSpPr>
        <p:grpSpPr>
          <a:xfrm rot="0">
            <a:off x="10096500" y="7620000"/>
            <a:ext cx="5334000" cy="5334000"/>
            <a:chOff x="0" y="0"/>
            <a:chExt cx="7112000" cy="7112000"/>
          </a:xfrm>
        </p:grpSpPr>
        <p:sp>
          <p:nvSpPr>
            <p:cNvPr name="Freeform 6" id="6"/>
            <p:cNvSpPr/>
            <p:nvPr/>
          </p:nvSpPr>
          <p:spPr>
            <a:xfrm flipH="false" flipV="false" rot="0">
              <a:off x="0" y="0"/>
              <a:ext cx="7112000" cy="7112000"/>
            </a:xfrm>
            <a:custGeom>
              <a:avLst/>
              <a:gdLst/>
              <a:ahLst/>
              <a:cxnLst/>
              <a:rect r="r" b="b" t="t" l="l"/>
              <a:pathLst>
                <a:path h="7112000" w="7112000">
                  <a:moveTo>
                    <a:pt x="3556000" y="0"/>
                  </a:moveTo>
                  <a:cubicBezTo>
                    <a:pt x="5519928" y="0"/>
                    <a:pt x="7112000" y="1592072"/>
                    <a:pt x="7112000" y="3556000"/>
                  </a:cubicBezTo>
                  <a:cubicBezTo>
                    <a:pt x="7112000" y="5519928"/>
                    <a:pt x="5519928" y="7112000"/>
                    <a:pt x="3556000" y="7112000"/>
                  </a:cubicBezTo>
                  <a:cubicBezTo>
                    <a:pt x="1592072" y="7112000"/>
                    <a:pt x="0" y="5519928"/>
                    <a:pt x="0" y="3556000"/>
                  </a:cubicBezTo>
                  <a:cubicBezTo>
                    <a:pt x="0" y="1592072"/>
                    <a:pt x="1592072" y="0"/>
                    <a:pt x="3556000" y="0"/>
                  </a:cubicBezTo>
                  <a:close/>
                </a:path>
              </a:pathLst>
            </a:custGeom>
            <a:solidFill>
              <a:srgbClr val="FFC6A5"/>
            </a:solidFill>
          </p:spPr>
        </p:sp>
      </p:grpSp>
      <p:grpSp>
        <p:nvGrpSpPr>
          <p:cNvPr name="Group 7" id="7"/>
          <p:cNvGrpSpPr/>
          <p:nvPr/>
        </p:nvGrpSpPr>
        <p:grpSpPr>
          <a:xfrm rot="0">
            <a:off x="15144750" y="3143250"/>
            <a:ext cx="1428750" cy="1428750"/>
            <a:chOff x="0" y="0"/>
            <a:chExt cx="1905000" cy="1905000"/>
          </a:xfrm>
        </p:grpSpPr>
        <p:sp>
          <p:nvSpPr>
            <p:cNvPr name="Freeform 8" id="8"/>
            <p:cNvSpPr/>
            <p:nvPr/>
          </p:nvSpPr>
          <p:spPr>
            <a:xfrm flipH="false" flipV="false" rot="0">
              <a:off x="0" y="0"/>
              <a:ext cx="1905000" cy="1905000"/>
            </a:xfrm>
            <a:custGeom>
              <a:avLst/>
              <a:gdLst/>
              <a:ahLst/>
              <a:cxnLst/>
              <a:rect r="r" b="b" t="t" l="l"/>
              <a:pathLst>
                <a:path h="1905000" w="1905000">
                  <a:moveTo>
                    <a:pt x="952500" y="0"/>
                  </a:moveTo>
                  <a:cubicBezTo>
                    <a:pt x="1478534" y="0"/>
                    <a:pt x="1905000" y="426466"/>
                    <a:pt x="1905000" y="952500"/>
                  </a:cubicBezTo>
                  <a:cubicBezTo>
                    <a:pt x="1905000" y="1478534"/>
                    <a:pt x="1478534" y="1905000"/>
                    <a:pt x="952500" y="1905000"/>
                  </a:cubicBezTo>
                  <a:cubicBezTo>
                    <a:pt x="426466" y="1905000"/>
                    <a:pt x="0" y="1478534"/>
                    <a:pt x="0" y="952500"/>
                  </a:cubicBezTo>
                  <a:cubicBezTo>
                    <a:pt x="0" y="426466"/>
                    <a:pt x="426466" y="0"/>
                    <a:pt x="952500" y="0"/>
                  </a:cubicBezTo>
                  <a:close/>
                </a:path>
              </a:pathLst>
            </a:custGeom>
            <a:solidFill>
              <a:srgbClr val="D67F48"/>
            </a:solidFill>
          </p:spPr>
        </p:sp>
      </p:grpSp>
      <p:sp>
        <p:nvSpPr>
          <p:cNvPr name="TextBox 9" id="9"/>
          <p:cNvSpPr txBox="true"/>
          <p:nvPr/>
        </p:nvSpPr>
        <p:spPr>
          <a:xfrm rot="0">
            <a:off x="1143000" y="2747677"/>
            <a:ext cx="16002000" cy="600075"/>
          </a:xfrm>
          <a:prstGeom prst="rect">
            <a:avLst/>
          </a:prstGeom>
        </p:spPr>
        <p:txBody>
          <a:bodyPr anchor="t" rtlCol="false" tIns="0" lIns="0" bIns="0" rIns="0">
            <a:spAutoFit/>
          </a:bodyPr>
          <a:lstStyle/>
          <a:p>
            <a:pPr algn="l">
              <a:lnSpc>
                <a:spcPts val="3952"/>
              </a:lnSpc>
            </a:pPr>
            <a:r>
              <a:rPr lang="en-US" b="true" sz="2550" spc="254">
                <a:solidFill>
                  <a:srgbClr val="3D472B"/>
                </a:solidFill>
                <a:latin typeface="Arimo Bold"/>
                <a:ea typeface="Arimo Bold"/>
                <a:cs typeface="Arimo Bold"/>
                <a:sym typeface="Arimo Bold"/>
              </a:rPr>
              <a:t>CHAPTER 6</a:t>
            </a:r>
          </a:p>
        </p:txBody>
      </p:sp>
      <p:sp>
        <p:nvSpPr>
          <p:cNvPr name="TextBox 10" id="10"/>
          <p:cNvSpPr txBox="true"/>
          <p:nvPr/>
        </p:nvSpPr>
        <p:spPr>
          <a:xfrm rot="0">
            <a:off x="1143000" y="3803428"/>
            <a:ext cx="10953750" cy="1009650"/>
          </a:xfrm>
          <a:prstGeom prst="rect">
            <a:avLst/>
          </a:prstGeom>
        </p:spPr>
        <p:txBody>
          <a:bodyPr anchor="t" rtlCol="false" tIns="0" lIns="0" bIns="0" rIns="0">
            <a:spAutoFit/>
          </a:bodyPr>
          <a:lstStyle/>
          <a:p>
            <a:pPr algn="l">
              <a:lnSpc>
                <a:spcPts val="9000"/>
              </a:lnSpc>
            </a:pPr>
            <a:r>
              <a:rPr lang="en-US" b="true" sz="9000" spc="-179">
                <a:solidFill>
                  <a:srgbClr val="201E1D"/>
                </a:solidFill>
                <a:latin typeface="Arimo Bold"/>
                <a:ea typeface="Arimo Bold"/>
                <a:cs typeface="Arimo Bold"/>
                <a:sym typeface="Arimo Bold"/>
              </a:rPr>
              <a:t>Practice questions</a:t>
            </a:r>
          </a:p>
        </p:txBody>
      </p:sp>
      <p:sp>
        <p:nvSpPr>
          <p:cNvPr name="TextBox 11" id="11"/>
          <p:cNvSpPr txBox="true"/>
          <p:nvPr/>
        </p:nvSpPr>
        <p:spPr>
          <a:xfrm rot="0">
            <a:off x="1143000" y="5039773"/>
            <a:ext cx="10477500" cy="571500"/>
          </a:xfrm>
          <a:prstGeom prst="rect">
            <a:avLst/>
          </a:prstGeom>
        </p:spPr>
        <p:txBody>
          <a:bodyPr anchor="t" rtlCol="false" tIns="0" lIns="0" bIns="0" rIns="0">
            <a:spAutoFit/>
          </a:bodyPr>
          <a:lstStyle/>
          <a:p>
            <a:pPr algn="l">
              <a:lnSpc>
                <a:spcPts val="3720"/>
              </a:lnSpc>
            </a:pPr>
            <a:r>
              <a:rPr lang="en-US" b="true" sz="2400">
                <a:solidFill>
                  <a:srgbClr val="3D472B"/>
                </a:solidFill>
                <a:latin typeface="Arimo Bold"/>
                <a:ea typeface="Arimo Bold"/>
                <a:cs typeface="Arimo Bold"/>
                <a:sym typeface="Arimo Bold"/>
              </a:rPr>
              <a:t>In this lesson you will</a:t>
            </a:r>
          </a:p>
        </p:txBody>
      </p:sp>
      <p:grpSp>
        <p:nvGrpSpPr>
          <p:cNvPr name="Group 12" id="12"/>
          <p:cNvGrpSpPr/>
          <p:nvPr/>
        </p:nvGrpSpPr>
        <p:grpSpPr>
          <a:xfrm rot="0">
            <a:off x="1143000" y="5876734"/>
            <a:ext cx="209550" cy="209550"/>
            <a:chOff x="0" y="0"/>
            <a:chExt cx="279400" cy="279400"/>
          </a:xfrm>
        </p:grpSpPr>
        <p:sp>
          <p:nvSpPr>
            <p:cNvPr name="Freeform 13" id="13"/>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7A8A5E"/>
            </a:solidFill>
          </p:spPr>
        </p:sp>
      </p:grpSp>
      <p:sp>
        <p:nvSpPr>
          <p:cNvPr name="TextBox 14" id="14"/>
          <p:cNvSpPr txBox="true"/>
          <p:nvPr/>
        </p:nvSpPr>
        <p:spPr>
          <a:xfrm rot="0">
            <a:off x="1523428" y="5695759"/>
            <a:ext cx="8362950" cy="523875"/>
          </a:xfrm>
          <a:prstGeom prst="rect">
            <a:avLst/>
          </a:prstGeom>
        </p:spPr>
        <p:txBody>
          <a:bodyPr anchor="t" rtlCol="false" tIns="0" lIns="0" bIns="0" rIns="0">
            <a:spAutoFit/>
          </a:bodyPr>
          <a:lstStyle/>
          <a:p>
            <a:pPr algn="l">
              <a:lnSpc>
                <a:spcPts val="3762"/>
              </a:lnSpc>
            </a:pPr>
            <a:r>
              <a:rPr lang="en-US" b="true" sz="2850">
                <a:solidFill>
                  <a:srgbClr val="201E1D"/>
                </a:solidFill>
                <a:latin typeface="Arimo Bold"/>
                <a:ea typeface="Arimo Bold"/>
                <a:cs typeface="Arimo Bold"/>
                <a:sym typeface="Arimo Bold"/>
              </a:rPr>
              <a:t>use every skill from the chapter in longer questions</a:t>
            </a:r>
          </a:p>
        </p:txBody>
      </p:sp>
      <p:grpSp>
        <p:nvGrpSpPr>
          <p:cNvPr name="Group 15" id="15"/>
          <p:cNvGrpSpPr/>
          <p:nvPr/>
        </p:nvGrpSpPr>
        <p:grpSpPr>
          <a:xfrm rot="0">
            <a:off x="1143000" y="6487858"/>
            <a:ext cx="209550" cy="209550"/>
            <a:chOff x="0" y="0"/>
            <a:chExt cx="279400" cy="279400"/>
          </a:xfrm>
        </p:grpSpPr>
        <p:sp>
          <p:nvSpPr>
            <p:cNvPr name="Freeform 16" id="16"/>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C67139"/>
            </a:solidFill>
          </p:spPr>
        </p:sp>
      </p:grpSp>
      <p:sp>
        <p:nvSpPr>
          <p:cNvPr name="TextBox 17" id="17"/>
          <p:cNvSpPr txBox="true"/>
          <p:nvPr/>
        </p:nvSpPr>
        <p:spPr>
          <a:xfrm rot="0">
            <a:off x="1525429" y="6306883"/>
            <a:ext cx="6772275" cy="523875"/>
          </a:xfrm>
          <a:prstGeom prst="rect">
            <a:avLst/>
          </a:prstGeom>
        </p:spPr>
        <p:txBody>
          <a:bodyPr anchor="t" rtlCol="false" tIns="0" lIns="0" bIns="0" rIns="0">
            <a:spAutoFit/>
          </a:bodyPr>
          <a:lstStyle/>
          <a:p>
            <a:pPr algn="l">
              <a:lnSpc>
                <a:spcPts val="3762"/>
              </a:lnSpc>
            </a:pPr>
            <a:r>
              <a:rPr lang="en-US" b="true" sz="2850">
                <a:solidFill>
                  <a:srgbClr val="201E1D"/>
                </a:solidFill>
                <a:latin typeface="Arimo Bold"/>
                <a:ea typeface="Arimo Bold"/>
                <a:cs typeface="Arimo Bold"/>
                <a:sym typeface="Arimo Bold"/>
              </a:rPr>
              <a:t>form equations from words and diagrams</a:t>
            </a:r>
          </a:p>
        </p:txBody>
      </p:sp>
      <p:grpSp>
        <p:nvGrpSpPr>
          <p:cNvPr name="Group 18" id="18"/>
          <p:cNvGrpSpPr/>
          <p:nvPr/>
        </p:nvGrpSpPr>
        <p:grpSpPr>
          <a:xfrm rot="0">
            <a:off x="1143000" y="7098982"/>
            <a:ext cx="209550" cy="209550"/>
            <a:chOff x="0" y="0"/>
            <a:chExt cx="279400" cy="279400"/>
          </a:xfrm>
        </p:grpSpPr>
        <p:sp>
          <p:nvSpPr>
            <p:cNvPr name="Freeform 19" id="19"/>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7A8A5E"/>
            </a:solidFill>
          </p:spPr>
        </p:sp>
      </p:grpSp>
      <p:sp>
        <p:nvSpPr>
          <p:cNvPr name="TextBox 20" id="20"/>
          <p:cNvSpPr txBox="true"/>
          <p:nvPr/>
        </p:nvSpPr>
        <p:spPr>
          <a:xfrm rot="0">
            <a:off x="1523048" y="6918007"/>
            <a:ext cx="5667375" cy="523875"/>
          </a:xfrm>
          <a:prstGeom prst="rect">
            <a:avLst/>
          </a:prstGeom>
        </p:spPr>
        <p:txBody>
          <a:bodyPr anchor="t" rtlCol="false" tIns="0" lIns="0" bIns="0" rIns="0">
            <a:spAutoFit/>
          </a:bodyPr>
          <a:lstStyle/>
          <a:p>
            <a:pPr algn="l">
              <a:lnSpc>
                <a:spcPts val="3762"/>
              </a:lnSpc>
            </a:pPr>
            <a:r>
              <a:rPr lang="en-US" b="true" sz="2850">
                <a:solidFill>
                  <a:srgbClr val="201E1D"/>
                </a:solidFill>
                <a:latin typeface="Arimo Bold"/>
                <a:ea typeface="Arimo Bold"/>
                <a:cs typeface="Arimo Bold"/>
                <a:sym typeface="Arimo Bold"/>
              </a:rPr>
              <a:t>set out working clearly, line by line</a:t>
            </a:r>
          </a:p>
        </p:txBody>
      </p:sp>
    </p:spTree>
  </p:cSld>
  <p:clrMapOvr>
    <a:masterClrMapping/>
  </p:clrMapOvr>
</p:sld>
</file>

<file path=ppt/slides/slide4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E1EECC"/>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FFC6A5"/>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CCDBB2"/>
            </a:solidFill>
          </p:spPr>
        </p:sp>
      </p:grpSp>
      <p:grpSp>
        <p:nvGrpSpPr>
          <p:cNvPr name="Group 9" id="9"/>
          <p:cNvGrpSpPr/>
          <p:nvPr/>
        </p:nvGrpSpPr>
        <p:grpSpPr>
          <a:xfrm rot="0">
            <a:off x="989457" y="611505"/>
            <a:ext cx="4229100" cy="600075"/>
            <a:chOff x="0" y="0"/>
            <a:chExt cx="5638800" cy="800100"/>
          </a:xfrm>
        </p:grpSpPr>
        <p:sp>
          <p:nvSpPr>
            <p:cNvPr name="Freeform 10" id="10"/>
            <p:cNvSpPr/>
            <p:nvPr/>
          </p:nvSpPr>
          <p:spPr>
            <a:xfrm flipH="false" flipV="false" rot="0">
              <a:off x="0" y="0"/>
              <a:ext cx="5638800" cy="800100"/>
            </a:xfrm>
            <a:custGeom>
              <a:avLst/>
              <a:gdLst/>
              <a:ahLst/>
              <a:cxnLst/>
              <a:rect r="r" b="b" t="t" l="l"/>
              <a:pathLst>
                <a:path h="800100" w="5638800">
                  <a:moveTo>
                    <a:pt x="400050" y="0"/>
                  </a:moveTo>
                  <a:lnTo>
                    <a:pt x="5238750" y="0"/>
                  </a:lnTo>
                  <a:cubicBezTo>
                    <a:pt x="5459730" y="0"/>
                    <a:pt x="5638800" y="179070"/>
                    <a:pt x="5638800" y="400050"/>
                  </a:cubicBezTo>
                  <a:cubicBezTo>
                    <a:pt x="5638800" y="621030"/>
                    <a:pt x="5459730" y="800100"/>
                    <a:pt x="5238750" y="800100"/>
                  </a:cubicBezTo>
                  <a:lnTo>
                    <a:pt x="400050" y="800100"/>
                  </a:lnTo>
                  <a:cubicBezTo>
                    <a:pt x="179070" y="800100"/>
                    <a:pt x="0" y="621030"/>
                    <a:pt x="0" y="400050"/>
                  </a:cubicBezTo>
                  <a:cubicBezTo>
                    <a:pt x="0" y="179070"/>
                    <a:pt x="179070" y="0"/>
                    <a:pt x="400050" y="0"/>
                  </a:cubicBezTo>
                  <a:close/>
                </a:path>
              </a:pathLst>
            </a:custGeom>
            <a:solidFill>
              <a:srgbClr val="56633F"/>
            </a:solidFill>
          </p:spPr>
        </p:sp>
        <p:sp>
          <p:nvSpPr>
            <p:cNvPr name="TextBox 11" id="11"/>
            <p:cNvSpPr txBox="true"/>
            <p:nvPr/>
          </p:nvSpPr>
          <p:spPr>
            <a:xfrm>
              <a:off x="0" y="-76200"/>
              <a:ext cx="56388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PRACTICE QUESTIONS 1–3</a:t>
              </a:r>
            </a:p>
          </p:txBody>
        </p:sp>
      </p:grpSp>
      <p:sp>
        <p:nvSpPr>
          <p:cNvPr name="TextBox 12" id="12"/>
          <p:cNvSpPr txBox="true"/>
          <p:nvPr/>
        </p:nvSpPr>
        <p:spPr>
          <a:xfrm rot="0">
            <a:off x="5408009" y="630555"/>
            <a:ext cx="1019175" cy="485775"/>
          </a:xfrm>
          <a:prstGeom prst="rect">
            <a:avLst/>
          </a:prstGeom>
        </p:spPr>
        <p:txBody>
          <a:bodyPr anchor="t" rtlCol="false" tIns="0" lIns="0" bIns="0" rIns="0">
            <a:spAutoFit/>
          </a:bodyPr>
          <a:lstStyle/>
          <a:p>
            <a:pPr algn="l">
              <a:lnSpc>
                <a:spcPts val="3255"/>
              </a:lnSpc>
            </a:pPr>
            <a:r>
              <a:rPr lang="en-US" b="true" sz="2100">
                <a:solidFill>
                  <a:srgbClr val="643312"/>
                </a:solidFill>
                <a:latin typeface="Arimo Bold"/>
                <a:ea typeface="Arimo Bold"/>
                <a:cs typeface="Arimo Bold"/>
                <a:sym typeface="Arimo Bold"/>
              </a:rPr>
              <a:t>Practice</a:t>
            </a:r>
          </a:p>
        </p:txBody>
      </p:sp>
      <p:sp>
        <p:nvSpPr>
          <p:cNvPr name="TextBox 13" id="13"/>
          <p:cNvSpPr txBox="true"/>
          <p:nvPr/>
        </p:nvSpPr>
        <p:spPr>
          <a:xfrm rot="0">
            <a:off x="990600" y="1510189"/>
            <a:ext cx="16306800" cy="523875"/>
          </a:xfrm>
          <a:prstGeom prst="rect">
            <a:avLst/>
          </a:prstGeom>
        </p:spPr>
        <p:txBody>
          <a:bodyPr anchor="t" rtlCol="false" tIns="0" lIns="0" bIns="0" rIns="0">
            <a:spAutoFit/>
          </a:bodyPr>
          <a:lstStyle/>
          <a:p>
            <a:pPr algn="l">
              <a:lnSpc>
                <a:spcPts val="4524"/>
              </a:lnSpc>
            </a:pPr>
            <a:r>
              <a:rPr lang="en-US" b="true" sz="4350" spc="-86">
                <a:solidFill>
                  <a:srgbClr val="201E1D"/>
                </a:solidFill>
                <a:latin typeface="Arimo Bold"/>
                <a:ea typeface="Arimo Bold"/>
                <a:cs typeface="Arimo Bold"/>
                <a:sym typeface="Arimo Bold"/>
              </a:rPr>
              <a:t>Substitute, solve and rearrange</a:t>
            </a:r>
          </a:p>
        </p:txBody>
      </p:sp>
      <p:sp>
        <p:nvSpPr>
          <p:cNvPr name="TextBox 14" id="14"/>
          <p:cNvSpPr txBox="true"/>
          <p:nvPr/>
        </p:nvSpPr>
        <p:spPr>
          <a:xfrm rot="0">
            <a:off x="990600" y="2223802"/>
            <a:ext cx="342900" cy="495300"/>
          </a:xfrm>
          <a:prstGeom prst="rect">
            <a:avLst/>
          </a:prstGeom>
        </p:spPr>
        <p:txBody>
          <a:bodyPr anchor="t" rtlCol="false" tIns="0" lIns="0" bIns="0" rIns="0">
            <a:spAutoFit/>
          </a:bodyPr>
          <a:lstStyle/>
          <a:p>
            <a:pPr algn="l">
              <a:lnSpc>
                <a:spcPts val="3415"/>
              </a:lnSpc>
            </a:pPr>
            <a:r>
              <a:rPr lang="en-US" b="true" sz="2475">
                <a:solidFill>
                  <a:srgbClr val="56633F"/>
                </a:solidFill>
                <a:latin typeface="Arimo Bold"/>
                <a:ea typeface="Arimo Bold"/>
                <a:cs typeface="Arimo Bold"/>
                <a:sym typeface="Arimo Bold"/>
              </a:rPr>
              <a:t>1</a:t>
            </a:r>
          </a:p>
        </p:txBody>
      </p:sp>
      <p:sp>
        <p:nvSpPr>
          <p:cNvPr name="TextBox 15" id="15"/>
          <p:cNvSpPr txBox="true"/>
          <p:nvPr/>
        </p:nvSpPr>
        <p:spPr>
          <a:xfrm rot="0">
            <a:off x="1486567" y="2223802"/>
            <a:ext cx="3238500" cy="495300"/>
          </a:xfrm>
          <a:prstGeom prst="rect">
            <a:avLst/>
          </a:prstGeom>
        </p:spPr>
        <p:txBody>
          <a:bodyPr anchor="t" rtlCol="false" tIns="0" lIns="0" bIns="0" rIns="0">
            <a:spAutoFit/>
          </a:bodyPr>
          <a:lstStyle/>
          <a:p>
            <a:pPr algn="l">
              <a:lnSpc>
                <a:spcPts val="3415"/>
              </a:lnSpc>
            </a:pPr>
            <a:r>
              <a:rPr lang="en-US" b="true" sz="2475">
                <a:solidFill>
                  <a:srgbClr val="201E1D"/>
                </a:solidFill>
                <a:latin typeface="Arimo Bold"/>
                <a:ea typeface="Arimo Bold"/>
                <a:cs typeface="Arimo Bold"/>
                <a:sym typeface="Arimo Bold"/>
              </a:rPr>
              <a:t>Given T =</a:t>
            </a:r>
          </a:p>
        </p:txBody>
      </p:sp>
      <p:sp>
        <p:nvSpPr>
          <p:cNvPr name="AutoShape 16" id="16"/>
          <p:cNvSpPr/>
          <p:nvPr/>
        </p:nvSpPr>
        <p:spPr>
          <a:xfrm rot="0">
            <a:off x="1513237" y="2994088"/>
            <a:ext cx="828675" cy="28575"/>
          </a:xfrm>
          <a:prstGeom prst="rect">
            <a:avLst/>
          </a:prstGeom>
          <a:solidFill>
            <a:srgbClr val="201E1D"/>
          </a:solidFill>
        </p:spPr>
      </p:sp>
      <p:sp>
        <p:nvSpPr>
          <p:cNvPr name="TextBox 17" id="17"/>
          <p:cNvSpPr txBox="true"/>
          <p:nvPr/>
        </p:nvSpPr>
        <p:spPr>
          <a:xfrm rot="0">
            <a:off x="1513237" y="2736914"/>
            <a:ext cx="828675" cy="285750"/>
          </a:xfrm>
          <a:prstGeom prst="rect">
            <a:avLst/>
          </a:prstGeom>
        </p:spPr>
        <p:txBody>
          <a:bodyPr anchor="t" rtlCol="false" tIns="0" lIns="0" bIns="0" rIns="0">
            <a:spAutoFit/>
          </a:bodyPr>
          <a:lstStyle/>
          <a:p>
            <a:pPr algn="l">
              <a:lnSpc>
                <a:spcPts val="2191"/>
              </a:lnSpc>
            </a:pPr>
            <a:r>
              <a:rPr lang="en-US" b="true" sz="2029">
                <a:solidFill>
                  <a:srgbClr val="201E1D"/>
                </a:solidFill>
                <a:latin typeface="Arimo Bold"/>
                <a:ea typeface="Arimo Bold"/>
                <a:cs typeface="Arimo Bold"/>
                <a:sym typeface="Arimo Bold"/>
              </a:rPr>
              <a:t>3p − 5</a:t>
            </a:r>
          </a:p>
        </p:txBody>
      </p:sp>
      <p:sp>
        <p:nvSpPr>
          <p:cNvPr name="TextBox 18" id="18"/>
          <p:cNvSpPr txBox="true"/>
          <p:nvPr/>
        </p:nvSpPr>
        <p:spPr>
          <a:xfrm rot="0">
            <a:off x="1808512" y="3043809"/>
            <a:ext cx="238125" cy="257175"/>
          </a:xfrm>
          <a:prstGeom prst="rect">
            <a:avLst/>
          </a:prstGeom>
        </p:spPr>
        <p:txBody>
          <a:bodyPr anchor="t" rtlCol="false" tIns="0" lIns="0" bIns="0" rIns="0">
            <a:spAutoFit/>
          </a:bodyPr>
          <a:lstStyle/>
          <a:p>
            <a:pPr algn="l">
              <a:lnSpc>
                <a:spcPts val="2191"/>
              </a:lnSpc>
            </a:pPr>
            <a:r>
              <a:rPr lang="en-US" b="true" sz="2029">
                <a:solidFill>
                  <a:srgbClr val="201E1D"/>
                </a:solidFill>
                <a:latin typeface="Arimo Bold"/>
                <a:ea typeface="Arimo Bold"/>
                <a:cs typeface="Arimo Bold"/>
                <a:sym typeface="Arimo Bold"/>
              </a:rPr>
              <a:t>2</a:t>
            </a:r>
          </a:p>
        </p:txBody>
      </p:sp>
      <p:sp>
        <p:nvSpPr>
          <p:cNvPr name="TextBox 19" id="19"/>
          <p:cNvSpPr txBox="true"/>
          <p:nvPr/>
        </p:nvSpPr>
        <p:spPr>
          <a:xfrm rot="0">
            <a:off x="1486567" y="3242691"/>
            <a:ext cx="3238500" cy="495300"/>
          </a:xfrm>
          <a:prstGeom prst="rect">
            <a:avLst/>
          </a:prstGeom>
        </p:spPr>
        <p:txBody>
          <a:bodyPr anchor="t" rtlCol="false" tIns="0" lIns="0" bIns="0" rIns="0">
            <a:spAutoFit/>
          </a:bodyPr>
          <a:lstStyle/>
          <a:p>
            <a:pPr algn="l">
              <a:lnSpc>
                <a:spcPts val="3415"/>
              </a:lnSpc>
            </a:pPr>
            <a:r>
              <a:rPr lang="en-US" b="true" sz="2475">
                <a:solidFill>
                  <a:srgbClr val="201E1D"/>
                </a:solidFill>
                <a:latin typeface="Arimo Bold"/>
                <a:ea typeface="Arimo Bold"/>
                <a:cs typeface="Arimo Bold"/>
                <a:sym typeface="Arimo Bold"/>
              </a:rPr>
              <a:t>, find p when T = 11. [3]</a:t>
            </a:r>
          </a:p>
        </p:txBody>
      </p:sp>
      <p:sp>
        <p:nvSpPr>
          <p:cNvPr name="TextBox 20" id="20"/>
          <p:cNvSpPr txBox="true"/>
          <p:nvPr/>
        </p:nvSpPr>
        <p:spPr>
          <a:xfrm rot="0">
            <a:off x="990600" y="3771614"/>
            <a:ext cx="342900" cy="495300"/>
          </a:xfrm>
          <a:prstGeom prst="rect">
            <a:avLst/>
          </a:prstGeom>
        </p:spPr>
        <p:txBody>
          <a:bodyPr anchor="t" rtlCol="false" tIns="0" lIns="0" bIns="0" rIns="0">
            <a:spAutoFit/>
          </a:bodyPr>
          <a:lstStyle/>
          <a:p>
            <a:pPr algn="l">
              <a:lnSpc>
                <a:spcPts val="3415"/>
              </a:lnSpc>
            </a:pPr>
            <a:r>
              <a:rPr lang="en-US" b="true" sz="2475">
                <a:solidFill>
                  <a:srgbClr val="56633F"/>
                </a:solidFill>
                <a:latin typeface="Arimo Bold"/>
                <a:ea typeface="Arimo Bold"/>
                <a:cs typeface="Arimo Bold"/>
                <a:sym typeface="Arimo Bold"/>
              </a:rPr>
              <a:t>3</a:t>
            </a:r>
          </a:p>
        </p:txBody>
      </p:sp>
      <p:sp>
        <p:nvSpPr>
          <p:cNvPr name="TextBox 21" id="21"/>
          <p:cNvSpPr txBox="true"/>
          <p:nvPr/>
        </p:nvSpPr>
        <p:spPr>
          <a:xfrm rot="0">
            <a:off x="1485138" y="3771614"/>
            <a:ext cx="3629025" cy="495300"/>
          </a:xfrm>
          <a:prstGeom prst="rect">
            <a:avLst/>
          </a:prstGeom>
        </p:spPr>
        <p:txBody>
          <a:bodyPr anchor="t" rtlCol="false" tIns="0" lIns="0" bIns="0" rIns="0">
            <a:spAutoFit/>
          </a:bodyPr>
          <a:lstStyle/>
          <a:p>
            <a:pPr algn="l">
              <a:lnSpc>
                <a:spcPts val="3415"/>
              </a:lnSpc>
            </a:pPr>
            <a:r>
              <a:rPr lang="en-US" b="true" sz="2475">
                <a:solidFill>
                  <a:srgbClr val="201E1D"/>
                </a:solidFill>
                <a:latin typeface="Arimo Bold"/>
                <a:ea typeface="Arimo Bold"/>
                <a:cs typeface="Arimo Bold"/>
                <a:sym typeface="Arimo Bold"/>
              </a:rPr>
              <a:t>Rearrange</a:t>
            </a:r>
          </a:p>
        </p:txBody>
      </p:sp>
      <p:sp>
        <p:nvSpPr>
          <p:cNvPr name="AutoShape 22" id="22"/>
          <p:cNvSpPr/>
          <p:nvPr/>
        </p:nvSpPr>
        <p:spPr>
          <a:xfrm rot="0">
            <a:off x="1519428" y="4541901"/>
            <a:ext cx="228600" cy="28575"/>
          </a:xfrm>
          <a:prstGeom prst="rect">
            <a:avLst/>
          </a:prstGeom>
          <a:solidFill>
            <a:srgbClr val="201E1D"/>
          </a:solidFill>
        </p:spPr>
      </p:sp>
      <p:sp>
        <p:nvSpPr>
          <p:cNvPr name="TextBox 23" id="23"/>
          <p:cNvSpPr txBox="true"/>
          <p:nvPr/>
        </p:nvSpPr>
        <p:spPr>
          <a:xfrm rot="0">
            <a:off x="1519428" y="4284726"/>
            <a:ext cx="228600" cy="285750"/>
          </a:xfrm>
          <a:prstGeom prst="rect">
            <a:avLst/>
          </a:prstGeom>
        </p:spPr>
        <p:txBody>
          <a:bodyPr anchor="t" rtlCol="false" tIns="0" lIns="0" bIns="0" rIns="0">
            <a:spAutoFit/>
          </a:bodyPr>
          <a:lstStyle/>
          <a:p>
            <a:pPr algn="l">
              <a:lnSpc>
                <a:spcPts val="2191"/>
              </a:lnSpc>
            </a:pPr>
            <a:r>
              <a:rPr lang="en-US" b="true" sz="2029">
                <a:solidFill>
                  <a:srgbClr val="201E1D"/>
                </a:solidFill>
                <a:latin typeface="Arimo Bold"/>
                <a:ea typeface="Arimo Bold"/>
                <a:cs typeface="Arimo Bold"/>
                <a:sym typeface="Arimo Bold"/>
              </a:rPr>
              <a:t>x</a:t>
            </a:r>
          </a:p>
        </p:txBody>
      </p:sp>
      <p:sp>
        <p:nvSpPr>
          <p:cNvPr name="TextBox 24" id="24"/>
          <p:cNvSpPr txBox="true"/>
          <p:nvPr/>
        </p:nvSpPr>
        <p:spPr>
          <a:xfrm rot="0">
            <a:off x="1514666" y="4591622"/>
            <a:ext cx="238125" cy="257175"/>
          </a:xfrm>
          <a:prstGeom prst="rect">
            <a:avLst/>
          </a:prstGeom>
        </p:spPr>
        <p:txBody>
          <a:bodyPr anchor="t" rtlCol="false" tIns="0" lIns="0" bIns="0" rIns="0">
            <a:spAutoFit/>
          </a:bodyPr>
          <a:lstStyle/>
          <a:p>
            <a:pPr algn="l">
              <a:lnSpc>
                <a:spcPts val="2191"/>
              </a:lnSpc>
            </a:pPr>
            <a:r>
              <a:rPr lang="en-US" b="true" sz="2029">
                <a:solidFill>
                  <a:srgbClr val="201E1D"/>
                </a:solidFill>
                <a:latin typeface="Arimo Bold"/>
                <a:ea typeface="Arimo Bold"/>
                <a:cs typeface="Arimo Bold"/>
                <a:sym typeface="Arimo Bold"/>
              </a:rPr>
              <a:t>y</a:t>
            </a:r>
          </a:p>
        </p:txBody>
      </p:sp>
      <p:sp>
        <p:nvSpPr>
          <p:cNvPr name="TextBox 25" id="25"/>
          <p:cNvSpPr txBox="true"/>
          <p:nvPr/>
        </p:nvSpPr>
        <p:spPr>
          <a:xfrm rot="0">
            <a:off x="1485138" y="4790504"/>
            <a:ext cx="3629025" cy="495300"/>
          </a:xfrm>
          <a:prstGeom prst="rect">
            <a:avLst/>
          </a:prstGeom>
        </p:spPr>
        <p:txBody>
          <a:bodyPr anchor="t" rtlCol="false" tIns="0" lIns="0" bIns="0" rIns="0">
            <a:spAutoFit/>
          </a:bodyPr>
          <a:lstStyle/>
          <a:p>
            <a:pPr algn="l">
              <a:lnSpc>
                <a:spcPts val="3415"/>
              </a:lnSpc>
            </a:pPr>
            <a:r>
              <a:rPr lang="en-US" b="true" sz="2475">
                <a:solidFill>
                  <a:srgbClr val="201E1D"/>
                </a:solidFill>
                <a:latin typeface="Arimo Bold"/>
                <a:ea typeface="Arimo Bold"/>
                <a:cs typeface="Arimo Bold"/>
                <a:sym typeface="Arimo Bold"/>
              </a:rPr>
              <a:t>=</a:t>
            </a:r>
          </a:p>
        </p:txBody>
      </p:sp>
      <p:sp>
        <p:nvSpPr>
          <p:cNvPr name="AutoShape 26" id="26"/>
          <p:cNvSpPr/>
          <p:nvPr/>
        </p:nvSpPr>
        <p:spPr>
          <a:xfrm rot="0">
            <a:off x="1515237" y="5560790"/>
            <a:ext cx="247650" cy="28575"/>
          </a:xfrm>
          <a:prstGeom prst="rect">
            <a:avLst/>
          </a:prstGeom>
          <a:solidFill>
            <a:srgbClr val="201E1D"/>
          </a:solidFill>
        </p:spPr>
      </p:sp>
      <p:sp>
        <p:nvSpPr>
          <p:cNvPr name="TextBox 27" id="27"/>
          <p:cNvSpPr txBox="true"/>
          <p:nvPr/>
        </p:nvSpPr>
        <p:spPr>
          <a:xfrm rot="0">
            <a:off x="1515237" y="5303615"/>
            <a:ext cx="247650" cy="285750"/>
          </a:xfrm>
          <a:prstGeom prst="rect">
            <a:avLst/>
          </a:prstGeom>
        </p:spPr>
        <p:txBody>
          <a:bodyPr anchor="t" rtlCol="false" tIns="0" lIns="0" bIns="0" rIns="0">
            <a:spAutoFit/>
          </a:bodyPr>
          <a:lstStyle/>
          <a:p>
            <a:pPr algn="l">
              <a:lnSpc>
                <a:spcPts val="2191"/>
              </a:lnSpc>
            </a:pPr>
            <a:r>
              <a:rPr lang="en-US" b="true" sz="2029">
                <a:solidFill>
                  <a:srgbClr val="201E1D"/>
                </a:solidFill>
                <a:latin typeface="Arimo Bold"/>
                <a:ea typeface="Arimo Bold"/>
                <a:cs typeface="Arimo Bold"/>
                <a:sym typeface="Arimo Bold"/>
              </a:rPr>
              <a:t>p</a:t>
            </a:r>
          </a:p>
        </p:txBody>
      </p:sp>
      <p:sp>
        <p:nvSpPr>
          <p:cNvPr name="TextBox 28" id="28"/>
          <p:cNvSpPr txBox="true"/>
          <p:nvPr/>
        </p:nvSpPr>
        <p:spPr>
          <a:xfrm rot="0">
            <a:off x="1515142" y="5610511"/>
            <a:ext cx="247650" cy="257175"/>
          </a:xfrm>
          <a:prstGeom prst="rect">
            <a:avLst/>
          </a:prstGeom>
        </p:spPr>
        <p:txBody>
          <a:bodyPr anchor="t" rtlCol="false" tIns="0" lIns="0" bIns="0" rIns="0">
            <a:spAutoFit/>
          </a:bodyPr>
          <a:lstStyle/>
          <a:p>
            <a:pPr algn="l">
              <a:lnSpc>
                <a:spcPts val="2191"/>
              </a:lnSpc>
            </a:pPr>
            <a:r>
              <a:rPr lang="en-US" b="true" sz="2029">
                <a:solidFill>
                  <a:srgbClr val="201E1D"/>
                </a:solidFill>
                <a:latin typeface="Arimo Bold"/>
                <a:ea typeface="Arimo Bold"/>
                <a:cs typeface="Arimo Bold"/>
                <a:sym typeface="Arimo Bold"/>
              </a:rPr>
              <a:t>q</a:t>
            </a:r>
          </a:p>
        </p:txBody>
      </p:sp>
      <p:sp>
        <p:nvSpPr>
          <p:cNvPr name="TextBox 29" id="29"/>
          <p:cNvSpPr txBox="true"/>
          <p:nvPr/>
        </p:nvSpPr>
        <p:spPr>
          <a:xfrm rot="0">
            <a:off x="1485138" y="5809393"/>
            <a:ext cx="3629025" cy="495300"/>
          </a:xfrm>
          <a:prstGeom prst="rect">
            <a:avLst/>
          </a:prstGeom>
        </p:spPr>
        <p:txBody>
          <a:bodyPr anchor="t" rtlCol="false" tIns="0" lIns="0" bIns="0" rIns="0">
            <a:spAutoFit/>
          </a:bodyPr>
          <a:lstStyle/>
          <a:p>
            <a:pPr algn="l">
              <a:lnSpc>
                <a:spcPts val="3415"/>
              </a:lnSpc>
            </a:pPr>
            <a:r>
              <a:rPr lang="en-US" b="true" sz="2475">
                <a:solidFill>
                  <a:srgbClr val="201E1D"/>
                </a:solidFill>
                <a:latin typeface="Arimo Bold"/>
                <a:ea typeface="Arimo Bold"/>
                <a:cs typeface="Arimo Bold"/>
                <a:sym typeface="Arimo Bold"/>
              </a:rPr>
              <a:t>to make y the subject. [2]</a:t>
            </a:r>
          </a:p>
        </p:txBody>
      </p:sp>
      <p:sp>
        <p:nvSpPr>
          <p:cNvPr name="TextBox 30" id="30"/>
          <p:cNvSpPr txBox="true"/>
          <p:nvPr/>
        </p:nvSpPr>
        <p:spPr>
          <a:xfrm rot="0">
            <a:off x="9334500" y="2224945"/>
            <a:ext cx="342900" cy="466725"/>
          </a:xfrm>
          <a:prstGeom prst="rect">
            <a:avLst/>
          </a:prstGeom>
        </p:spPr>
        <p:txBody>
          <a:bodyPr anchor="t" rtlCol="false" tIns="0" lIns="0" bIns="0" rIns="0">
            <a:spAutoFit/>
          </a:bodyPr>
          <a:lstStyle/>
          <a:p>
            <a:pPr algn="l">
              <a:lnSpc>
                <a:spcPts val="3208"/>
              </a:lnSpc>
            </a:pPr>
            <a:r>
              <a:rPr lang="en-US" b="true" sz="2325">
                <a:solidFill>
                  <a:srgbClr val="56633F"/>
                </a:solidFill>
                <a:latin typeface="Arimo Bold"/>
                <a:ea typeface="Arimo Bold"/>
                <a:cs typeface="Arimo Bold"/>
                <a:sym typeface="Arimo Bold"/>
              </a:rPr>
              <a:t>2</a:t>
            </a:r>
          </a:p>
        </p:txBody>
      </p:sp>
      <p:sp>
        <p:nvSpPr>
          <p:cNvPr name="TextBox 31" id="31"/>
          <p:cNvSpPr txBox="true"/>
          <p:nvPr/>
        </p:nvSpPr>
        <p:spPr>
          <a:xfrm rot="0">
            <a:off x="9829800" y="2224945"/>
            <a:ext cx="7467600" cy="466725"/>
          </a:xfrm>
          <a:prstGeom prst="rect">
            <a:avLst/>
          </a:prstGeom>
        </p:spPr>
        <p:txBody>
          <a:bodyPr anchor="t" rtlCol="false" tIns="0" lIns="0" bIns="0" rIns="0">
            <a:spAutoFit/>
          </a:bodyPr>
          <a:lstStyle/>
          <a:p>
            <a:pPr algn="l">
              <a:lnSpc>
                <a:spcPts val="3208"/>
              </a:lnSpc>
            </a:pPr>
            <a:r>
              <a:rPr lang="en-US" b="true" sz="2325">
                <a:solidFill>
                  <a:srgbClr val="201E1D"/>
                </a:solidFill>
                <a:latin typeface="Arimo Bold"/>
                <a:ea typeface="Arimo Bold"/>
                <a:cs typeface="Arimo Bold"/>
                <a:sym typeface="Arimo Bold"/>
              </a:rPr>
              <a:t>Temperature drop =</a:t>
            </a:r>
          </a:p>
        </p:txBody>
      </p:sp>
      <p:sp>
        <p:nvSpPr>
          <p:cNvPr name="AutoShape 32" id="32"/>
          <p:cNvSpPr/>
          <p:nvPr/>
        </p:nvSpPr>
        <p:spPr>
          <a:xfrm rot="0">
            <a:off x="9859232" y="2949892"/>
            <a:ext cx="1781175" cy="28575"/>
          </a:xfrm>
          <a:prstGeom prst="rect">
            <a:avLst/>
          </a:prstGeom>
          <a:solidFill>
            <a:srgbClr val="201E1D"/>
          </a:solidFill>
        </p:spPr>
      </p:sp>
      <p:sp>
        <p:nvSpPr>
          <p:cNvPr name="TextBox 33" id="33"/>
          <p:cNvSpPr txBox="true"/>
          <p:nvPr/>
        </p:nvSpPr>
        <p:spPr>
          <a:xfrm rot="0">
            <a:off x="9859232" y="2702242"/>
            <a:ext cx="1781175" cy="276225"/>
          </a:xfrm>
          <a:prstGeom prst="rect">
            <a:avLst/>
          </a:prstGeom>
        </p:spPr>
        <p:txBody>
          <a:bodyPr anchor="t" rtlCol="false" tIns="0" lIns="0" bIns="0" rIns="0">
            <a:spAutoFit/>
          </a:bodyPr>
          <a:lstStyle/>
          <a:p>
            <a:pPr algn="l">
              <a:lnSpc>
                <a:spcPts val="2059"/>
              </a:lnSpc>
            </a:pPr>
            <a:r>
              <a:rPr lang="en-US" b="true" sz="1906">
                <a:solidFill>
                  <a:srgbClr val="201E1D"/>
                </a:solidFill>
                <a:latin typeface="Arimo Bold"/>
                <a:ea typeface="Arimo Bold"/>
                <a:cs typeface="Arimo Bold"/>
                <a:sym typeface="Arimo Bold"/>
              </a:rPr>
              <a:t>height increase</a:t>
            </a:r>
          </a:p>
        </p:txBody>
      </p:sp>
      <p:sp>
        <p:nvSpPr>
          <p:cNvPr name="TextBox 34" id="34"/>
          <p:cNvSpPr txBox="true"/>
          <p:nvPr/>
        </p:nvSpPr>
        <p:spPr>
          <a:xfrm rot="0">
            <a:off x="10478357" y="2992279"/>
            <a:ext cx="542925" cy="247650"/>
          </a:xfrm>
          <a:prstGeom prst="rect">
            <a:avLst/>
          </a:prstGeom>
        </p:spPr>
        <p:txBody>
          <a:bodyPr anchor="t" rtlCol="false" tIns="0" lIns="0" bIns="0" rIns="0">
            <a:spAutoFit/>
          </a:bodyPr>
          <a:lstStyle/>
          <a:p>
            <a:pPr algn="l">
              <a:lnSpc>
                <a:spcPts val="2059"/>
              </a:lnSpc>
            </a:pPr>
            <a:r>
              <a:rPr lang="en-US" b="true" sz="1906">
                <a:solidFill>
                  <a:srgbClr val="201E1D"/>
                </a:solidFill>
                <a:latin typeface="Arimo Bold"/>
                <a:ea typeface="Arimo Bold"/>
                <a:cs typeface="Arimo Bold"/>
                <a:sym typeface="Arimo Bold"/>
              </a:rPr>
              <a:t>200</a:t>
            </a:r>
          </a:p>
        </p:txBody>
      </p:sp>
      <p:sp>
        <p:nvSpPr>
          <p:cNvPr name="TextBox 35" id="35"/>
          <p:cNvSpPr txBox="true"/>
          <p:nvPr/>
        </p:nvSpPr>
        <p:spPr>
          <a:xfrm rot="0">
            <a:off x="9829800" y="3184112"/>
            <a:ext cx="7467600" cy="2095500"/>
          </a:xfrm>
          <a:prstGeom prst="rect">
            <a:avLst/>
          </a:prstGeom>
        </p:spPr>
        <p:txBody>
          <a:bodyPr anchor="t" rtlCol="false" tIns="0" lIns="0" bIns="0" rIns="0">
            <a:spAutoFit/>
          </a:bodyPr>
          <a:lstStyle/>
          <a:p>
            <a:pPr algn="l">
              <a:lnSpc>
                <a:spcPts val="3208"/>
              </a:lnSpc>
            </a:pPr>
          </a:p>
          <a:p>
            <a:pPr algn="l">
              <a:lnSpc>
                <a:spcPts val="3208"/>
              </a:lnSpc>
            </a:pPr>
            <a:r>
              <a:rPr lang="en-US" b="true" sz="2325">
                <a:solidFill>
                  <a:srgbClr val="201E1D"/>
                </a:solidFill>
                <a:latin typeface="Arimo Bold"/>
                <a:ea typeface="Arimo Bold"/>
                <a:cs typeface="Arimo Bold"/>
                <a:sym typeface="Arimo Bold"/>
              </a:rPr>
              <a:t>a It is 23 °C at 500 m. Find the temperature at 1300 m. [3]</a:t>
            </a:r>
          </a:p>
          <a:p>
            <a:pPr algn="l">
              <a:lnSpc>
                <a:spcPts val="3208"/>
              </a:lnSpc>
            </a:pPr>
            <a:r>
              <a:rPr lang="en-US" b="true" sz="2325">
                <a:solidFill>
                  <a:srgbClr val="201E1D"/>
                </a:solidFill>
                <a:latin typeface="Arimo Bold"/>
                <a:ea typeface="Arimo Bold"/>
                <a:cs typeface="Arimo Bold"/>
                <a:sym typeface="Arimo Bold"/>
              </a:rPr>
              <a:t>b How far must you climb for a 5 °C drop? [3]</a:t>
            </a:r>
          </a:p>
          <a:p>
            <a:pPr algn="l">
              <a:lnSpc>
                <a:spcPts val="3208"/>
              </a:lnSpc>
            </a:pPr>
            <a:r>
              <a:rPr lang="en-US" b="true" sz="2325">
                <a:solidFill>
                  <a:srgbClr val="201E1D"/>
                </a:solidFill>
                <a:latin typeface="Arimo Bold"/>
                <a:ea typeface="Arimo Bold"/>
                <a:cs typeface="Arimo Bold"/>
                <a:sym typeface="Arimo Bold"/>
              </a:rPr>
              <a:t>c New model: drop =</a:t>
            </a:r>
          </a:p>
        </p:txBody>
      </p:sp>
      <p:sp>
        <p:nvSpPr>
          <p:cNvPr name="AutoShape 36" id="36"/>
          <p:cNvSpPr/>
          <p:nvPr/>
        </p:nvSpPr>
        <p:spPr>
          <a:xfrm rot="0">
            <a:off x="9856375" y="5538121"/>
            <a:ext cx="2295525" cy="28575"/>
          </a:xfrm>
          <a:prstGeom prst="rect">
            <a:avLst/>
          </a:prstGeom>
          <a:solidFill>
            <a:srgbClr val="201E1D"/>
          </a:solidFill>
        </p:spPr>
      </p:sp>
      <p:sp>
        <p:nvSpPr>
          <p:cNvPr name="TextBox 37" id="37"/>
          <p:cNvSpPr txBox="true"/>
          <p:nvPr/>
        </p:nvSpPr>
        <p:spPr>
          <a:xfrm rot="0">
            <a:off x="9856375" y="5290471"/>
            <a:ext cx="2295525" cy="276225"/>
          </a:xfrm>
          <a:prstGeom prst="rect">
            <a:avLst/>
          </a:prstGeom>
        </p:spPr>
        <p:txBody>
          <a:bodyPr anchor="t" rtlCol="false" tIns="0" lIns="0" bIns="0" rIns="0">
            <a:spAutoFit/>
          </a:bodyPr>
          <a:lstStyle/>
          <a:p>
            <a:pPr algn="l">
              <a:lnSpc>
                <a:spcPts val="2059"/>
              </a:lnSpc>
            </a:pPr>
            <a:r>
              <a:rPr lang="en-US" b="true" sz="1906">
                <a:solidFill>
                  <a:srgbClr val="201E1D"/>
                </a:solidFill>
                <a:latin typeface="Arimo Bold"/>
                <a:ea typeface="Arimo Bold"/>
                <a:cs typeface="Arimo Bold"/>
                <a:sym typeface="Arimo Bold"/>
              </a:rPr>
              <a:t>height increase − 12</a:t>
            </a:r>
          </a:p>
        </p:txBody>
      </p:sp>
      <p:sp>
        <p:nvSpPr>
          <p:cNvPr name="TextBox 38" id="38"/>
          <p:cNvSpPr txBox="true"/>
          <p:nvPr/>
        </p:nvSpPr>
        <p:spPr>
          <a:xfrm rot="0">
            <a:off x="10885075" y="5580507"/>
            <a:ext cx="238125" cy="247650"/>
          </a:xfrm>
          <a:prstGeom prst="rect">
            <a:avLst/>
          </a:prstGeom>
        </p:spPr>
        <p:txBody>
          <a:bodyPr anchor="t" rtlCol="false" tIns="0" lIns="0" bIns="0" rIns="0">
            <a:spAutoFit/>
          </a:bodyPr>
          <a:lstStyle/>
          <a:p>
            <a:pPr algn="l">
              <a:lnSpc>
                <a:spcPts val="2059"/>
              </a:lnSpc>
            </a:pPr>
            <a:r>
              <a:rPr lang="en-US" b="true" sz="1906">
                <a:solidFill>
                  <a:srgbClr val="201E1D"/>
                </a:solidFill>
                <a:latin typeface="Arimo Bold"/>
                <a:ea typeface="Arimo Bold"/>
                <a:cs typeface="Arimo Bold"/>
                <a:sym typeface="Arimo Bold"/>
              </a:rPr>
              <a:t>q</a:t>
            </a:r>
          </a:p>
        </p:txBody>
      </p:sp>
      <p:sp>
        <p:nvSpPr>
          <p:cNvPr name="TextBox 39" id="39"/>
          <p:cNvSpPr txBox="true"/>
          <p:nvPr/>
        </p:nvSpPr>
        <p:spPr>
          <a:xfrm rot="0">
            <a:off x="9829800" y="5772055"/>
            <a:ext cx="7467600" cy="466725"/>
          </a:xfrm>
          <a:prstGeom prst="rect">
            <a:avLst/>
          </a:prstGeom>
        </p:spPr>
        <p:txBody>
          <a:bodyPr anchor="t" rtlCol="false" tIns="0" lIns="0" bIns="0" rIns="0">
            <a:spAutoFit/>
          </a:bodyPr>
          <a:lstStyle/>
          <a:p>
            <a:pPr algn="l">
              <a:lnSpc>
                <a:spcPts val="3208"/>
              </a:lnSpc>
            </a:pPr>
            <a:r>
              <a:rPr lang="en-US" b="true" sz="2325">
                <a:solidFill>
                  <a:srgbClr val="201E1D"/>
                </a:solidFill>
                <a:latin typeface="Arimo Bold"/>
                <a:ea typeface="Arimo Bold"/>
                <a:cs typeface="Arimo Bold"/>
                <a:sym typeface="Arimo Bold"/>
              </a:rPr>
              <a:t>. The drop is 13 °C for 700 m. Find q to 1 d.p. [3]</a:t>
            </a:r>
          </a:p>
        </p:txBody>
      </p:sp>
      <p:grpSp>
        <p:nvGrpSpPr>
          <p:cNvPr name="Group 40" id="40"/>
          <p:cNvGrpSpPr/>
          <p:nvPr/>
        </p:nvGrpSpPr>
        <p:grpSpPr>
          <a:xfrm rot="0">
            <a:off x="1316736" y="6801803"/>
            <a:ext cx="7699248" cy="2002536"/>
            <a:chOff x="0" y="0"/>
            <a:chExt cx="10265664" cy="2670048"/>
          </a:xfrm>
        </p:grpSpPr>
        <p:sp>
          <p:nvSpPr>
            <p:cNvPr name="Freeform 41" id="41"/>
            <p:cNvSpPr/>
            <p:nvPr/>
          </p:nvSpPr>
          <p:spPr>
            <a:xfrm flipH="false" flipV="false" rot="0">
              <a:off x="0" y="0"/>
              <a:ext cx="10265664" cy="2670048"/>
            </a:xfrm>
            <a:custGeom>
              <a:avLst/>
              <a:gdLst/>
              <a:ahLst/>
              <a:cxnLst/>
              <a:rect r="r" b="b" t="t" l="l"/>
              <a:pathLst>
                <a:path h="2670048" w="10265664">
                  <a:moveTo>
                    <a:pt x="355600" y="0"/>
                  </a:moveTo>
                  <a:lnTo>
                    <a:pt x="9910064" y="0"/>
                  </a:lnTo>
                  <a:cubicBezTo>
                    <a:pt x="10106406" y="0"/>
                    <a:pt x="10265664" y="159258"/>
                    <a:pt x="10265664" y="355600"/>
                  </a:cubicBezTo>
                  <a:lnTo>
                    <a:pt x="10265664" y="2314448"/>
                  </a:lnTo>
                  <a:cubicBezTo>
                    <a:pt x="10265664" y="2510790"/>
                    <a:pt x="10106406" y="2670048"/>
                    <a:pt x="9910064" y="2670048"/>
                  </a:cubicBezTo>
                  <a:lnTo>
                    <a:pt x="355600" y="2670048"/>
                  </a:lnTo>
                  <a:cubicBezTo>
                    <a:pt x="159258" y="2670048"/>
                    <a:pt x="0" y="2510790"/>
                    <a:pt x="0" y="2314448"/>
                  </a:cubicBezTo>
                  <a:lnTo>
                    <a:pt x="0" y="355600"/>
                  </a:lnTo>
                  <a:cubicBezTo>
                    <a:pt x="0" y="159258"/>
                    <a:pt x="159258" y="0"/>
                    <a:pt x="355600" y="0"/>
                  </a:cubicBezTo>
                  <a:close/>
                </a:path>
              </a:pathLst>
            </a:custGeom>
            <a:solidFill>
              <a:srgbClr val="F0FAE1"/>
            </a:solidFill>
          </p:spPr>
        </p:sp>
        <p:sp>
          <p:nvSpPr>
            <p:cNvPr name="Freeform 42" id="42"/>
            <p:cNvSpPr/>
            <p:nvPr/>
          </p:nvSpPr>
          <p:spPr>
            <a:xfrm flipH="false" flipV="false" rot="0">
              <a:off x="0" y="0"/>
              <a:ext cx="10265664" cy="2670048"/>
            </a:xfrm>
            <a:custGeom>
              <a:avLst/>
              <a:gdLst/>
              <a:ahLst/>
              <a:cxnLst/>
              <a:rect r="r" b="b" t="t" l="l"/>
              <a:pathLst>
                <a:path h="2670048" w="10265664">
                  <a:moveTo>
                    <a:pt x="355600" y="0"/>
                  </a:moveTo>
                  <a:lnTo>
                    <a:pt x="9910064" y="0"/>
                  </a:lnTo>
                  <a:cubicBezTo>
                    <a:pt x="10106406" y="0"/>
                    <a:pt x="10265664" y="159258"/>
                    <a:pt x="10265664" y="355600"/>
                  </a:cubicBezTo>
                  <a:lnTo>
                    <a:pt x="10265664" y="2314448"/>
                  </a:lnTo>
                  <a:cubicBezTo>
                    <a:pt x="10265664" y="2510790"/>
                    <a:pt x="10106406" y="2670048"/>
                    <a:pt x="9910064" y="2670048"/>
                  </a:cubicBezTo>
                  <a:lnTo>
                    <a:pt x="355600" y="2670048"/>
                  </a:lnTo>
                  <a:cubicBezTo>
                    <a:pt x="159258" y="2670048"/>
                    <a:pt x="0" y="2510790"/>
                    <a:pt x="0" y="2314448"/>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43" id="43"/>
          <p:cNvSpPr txBox="true"/>
          <p:nvPr/>
        </p:nvSpPr>
        <p:spPr>
          <a:xfrm rot="0">
            <a:off x="1600200" y="6944011"/>
            <a:ext cx="7132320"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44" id="44"/>
          <p:cNvSpPr txBox="true"/>
          <p:nvPr/>
        </p:nvSpPr>
        <p:spPr>
          <a:xfrm rot="0">
            <a:off x="1600200" y="7299674"/>
            <a:ext cx="329184" cy="431673"/>
          </a:xfrm>
          <a:prstGeom prst="rect">
            <a:avLst/>
          </a:prstGeom>
        </p:spPr>
        <p:txBody>
          <a:bodyPr anchor="t" rtlCol="false" tIns="0" lIns="0" bIns="0" rIns="0">
            <a:spAutoFit/>
          </a:bodyPr>
          <a:lstStyle/>
          <a:p>
            <a:pPr algn="l">
              <a:lnSpc>
                <a:spcPts val="3035"/>
              </a:lnSpc>
            </a:pPr>
            <a:r>
              <a:rPr lang="en-US" b="true" sz="2232">
                <a:solidFill>
                  <a:srgbClr val="3D472B"/>
                </a:solidFill>
                <a:latin typeface="Arimo Bold"/>
                <a:ea typeface="Arimo Bold"/>
                <a:cs typeface="Arimo Bold"/>
                <a:sym typeface="Arimo Bold"/>
              </a:rPr>
              <a:t>1</a:t>
            </a:r>
          </a:p>
        </p:txBody>
      </p:sp>
      <p:sp>
        <p:nvSpPr>
          <p:cNvPr name="TextBox 45" id="45"/>
          <p:cNvSpPr txBox="true"/>
          <p:nvPr/>
        </p:nvSpPr>
        <p:spPr>
          <a:xfrm rot="0">
            <a:off x="2076355" y="7299674"/>
            <a:ext cx="3886200" cy="431673"/>
          </a:xfrm>
          <a:prstGeom prst="rect">
            <a:avLst/>
          </a:prstGeom>
        </p:spPr>
        <p:txBody>
          <a:bodyPr anchor="t" rtlCol="false" tIns="0" lIns="0" bIns="0" rIns="0">
            <a:spAutoFit/>
          </a:bodyPr>
          <a:lstStyle/>
          <a:p>
            <a:pPr algn="l">
              <a:lnSpc>
                <a:spcPts val="3035"/>
              </a:lnSpc>
            </a:pPr>
            <a:r>
              <a:rPr lang="en-US" b="true" sz="2232">
                <a:solidFill>
                  <a:srgbClr val="201E1D"/>
                </a:solidFill>
                <a:latin typeface="Arimo Bold"/>
                <a:ea typeface="Arimo Bold"/>
                <a:cs typeface="Arimo Bold"/>
                <a:sym typeface="Arimo Bold"/>
              </a:rPr>
              <a:t>22 = 3p − 5 ⇒ 3p = 27 ⇒ p = 9</a:t>
            </a:r>
          </a:p>
        </p:txBody>
      </p:sp>
      <p:sp>
        <p:nvSpPr>
          <p:cNvPr name="TextBox 46" id="46"/>
          <p:cNvSpPr txBox="true"/>
          <p:nvPr/>
        </p:nvSpPr>
        <p:spPr>
          <a:xfrm rot="0">
            <a:off x="1600200" y="7740015"/>
            <a:ext cx="329184" cy="431673"/>
          </a:xfrm>
          <a:prstGeom prst="rect">
            <a:avLst/>
          </a:prstGeom>
        </p:spPr>
        <p:txBody>
          <a:bodyPr anchor="t" rtlCol="false" tIns="0" lIns="0" bIns="0" rIns="0">
            <a:spAutoFit/>
          </a:bodyPr>
          <a:lstStyle/>
          <a:p>
            <a:pPr algn="l">
              <a:lnSpc>
                <a:spcPts val="3035"/>
              </a:lnSpc>
            </a:pPr>
            <a:r>
              <a:rPr lang="en-US" b="true" sz="2232">
                <a:solidFill>
                  <a:srgbClr val="3D472B"/>
                </a:solidFill>
                <a:latin typeface="Arimo Bold"/>
                <a:ea typeface="Arimo Bold"/>
                <a:cs typeface="Arimo Bold"/>
                <a:sym typeface="Arimo Bold"/>
              </a:rPr>
              <a:t>3</a:t>
            </a:r>
          </a:p>
        </p:txBody>
      </p:sp>
      <p:sp>
        <p:nvSpPr>
          <p:cNvPr name="TextBox 47" id="47"/>
          <p:cNvSpPr txBox="true"/>
          <p:nvPr/>
        </p:nvSpPr>
        <p:spPr>
          <a:xfrm rot="0">
            <a:off x="2076926" y="7740015"/>
            <a:ext cx="2432304" cy="431673"/>
          </a:xfrm>
          <a:prstGeom prst="rect">
            <a:avLst/>
          </a:prstGeom>
        </p:spPr>
        <p:txBody>
          <a:bodyPr anchor="t" rtlCol="false" tIns="0" lIns="0" bIns="0" rIns="0">
            <a:spAutoFit/>
          </a:bodyPr>
          <a:lstStyle/>
          <a:p>
            <a:pPr algn="l">
              <a:lnSpc>
                <a:spcPts val="3035"/>
              </a:lnSpc>
            </a:pPr>
            <a:r>
              <a:rPr lang="en-US" b="true" sz="2232">
                <a:solidFill>
                  <a:srgbClr val="201E1D"/>
                </a:solidFill>
                <a:latin typeface="Arimo Bold"/>
                <a:ea typeface="Arimo Bold"/>
                <a:cs typeface="Arimo Bold"/>
                <a:sym typeface="Arimo Bold"/>
              </a:rPr>
              <a:t>xq = py ⇒ y = qx/p</a:t>
            </a:r>
          </a:p>
        </p:txBody>
      </p:sp>
      <p:grpSp>
        <p:nvGrpSpPr>
          <p:cNvPr name="Group 48" id="48"/>
          <p:cNvGrpSpPr/>
          <p:nvPr/>
        </p:nvGrpSpPr>
        <p:grpSpPr>
          <a:xfrm rot="0">
            <a:off x="9272016" y="6801803"/>
            <a:ext cx="7699248" cy="2002536"/>
            <a:chOff x="0" y="0"/>
            <a:chExt cx="10265664" cy="2670048"/>
          </a:xfrm>
        </p:grpSpPr>
        <p:sp>
          <p:nvSpPr>
            <p:cNvPr name="Freeform 49" id="49"/>
            <p:cNvSpPr/>
            <p:nvPr/>
          </p:nvSpPr>
          <p:spPr>
            <a:xfrm flipH="false" flipV="false" rot="0">
              <a:off x="0" y="0"/>
              <a:ext cx="10265664" cy="2670048"/>
            </a:xfrm>
            <a:custGeom>
              <a:avLst/>
              <a:gdLst/>
              <a:ahLst/>
              <a:cxnLst/>
              <a:rect r="r" b="b" t="t" l="l"/>
              <a:pathLst>
                <a:path h="2670048" w="10265664">
                  <a:moveTo>
                    <a:pt x="355600" y="0"/>
                  </a:moveTo>
                  <a:lnTo>
                    <a:pt x="9910064" y="0"/>
                  </a:lnTo>
                  <a:cubicBezTo>
                    <a:pt x="10106406" y="0"/>
                    <a:pt x="10265664" y="159258"/>
                    <a:pt x="10265664" y="355600"/>
                  </a:cubicBezTo>
                  <a:lnTo>
                    <a:pt x="10265664" y="2314448"/>
                  </a:lnTo>
                  <a:cubicBezTo>
                    <a:pt x="10265664" y="2510790"/>
                    <a:pt x="10106406" y="2670048"/>
                    <a:pt x="9910064" y="2670048"/>
                  </a:cubicBezTo>
                  <a:lnTo>
                    <a:pt x="355600" y="2670048"/>
                  </a:lnTo>
                  <a:cubicBezTo>
                    <a:pt x="159258" y="2670048"/>
                    <a:pt x="0" y="2510790"/>
                    <a:pt x="0" y="2314448"/>
                  </a:cubicBezTo>
                  <a:lnTo>
                    <a:pt x="0" y="355600"/>
                  </a:lnTo>
                  <a:cubicBezTo>
                    <a:pt x="0" y="159258"/>
                    <a:pt x="159258" y="0"/>
                    <a:pt x="355600" y="0"/>
                  </a:cubicBezTo>
                  <a:close/>
                </a:path>
              </a:pathLst>
            </a:custGeom>
            <a:solidFill>
              <a:srgbClr val="F0FAE1"/>
            </a:solidFill>
          </p:spPr>
        </p:sp>
        <p:sp>
          <p:nvSpPr>
            <p:cNvPr name="Freeform 50" id="50"/>
            <p:cNvSpPr/>
            <p:nvPr/>
          </p:nvSpPr>
          <p:spPr>
            <a:xfrm flipH="false" flipV="false" rot="0">
              <a:off x="0" y="0"/>
              <a:ext cx="10265664" cy="2670048"/>
            </a:xfrm>
            <a:custGeom>
              <a:avLst/>
              <a:gdLst/>
              <a:ahLst/>
              <a:cxnLst/>
              <a:rect r="r" b="b" t="t" l="l"/>
              <a:pathLst>
                <a:path h="2670048" w="10265664">
                  <a:moveTo>
                    <a:pt x="355600" y="0"/>
                  </a:moveTo>
                  <a:lnTo>
                    <a:pt x="9910064" y="0"/>
                  </a:lnTo>
                  <a:cubicBezTo>
                    <a:pt x="10106406" y="0"/>
                    <a:pt x="10265664" y="159258"/>
                    <a:pt x="10265664" y="355600"/>
                  </a:cubicBezTo>
                  <a:lnTo>
                    <a:pt x="10265664" y="2314448"/>
                  </a:lnTo>
                  <a:cubicBezTo>
                    <a:pt x="10265664" y="2510790"/>
                    <a:pt x="10106406" y="2670048"/>
                    <a:pt x="9910064" y="2670048"/>
                  </a:cubicBezTo>
                  <a:lnTo>
                    <a:pt x="355600" y="2670048"/>
                  </a:lnTo>
                  <a:cubicBezTo>
                    <a:pt x="159258" y="2670048"/>
                    <a:pt x="0" y="2510790"/>
                    <a:pt x="0" y="2314448"/>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51" id="51"/>
          <p:cNvSpPr txBox="true"/>
          <p:nvPr/>
        </p:nvSpPr>
        <p:spPr>
          <a:xfrm rot="0">
            <a:off x="9555480" y="6944011"/>
            <a:ext cx="7132320"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52" id="52"/>
          <p:cNvSpPr txBox="true"/>
          <p:nvPr/>
        </p:nvSpPr>
        <p:spPr>
          <a:xfrm rot="0">
            <a:off x="9555480" y="7299674"/>
            <a:ext cx="329184" cy="431673"/>
          </a:xfrm>
          <a:prstGeom prst="rect">
            <a:avLst/>
          </a:prstGeom>
        </p:spPr>
        <p:txBody>
          <a:bodyPr anchor="t" rtlCol="false" tIns="0" lIns="0" bIns="0" rIns="0">
            <a:spAutoFit/>
          </a:bodyPr>
          <a:lstStyle/>
          <a:p>
            <a:pPr algn="l">
              <a:lnSpc>
                <a:spcPts val="3035"/>
              </a:lnSpc>
            </a:pPr>
            <a:r>
              <a:rPr lang="en-US" b="true" sz="2232">
                <a:solidFill>
                  <a:srgbClr val="3D472B"/>
                </a:solidFill>
                <a:latin typeface="Arimo Bold"/>
                <a:ea typeface="Arimo Bold"/>
                <a:cs typeface="Arimo Bold"/>
                <a:sym typeface="Arimo Bold"/>
              </a:rPr>
              <a:t>2a</a:t>
            </a:r>
          </a:p>
        </p:txBody>
      </p:sp>
      <p:sp>
        <p:nvSpPr>
          <p:cNvPr name="TextBox 53" id="53"/>
          <p:cNvSpPr txBox="true"/>
          <p:nvPr/>
        </p:nvSpPr>
        <p:spPr>
          <a:xfrm rot="0">
            <a:off x="10032206" y="7299674"/>
            <a:ext cx="4005072" cy="431673"/>
          </a:xfrm>
          <a:prstGeom prst="rect">
            <a:avLst/>
          </a:prstGeom>
        </p:spPr>
        <p:txBody>
          <a:bodyPr anchor="t" rtlCol="false" tIns="0" lIns="0" bIns="0" rIns="0">
            <a:spAutoFit/>
          </a:bodyPr>
          <a:lstStyle/>
          <a:p>
            <a:pPr algn="l">
              <a:lnSpc>
                <a:spcPts val="3035"/>
              </a:lnSpc>
            </a:pPr>
            <a:r>
              <a:rPr lang="en-US" b="true" sz="2232">
                <a:solidFill>
                  <a:srgbClr val="201E1D"/>
                </a:solidFill>
                <a:latin typeface="Arimo Bold"/>
                <a:ea typeface="Arimo Bold"/>
                <a:cs typeface="Arimo Bold"/>
                <a:sym typeface="Arimo Bold"/>
              </a:rPr>
              <a:t>800 ÷ 200 = 4 °C drop ⇒ 19 °C</a:t>
            </a:r>
          </a:p>
        </p:txBody>
      </p:sp>
      <p:sp>
        <p:nvSpPr>
          <p:cNvPr name="TextBox 54" id="54"/>
          <p:cNvSpPr txBox="true"/>
          <p:nvPr/>
        </p:nvSpPr>
        <p:spPr>
          <a:xfrm rot="0">
            <a:off x="9556718" y="7740015"/>
            <a:ext cx="338328" cy="431673"/>
          </a:xfrm>
          <a:prstGeom prst="rect">
            <a:avLst/>
          </a:prstGeom>
        </p:spPr>
        <p:txBody>
          <a:bodyPr anchor="t" rtlCol="false" tIns="0" lIns="0" bIns="0" rIns="0">
            <a:spAutoFit/>
          </a:bodyPr>
          <a:lstStyle/>
          <a:p>
            <a:pPr algn="l">
              <a:lnSpc>
                <a:spcPts val="3035"/>
              </a:lnSpc>
            </a:pPr>
            <a:r>
              <a:rPr lang="en-US" b="true" sz="2232">
                <a:solidFill>
                  <a:srgbClr val="3D472B"/>
                </a:solidFill>
                <a:latin typeface="Arimo Bold"/>
                <a:ea typeface="Arimo Bold"/>
                <a:cs typeface="Arimo Bold"/>
                <a:sym typeface="Arimo Bold"/>
              </a:rPr>
              <a:t>2b</a:t>
            </a:r>
          </a:p>
        </p:txBody>
      </p:sp>
      <p:sp>
        <p:nvSpPr>
          <p:cNvPr name="TextBox 55" id="55"/>
          <p:cNvSpPr txBox="true"/>
          <p:nvPr/>
        </p:nvSpPr>
        <p:spPr>
          <a:xfrm rot="0">
            <a:off x="10041350" y="7740015"/>
            <a:ext cx="2304288" cy="431673"/>
          </a:xfrm>
          <a:prstGeom prst="rect">
            <a:avLst/>
          </a:prstGeom>
        </p:spPr>
        <p:txBody>
          <a:bodyPr anchor="t" rtlCol="false" tIns="0" lIns="0" bIns="0" rIns="0">
            <a:spAutoFit/>
          </a:bodyPr>
          <a:lstStyle/>
          <a:p>
            <a:pPr algn="l">
              <a:lnSpc>
                <a:spcPts val="3035"/>
              </a:lnSpc>
            </a:pPr>
            <a:r>
              <a:rPr lang="en-US" b="true" sz="2232">
                <a:solidFill>
                  <a:srgbClr val="201E1D"/>
                </a:solidFill>
                <a:latin typeface="Arimo Bold"/>
                <a:ea typeface="Arimo Bold"/>
                <a:cs typeface="Arimo Bold"/>
                <a:sym typeface="Arimo Bold"/>
              </a:rPr>
              <a:t>5 × 200 = 1000 m</a:t>
            </a:r>
          </a:p>
        </p:txBody>
      </p:sp>
      <p:sp>
        <p:nvSpPr>
          <p:cNvPr name="TextBox 56" id="56"/>
          <p:cNvSpPr txBox="true"/>
          <p:nvPr/>
        </p:nvSpPr>
        <p:spPr>
          <a:xfrm rot="0">
            <a:off x="9555480" y="8180356"/>
            <a:ext cx="329184" cy="431673"/>
          </a:xfrm>
          <a:prstGeom prst="rect">
            <a:avLst/>
          </a:prstGeom>
        </p:spPr>
        <p:txBody>
          <a:bodyPr anchor="t" rtlCol="false" tIns="0" lIns="0" bIns="0" rIns="0">
            <a:spAutoFit/>
          </a:bodyPr>
          <a:lstStyle/>
          <a:p>
            <a:pPr algn="l">
              <a:lnSpc>
                <a:spcPts val="3035"/>
              </a:lnSpc>
            </a:pPr>
            <a:r>
              <a:rPr lang="en-US" b="true" sz="2232">
                <a:solidFill>
                  <a:srgbClr val="3D472B"/>
                </a:solidFill>
                <a:latin typeface="Arimo Bold"/>
                <a:ea typeface="Arimo Bold"/>
                <a:cs typeface="Arimo Bold"/>
                <a:sym typeface="Arimo Bold"/>
              </a:rPr>
              <a:t>2c</a:t>
            </a:r>
          </a:p>
        </p:txBody>
      </p:sp>
      <p:sp>
        <p:nvSpPr>
          <p:cNvPr name="TextBox 57" id="57"/>
          <p:cNvSpPr txBox="true"/>
          <p:nvPr/>
        </p:nvSpPr>
        <p:spPr>
          <a:xfrm rot="0">
            <a:off x="10029349" y="8180356"/>
            <a:ext cx="2724912" cy="431673"/>
          </a:xfrm>
          <a:prstGeom prst="rect">
            <a:avLst/>
          </a:prstGeom>
        </p:spPr>
        <p:txBody>
          <a:bodyPr anchor="t" rtlCol="false" tIns="0" lIns="0" bIns="0" rIns="0">
            <a:spAutoFit/>
          </a:bodyPr>
          <a:lstStyle/>
          <a:p>
            <a:pPr algn="l">
              <a:lnSpc>
                <a:spcPts val="3035"/>
              </a:lnSpc>
            </a:pPr>
            <a:r>
              <a:rPr lang="en-US" b="true" sz="2232">
                <a:solidFill>
                  <a:srgbClr val="201E1D"/>
                </a:solidFill>
                <a:latin typeface="Arimo Bold"/>
                <a:ea typeface="Arimo Bold"/>
                <a:cs typeface="Arimo Bold"/>
                <a:sym typeface="Arimo Bold"/>
              </a:rPr>
              <a:t>13q = 688 ⇒ q = 52.9</a:t>
            </a:r>
          </a:p>
        </p:txBody>
      </p:sp>
      <p:grpSp>
        <p:nvGrpSpPr>
          <p:cNvPr name="Group 58" id="58"/>
          <p:cNvGrpSpPr/>
          <p:nvPr/>
        </p:nvGrpSpPr>
        <p:grpSpPr>
          <a:xfrm rot="0">
            <a:off x="989838" y="9010650"/>
            <a:ext cx="3209925" cy="666750"/>
            <a:chOff x="0" y="0"/>
            <a:chExt cx="4279900" cy="889000"/>
          </a:xfrm>
        </p:grpSpPr>
        <p:sp>
          <p:nvSpPr>
            <p:cNvPr name="Freeform 59" id="59"/>
            <p:cNvSpPr/>
            <p:nvPr/>
          </p:nvSpPr>
          <p:spPr>
            <a:xfrm flipH="false" flipV="false" rot="0">
              <a:off x="0" y="0"/>
              <a:ext cx="4279900" cy="889000"/>
            </a:xfrm>
            <a:custGeom>
              <a:avLst/>
              <a:gdLst/>
              <a:ahLst/>
              <a:cxnLst/>
              <a:rect r="r" b="b" t="t" l="l"/>
              <a:pathLst>
                <a:path h="889000" w="4279900">
                  <a:moveTo>
                    <a:pt x="444500" y="0"/>
                  </a:moveTo>
                  <a:lnTo>
                    <a:pt x="3835400" y="0"/>
                  </a:lnTo>
                  <a:cubicBezTo>
                    <a:pt x="4080891" y="0"/>
                    <a:pt x="4279900" y="199009"/>
                    <a:pt x="4279900" y="444500"/>
                  </a:cubicBezTo>
                  <a:cubicBezTo>
                    <a:pt x="4279900" y="689991"/>
                    <a:pt x="4080891" y="889000"/>
                    <a:pt x="38354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grpSp>
      <p:sp>
        <p:nvSpPr>
          <p:cNvPr name="TextBox 60" id="60"/>
          <p:cNvSpPr txBox="true"/>
          <p:nvPr/>
        </p:nvSpPr>
        <p:spPr>
          <a:xfrm rot="0">
            <a:off x="1361313" y="9153525"/>
            <a:ext cx="2466975" cy="361950"/>
          </a:xfrm>
          <a:prstGeom prst="rect">
            <a:avLst/>
          </a:prstGeom>
        </p:spPr>
        <p:txBody>
          <a:bodyPr anchor="t" rtlCol="false" tIns="0" lIns="0" bIns="0" rIns="0">
            <a:spAutoFit/>
          </a:bodyPr>
          <a:lstStyle/>
          <a:p>
            <a:pPr algn="ctr">
              <a:lnSpc>
                <a:spcPts val="2700"/>
              </a:lnSpc>
            </a:pPr>
            <a:r>
              <a:rPr lang="en-US" b="true" sz="2250" spc="-44">
                <a:solidFill>
                  <a:srgbClr val="F5EAD8"/>
                </a:solidFill>
                <a:latin typeface="Arimo Bold"/>
                <a:ea typeface="Arimo Bold"/>
                <a:cs typeface="Arimo Bold"/>
                <a:sym typeface="Arimo Bold"/>
              </a:rPr>
              <a:t>Reveal the answers</a:t>
            </a:r>
          </a:p>
        </p:txBody>
      </p:sp>
    </p:spTree>
  </p:cSld>
  <p:clrMapOvr>
    <a:masterClrMapping/>
  </p:clrMapOvr>
</p:sld>
</file>

<file path=ppt/slides/slide4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E1EECC"/>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FFC6A5"/>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CCDBB2"/>
            </a:solidFill>
          </p:spPr>
        </p:sp>
      </p:grpSp>
      <p:grpSp>
        <p:nvGrpSpPr>
          <p:cNvPr name="Group 9" id="9"/>
          <p:cNvGrpSpPr/>
          <p:nvPr/>
        </p:nvGrpSpPr>
        <p:grpSpPr>
          <a:xfrm rot="0">
            <a:off x="989743" y="611505"/>
            <a:ext cx="4286250" cy="600075"/>
            <a:chOff x="0" y="0"/>
            <a:chExt cx="5715000" cy="800100"/>
          </a:xfrm>
        </p:grpSpPr>
        <p:sp>
          <p:nvSpPr>
            <p:cNvPr name="Freeform 10" id="10"/>
            <p:cNvSpPr/>
            <p:nvPr/>
          </p:nvSpPr>
          <p:spPr>
            <a:xfrm flipH="false" flipV="false" rot="0">
              <a:off x="0" y="0"/>
              <a:ext cx="5715000" cy="800100"/>
            </a:xfrm>
            <a:custGeom>
              <a:avLst/>
              <a:gdLst/>
              <a:ahLst/>
              <a:cxnLst/>
              <a:rect r="r" b="b" t="t" l="l"/>
              <a:pathLst>
                <a:path h="800100" w="5715000">
                  <a:moveTo>
                    <a:pt x="400050" y="0"/>
                  </a:moveTo>
                  <a:lnTo>
                    <a:pt x="5314950" y="0"/>
                  </a:lnTo>
                  <a:cubicBezTo>
                    <a:pt x="5535930" y="0"/>
                    <a:pt x="5715000" y="179070"/>
                    <a:pt x="5715000" y="400050"/>
                  </a:cubicBezTo>
                  <a:cubicBezTo>
                    <a:pt x="5715000" y="621030"/>
                    <a:pt x="5535930" y="800100"/>
                    <a:pt x="5314950" y="800100"/>
                  </a:cubicBezTo>
                  <a:lnTo>
                    <a:pt x="400050" y="800100"/>
                  </a:lnTo>
                  <a:cubicBezTo>
                    <a:pt x="179070" y="800100"/>
                    <a:pt x="0" y="621030"/>
                    <a:pt x="0" y="400050"/>
                  </a:cubicBezTo>
                  <a:cubicBezTo>
                    <a:pt x="0" y="179070"/>
                    <a:pt x="179070" y="0"/>
                    <a:pt x="400050" y="0"/>
                  </a:cubicBezTo>
                  <a:close/>
                </a:path>
              </a:pathLst>
            </a:custGeom>
            <a:solidFill>
              <a:srgbClr val="56633F"/>
            </a:solidFill>
          </p:spPr>
        </p:sp>
        <p:sp>
          <p:nvSpPr>
            <p:cNvPr name="TextBox 11" id="11"/>
            <p:cNvSpPr txBox="true"/>
            <p:nvPr/>
          </p:nvSpPr>
          <p:spPr>
            <a:xfrm>
              <a:off x="0" y="-76200"/>
              <a:ext cx="57150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PRACTICE QUESTIONS 4–7</a:t>
              </a:r>
            </a:p>
          </p:txBody>
        </p:sp>
      </p:grpSp>
      <p:sp>
        <p:nvSpPr>
          <p:cNvPr name="TextBox 12" id="12"/>
          <p:cNvSpPr txBox="true"/>
          <p:nvPr/>
        </p:nvSpPr>
        <p:spPr>
          <a:xfrm rot="0">
            <a:off x="5465826" y="630555"/>
            <a:ext cx="1019175" cy="485775"/>
          </a:xfrm>
          <a:prstGeom prst="rect">
            <a:avLst/>
          </a:prstGeom>
        </p:spPr>
        <p:txBody>
          <a:bodyPr anchor="t" rtlCol="false" tIns="0" lIns="0" bIns="0" rIns="0">
            <a:spAutoFit/>
          </a:bodyPr>
          <a:lstStyle/>
          <a:p>
            <a:pPr algn="l">
              <a:lnSpc>
                <a:spcPts val="3255"/>
              </a:lnSpc>
            </a:pPr>
            <a:r>
              <a:rPr lang="en-US" b="true" sz="2100">
                <a:solidFill>
                  <a:srgbClr val="643312"/>
                </a:solidFill>
                <a:latin typeface="Arimo Bold"/>
                <a:ea typeface="Arimo Bold"/>
                <a:cs typeface="Arimo Bold"/>
                <a:sym typeface="Arimo Bold"/>
              </a:rPr>
              <a:t>Practice</a:t>
            </a:r>
          </a:p>
        </p:txBody>
      </p:sp>
      <p:sp>
        <p:nvSpPr>
          <p:cNvPr name="TextBox 13" id="13"/>
          <p:cNvSpPr txBox="true"/>
          <p:nvPr/>
        </p:nvSpPr>
        <p:spPr>
          <a:xfrm rot="0">
            <a:off x="990600" y="1510189"/>
            <a:ext cx="16306800" cy="523875"/>
          </a:xfrm>
          <a:prstGeom prst="rect">
            <a:avLst/>
          </a:prstGeom>
        </p:spPr>
        <p:txBody>
          <a:bodyPr anchor="t" rtlCol="false" tIns="0" lIns="0" bIns="0" rIns="0">
            <a:spAutoFit/>
          </a:bodyPr>
          <a:lstStyle/>
          <a:p>
            <a:pPr algn="l">
              <a:lnSpc>
                <a:spcPts val="4524"/>
              </a:lnSpc>
            </a:pPr>
            <a:r>
              <a:rPr lang="en-US" b="true" sz="4350" spc="-86">
                <a:solidFill>
                  <a:srgbClr val="201E1D"/>
                </a:solidFill>
                <a:latin typeface="Arimo Bold"/>
                <a:ea typeface="Arimo Bold"/>
                <a:cs typeface="Arimo Bold"/>
                <a:sym typeface="Arimo Bold"/>
              </a:rPr>
              <a:t>Factorise and form equations</a:t>
            </a:r>
          </a:p>
        </p:txBody>
      </p:sp>
      <p:sp>
        <p:nvSpPr>
          <p:cNvPr name="TextBox 14" id="14"/>
          <p:cNvSpPr txBox="true"/>
          <p:nvPr/>
        </p:nvSpPr>
        <p:spPr>
          <a:xfrm rot="0">
            <a:off x="990600" y="2226754"/>
            <a:ext cx="342900" cy="476250"/>
          </a:xfrm>
          <a:prstGeom prst="rect">
            <a:avLst/>
          </a:prstGeom>
        </p:spPr>
        <p:txBody>
          <a:bodyPr anchor="t" rtlCol="false" tIns="0" lIns="0" bIns="0" rIns="0">
            <a:spAutoFit/>
          </a:bodyPr>
          <a:lstStyle/>
          <a:p>
            <a:pPr algn="l">
              <a:lnSpc>
                <a:spcPts val="3311"/>
              </a:lnSpc>
            </a:pPr>
            <a:r>
              <a:rPr lang="en-US" b="true" sz="2400">
                <a:solidFill>
                  <a:srgbClr val="56633F"/>
                </a:solidFill>
                <a:latin typeface="Arimo Bold"/>
                <a:ea typeface="Arimo Bold"/>
                <a:cs typeface="Arimo Bold"/>
                <a:sym typeface="Arimo Bold"/>
              </a:rPr>
              <a:t>4</a:t>
            </a:r>
          </a:p>
        </p:txBody>
      </p:sp>
      <p:sp>
        <p:nvSpPr>
          <p:cNvPr name="TextBox 15" id="15"/>
          <p:cNvSpPr txBox="true"/>
          <p:nvPr/>
        </p:nvSpPr>
        <p:spPr>
          <a:xfrm rot="0">
            <a:off x="1485709" y="2226754"/>
            <a:ext cx="4448175" cy="476250"/>
          </a:xfrm>
          <a:prstGeom prst="rect">
            <a:avLst/>
          </a:prstGeom>
        </p:spPr>
        <p:txBody>
          <a:bodyPr anchor="t" rtlCol="false" tIns="0" lIns="0" bIns="0" rIns="0">
            <a:spAutoFit/>
          </a:bodyPr>
          <a:lstStyle/>
          <a:p>
            <a:pPr algn="l">
              <a:lnSpc>
                <a:spcPts val="3311"/>
              </a:lnSpc>
            </a:pPr>
            <a:r>
              <a:rPr lang="en-US" b="true" sz="2400">
                <a:solidFill>
                  <a:srgbClr val="201E1D"/>
                </a:solidFill>
                <a:latin typeface="Arimo Bold"/>
                <a:ea typeface="Arimo Bold"/>
                <a:cs typeface="Arimo Bold"/>
                <a:sym typeface="Arimo Bold"/>
              </a:rPr>
              <a:t>Factorise x⁴y³ + 7x²y − 3x³y³. [3]</a:t>
            </a:r>
          </a:p>
        </p:txBody>
      </p:sp>
      <p:sp>
        <p:nvSpPr>
          <p:cNvPr name="TextBox 16" id="16"/>
          <p:cNvSpPr txBox="true"/>
          <p:nvPr/>
        </p:nvSpPr>
        <p:spPr>
          <a:xfrm rot="0">
            <a:off x="990600" y="2742628"/>
            <a:ext cx="342900" cy="476250"/>
          </a:xfrm>
          <a:prstGeom prst="rect">
            <a:avLst/>
          </a:prstGeom>
        </p:spPr>
        <p:txBody>
          <a:bodyPr anchor="t" rtlCol="false" tIns="0" lIns="0" bIns="0" rIns="0">
            <a:spAutoFit/>
          </a:bodyPr>
          <a:lstStyle/>
          <a:p>
            <a:pPr algn="l">
              <a:lnSpc>
                <a:spcPts val="3311"/>
              </a:lnSpc>
            </a:pPr>
            <a:r>
              <a:rPr lang="en-US" b="true" sz="2400">
                <a:solidFill>
                  <a:srgbClr val="56633F"/>
                </a:solidFill>
                <a:latin typeface="Arimo Bold"/>
                <a:ea typeface="Arimo Bold"/>
                <a:cs typeface="Arimo Bold"/>
                <a:sym typeface="Arimo Bold"/>
              </a:rPr>
              <a:t>5</a:t>
            </a:r>
          </a:p>
        </p:txBody>
      </p:sp>
      <p:sp>
        <p:nvSpPr>
          <p:cNvPr name="TextBox 17" id="17"/>
          <p:cNvSpPr txBox="true"/>
          <p:nvPr/>
        </p:nvSpPr>
        <p:spPr>
          <a:xfrm rot="0">
            <a:off x="1485900" y="2743390"/>
            <a:ext cx="7467600" cy="895350"/>
          </a:xfrm>
          <a:prstGeom prst="rect">
            <a:avLst/>
          </a:prstGeom>
        </p:spPr>
        <p:txBody>
          <a:bodyPr anchor="t" rtlCol="false" tIns="0" lIns="0" bIns="0" rIns="0">
            <a:spAutoFit/>
          </a:bodyPr>
          <a:lstStyle/>
          <a:p>
            <a:pPr algn="l">
              <a:lnSpc>
                <a:spcPts val="3311"/>
              </a:lnSpc>
            </a:pPr>
            <a:r>
              <a:rPr lang="en-US" b="true" sz="2400">
                <a:solidFill>
                  <a:srgbClr val="201E1D"/>
                </a:solidFill>
                <a:latin typeface="Arimo Bold"/>
                <a:ea typeface="Arimo Bold"/>
                <a:cs typeface="Arimo Bold"/>
                <a:sym typeface="Arimo Bold"/>
              </a:rPr>
              <a:t>3 more than 80% of my number is twice as large as 2 more than 60% of my number. Find my number. [4]</a:t>
            </a:r>
          </a:p>
        </p:txBody>
      </p:sp>
      <p:sp>
        <p:nvSpPr>
          <p:cNvPr name="TextBox 18" id="18"/>
          <p:cNvSpPr txBox="true"/>
          <p:nvPr/>
        </p:nvSpPr>
        <p:spPr>
          <a:xfrm rot="0">
            <a:off x="9334500" y="2226754"/>
            <a:ext cx="342900" cy="476250"/>
          </a:xfrm>
          <a:prstGeom prst="rect">
            <a:avLst/>
          </a:prstGeom>
        </p:spPr>
        <p:txBody>
          <a:bodyPr anchor="t" rtlCol="false" tIns="0" lIns="0" bIns="0" rIns="0">
            <a:spAutoFit/>
          </a:bodyPr>
          <a:lstStyle/>
          <a:p>
            <a:pPr algn="l">
              <a:lnSpc>
                <a:spcPts val="3311"/>
              </a:lnSpc>
            </a:pPr>
            <a:r>
              <a:rPr lang="en-US" b="true" sz="2400">
                <a:solidFill>
                  <a:srgbClr val="56633F"/>
                </a:solidFill>
                <a:latin typeface="Arimo Bold"/>
                <a:ea typeface="Arimo Bold"/>
                <a:cs typeface="Arimo Bold"/>
                <a:sym typeface="Arimo Bold"/>
              </a:rPr>
              <a:t>6</a:t>
            </a:r>
          </a:p>
        </p:txBody>
      </p:sp>
      <p:sp>
        <p:nvSpPr>
          <p:cNvPr name="TextBox 19" id="19"/>
          <p:cNvSpPr txBox="true"/>
          <p:nvPr/>
        </p:nvSpPr>
        <p:spPr>
          <a:xfrm rot="0">
            <a:off x="9829800" y="2227516"/>
            <a:ext cx="7467600" cy="895350"/>
          </a:xfrm>
          <a:prstGeom prst="rect">
            <a:avLst/>
          </a:prstGeom>
        </p:spPr>
        <p:txBody>
          <a:bodyPr anchor="t" rtlCol="false" tIns="0" lIns="0" bIns="0" rIns="0">
            <a:spAutoFit/>
          </a:bodyPr>
          <a:lstStyle/>
          <a:p>
            <a:pPr algn="l">
              <a:lnSpc>
                <a:spcPts val="3311"/>
              </a:lnSpc>
            </a:pPr>
            <a:r>
              <a:rPr lang="en-US" b="true" sz="2400">
                <a:solidFill>
                  <a:srgbClr val="201E1D"/>
                </a:solidFill>
                <a:latin typeface="Arimo Bold"/>
                <a:ea typeface="Arimo Bold"/>
                <a:cs typeface="Arimo Bold"/>
                <a:sym typeface="Arimo Bold"/>
              </a:rPr>
              <a:t>The sum of three consecutive odd numbers is 69. Find the smallest. [3]</a:t>
            </a:r>
          </a:p>
        </p:txBody>
      </p:sp>
      <p:sp>
        <p:nvSpPr>
          <p:cNvPr name="TextBox 20" id="20"/>
          <p:cNvSpPr txBox="true"/>
          <p:nvPr/>
        </p:nvSpPr>
        <p:spPr>
          <a:xfrm rot="0">
            <a:off x="9334500" y="3163157"/>
            <a:ext cx="342900" cy="476250"/>
          </a:xfrm>
          <a:prstGeom prst="rect">
            <a:avLst/>
          </a:prstGeom>
        </p:spPr>
        <p:txBody>
          <a:bodyPr anchor="t" rtlCol="false" tIns="0" lIns="0" bIns="0" rIns="0">
            <a:spAutoFit/>
          </a:bodyPr>
          <a:lstStyle/>
          <a:p>
            <a:pPr algn="l">
              <a:lnSpc>
                <a:spcPts val="3311"/>
              </a:lnSpc>
            </a:pPr>
            <a:r>
              <a:rPr lang="en-US" b="true" sz="2400">
                <a:solidFill>
                  <a:srgbClr val="56633F"/>
                </a:solidFill>
                <a:latin typeface="Arimo Bold"/>
                <a:ea typeface="Arimo Bold"/>
                <a:cs typeface="Arimo Bold"/>
                <a:sym typeface="Arimo Bold"/>
              </a:rPr>
              <a:t>7</a:t>
            </a:r>
          </a:p>
        </p:txBody>
      </p:sp>
      <p:sp>
        <p:nvSpPr>
          <p:cNvPr name="TextBox 21" id="21"/>
          <p:cNvSpPr txBox="true"/>
          <p:nvPr/>
        </p:nvSpPr>
        <p:spPr>
          <a:xfrm rot="0">
            <a:off x="9829800" y="3160681"/>
            <a:ext cx="7467600" cy="1743075"/>
          </a:xfrm>
          <a:prstGeom prst="rect">
            <a:avLst/>
          </a:prstGeom>
        </p:spPr>
        <p:txBody>
          <a:bodyPr anchor="t" rtlCol="false" tIns="0" lIns="0" bIns="0" rIns="0">
            <a:spAutoFit/>
          </a:bodyPr>
          <a:lstStyle/>
          <a:p>
            <a:pPr algn="l">
              <a:lnSpc>
                <a:spcPts val="3311"/>
              </a:lnSpc>
            </a:pPr>
            <a:r>
              <a:rPr lang="en-US" b="true" sz="2400">
                <a:solidFill>
                  <a:srgbClr val="201E1D"/>
                </a:solidFill>
                <a:latin typeface="Arimo Bold"/>
                <a:ea typeface="Arimo Bold"/>
                <a:cs typeface="Arimo Bold"/>
                <a:sym typeface="Arimo Bold"/>
              </a:rPr>
              <a:t>Correct answer +3, incorrect −1. Jamal answers 14 questions and scores 22. n = number right.</a:t>
            </a:r>
          </a:p>
          <a:p>
            <a:pPr algn="l">
              <a:lnSpc>
                <a:spcPts val="3311"/>
              </a:lnSpc>
            </a:pPr>
            <a:r>
              <a:rPr lang="en-US" b="true" sz="2400">
                <a:solidFill>
                  <a:srgbClr val="201E1D"/>
                </a:solidFill>
                <a:latin typeface="Arimo Bold"/>
                <a:ea typeface="Arimo Bold"/>
                <a:cs typeface="Arimo Bold"/>
                <a:sym typeface="Arimo Bold"/>
              </a:rPr>
              <a:t>a Expression for the number wrong. [1]</a:t>
            </a:r>
          </a:p>
          <a:p>
            <a:pPr algn="l">
              <a:lnSpc>
                <a:spcPts val="3311"/>
              </a:lnSpc>
            </a:pPr>
            <a:r>
              <a:rPr lang="en-US" b="true" sz="2400">
                <a:solidFill>
                  <a:srgbClr val="201E1D"/>
                </a:solidFill>
                <a:latin typeface="Arimo Bold"/>
                <a:ea typeface="Arimo Bold"/>
                <a:cs typeface="Arimo Bold"/>
                <a:sym typeface="Arimo Bold"/>
              </a:rPr>
              <a:t>b Form and solve an equation for n. [3]</a:t>
            </a:r>
          </a:p>
        </p:txBody>
      </p:sp>
      <p:grpSp>
        <p:nvGrpSpPr>
          <p:cNvPr name="Group 22" id="22"/>
          <p:cNvGrpSpPr/>
          <p:nvPr/>
        </p:nvGrpSpPr>
        <p:grpSpPr>
          <a:xfrm rot="0">
            <a:off x="1316736" y="5400199"/>
            <a:ext cx="7699248" cy="1965960"/>
            <a:chOff x="0" y="0"/>
            <a:chExt cx="10265664" cy="2621280"/>
          </a:xfrm>
        </p:grpSpPr>
        <p:sp>
          <p:nvSpPr>
            <p:cNvPr name="Freeform 23" id="23"/>
            <p:cNvSpPr/>
            <p:nvPr/>
          </p:nvSpPr>
          <p:spPr>
            <a:xfrm flipH="false" flipV="false" rot="0">
              <a:off x="0" y="0"/>
              <a:ext cx="10265664" cy="2621280"/>
            </a:xfrm>
            <a:custGeom>
              <a:avLst/>
              <a:gdLst/>
              <a:ahLst/>
              <a:cxnLst/>
              <a:rect r="r" b="b" t="t" l="l"/>
              <a:pathLst>
                <a:path h="2621280" w="10265664">
                  <a:moveTo>
                    <a:pt x="355600" y="0"/>
                  </a:moveTo>
                  <a:lnTo>
                    <a:pt x="9910064" y="0"/>
                  </a:lnTo>
                  <a:cubicBezTo>
                    <a:pt x="10106406" y="0"/>
                    <a:pt x="10265664" y="159258"/>
                    <a:pt x="10265664" y="355600"/>
                  </a:cubicBezTo>
                  <a:lnTo>
                    <a:pt x="10265664" y="2265680"/>
                  </a:lnTo>
                  <a:cubicBezTo>
                    <a:pt x="10265664" y="2462022"/>
                    <a:pt x="10106406" y="2621280"/>
                    <a:pt x="9910064" y="2621280"/>
                  </a:cubicBezTo>
                  <a:lnTo>
                    <a:pt x="355600" y="2621280"/>
                  </a:lnTo>
                  <a:cubicBezTo>
                    <a:pt x="159258" y="2621280"/>
                    <a:pt x="0" y="2462022"/>
                    <a:pt x="0" y="2265680"/>
                  </a:cubicBezTo>
                  <a:lnTo>
                    <a:pt x="0" y="355600"/>
                  </a:lnTo>
                  <a:cubicBezTo>
                    <a:pt x="0" y="159258"/>
                    <a:pt x="159258" y="0"/>
                    <a:pt x="355600" y="0"/>
                  </a:cubicBezTo>
                  <a:close/>
                </a:path>
              </a:pathLst>
            </a:custGeom>
            <a:solidFill>
              <a:srgbClr val="F0FAE1"/>
            </a:solidFill>
          </p:spPr>
        </p:sp>
        <p:sp>
          <p:nvSpPr>
            <p:cNvPr name="Freeform 24" id="24"/>
            <p:cNvSpPr/>
            <p:nvPr/>
          </p:nvSpPr>
          <p:spPr>
            <a:xfrm flipH="false" flipV="false" rot="0">
              <a:off x="0" y="0"/>
              <a:ext cx="10265664" cy="2621280"/>
            </a:xfrm>
            <a:custGeom>
              <a:avLst/>
              <a:gdLst/>
              <a:ahLst/>
              <a:cxnLst/>
              <a:rect r="r" b="b" t="t" l="l"/>
              <a:pathLst>
                <a:path h="2621280" w="10265664">
                  <a:moveTo>
                    <a:pt x="355600" y="0"/>
                  </a:moveTo>
                  <a:lnTo>
                    <a:pt x="9910064" y="0"/>
                  </a:lnTo>
                  <a:cubicBezTo>
                    <a:pt x="10106406" y="0"/>
                    <a:pt x="10265664" y="159258"/>
                    <a:pt x="10265664" y="355600"/>
                  </a:cubicBezTo>
                  <a:lnTo>
                    <a:pt x="10265664" y="2265680"/>
                  </a:lnTo>
                  <a:cubicBezTo>
                    <a:pt x="10265664" y="2462022"/>
                    <a:pt x="10106406" y="2621280"/>
                    <a:pt x="9910064" y="2621280"/>
                  </a:cubicBezTo>
                  <a:lnTo>
                    <a:pt x="355600" y="2621280"/>
                  </a:lnTo>
                  <a:cubicBezTo>
                    <a:pt x="159258" y="2621280"/>
                    <a:pt x="0" y="2462022"/>
                    <a:pt x="0" y="2265680"/>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25" id="25"/>
          <p:cNvSpPr txBox="true"/>
          <p:nvPr/>
        </p:nvSpPr>
        <p:spPr>
          <a:xfrm rot="0">
            <a:off x="1600200" y="5542788"/>
            <a:ext cx="7132320"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26" id="26"/>
          <p:cNvSpPr txBox="true"/>
          <p:nvPr/>
        </p:nvSpPr>
        <p:spPr>
          <a:xfrm rot="0">
            <a:off x="1600200" y="5896737"/>
            <a:ext cx="329184" cy="422529"/>
          </a:xfrm>
          <a:prstGeom prst="rect">
            <a:avLst/>
          </a:prstGeom>
        </p:spPr>
        <p:txBody>
          <a:bodyPr anchor="t" rtlCol="false" tIns="0" lIns="0" bIns="0" rIns="0">
            <a:spAutoFit/>
          </a:bodyPr>
          <a:lstStyle/>
          <a:p>
            <a:pPr algn="l">
              <a:lnSpc>
                <a:spcPts val="2937"/>
              </a:lnSpc>
            </a:pPr>
            <a:r>
              <a:rPr lang="en-US" b="true" sz="2160">
                <a:solidFill>
                  <a:srgbClr val="3D472B"/>
                </a:solidFill>
                <a:latin typeface="Arimo Bold"/>
                <a:ea typeface="Arimo Bold"/>
                <a:cs typeface="Arimo Bold"/>
                <a:sym typeface="Arimo Bold"/>
              </a:rPr>
              <a:t>4</a:t>
            </a:r>
          </a:p>
        </p:txBody>
      </p:sp>
      <p:sp>
        <p:nvSpPr>
          <p:cNvPr name="TextBox 27" id="27"/>
          <p:cNvSpPr txBox="true"/>
          <p:nvPr/>
        </p:nvSpPr>
        <p:spPr>
          <a:xfrm rot="0">
            <a:off x="2074545" y="5896737"/>
            <a:ext cx="2395728" cy="422529"/>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x²y(x²y² + 7 − 3xy²)</a:t>
            </a:r>
          </a:p>
        </p:txBody>
      </p:sp>
      <p:sp>
        <p:nvSpPr>
          <p:cNvPr name="TextBox 28" id="28"/>
          <p:cNvSpPr txBox="true"/>
          <p:nvPr/>
        </p:nvSpPr>
        <p:spPr>
          <a:xfrm rot="0">
            <a:off x="1600200" y="6324695"/>
            <a:ext cx="329184" cy="422529"/>
          </a:xfrm>
          <a:prstGeom prst="rect">
            <a:avLst/>
          </a:prstGeom>
        </p:spPr>
        <p:txBody>
          <a:bodyPr anchor="t" rtlCol="false" tIns="0" lIns="0" bIns="0" rIns="0">
            <a:spAutoFit/>
          </a:bodyPr>
          <a:lstStyle/>
          <a:p>
            <a:pPr algn="l">
              <a:lnSpc>
                <a:spcPts val="2937"/>
              </a:lnSpc>
            </a:pPr>
            <a:r>
              <a:rPr lang="en-US" b="true" sz="2160">
                <a:solidFill>
                  <a:srgbClr val="3D472B"/>
                </a:solidFill>
                <a:latin typeface="Arimo Bold"/>
                <a:ea typeface="Arimo Bold"/>
                <a:cs typeface="Arimo Bold"/>
                <a:sym typeface="Arimo Bold"/>
              </a:rPr>
              <a:t>5</a:t>
            </a:r>
          </a:p>
        </p:txBody>
      </p:sp>
      <p:sp>
        <p:nvSpPr>
          <p:cNvPr name="TextBox 29" id="29"/>
          <p:cNvSpPr txBox="true"/>
          <p:nvPr/>
        </p:nvSpPr>
        <p:spPr>
          <a:xfrm rot="0">
            <a:off x="2075688" y="6323743"/>
            <a:ext cx="6656832" cy="797433"/>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0.8x + 3 = 2(0.6x + 2) ⇒ 0.8x + 3 = 1.2x + 4 ⇒ x = −2.5</a:t>
            </a:r>
          </a:p>
        </p:txBody>
      </p:sp>
      <p:grpSp>
        <p:nvGrpSpPr>
          <p:cNvPr name="Group 30" id="30"/>
          <p:cNvGrpSpPr/>
          <p:nvPr/>
        </p:nvGrpSpPr>
        <p:grpSpPr>
          <a:xfrm rot="0">
            <a:off x="9272016" y="5400199"/>
            <a:ext cx="7699248" cy="1965960"/>
            <a:chOff x="0" y="0"/>
            <a:chExt cx="10265664" cy="2621280"/>
          </a:xfrm>
        </p:grpSpPr>
        <p:sp>
          <p:nvSpPr>
            <p:cNvPr name="Freeform 31" id="31"/>
            <p:cNvSpPr/>
            <p:nvPr/>
          </p:nvSpPr>
          <p:spPr>
            <a:xfrm flipH="false" flipV="false" rot="0">
              <a:off x="0" y="0"/>
              <a:ext cx="10265664" cy="2621280"/>
            </a:xfrm>
            <a:custGeom>
              <a:avLst/>
              <a:gdLst/>
              <a:ahLst/>
              <a:cxnLst/>
              <a:rect r="r" b="b" t="t" l="l"/>
              <a:pathLst>
                <a:path h="2621280" w="10265664">
                  <a:moveTo>
                    <a:pt x="355600" y="0"/>
                  </a:moveTo>
                  <a:lnTo>
                    <a:pt x="9910064" y="0"/>
                  </a:lnTo>
                  <a:cubicBezTo>
                    <a:pt x="10106406" y="0"/>
                    <a:pt x="10265664" y="159258"/>
                    <a:pt x="10265664" y="355600"/>
                  </a:cubicBezTo>
                  <a:lnTo>
                    <a:pt x="10265664" y="2265680"/>
                  </a:lnTo>
                  <a:cubicBezTo>
                    <a:pt x="10265664" y="2462022"/>
                    <a:pt x="10106406" y="2621280"/>
                    <a:pt x="9910064" y="2621280"/>
                  </a:cubicBezTo>
                  <a:lnTo>
                    <a:pt x="355600" y="2621280"/>
                  </a:lnTo>
                  <a:cubicBezTo>
                    <a:pt x="159258" y="2621280"/>
                    <a:pt x="0" y="2462022"/>
                    <a:pt x="0" y="2265680"/>
                  </a:cubicBezTo>
                  <a:lnTo>
                    <a:pt x="0" y="355600"/>
                  </a:lnTo>
                  <a:cubicBezTo>
                    <a:pt x="0" y="159258"/>
                    <a:pt x="159258" y="0"/>
                    <a:pt x="355600" y="0"/>
                  </a:cubicBezTo>
                  <a:close/>
                </a:path>
              </a:pathLst>
            </a:custGeom>
            <a:solidFill>
              <a:srgbClr val="F0FAE1"/>
            </a:solidFill>
          </p:spPr>
        </p:sp>
        <p:sp>
          <p:nvSpPr>
            <p:cNvPr name="Freeform 32" id="32"/>
            <p:cNvSpPr/>
            <p:nvPr/>
          </p:nvSpPr>
          <p:spPr>
            <a:xfrm flipH="false" flipV="false" rot="0">
              <a:off x="0" y="0"/>
              <a:ext cx="10265664" cy="2621280"/>
            </a:xfrm>
            <a:custGeom>
              <a:avLst/>
              <a:gdLst/>
              <a:ahLst/>
              <a:cxnLst/>
              <a:rect r="r" b="b" t="t" l="l"/>
              <a:pathLst>
                <a:path h="2621280" w="10265664">
                  <a:moveTo>
                    <a:pt x="355600" y="0"/>
                  </a:moveTo>
                  <a:lnTo>
                    <a:pt x="9910064" y="0"/>
                  </a:lnTo>
                  <a:cubicBezTo>
                    <a:pt x="10106406" y="0"/>
                    <a:pt x="10265664" y="159258"/>
                    <a:pt x="10265664" y="355600"/>
                  </a:cubicBezTo>
                  <a:lnTo>
                    <a:pt x="10265664" y="2265680"/>
                  </a:lnTo>
                  <a:cubicBezTo>
                    <a:pt x="10265664" y="2462022"/>
                    <a:pt x="10106406" y="2621280"/>
                    <a:pt x="9910064" y="2621280"/>
                  </a:cubicBezTo>
                  <a:lnTo>
                    <a:pt x="355600" y="2621280"/>
                  </a:lnTo>
                  <a:cubicBezTo>
                    <a:pt x="159258" y="2621280"/>
                    <a:pt x="0" y="2462022"/>
                    <a:pt x="0" y="2265680"/>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33" id="33"/>
          <p:cNvSpPr txBox="true"/>
          <p:nvPr/>
        </p:nvSpPr>
        <p:spPr>
          <a:xfrm rot="0">
            <a:off x="9555480" y="5542788"/>
            <a:ext cx="7132320"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34" id="34"/>
          <p:cNvSpPr txBox="true"/>
          <p:nvPr/>
        </p:nvSpPr>
        <p:spPr>
          <a:xfrm rot="0">
            <a:off x="9555480" y="5896737"/>
            <a:ext cx="329184" cy="422529"/>
          </a:xfrm>
          <a:prstGeom prst="rect">
            <a:avLst/>
          </a:prstGeom>
        </p:spPr>
        <p:txBody>
          <a:bodyPr anchor="t" rtlCol="false" tIns="0" lIns="0" bIns="0" rIns="0">
            <a:spAutoFit/>
          </a:bodyPr>
          <a:lstStyle/>
          <a:p>
            <a:pPr algn="l">
              <a:lnSpc>
                <a:spcPts val="2937"/>
              </a:lnSpc>
            </a:pPr>
            <a:r>
              <a:rPr lang="en-US" b="true" sz="2160">
                <a:solidFill>
                  <a:srgbClr val="3D472B"/>
                </a:solidFill>
                <a:latin typeface="Arimo Bold"/>
                <a:ea typeface="Arimo Bold"/>
                <a:cs typeface="Arimo Bold"/>
                <a:sym typeface="Arimo Bold"/>
              </a:rPr>
              <a:t>6</a:t>
            </a:r>
          </a:p>
        </p:txBody>
      </p:sp>
      <p:sp>
        <p:nvSpPr>
          <p:cNvPr name="TextBox 35" id="35"/>
          <p:cNvSpPr txBox="true"/>
          <p:nvPr/>
        </p:nvSpPr>
        <p:spPr>
          <a:xfrm rot="0">
            <a:off x="10032682" y="5896737"/>
            <a:ext cx="5495544" cy="422529"/>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n + (n + 2) + (n + 4) = 69 ⇒ 3n = 63 ⇒ n = 21</a:t>
            </a:r>
          </a:p>
        </p:txBody>
      </p:sp>
      <p:sp>
        <p:nvSpPr>
          <p:cNvPr name="TextBox 36" id="36"/>
          <p:cNvSpPr txBox="true"/>
          <p:nvPr/>
        </p:nvSpPr>
        <p:spPr>
          <a:xfrm rot="0">
            <a:off x="9555480" y="6324695"/>
            <a:ext cx="329184" cy="422529"/>
          </a:xfrm>
          <a:prstGeom prst="rect">
            <a:avLst/>
          </a:prstGeom>
        </p:spPr>
        <p:txBody>
          <a:bodyPr anchor="t" rtlCol="false" tIns="0" lIns="0" bIns="0" rIns="0">
            <a:spAutoFit/>
          </a:bodyPr>
          <a:lstStyle/>
          <a:p>
            <a:pPr algn="l">
              <a:lnSpc>
                <a:spcPts val="2937"/>
              </a:lnSpc>
            </a:pPr>
            <a:r>
              <a:rPr lang="en-US" b="true" sz="2160">
                <a:solidFill>
                  <a:srgbClr val="3D472B"/>
                </a:solidFill>
                <a:latin typeface="Arimo Bold"/>
                <a:ea typeface="Arimo Bold"/>
                <a:cs typeface="Arimo Bold"/>
                <a:sym typeface="Arimo Bold"/>
              </a:rPr>
              <a:t>7a</a:t>
            </a:r>
          </a:p>
        </p:txBody>
      </p:sp>
      <p:sp>
        <p:nvSpPr>
          <p:cNvPr name="TextBox 37" id="37"/>
          <p:cNvSpPr txBox="true"/>
          <p:nvPr/>
        </p:nvSpPr>
        <p:spPr>
          <a:xfrm rot="0">
            <a:off x="10029444" y="6324695"/>
            <a:ext cx="749808" cy="422529"/>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14 − n</a:t>
            </a:r>
          </a:p>
        </p:txBody>
      </p:sp>
      <p:sp>
        <p:nvSpPr>
          <p:cNvPr name="TextBox 38" id="38"/>
          <p:cNvSpPr txBox="true"/>
          <p:nvPr/>
        </p:nvSpPr>
        <p:spPr>
          <a:xfrm rot="0">
            <a:off x="9555480" y="6752558"/>
            <a:ext cx="329184" cy="422529"/>
          </a:xfrm>
          <a:prstGeom prst="rect">
            <a:avLst/>
          </a:prstGeom>
        </p:spPr>
        <p:txBody>
          <a:bodyPr anchor="t" rtlCol="false" tIns="0" lIns="0" bIns="0" rIns="0">
            <a:spAutoFit/>
          </a:bodyPr>
          <a:lstStyle/>
          <a:p>
            <a:pPr algn="l">
              <a:lnSpc>
                <a:spcPts val="2937"/>
              </a:lnSpc>
            </a:pPr>
            <a:r>
              <a:rPr lang="en-US" b="true" sz="2160">
                <a:solidFill>
                  <a:srgbClr val="3D472B"/>
                </a:solidFill>
                <a:latin typeface="Arimo Bold"/>
                <a:ea typeface="Arimo Bold"/>
                <a:cs typeface="Arimo Bold"/>
                <a:sym typeface="Arimo Bold"/>
              </a:rPr>
              <a:t>7b</a:t>
            </a:r>
          </a:p>
        </p:txBody>
      </p:sp>
      <p:sp>
        <p:nvSpPr>
          <p:cNvPr name="TextBox 39" id="39"/>
          <p:cNvSpPr txBox="true"/>
          <p:nvPr/>
        </p:nvSpPr>
        <p:spPr>
          <a:xfrm rot="0">
            <a:off x="10032492" y="6752558"/>
            <a:ext cx="4544568" cy="422529"/>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3n − (14 − n) = 22 ⇒ 4n = 36 ⇒ n = 9</a:t>
            </a:r>
          </a:p>
        </p:txBody>
      </p:sp>
      <p:grpSp>
        <p:nvGrpSpPr>
          <p:cNvPr name="Group 40" id="40"/>
          <p:cNvGrpSpPr/>
          <p:nvPr/>
        </p:nvGrpSpPr>
        <p:grpSpPr>
          <a:xfrm rot="0">
            <a:off x="989838" y="9010650"/>
            <a:ext cx="3209925" cy="666750"/>
            <a:chOff x="0" y="0"/>
            <a:chExt cx="4279900" cy="889000"/>
          </a:xfrm>
        </p:grpSpPr>
        <p:sp>
          <p:nvSpPr>
            <p:cNvPr name="Freeform 41" id="41"/>
            <p:cNvSpPr/>
            <p:nvPr/>
          </p:nvSpPr>
          <p:spPr>
            <a:xfrm flipH="false" flipV="false" rot="0">
              <a:off x="0" y="0"/>
              <a:ext cx="4279900" cy="889000"/>
            </a:xfrm>
            <a:custGeom>
              <a:avLst/>
              <a:gdLst/>
              <a:ahLst/>
              <a:cxnLst/>
              <a:rect r="r" b="b" t="t" l="l"/>
              <a:pathLst>
                <a:path h="889000" w="4279900">
                  <a:moveTo>
                    <a:pt x="444500" y="0"/>
                  </a:moveTo>
                  <a:lnTo>
                    <a:pt x="3835400" y="0"/>
                  </a:lnTo>
                  <a:cubicBezTo>
                    <a:pt x="4080891" y="0"/>
                    <a:pt x="4279900" y="199009"/>
                    <a:pt x="4279900" y="444500"/>
                  </a:cubicBezTo>
                  <a:cubicBezTo>
                    <a:pt x="4279900" y="689991"/>
                    <a:pt x="4080891" y="889000"/>
                    <a:pt x="38354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grpSp>
      <p:sp>
        <p:nvSpPr>
          <p:cNvPr name="TextBox 42" id="42"/>
          <p:cNvSpPr txBox="true"/>
          <p:nvPr/>
        </p:nvSpPr>
        <p:spPr>
          <a:xfrm rot="0">
            <a:off x="1361313" y="9153525"/>
            <a:ext cx="2466975" cy="361950"/>
          </a:xfrm>
          <a:prstGeom prst="rect">
            <a:avLst/>
          </a:prstGeom>
        </p:spPr>
        <p:txBody>
          <a:bodyPr anchor="t" rtlCol="false" tIns="0" lIns="0" bIns="0" rIns="0">
            <a:spAutoFit/>
          </a:bodyPr>
          <a:lstStyle/>
          <a:p>
            <a:pPr algn="ctr">
              <a:lnSpc>
                <a:spcPts val="2700"/>
              </a:lnSpc>
            </a:pPr>
            <a:r>
              <a:rPr lang="en-US" b="true" sz="2250" spc="-44">
                <a:solidFill>
                  <a:srgbClr val="F5EAD8"/>
                </a:solidFill>
                <a:latin typeface="Arimo Bold"/>
                <a:ea typeface="Arimo Bold"/>
                <a:cs typeface="Arimo Bold"/>
                <a:sym typeface="Arimo Bold"/>
              </a:rPr>
              <a:t>Reveal the answers</a:t>
            </a:r>
          </a:p>
        </p:txBody>
      </p:sp>
    </p:spTree>
  </p:cSld>
  <p:clrMapOvr>
    <a:masterClrMapping/>
  </p:clrMapOvr>
</p:sld>
</file>

<file path=ppt/slides/slide4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E1EECC"/>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FFC6A5"/>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CCDBB2"/>
            </a:solidFill>
          </p:spPr>
        </p:sp>
      </p:grpSp>
      <p:grpSp>
        <p:nvGrpSpPr>
          <p:cNvPr name="Group 9" id="9"/>
          <p:cNvGrpSpPr/>
          <p:nvPr/>
        </p:nvGrpSpPr>
        <p:grpSpPr>
          <a:xfrm rot="0">
            <a:off x="913924" y="611505"/>
            <a:ext cx="3771900" cy="600075"/>
            <a:chOff x="0" y="0"/>
            <a:chExt cx="5029200" cy="800100"/>
          </a:xfrm>
        </p:grpSpPr>
        <p:sp>
          <p:nvSpPr>
            <p:cNvPr name="Freeform 10" id="10"/>
            <p:cNvSpPr/>
            <p:nvPr/>
          </p:nvSpPr>
          <p:spPr>
            <a:xfrm flipH="false" flipV="false" rot="0">
              <a:off x="0" y="0"/>
              <a:ext cx="5029200" cy="800100"/>
            </a:xfrm>
            <a:custGeom>
              <a:avLst/>
              <a:gdLst/>
              <a:ahLst/>
              <a:cxnLst/>
              <a:rect r="r" b="b" t="t" l="l"/>
              <a:pathLst>
                <a:path h="800100" w="5029200">
                  <a:moveTo>
                    <a:pt x="400050" y="0"/>
                  </a:moveTo>
                  <a:lnTo>
                    <a:pt x="4629150" y="0"/>
                  </a:lnTo>
                  <a:cubicBezTo>
                    <a:pt x="4850130" y="0"/>
                    <a:pt x="5029200" y="179070"/>
                    <a:pt x="5029200" y="400050"/>
                  </a:cubicBezTo>
                  <a:cubicBezTo>
                    <a:pt x="5029200" y="621030"/>
                    <a:pt x="4850130" y="800100"/>
                    <a:pt x="4629150" y="800100"/>
                  </a:cubicBezTo>
                  <a:lnTo>
                    <a:pt x="400050" y="800100"/>
                  </a:lnTo>
                  <a:cubicBezTo>
                    <a:pt x="179070" y="800100"/>
                    <a:pt x="0" y="621030"/>
                    <a:pt x="0" y="400050"/>
                  </a:cubicBezTo>
                  <a:cubicBezTo>
                    <a:pt x="0" y="179070"/>
                    <a:pt x="179070" y="0"/>
                    <a:pt x="400050" y="0"/>
                  </a:cubicBezTo>
                  <a:close/>
                </a:path>
              </a:pathLst>
            </a:custGeom>
            <a:solidFill>
              <a:srgbClr val="56633F"/>
            </a:solidFill>
          </p:spPr>
        </p:sp>
        <p:sp>
          <p:nvSpPr>
            <p:cNvPr name="TextBox 11" id="11"/>
            <p:cNvSpPr txBox="true"/>
            <p:nvPr/>
          </p:nvSpPr>
          <p:spPr>
            <a:xfrm>
              <a:off x="0" y="-76200"/>
              <a:ext cx="50292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PRACTICE QUESTION 8</a:t>
              </a:r>
            </a:p>
          </p:txBody>
        </p:sp>
      </p:grpSp>
      <p:sp>
        <p:nvSpPr>
          <p:cNvPr name="TextBox 12" id="12"/>
          <p:cNvSpPr txBox="true"/>
          <p:nvPr/>
        </p:nvSpPr>
        <p:spPr>
          <a:xfrm rot="0">
            <a:off x="4876133" y="630555"/>
            <a:ext cx="1019175" cy="485775"/>
          </a:xfrm>
          <a:prstGeom prst="rect">
            <a:avLst/>
          </a:prstGeom>
        </p:spPr>
        <p:txBody>
          <a:bodyPr anchor="t" rtlCol="false" tIns="0" lIns="0" bIns="0" rIns="0">
            <a:spAutoFit/>
          </a:bodyPr>
          <a:lstStyle/>
          <a:p>
            <a:pPr algn="l">
              <a:lnSpc>
                <a:spcPts val="3255"/>
              </a:lnSpc>
            </a:pPr>
            <a:r>
              <a:rPr lang="en-US" b="true" sz="2100">
                <a:solidFill>
                  <a:srgbClr val="643312"/>
                </a:solidFill>
                <a:latin typeface="Arimo Bold"/>
                <a:ea typeface="Arimo Bold"/>
                <a:cs typeface="Arimo Bold"/>
                <a:sym typeface="Arimo Bold"/>
              </a:rPr>
              <a:t>Practice</a:t>
            </a:r>
          </a:p>
        </p:txBody>
      </p:sp>
      <p:sp>
        <p:nvSpPr>
          <p:cNvPr name="TextBox 13" id="13"/>
          <p:cNvSpPr txBox="true"/>
          <p:nvPr/>
        </p:nvSpPr>
        <p:spPr>
          <a:xfrm rot="0">
            <a:off x="914400" y="1471708"/>
            <a:ext cx="6438900" cy="504825"/>
          </a:xfrm>
          <a:prstGeom prst="rect">
            <a:avLst/>
          </a:prstGeom>
        </p:spPr>
        <p:txBody>
          <a:bodyPr anchor="t" rtlCol="false" tIns="0" lIns="0" bIns="0" rIns="0">
            <a:spAutoFit/>
          </a:bodyPr>
          <a:lstStyle/>
          <a:p>
            <a:pPr algn="l">
              <a:lnSpc>
                <a:spcPts val="4368"/>
              </a:lnSpc>
            </a:pPr>
            <a:r>
              <a:rPr lang="en-US" b="true" sz="4200" spc="-84">
                <a:solidFill>
                  <a:srgbClr val="201E1D"/>
                </a:solidFill>
                <a:latin typeface="Arimo Bold"/>
                <a:ea typeface="Arimo Bold"/>
                <a:cs typeface="Arimo Bold"/>
                <a:sym typeface="Arimo Bold"/>
              </a:rPr>
              <a:t>T =</a:t>
            </a:r>
          </a:p>
        </p:txBody>
      </p:sp>
      <p:sp>
        <p:nvSpPr>
          <p:cNvPr name="AutoShape 14" id="14"/>
          <p:cNvSpPr/>
          <p:nvPr/>
        </p:nvSpPr>
        <p:spPr>
          <a:xfrm rot="0">
            <a:off x="941832" y="2451926"/>
            <a:ext cx="342900" cy="28575"/>
          </a:xfrm>
          <a:prstGeom prst="rect">
            <a:avLst/>
          </a:prstGeom>
          <a:solidFill>
            <a:srgbClr val="201E1D"/>
          </a:solidFill>
        </p:spPr>
      </p:sp>
      <p:sp>
        <p:nvSpPr>
          <p:cNvPr name="TextBox 15" id="15"/>
          <p:cNvSpPr txBox="true"/>
          <p:nvPr/>
        </p:nvSpPr>
        <p:spPr>
          <a:xfrm rot="0">
            <a:off x="941832" y="1994726"/>
            <a:ext cx="342900" cy="485775"/>
          </a:xfrm>
          <a:prstGeom prst="rect">
            <a:avLst/>
          </a:prstGeom>
        </p:spPr>
        <p:txBody>
          <a:bodyPr anchor="t" rtlCol="false" tIns="0" lIns="0" bIns="0" rIns="0">
            <a:spAutoFit/>
          </a:bodyPr>
          <a:lstStyle/>
          <a:p>
            <a:pPr algn="l">
              <a:lnSpc>
                <a:spcPts val="3719"/>
              </a:lnSpc>
            </a:pPr>
            <a:r>
              <a:rPr lang="en-US" b="true" sz="3444" spc="-82">
                <a:solidFill>
                  <a:srgbClr val="201E1D"/>
                </a:solidFill>
                <a:latin typeface="Arimo Bold"/>
                <a:ea typeface="Arimo Bold"/>
                <a:cs typeface="Arimo Bold"/>
                <a:sym typeface="Arimo Bold"/>
              </a:rPr>
              <a:t>5</a:t>
            </a:r>
          </a:p>
        </p:txBody>
      </p:sp>
      <p:sp>
        <p:nvSpPr>
          <p:cNvPr name="TextBox 16" id="16"/>
          <p:cNvSpPr txBox="true"/>
          <p:nvPr/>
        </p:nvSpPr>
        <p:spPr>
          <a:xfrm rot="0">
            <a:off x="941927" y="2495740"/>
            <a:ext cx="342900" cy="457200"/>
          </a:xfrm>
          <a:prstGeom prst="rect">
            <a:avLst/>
          </a:prstGeom>
        </p:spPr>
        <p:txBody>
          <a:bodyPr anchor="t" rtlCol="false" tIns="0" lIns="0" bIns="0" rIns="0">
            <a:spAutoFit/>
          </a:bodyPr>
          <a:lstStyle/>
          <a:p>
            <a:pPr algn="l">
              <a:lnSpc>
                <a:spcPts val="3719"/>
              </a:lnSpc>
            </a:pPr>
            <a:r>
              <a:rPr lang="en-US" b="true" sz="3444" spc="-82">
                <a:solidFill>
                  <a:srgbClr val="201E1D"/>
                </a:solidFill>
                <a:latin typeface="Arimo Bold"/>
                <a:ea typeface="Arimo Bold"/>
                <a:cs typeface="Arimo Bold"/>
                <a:sym typeface="Arimo Bold"/>
              </a:rPr>
              <a:t>9</a:t>
            </a:r>
          </a:p>
        </p:txBody>
      </p:sp>
      <p:sp>
        <p:nvSpPr>
          <p:cNvPr name="TextBox 17" id="17"/>
          <p:cNvSpPr txBox="true"/>
          <p:nvPr/>
        </p:nvSpPr>
        <p:spPr>
          <a:xfrm rot="0">
            <a:off x="914400" y="2999708"/>
            <a:ext cx="6438900" cy="504825"/>
          </a:xfrm>
          <a:prstGeom prst="rect">
            <a:avLst/>
          </a:prstGeom>
        </p:spPr>
        <p:txBody>
          <a:bodyPr anchor="t" rtlCol="false" tIns="0" lIns="0" bIns="0" rIns="0">
            <a:spAutoFit/>
          </a:bodyPr>
          <a:lstStyle/>
          <a:p>
            <a:pPr algn="l">
              <a:lnSpc>
                <a:spcPts val="4368"/>
              </a:lnSpc>
            </a:pPr>
            <a:r>
              <a:rPr lang="en-US" b="true" sz="4200" spc="-84">
                <a:solidFill>
                  <a:srgbClr val="201E1D"/>
                </a:solidFill>
                <a:latin typeface="Arimo Bold"/>
                <a:ea typeface="Arimo Bold"/>
                <a:cs typeface="Arimo Bold"/>
                <a:sym typeface="Arimo Bold"/>
              </a:rPr>
              <a:t>(F − 32)</a:t>
            </a:r>
          </a:p>
        </p:txBody>
      </p:sp>
      <p:sp>
        <p:nvSpPr>
          <p:cNvPr name="TextBox 18" id="18"/>
          <p:cNvSpPr txBox="true"/>
          <p:nvPr/>
        </p:nvSpPr>
        <p:spPr>
          <a:xfrm rot="0">
            <a:off x="914400" y="3658838"/>
            <a:ext cx="342900" cy="476250"/>
          </a:xfrm>
          <a:prstGeom prst="rect">
            <a:avLst/>
          </a:prstGeom>
        </p:spPr>
        <p:txBody>
          <a:bodyPr anchor="t" rtlCol="false" tIns="0" lIns="0" bIns="0" rIns="0">
            <a:spAutoFit/>
          </a:bodyPr>
          <a:lstStyle/>
          <a:p>
            <a:pPr algn="l">
              <a:lnSpc>
                <a:spcPts val="3311"/>
              </a:lnSpc>
            </a:pPr>
            <a:r>
              <a:rPr lang="en-US" b="true" sz="2400">
                <a:solidFill>
                  <a:srgbClr val="56633F"/>
                </a:solidFill>
                <a:latin typeface="Arimo Bold"/>
                <a:ea typeface="Arimo Bold"/>
                <a:cs typeface="Arimo Bold"/>
                <a:sym typeface="Arimo Bold"/>
              </a:rPr>
              <a:t>a</a:t>
            </a:r>
          </a:p>
        </p:txBody>
      </p:sp>
      <p:sp>
        <p:nvSpPr>
          <p:cNvPr name="TextBox 19" id="19"/>
          <p:cNvSpPr txBox="true"/>
          <p:nvPr/>
        </p:nvSpPr>
        <p:spPr>
          <a:xfrm rot="0">
            <a:off x="1411891" y="3658838"/>
            <a:ext cx="3133725" cy="476250"/>
          </a:xfrm>
          <a:prstGeom prst="rect">
            <a:avLst/>
          </a:prstGeom>
        </p:spPr>
        <p:txBody>
          <a:bodyPr anchor="t" rtlCol="false" tIns="0" lIns="0" bIns="0" rIns="0">
            <a:spAutoFit/>
          </a:bodyPr>
          <a:lstStyle/>
          <a:p>
            <a:pPr algn="l">
              <a:lnSpc>
                <a:spcPts val="3311"/>
              </a:lnSpc>
            </a:pPr>
            <a:r>
              <a:rPr lang="en-US" b="true" sz="2400">
                <a:solidFill>
                  <a:srgbClr val="201E1D"/>
                </a:solidFill>
                <a:latin typeface="Arimo Bold"/>
                <a:ea typeface="Arimo Bold"/>
                <a:cs typeface="Arimo Bold"/>
                <a:sym typeface="Arimo Bold"/>
              </a:rPr>
              <a:t>Make F the subject. [3]</a:t>
            </a:r>
          </a:p>
        </p:txBody>
      </p:sp>
      <p:sp>
        <p:nvSpPr>
          <p:cNvPr name="TextBox 20" id="20"/>
          <p:cNvSpPr txBox="true"/>
          <p:nvPr/>
        </p:nvSpPr>
        <p:spPr>
          <a:xfrm rot="0">
            <a:off x="914400" y="4174617"/>
            <a:ext cx="342900" cy="476250"/>
          </a:xfrm>
          <a:prstGeom prst="rect">
            <a:avLst/>
          </a:prstGeom>
        </p:spPr>
        <p:txBody>
          <a:bodyPr anchor="t" rtlCol="false" tIns="0" lIns="0" bIns="0" rIns="0">
            <a:spAutoFit/>
          </a:bodyPr>
          <a:lstStyle/>
          <a:p>
            <a:pPr algn="l">
              <a:lnSpc>
                <a:spcPts val="3311"/>
              </a:lnSpc>
            </a:pPr>
            <a:r>
              <a:rPr lang="en-US" b="true" sz="2400">
                <a:solidFill>
                  <a:srgbClr val="56633F"/>
                </a:solidFill>
                <a:latin typeface="Arimo Bold"/>
                <a:ea typeface="Arimo Bold"/>
                <a:cs typeface="Arimo Bold"/>
                <a:sym typeface="Arimo Bold"/>
              </a:rPr>
              <a:t>b</a:t>
            </a:r>
          </a:p>
        </p:txBody>
      </p:sp>
      <p:sp>
        <p:nvSpPr>
          <p:cNvPr name="TextBox 21" id="21"/>
          <p:cNvSpPr txBox="true"/>
          <p:nvPr/>
        </p:nvSpPr>
        <p:spPr>
          <a:xfrm rot="0">
            <a:off x="1411891" y="4174617"/>
            <a:ext cx="3562350" cy="476250"/>
          </a:xfrm>
          <a:prstGeom prst="rect">
            <a:avLst/>
          </a:prstGeom>
        </p:spPr>
        <p:txBody>
          <a:bodyPr anchor="t" rtlCol="false" tIns="0" lIns="0" bIns="0" rIns="0">
            <a:spAutoFit/>
          </a:bodyPr>
          <a:lstStyle/>
          <a:p>
            <a:pPr algn="l">
              <a:lnSpc>
                <a:spcPts val="3311"/>
              </a:lnSpc>
            </a:pPr>
            <a:r>
              <a:rPr lang="en-US" b="true" sz="2400">
                <a:solidFill>
                  <a:srgbClr val="201E1D"/>
                </a:solidFill>
                <a:latin typeface="Arimo Bold"/>
                <a:ea typeface="Arimo Bold"/>
                <a:cs typeface="Arimo Bold"/>
                <a:sym typeface="Arimo Bold"/>
              </a:rPr>
              <a:t>Find F when T = −8 °C. [2]</a:t>
            </a:r>
          </a:p>
        </p:txBody>
      </p:sp>
      <p:sp>
        <p:nvSpPr>
          <p:cNvPr name="TextBox 22" id="22"/>
          <p:cNvSpPr txBox="true"/>
          <p:nvPr/>
        </p:nvSpPr>
        <p:spPr>
          <a:xfrm rot="0">
            <a:off x="914400" y="4690491"/>
            <a:ext cx="342900" cy="476250"/>
          </a:xfrm>
          <a:prstGeom prst="rect">
            <a:avLst/>
          </a:prstGeom>
        </p:spPr>
        <p:txBody>
          <a:bodyPr anchor="t" rtlCol="false" tIns="0" lIns="0" bIns="0" rIns="0">
            <a:spAutoFit/>
          </a:bodyPr>
          <a:lstStyle/>
          <a:p>
            <a:pPr algn="l">
              <a:lnSpc>
                <a:spcPts val="3311"/>
              </a:lnSpc>
            </a:pPr>
            <a:r>
              <a:rPr lang="en-US" b="true" sz="2400">
                <a:solidFill>
                  <a:srgbClr val="56633F"/>
                </a:solidFill>
                <a:latin typeface="Arimo Bold"/>
                <a:ea typeface="Arimo Bold"/>
                <a:cs typeface="Arimo Bold"/>
                <a:sym typeface="Arimo Bold"/>
              </a:rPr>
              <a:t>c</a:t>
            </a:r>
          </a:p>
        </p:txBody>
      </p:sp>
      <p:sp>
        <p:nvSpPr>
          <p:cNvPr name="TextBox 23" id="23"/>
          <p:cNvSpPr txBox="true"/>
          <p:nvPr/>
        </p:nvSpPr>
        <p:spPr>
          <a:xfrm rot="0">
            <a:off x="1409700" y="4691253"/>
            <a:ext cx="5943600" cy="895350"/>
          </a:xfrm>
          <a:prstGeom prst="rect">
            <a:avLst/>
          </a:prstGeom>
        </p:spPr>
        <p:txBody>
          <a:bodyPr anchor="t" rtlCol="false" tIns="0" lIns="0" bIns="0" rIns="0">
            <a:spAutoFit/>
          </a:bodyPr>
          <a:lstStyle/>
          <a:p>
            <a:pPr algn="l">
              <a:lnSpc>
                <a:spcPts val="3311"/>
              </a:lnSpc>
            </a:pPr>
            <a:r>
              <a:rPr lang="en-US" b="true" sz="2400">
                <a:solidFill>
                  <a:srgbClr val="201E1D"/>
                </a:solidFill>
                <a:latin typeface="Arimo Bold"/>
                <a:ea typeface="Arimo Bold"/>
                <a:cs typeface="Arimo Bold"/>
                <a:sym typeface="Arimo Bold"/>
              </a:rPr>
              <a:t>At what temperature are F and T the same? [3]</a:t>
            </a:r>
          </a:p>
        </p:txBody>
      </p:sp>
      <p:grpSp>
        <p:nvGrpSpPr>
          <p:cNvPr name="Group 24" id="24"/>
          <p:cNvGrpSpPr/>
          <p:nvPr/>
        </p:nvGrpSpPr>
        <p:grpSpPr>
          <a:xfrm rot="0">
            <a:off x="916495" y="9010650"/>
            <a:ext cx="2333625" cy="666750"/>
            <a:chOff x="0" y="0"/>
            <a:chExt cx="3111500" cy="889000"/>
          </a:xfrm>
        </p:grpSpPr>
        <p:sp>
          <p:nvSpPr>
            <p:cNvPr name="Freeform 25" id="25"/>
            <p:cNvSpPr/>
            <p:nvPr/>
          </p:nvSpPr>
          <p:spPr>
            <a:xfrm flipH="false" flipV="false" rot="0">
              <a:off x="0" y="0"/>
              <a:ext cx="3111500" cy="889000"/>
            </a:xfrm>
            <a:custGeom>
              <a:avLst/>
              <a:gdLst/>
              <a:ahLst/>
              <a:cxnLst/>
              <a:rect r="r" b="b" t="t" l="l"/>
              <a:pathLst>
                <a:path h="889000" w="3111500">
                  <a:moveTo>
                    <a:pt x="444500" y="0"/>
                  </a:moveTo>
                  <a:lnTo>
                    <a:pt x="2667000" y="0"/>
                  </a:lnTo>
                  <a:cubicBezTo>
                    <a:pt x="2912491" y="0"/>
                    <a:pt x="3111500" y="199009"/>
                    <a:pt x="3111500" y="444500"/>
                  </a:cubicBezTo>
                  <a:cubicBezTo>
                    <a:pt x="3111500" y="689991"/>
                    <a:pt x="2912491" y="889000"/>
                    <a:pt x="26670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sp>
          <p:nvSpPr>
            <p:cNvPr name="TextBox 26" id="26"/>
            <p:cNvSpPr txBox="true"/>
            <p:nvPr/>
          </p:nvSpPr>
          <p:spPr>
            <a:xfrm>
              <a:off x="0" y="-19050"/>
              <a:ext cx="3111500" cy="908050"/>
            </a:xfrm>
            <a:prstGeom prst="rect">
              <a:avLst/>
            </a:prstGeom>
          </p:spPr>
          <p:txBody>
            <a:bodyPr anchor="t" rtlCol="false" tIns="203200" lIns="203200" bIns="203200" rIns="203200"/>
            <a:lstStyle/>
            <a:p>
              <a:pPr algn="ctr">
                <a:lnSpc>
                  <a:spcPts val="2700"/>
                </a:lnSpc>
              </a:pPr>
              <a:r>
                <a:rPr lang="en-US" b="true" sz="2250" spc="-44">
                  <a:solidFill>
                    <a:srgbClr val="F5EAD8"/>
                  </a:solidFill>
                  <a:latin typeface="Arimo Bold"/>
                  <a:ea typeface="Arimo Bold"/>
                  <a:cs typeface="Arimo Bold"/>
                  <a:sym typeface="Arimo Bold"/>
                </a:rPr>
                <a:t>Next step →</a:t>
              </a:r>
            </a:p>
          </p:txBody>
        </p:sp>
      </p:grpSp>
      <p:sp>
        <p:nvSpPr>
          <p:cNvPr name="TextBox 27" id="27"/>
          <p:cNvSpPr txBox="true"/>
          <p:nvPr/>
        </p:nvSpPr>
        <p:spPr>
          <a:xfrm rot="0">
            <a:off x="3405759" y="8991600"/>
            <a:ext cx="2143125" cy="685800"/>
          </a:xfrm>
          <a:prstGeom prst="rect">
            <a:avLst/>
          </a:prstGeom>
        </p:spPr>
        <p:txBody>
          <a:bodyPr anchor="t" rtlCol="false" tIns="0" lIns="0" bIns="0" rIns="0">
            <a:spAutoFit/>
          </a:bodyPr>
          <a:lstStyle/>
          <a:p>
            <a:pPr algn="ctr">
              <a:lnSpc>
                <a:spcPts val="2700"/>
              </a:lnSpc>
            </a:pPr>
            <a:r>
              <a:rPr lang="en-US" b="true" sz="2250" spc="-44">
                <a:solidFill>
                  <a:srgbClr val="201E1D"/>
                </a:solidFill>
                <a:latin typeface="Arimo Bold"/>
                <a:ea typeface="Arimo Bold"/>
                <a:cs typeface="Arimo Bold"/>
                <a:sym typeface="Arimo Bold"/>
              </a:rPr>
              <a:t>Start again</a:t>
            </a:r>
          </a:p>
        </p:txBody>
      </p:sp>
      <p:grpSp>
        <p:nvGrpSpPr>
          <p:cNvPr name="Group 28" id="28"/>
          <p:cNvGrpSpPr/>
          <p:nvPr/>
        </p:nvGrpSpPr>
        <p:grpSpPr>
          <a:xfrm rot="0">
            <a:off x="7848600" y="609600"/>
            <a:ext cx="9525000" cy="9067800"/>
            <a:chOff x="0" y="0"/>
            <a:chExt cx="12700000" cy="12090400"/>
          </a:xfrm>
        </p:grpSpPr>
        <p:sp>
          <p:nvSpPr>
            <p:cNvPr name="Freeform 29" id="29"/>
            <p:cNvSpPr/>
            <p:nvPr/>
          </p:nvSpPr>
          <p:spPr>
            <a:xfrm flipH="false" flipV="false" rot="0">
              <a:off x="0" y="0"/>
              <a:ext cx="12700000" cy="12090400"/>
            </a:xfrm>
            <a:custGeom>
              <a:avLst/>
              <a:gdLst/>
              <a:ahLst/>
              <a:cxnLst/>
              <a:rect r="r" b="b" t="t" l="l"/>
              <a:pathLst>
                <a:path h="12090400" w="12700000">
                  <a:moveTo>
                    <a:pt x="711200" y="0"/>
                  </a:moveTo>
                  <a:lnTo>
                    <a:pt x="11988800" y="0"/>
                  </a:lnTo>
                  <a:cubicBezTo>
                    <a:pt x="12381611" y="0"/>
                    <a:pt x="12700000" y="318389"/>
                    <a:pt x="12700000" y="711200"/>
                  </a:cubicBezTo>
                  <a:lnTo>
                    <a:pt x="12700000" y="11379200"/>
                  </a:lnTo>
                  <a:cubicBezTo>
                    <a:pt x="12700000" y="11772011"/>
                    <a:pt x="12381611" y="12090400"/>
                    <a:pt x="11988800" y="12090400"/>
                  </a:cubicBezTo>
                  <a:lnTo>
                    <a:pt x="711200" y="12090400"/>
                  </a:lnTo>
                  <a:cubicBezTo>
                    <a:pt x="318389" y="12090400"/>
                    <a:pt x="0" y="11772011"/>
                    <a:pt x="0" y="11379200"/>
                  </a:cubicBezTo>
                  <a:lnTo>
                    <a:pt x="0" y="711200"/>
                  </a:lnTo>
                  <a:cubicBezTo>
                    <a:pt x="0" y="318389"/>
                    <a:pt x="318389" y="0"/>
                    <a:pt x="711200" y="0"/>
                  </a:cubicBezTo>
                  <a:close/>
                </a:path>
              </a:pathLst>
            </a:custGeom>
            <a:solidFill>
              <a:srgbClr val="EBDDC5"/>
            </a:solidFill>
          </p:spPr>
        </p:sp>
      </p:grpSp>
    </p:spTree>
  </p:cSld>
  <p:clrMapOvr>
    <a:masterClrMapping/>
  </p:clrMapOvr>
</p:sld>
</file>

<file path=ppt/slides/slide4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E1EECC"/>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FFC6A5"/>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CCDBB2"/>
            </a:solidFill>
          </p:spPr>
        </p:sp>
      </p:grpSp>
      <p:grpSp>
        <p:nvGrpSpPr>
          <p:cNvPr name="Group 9" id="9"/>
          <p:cNvGrpSpPr/>
          <p:nvPr/>
        </p:nvGrpSpPr>
        <p:grpSpPr>
          <a:xfrm rot="0">
            <a:off x="915352" y="611505"/>
            <a:ext cx="3762375" cy="600075"/>
            <a:chOff x="0" y="0"/>
            <a:chExt cx="5016500" cy="800100"/>
          </a:xfrm>
        </p:grpSpPr>
        <p:sp>
          <p:nvSpPr>
            <p:cNvPr name="Freeform 10" id="10"/>
            <p:cNvSpPr/>
            <p:nvPr/>
          </p:nvSpPr>
          <p:spPr>
            <a:xfrm flipH="false" flipV="false" rot="0">
              <a:off x="0" y="0"/>
              <a:ext cx="5016500" cy="800100"/>
            </a:xfrm>
            <a:custGeom>
              <a:avLst/>
              <a:gdLst/>
              <a:ahLst/>
              <a:cxnLst/>
              <a:rect r="r" b="b" t="t" l="l"/>
              <a:pathLst>
                <a:path h="800100" w="5016500">
                  <a:moveTo>
                    <a:pt x="400050" y="0"/>
                  </a:moveTo>
                  <a:lnTo>
                    <a:pt x="4616450" y="0"/>
                  </a:lnTo>
                  <a:cubicBezTo>
                    <a:pt x="4837430" y="0"/>
                    <a:pt x="5016500" y="179070"/>
                    <a:pt x="5016500" y="400050"/>
                  </a:cubicBezTo>
                  <a:cubicBezTo>
                    <a:pt x="5016500" y="621030"/>
                    <a:pt x="4837430" y="800100"/>
                    <a:pt x="4616450" y="800100"/>
                  </a:cubicBezTo>
                  <a:lnTo>
                    <a:pt x="400050" y="800100"/>
                  </a:lnTo>
                  <a:cubicBezTo>
                    <a:pt x="179070" y="800100"/>
                    <a:pt x="0" y="621030"/>
                    <a:pt x="0" y="400050"/>
                  </a:cubicBezTo>
                  <a:cubicBezTo>
                    <a:pt x="0" y="179070"/>
                    <a:pt x="179070" y="0"/>
                    <a:pt x="400050" y="0"/>
                  </a:cubicBezTo>
                  <a:close/>
                </a:path>
              </a:pathLst>
            </a:custGeom>
            <a:solidFill>
              <a:srgbClr val="56633F"/>
            </a:solidFill>
          </p:spPr>
        </p:sp>
        <p:sp>
          <p:nvSpPr>
            <p:cNvPr name="TextBox 11" id="11"/>
            <p:cNvSpPr txBox="true"/>
            <p:nvPr/>
          </p:nvSpPr>
          <p:spPr>
            <a:xfrm>
              <a:off x="0" y="-76200"/>
              <a:ext cx="50165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PRACTICE QUESTION 9</a:t>
              </a:r>
            </a:p>
          </p:txBody>
        </p:sp>
      </p:grpSp>
      <p:sp>
        <p:nvSpPr>
          <p:cNvPr name="TextBox 12" id="12"/>
          <p:cNvSpPr txBox="true"/>
          <p:nvPr/>
        </p:nvSpPr>
        <p:spPr>
          <a:xfrm rot="0">
            <a:off x="4869466" y="630555"/>
            <a:ext cx="1019175" cy="485775"/>
          </a:xfrm>
          <a:prstGeom prst="rect">
            <a:avLst/>
          </a:prstGeom>
        </p:spPr>
        <p:txBody>
          <a:bodyPr anchor="t" rtlCol="false" tIns="0" lIns="0" bIns="0" rIns="0">
            <a:spAutoFit/>
          </a:bodyPr>
          <a:lstStyle/>
          <a:p>
            <a:pPr algn="l">
              <a:lnSpc>
                <a:spcPts val="3255"/>
              </a:lnSpc>
            </a:pPr>
            <a:r>
              <a:rPr lang="en-US" b="true" sz="2100">
                <a:solidFill>
                  <a:srgbClr val="643312"/>
                </a:solidFill>
                <a:latin typeface="Arimo Bold"/>
                <a:ea typeface="Arimo Bold"/>
                <a:cs typeface="Arimo Bold"/>
                <a:sym typeface="Arimo Bold"/>
              </a:rPr>
              <a:t>Practice</a:t>
            </a:r>
          </a:p>
        </p:txBody>
      </p:sp>
      <p:sp>
        <p:nvSpPr>
          <p:cNvPr name="TextBox 13" id="13"/>
          <p:cNvSpPr txBox="true"/>
          <p:nvPr/>
        </p:nvSpPr>
        <p:spPr>
          <a:xfrm rot="0">
            <a:off x="914400" y="1462564"/>
            <a:ext cx="6438900" cy="1028700"/>
          </a:xfrm>
          <a:prstGeom prst="rect">
            <a:avLst/>
          </a:prstGeom>
        </p:spPr>
        <p:txBody>
          <a:bodyPr anchor="t" rtlCol="false" tIns="0" lIns="0" bIns="0" rIns="0">
            <a:spAutoFit/>
          </a:bodyPr>
          <a:lstStyle/>
          <a:p>
            <a:pPr algn="l">
              <a:lnSpc>
                <a:spcPts val="4212"/>
              </a:lnSpc>
            </a:pPr>
            <a:r>
              <a:rPr lang="en-US" b="true" sz="4050" spc="-81">
                <a:solidFill>
                  <a:srgbClr val="201E1D"/>
                </a:solidFill>
                <a:latin typeface="Arimo Bold"/>
                <a:ea typeface="Arimo Bold"/>
                <a:cs typeface="Arimo Bold"/>
                <a:sym typeface="Arimo Bold"/>
              </a:rPr>
              <a:t>Two shapes, equal perimeters</a:t>
            </a:r>
          </a:p>
        </p:txBody>
      </p:sp>
      <p:grpSp>
        <p:nvGrpSpPr>
          <p:cNvPr name="Group 14" id="14"/>
          <p:cNvGrpSpPr/>
          <p:nvPr/>
        </p:nvGrpSpPr>
        <p:grpSpPr>
          <a:xfrm rot="0">
            <a:off x="916495" y="9010650"/>
            <a:ext cx="2333625" cy="666750"/>
            <a:chOff x="0" y="0"/>
            <a:chExt cx="3111500" cy="889000"/>
          </a:xfrm>
        </p:grpSpPr>
        <p:sp>
          <p:nvSpPr>
            <p:cNvPr name="Freeform 15" id="15"/>
            <p:cNvSpPr/>
            <p:nvPr/>
          </p:nvSpPr>
          <p:spPr>
            <a:xfrm flipH="false" flipV="false" rot="0">
              <a:off x="0" y="0"/>
              <a:ext cx="3111500" cy="889000"/>
            </a:xfrm>
            <a:custGeom>
              <a:avLst/>
              <a:gdLst/>
              <a:ahLst/>
              <a:cxnLst/>
              <a:rect r="r" b="b" t="t" l="l"/>
              <a:pathLst>
                <a:path h="889000" w="3111500">
                  <a:moveTo>
                    <a:pt x="444500" y="0"/>
                  </a:moveTo>
                  <a:lnTo>
                    <a:pt x="2667000" y="0"/>
                  </a:lnTo>
                  <a:cubicBezTo>
                    <a:pt x="2912491" y="0"/>
                    <a:pt x="3111500" y="199009"/>
                    <a:pt x="3111500" y="444500"/>
                  </a:cubicBezTo>
                  <a:cubicBezTo>
                    <a:pt x="3111500" y="689991"/>
                    <a:pt x="2912491" y="889000"/>
                    <a:pt x="26670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sp>
          <p:nvSpPr>
            <p:cNvPr name="TextBox 16" id="16"/>
            <p:cNvSpPr txBox="true"/>
            <p:nvPr/>
          </p:nvSpPr>
          <p:spPr>
            <a:xfrm>
              <a:off x="0" y="-19050"/>
              <a:ext cx="3111500" cy="908050"/>
            </a:xfrm>
            <a:prstGeom prst="rect">
              <a:avLst/>
            </a:prstGeom>
          </p:spPr>
          <p:txBody>
            <a:bodyPr anchor="t" rtlCol="false" tIns="203200" lIns="203200" bIns="203200" rIns="203200"/>
            <a:lstStyle/>
            <a:p>
              <a:pPr algn="ctr">
                <a:lnSpc>
                  <a:spcPts val="2700"/>
                </a:lnSpc>
              </a:pPr>
              <a:r>
                <a:rPr lang="en-US" b="true" sz="2250" spc="-44">
                  <a:solidFill>
                    <a:srgbClr val="F5EAD8"/>
                  </a:solidFill>
                  <a:latin typeface="Arimo Bold"/>
                  <a:ea typeface="Arimo Bold"/>
                  <a:cs typeface="Arimo Bold"/>
                  <a:sym typeface="Arimo Bold"/>
                </a:rPr>
                <a:t>Next step →</a:t>
              </a:r>
            </a:p>
          </p:txBody>
        </p:sp>
      </p:grpSp>
      <p:sp>
        <p:nvSpPr>
          <p:cNvPr name="TextBox 17" id="17"/>
          <p:cNvSpPr txBox="true"/>
          <p:nvPr/>
        </p:nvSpPr>
        <p:spPr>
          <a:xfrm rot="0">
            <a:off x="3405759" y="8991600"/>
            <a:ext cx="2143125" cy="685800"/>
          </a:xfrm>
          <a:prstGeom prst="rect">
            <a:avLst/>
          </a:prstGeom>
        </p:spPr>
        <p:txBody>
          <a:bodyPr anchor="t" rtlCol="false" tIns="0" lIns="0" bIns="0" rIns="0">
            <a:spAutoFit/>
          </a:bodyPr>
          <a:lstStyle/>
          <a:p>
            <a:pPr algn="ctr">
              <a:lnSpc>
                <a:spcPts val="2700"/>
              </a:lnSpc>
            </a:pPr>
            <a:r>
              <a:rPr lang="en-US" b="true" sz="2250" spc="-44">
                <a:solidFill>
                  <a:srgbClr val="201E1D"/>
                </a:solidFill>
                <a:latin typeface="Arimo Bold"/>
                <a:ea typeface="Arimo Bold"/>
                <a:cs typeface="Arimo Bold"/>
                <a:sym typeface="Arimo Bold"/>
              </a:rPr>
              <a:t>Start again</a:t>
            </a:r>
          </a:p>
        </p:txBody>
      </p:sp>
      <p:grpSp>
        <p:nvGrpSpPr>
          <p:cNvPr name="Group 18" id="18"/>
          <p:cNvGrpSpPr/>
          <p:nvPr/>
        </p:nvGrpSpPr>
        <p:grpSpPr>
          <a:xfrm rot="0">
            <a:off x="7848600" y="609600"/>
            <a:ext cx="9525000" cy="9067800"/>
            <a:chOff x="0" y="0"/>
            <a:chExt cx="12700000" cy="12090400"/>
          </a:xfrm>
        </p:grpSpPr>
        <p:sp>
          <p:nvSpPr>
            <p:cNvPr name="Freeform 19" id="19"/>
            <p:cNvSpPr/>
            <p:nvPr/>
          </p:nvSpPr>
          <p:spPr>
            <a:xfrm flipH="false" flipV="false" rot="0">
              <a:off x="0" y="0"/>
              <a:ext cx="12700000" cy="12090400"/>
            </a:xfrm>
            <a:custGeom>
              <a:avLst/>
              <a:gdLst/>
              <a:ahLst/>
              <a:cxnLst/>
              <a:rect r="r" b="b" t="t" l="l"/>
              <a:pathLst>
                <a:path h="12090400" w="12700000">
                  <a:moveTo>
                    <a:pt x="711200" y="0"/>
                  </a:moveTo>
                  <a:lnTo>
                    <a:pt x="11988800" y="0"/>
                  </a:lnTo>
                  <a:cubicBezTo>
                    <a:pt x="12381611" y="0"/>
                    <a:pt x="12700000" y="318389"/>
                    <a:pt x="12700000" y="711200"/>
                  </a:cubicBezTo>
                  <a:lnTo>
                    <a:pt x="12700000" y="11379200"/>
                  </a:lnTo>
                  <a:cubicBezTo>
                    <a:pt x="12700000" y="11772011"/>
                    <a:pt x="12381611" y="12090400"/>
                    <a:pt x="11988800" y="12090400"/>
                  </a:cubicBezTo>
                  <a:lnTo>
                    <a:pt x="711200" y="12090400"/>
                  </a:lnTo>
                  <a:cubicBezTo>
                    <a:pt x="318389" y="12090400"/>
                    <a:pt x="0" y="11772011"/>
                    <a:pt x="0" y="11379200"/>
                  </a:cubicBezTo>
                  <a:lnTo>
                    <a:pt x="0" y="711200"/>
                  </a:lnTo>
                  <a:cubicBezTo>
                    <a:pt x="0" y="318389"/>
                    <a:pt x="318389" y="0"/>
                    <a:pt x="711200" y="0"/>
                  </a:cubicBezTo>
                  <a:close/>
                </a:path>
              </a:pathLst>
            </a:custGeom>
            <a:solidFill>
              <a:srgbClr val="EBDDC5"/>
            </a:solidFill>
          </p:spPr>
        </p:sp>
      </p:grpSp>
    </p:spTree>
  </p:cSld>
  <p:clrMapOvr>
    <a:masterClrMapping/>
  </p:clrMapOvr>
</p:sld>
</file>

<file path=ppt/slides/slide4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E1EECC"/>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FFC6A5"/>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CCDBB2"/>
            </a:solidFill>
          </p:spPr>
        </p:sp>
      </p:grpSp>
      <p:grpSp>
        <p:nvGrpSpPr>
          <p:cNvPr name="Group 9" id="9"/>
          <p:cNvGrpSpPr/>
          <p:nvPr/>
        </p:nvGrpSpPr>
        <p:grpSpPr>
          <a:xfrm rot="0">
            <a:off x="912781" y="611505"/>
            <a:ext cx="3914775" cy="600075"/>
            <a:chOff x="0" y="0"/>
            <a:chExt cx="5219700" cy="800100"/>
          </a:xfrm>
        </p:grpSpPr>
        <p:sp>
          <p:nvSpPr>
            <p:cNvPr name="Freeform 10" id="10"/>
            <p:cNvSpPr/>
            <p:nvPr/>
          </p:nvSpPr>
          <p:spPr>
            <a:xfrm flipH="false" flipV="false" rot="0">
              <a:off x="0" y="0"/>
              <a:ext cx="5219700" cy="800100"/>
            </a:xfrm>
            <a:custGeom>
              <a:avLst/>
              <a:gdLst/>
              <a:ahLst/>
              <a:cxnLst/>
              <a:rect r="r" b="b" t="t" l="l"/>
              <a:pathLst>
                <a:path h="800100" w="5219700">
                  <a:moveTo>
                    <a:pt x="400050" y="0"/>
                  </a:moveTo>
                  <a:lnTo>
                    <a:pt x="4819650" y="0"/>
                  </a:lnTo>
                  <a:cubicBezTo>
                    <a:pt x="5040630" y="0"/>
                    <a:pt x="5219700" y="179070"/>
                    <a:pt x="5219700" y="400050"/>
                  </a:cubicBezTo>
                  <a:cubicBezTo>
                    <a:pt x="5219700" y="621030"/>
                    <a:pt x="5040630" y="800100"/>
                    <a:pt x="4819650" y="800100"/>
                  </a:cubicBezTo>
                  <a:lnTo>
                    <a:pt x="400050" y="800100"/>
                  </a:lnTo>
                  <a:cubicBezTo>
                    <a:pt x="179070" y="800100"/>
                    <a:pt x="0" y="621030"/>
                    <a:pt x="0" y="400050"/>
                  </a:cubicBezTo>
                  <a:cubicBezTo>
                    <a:pt x="0" y="179070"/>
                    <a:pt x="179070" y="0"/>
                    <a:pt x="400050" y="0"/>
                  </a:cubicBezTo>
                  <a:close/>
                </a:path>
              </a:pathLst>
            </a:custGeom>
            <a:solidFill>
              <a:srgbClr val="56633F"/>
            </a:solidFill>
          </p:spPr>
        </p:sp>
        <p:sp>
          <p:nvSpPr>
            <p:cNvPr name="TextBox 11" id="11"/>
            <p:cNvSpPr txBox="true"/>
            <p:nvPr/>
          </p:nvSpPr>
          <p:spPr>
            <a:xfrm>
              <a:off x="0" y="-76200"/>
              <a:ext cx="52197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PRACTICE QUESTION 10</a:t>
              </a:r>
            </a:p>
          </p:txBody>
        </p:sp>
      </p:grpSp>
      <p:sp>
        <p:nvSpPr>
          <p:cNvPr name="TextBox 12" id="12"/>
          <p:cNvSpPr txBox="true"/>
          <p:nvPr/>
        </p:nvSpPr>
        <p:spPr>
          <a:xfrm rot="0">
            <a:off x="5016627" y="630555"/>
            <a:ext cx="1019175" cy="485775"/>
          </a:xfrm>
          <a:prstGeom prst="rect">
            <a:avLst/>
          </a:prstGeom>
        </p:spPr>
        <p:txBody>
          <a:bodyPr anchor="t" rtlCol="false" tIns="0" lIns="0" bIns="0" rIns="0">
            <a:spAutoFit/>
          </a:bodyPr>
          <a:lstStyle/>
          <a:p>
            <a:pPr algn="l">
              <a:lnSpc>
                <a:spcPts val="3255"/>
              </a:lnSpc>
            </a:pPr>
            <a:r>
              <a:rPr lang="en-US" b="true" sz="2100">
                <a:solidFill>
                  <a:srgbClr val="643312"/>
                </a:solidFill>
                <a:latin typeface="Arimo Bold"/>
                <a:ea typeface="Arimo Bold"/>
                <a:cs typeface="Arimo Bold"/>
                <a:sym typeface="Arimo Bold"/>
              </a:rPr>
              <a:t>Practice</a:t>
            </a:r>
          </a:p>
        </p:txBody>
      </p:sp>
      <p:sp>
        <p:nvSpPr>
          <p:cNvPr name="TextBox 13" id="13"/>
          <p:cNvSpPr txBox="true"/>
          <p:nvPr/>
        </p:nvSpPr>
        <p:spPr>
          <a:xfrm rot="0">
            <a:off x="914400" y="1461802"/>
            <a:ext cx="7010400" cy="495300"/>
          </a:xfrm>
          <a:prstGeom prst="rect">
            <a:avLst/>
          </a:prstGeom>
        </p:spPr>
        <p:txBody>
          <a:bodyPr anchor="t" rtlCol="false" tIns="0" lIns="0" bIns="0" rIns="0">
            <a:spAutoFit/>
          </a:bodyPr>
          <a:lstStyle/>
          <a:p>
            <a:pPr algn="l">
              <a:lnSpc>
                <a:spcPts val="4212"/>
              </a:lnSpc>
            </a:pPr>
            <a:r>
              <a:rPr lang="en-US" b="true" sz="4050" spc="-81">
                <a:solidFill>
                  <a:srgbClr val="201E1D"/>
                </a:solidFill>
                <a:latin typeface="Arimo Bold"/>
                <a:ea typeface="Arimo Bold"/>
                <a:cs typeface="Arimo Bold"/>
                <a:sym typeface="Arimo Bold"/>
              </a:rPr>
              <a:t>Opposite sides are equal</a:t>
            </a:r>
          </a:p>
        </p:txBody>
      </p:sp>
      <p:sp>
        <p:nvSpPr>
          <p:cNvPr name="TextBox 14" id="14"/>
          <p:cNvSpPr txBox="true"/>
          <p:nvPr/>
        </p:nvSpPr>
        <p:spPr>
          <a:xfrm rot="0">
            <a:off x="914400" y="4102703"/>
            <a:ext cx="7010400" cy="790575"/>
          </a:xfrm>
          <a:prstGeom prst="rect">
            <a:avLst/>
          </a:prstGeom>
        </p:spPr>
        <p:txBody>
          <a:bodyPr anchor="t" rtlCol="false" tIns="0" lIns="0" bIns="0" rIns="0">
            <a:spAutoFit/>
          </a:bodyPr>
          <a:lstStyle/>
          <a:p>
            <a:pPr algn="l">
              <a:lnSpc>
                <a:spcPts val="2940"/>
              </a:lnSpc>
            </a:pPr>
            <a:r>
              <a:rPr lang="en-US" b="true" sz="2100">
                <a:solidFill>
                  <a:srgbClr val="474238"/>
                </a:solidFill>
                <a:latin typeface="Arimo Bold"/>
                <a:ea typeface="Arimo Bold"/>
                <a:cs typeface="Arimo Bold"/>
                <a:sym typeface="Arimo Bold"/>
              </a:rPr>
              <a:t>d The area of the rectangle is 15% larger than the area of a square. Find the side of the square to 2 d.p.</a:t>
            </a:r>
          </a:p>
        </p:txBody>
      </p:sp>
      <p:grpSp>
        <p:nvGrpSpPr>
          <p:cNvPr name="Group 15" id="15"/>
          <p:cNvGrpSpPr/>
          <p:nvPr/>
        </p:nvGrpSpPr>
        <p:grpSpPr>
          <a:xfrm rot="0">
            <a:off x="916495" y="9010650"/>
            <a:ext cx="2333625" cy="666750"/>
            <a:chOff x="0" y="0"/>
            <a:chExt cx="3111500" cy="889000"/>
          </a:xfrm>
        </p:grpSpPr>
        <p:sp>
          <p:nvSpPr>
            <p:cNvPr name="Freeform 16" id="16"/>
            <p:cNvSpPr/>
            <p:nvPr/>
          </p:nvSpPr>
          <p:spPr>
            <a:xfrm flipH="false" flipV="false" rot="0">
              <a:off x="0" y="0"/>
              <a:ext cx="3111500" cy="889000"/>
            </a:xfrm>
            <a:custGeom>
              <a:avLst/>
              <a:gdLst/>
              <a:ahLst/>
              <a:cxnLst/>
              <a:rect r="r" b="b" t="t" l="l"/>
              <a:pathLst>
                <a:path h="889000" w="3111500">
                  <a:moveTo>
                    <a:pt x="444500" y="0"/>
                  </a:moveTo>
                  <a:lnTo>
                    <a:pt x="2667000" y="0"/>
                  </a:lnTo>
                  <a:cubicBezTo>
                    <a:pt x="2912491" y="0"/>
                    <a:pt x="3111500" y="199009"/>
                    <a:pt x="3111500" y="444500"/>
                  </a:cubicBezTo>
                  <a:cubicBezTo>
                    <a:pt x="3111500" y="689991"/>
                    <a:pt x="2912491" y="889000"/>
                    <a:pt x="26670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sp>
          <p:nvSpPr>
            <p:cNvPr name="TextBox 17" id="17"/>
            <p:cNvSpPr txBox="true"/>
            <p:nvPr/>
          </p:nvSpPr>
          <p:spPr>
            <a:xfrm>
              <a:off x="0" y="-19050"/>
              <a:ext cx="3111500" cy="908050"/>
            </a:xfrm>
            <a:prstGeom prst="rect">
              <a:avLst/>
            </a:prstGeom>
          </p:spPr>
          <p:txBody>
            <a:bodyPr anchor="t" rtlCol="false" tIns="203200" lIns="203200" bIns="203200" rIns="203200"/>
            <a:lstStyle/>
            <a:p>
              <a:pPr algn="ctr">
                <a:lnSpc>
                  <a:spcPts val="2700"/>
                </a:lnSpc>
              </a:pPr>
              <a:r>
                <a:rPr lang="en-US" b="true" sz="2250" spc="-44">
                  <a:solidFill>
                    <a:srgbClr val="F5EAD8"/>
                  </a:solidFill>
                  <a:latin typeface="Arimo Bold"/>
                  <a:ea typeface="Arimo Bold"/>
                  <a:cs typeface="Arimo Bold"/>
                  <a:sym typeface="Arimo Bold"/>
                </a:rPr>
                <a:t>Next step →</a:t>
              </a:r>
            </a:p>
          </p:txBody>
        </p:sp>
      </p:grpSp>
      <p:sp>
        <p:nvSpPr>
          <p:cNvPr name="TextBox 18" id="18"/>
          <p:cNvSpPr txBox="true"/>
          <p:nvPr/>
        </p:nvSpPr>
        <p:spPr>
          <a:xfrm rot="0">
            <a:off x="3405759" y="8991600"/>
            <a:ext cx="2143125" cy="685800"/>
          </a:xfrm>
          <a:prstGeom prst="rect">
            <a:avLst/>
          </a:prstGeom>
        </p:spPr>
        <p:txBody>
          <a:bodyPr anchor="t" rtlCol="false" tIns="0" lIns="0" bIns="0" rIns="0">
            <a:spAutoFit/>
          </a:bodyPr>
          <a:lstStyle/>
          <a:p>
            <a:pPr algn="ctr">
              <a:lnSpc>
                <a:spcPts val="2700"/>
              </a:lnSpc>
            </a:pPr>
            <a:r>
              <a:rPr lang="en-US" b="true" sz="2250" spc="-44">
                <a:solidFill>
                  <a:srgbClr val="201E1D"/>
                </a:solidFill>
                <a:latin typeface="Arimo Bold"/>
                <a:ea typeface="Arimo Bold"/>
                <a:cs typeface="Arimo Bold"/>
                <a:sym typeface="Arimo Bold"/>
              </a:rPr>
              <a:t>Start again</a:t>
            </a:r>
          </a:p>
        </p:txBody>
      </p:sp>
      <p:grpSp>
        <p:nvGrpSpPr>
          <p:cNvPr name="Group 19" id="19"/>
          <p:cNvGrpSpPr/>
          <p:nvPr/>
        </p:nvGrpSpPr>
        <p:grpSpPr>
          <a:xfrm rot="0">
            <a:off x="8420100" y="609600"/>
            <a:ext cx="8953500" cy="9067800"/>
            <a:chOff x="0" y="0"/>
            <a:chExt cx="11938000" cy="12090400"/>
          </a:xfrm>
        </p:grpSpPr>
        <p:sp>
          <p:nvSpPr>
            <p:cNvPr name="Freeform 20" id="20"/>
            <p:cNvSpPr/>
            <p:nvPr/>
          </p:nvSpPr>
          <p:spPr>
            <a:xfrm flipH="false" flipV="false" rot="0">
              <a:off x="0" y="0"/>
              <a:ext cx="11938000" cy="12090400"/>
            </a:xfrm>
            <a:custGeom>
              <a:avLst/>
              <a:gdLst/>
              <a:ahLst/>
              <a:cxnLst/>
              <a:rect r="r" b="b" t="t" l="l"/>
              <a:pathLst>
                <a:path h="12090400" w="11938000">
                  <a:moveTo>
                    <a:pt x="711200" y="0"/>
                  </a:moveTo>
                  <a:lnTo>
                    <a:pt x="11226800" y="0"/>
                  </a:lnTo>
                  <a:cubicBezTo>
                    <a:pt x="11619611" y="0"/>
                    <a:pt x="11938000" y="318389"/>
                    <a:pt x="11938000" y="711200"/>
                  </a:cubicBezTo>
                  <a:lnTo>
                    <a:pt x="11938000" y="11379200"/>
                  </a:lnTo>
                  <a:cubicBezTo>
                    <a:pt x="11938000" y="11772011"/>
                    <a:pt x="11619611" y="12090400"/>
                    <a:pt x="11226800" y="12090400"/>
                  </a:cubicBezTo>
                  <a:lnTo>
                    <a:pt x="711200" y="12090400"/>
                  </a:lnTo>
                  <a:cubicBezTo>
                    <a:pt x="318389" y="12090400"/>
                    <a:pt x="0" y="11772011"/>
                    <a:pt x="0" y="11379200"/>
                  </a:cubicBezTo>
                  <a:lnTo>
                    <a:pt x="0" y="711200"/>
                  </a:lnTo>
                  <a:cubicBezTo>
                    <a:pt x="0" y="318389"/>
                    <a:pt x="318389" y="0"/>
                    <a:pt x="711200" y="0"/>
                  </a:cubicBezTo>
                  <a:close/>
                </a:path>
              </a:pathLst>
            </a:custGeom>
            <a:solidFill>
              <a:srgbClr val="EBDDC5"/>
            </a:solidFill>
          </p:spPr>
        </p:sp>
      </p:grpSp>
    </p:spTree>
  </p:cSld>
  <p:clrMapOvr>
    <a:masterClrMapping/>
  </p:clrMapOvr>
</p:sld>
</file>

<file path=ppt/slides/slide4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E1EECC"/>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FFC6A5"/>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CCDBB2"/>
            </a:solidFill>
          </p:spPr>
        </p:sp>
      </p:grpSp>
      <p:grpSp>
        <p:nvGrpSpPr>
          <p:cNvPr name="Group 9" id="9"/>
          <p:cNvGrpSpPr/>
          <p:nvPr/>
        </p:nvGrpSpPr>
        <p:grpSpPr>
          <a:xfrm rot="0">
            <a:off x="990410" y="611505"/>
            <a:ext cx="4486275" cy="600075"/>
            <a:chOff x="0" y="0"/>
            <a:chExt cx="5981700" cy="800100"/>
          </a:xfrm>
        </p:grpSpPr>
        <p:sp>
          <p:nvSpPr>
            <p:cNvPr name="Freeform 10" id="10"/>
            <p:cNvSpPr/>
            <p:nvPr/>
          </p:nvSpPr>
          <p:spPr>
            <a:xfrm flipH="false" flipV="false" rot="0">
              <a:off x="0" y="0"/>
              <a:ext cx="5981700" cy="800100"/>
            </a:xfrm>
            <a:custGeom>
              <a:avLst/>
              <a:gdLst/>
              <a:ahLst/>
              <a:cxnLst/>
              <a:rect r="r" b="b" t="t" l="l"/>
              <a:pathLst>
                <a:path h="800100" w="5981700">
                  <a:moveTo>
                    <a:pt x="400050" y="0"/>
                  </a:moveTo>
                  <a:lnTo>
                    <a:pt x="5581650" y="0"/>
                  </a:lnTo>
                  <a:cubicBezTo>
                    <a:pt x="5802630" y="0"/>
                    <a:pt x="5981700" y="179070"/>
                    <a:pt x="5981700" y="400050"/>
                  </a:cubicBezTo>
                  <a:cubicBezTo>
                    <a:pt x="5981700" y="621030"/>
                    <a:pt x="5802630" y="800100"/>
                    <a:pt x="5581650" y="800100"/>
                  </a:cubicBezTo>
                  <a:lnTo>
                    <a:pt x="400050" y="800100"/>
                  </a:lnTo>
                  <a:cubicBezTo>
                    <a:pt x="179070" y="800100"/>
                    <a:pt x="0" y="621030"/>
                    <a:pt x="0" y="400050"/>
                  </a:cubicBezTo>
                  <a:cubicBezTo>
                    <a:pt x="0" y="179070"/>
                    <a:pt x="179070" y="0"/>
                    <a:pt x="400050" y="0"/>
                  </a:cubicBezTo>
                  <a:close/>
                </a:path>
              </a:pathLst>
            </a:custGeom>
            <a:solidFill>
              <a:srgbClr val="56633F"/>
            </a:solidFill>
          </p:spPr>
        </p:sp>
        <p:sp>
          <p:nvSpPr>
            <p:cNvPr name="TextBox 11" id="11"/>
            <p:cNvSpPr txBox="true"/>
            <p:nvPr/>
          </p:nvSpPr>
          <p:spPr>
            <a:xfrm>
              <a:off x="0" y="-76200"/>
              <a:ext cx="59817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PRACTICE QUESTIONS 11–13</a:t>
              </a:r>
            </a:p>
          </p:txBody>
        </p:sp>
      </p:grpSp>
      <p:sp>
        <p:nvSpPr>
          <p:cNvPr name="TextBox 12" id="12"/>
          <p:cNvSpPr txBox="true"/>
          <p:nvPr/>
        </p:nvSpPr>
        <p:spPr>
          <a:xfrm rot="0">
            <a:off x="5667280" y="630555"/>
            <a:ext cx="1019175" cy="485775"/>
          </a:xfrm>
          <a:prstGeom prst="rect">
            <a:avLst/>
          </a:prstGeom>
        </p:spPr>
        <p:txBody>
          <a:bodyPr anchor="t" rtlCol="false" tIns="0" lIns="0" bIns="0" rIns="0">
            <a:spAutoFit/>
          </a:bodyPr>
          <a:lstStyle/>
          <a:p>
            <a:pPr algn="l">
              <a:lnSpc>
                <a:spcPts val="3255"/>
              </a:lnSpc>
            </a:pPr>
            <a:r>
              <a:rPr lang="en-US" b="true" sz="2100">
                <a:solidFill>
                  <a:srgbClr val="643312"/>
                </a:solidFill>
                <a:latin typeface="Arimo Bold"/>
                <a:ea typeface="Arimo Bold"/>
                <a:cs typeface="Arimo Bold"/>
                <a:sym typeface="Arimo Bold"/>
              </a:rPr>
              <a:t>Practice</a:t>
            </a:r>
          </a:p>
        </p:txBody>
      </p:sp>
      <p:sp>
        <p:nvSpPr>
          <p:cNvPr name="TextBox 13" id="13"/>
          <p:cNvSpPr txBox="true"/>
          <p:nvPr/>
        </p:nvSpPr>
        <p:spPr>
          <a:xfrm rot="0">
            <a:off x="990600" y="1510189"/>
            <a:ext cx="16306800" cy="523875"/>
          </a:xfrm>
          <a:prstGeom prst="rect">
            <a:avLst/>
          </a:prstGeom>
        </p:spPr>
        <p:txBody>
          <a:bodyPr anchor="t" rtlCol="false" tIns="0" lIns="0" bIns="0" rIns="0">
            <a:spAutoFit/>
          </a:bodyPr>
          <a:lstStyle/>
          <a:p>
            <a:pPr algn="l">
              <a:lnSpc>
                <a:spcPts val="4524"/>
              </a:lnSpc>
            </a:pPr>
            <a:r>
              <a:rPr lang="en-US" b="true" sz="4350" spc="-86">
                <a:solidFill>
                  <a:srgbClr val="201E1D"/>
                </a:solidFill>
                <a:latin typeface="Arimo Bold"/>
                <a:ea typeface="Arimo Bold"/>
                <a:cs typeface="Arimo Bold"/>
                <a:sym typeface="Arimo Bold"/>
              </a:rPr>
              <a:t>The hardest three</a:t>
            </a:r>
          </a:p>
        </p:txBody>
      </p:sp>
      <p:grpSp>
        <p:nvGrpSpPr>
          <p:cNvPr name="Group 14" id="14"/>
          <p:cNvGrpSpPr/>
          <p:nvPr/>
        </p:nvGrpSpPr>
        <p:grpSpPr>
          <a:xfrm rot="0">
            <a:off x="992124" y="2281714"/>
            <a:ext cx="5267325" cy="2552700"/>
            <a:chOff x="0" y="0"/>
            <a:chExt cx="7023100" cy="3403600"/>
          </a:xfrm>
        </p:grpSpPr>
        <p:sp>
          <p:nvSpPr>
            <p:cNvPr name="Freeform 15" id="15"/>
            <p:cNvSpPr/>
            <p:nvPr/>
          </p:nvSpPr>
          <p:spPr>
            <a:xfrm flipH="false" flipV="false" rot="0">
              <a:off x="0" y="0"/>
              <a:ext cx="7023100" cy="3403600"/>
            </a:xfrm>
            <a:custGeom>
              <a:avLst/>
              <a:gdLst/>
              <a:ahLst/>
              <a:cxnLst/>
              <a:rect r="r" b="b" t="t" l="l"/>
              <a:pathLst>
                <a:path h="3403600" w="7023100">
                  <a:moveTo>
                    <a:pt x="355600" y="0"/>
                  </a:moveTo>
                  <a:lnTo>
                    <a:pt x="6667500" y="0"/>
                  </a:lnTo>
                  <a:cubicBezTo>
                    <a:pt x="6863842" y="0"/>
                    <a:pt x="7023100" y="159258"/>
                    <a:pt x="7023100" y="355600"/>
                  </a:cubicBezTo>
                  <a:lnTo>
                    <a:pt x="7023100" y="3048000"/>
                  </a:lnTo>
                  <a:cubicBezTo>
                    <a:pt x="7023100" y="3244342"/>
                    <a:pt x="6863842" y="3403600"/>
                    <a:pt x="6667500" y="3403600"/>
                  </a:cubicBezTo>
                  <a:lnTo>
                    <a:pt x="355600" y="3403600"/>
                  </a:lnTo>
                  <a:cubicBezTo>
                    <a:pt x="159258" y="3403600"/>
                    <a:pt x="0" y="3244342"/>
                    <a:pt x="0" y="3048000"/>
                  </a:cubicBezTo>
                  <a:lnTo>
                    <a:pt x="0" y="355600"/>
                  </a:lnTo>
                  <a:cubicBezTo>
                    <a:pt x="0" y="159258"/>
                    <a:pt x="159258" y="0"/>
                    <a:pt x="355600" y="0"/>
                  </a:cubicBezTo>
                  <a:close/>
                </a:path>
              </a:pathLst>
            </a:custGeom>
            <a:solidFill>
              <a:srgbClr val="F0FAE1"/>
            </a:solidFill>
          </p:spPr>
        </p:sp>
        <p:sp>
          <p:nvSpPr>
            <p:cNvPr name="Freeform 16" id="16"/>
            <p:cNvSpPr/>
            <p:nvPr/>
          </p:nvSpPr>
          <p:spPr>
            <a:xfrm flipH="false" flipV="false" rot="0">
              <a:off x="0" y="0"/>
              <a:ext cx="7023100" cy="3403600"/>
            </a:xfrm>
            <a:custGeom>
              <a:avLst/>
              <a:gdLst/>
              <a:ahLst/>
              <a:cxnLst/>
              <a:rect r="r" b="b" t="t" l="l"/>
              <a:pathLst>
                <a:path h="3403600" w="7023100">
                  <a:moveTo>
                    <a:pt x="355600" y="0"/>
                  </a:moveTo>
                  <a:lnTo>
                    <a:pt x="6667500" y="0"/>
                  </a:lnTo>
                  <a:cubicBezTo>
                    <a:pt x="6863842" y="0"/>
                    <a:pt x="7023100" y="159258"/>
                    <a:pt x="7023100" y="355600"/>
                  </a:cubicBezTo>
                  <a:lnTo>
                    <a:pt x="7023100" y="3048000"/>
                  </a:lnTo>
                  <a:cubicBezTo>
                    <a:pt x="7023100" y="3244342"/>
                    <a:pt x="6863842" y="3403600"/>
                    <a:pt x="6667500" y="3403600"/>
                  </a:cubicBezTo>
                  <a:lnTo>
                    <a:pt x="355600" y="3403600"/>
                  </a:lnTo>
                  <a:cubicBezTo>
                    <a:pt x="159258" y="3403600"/>
                    <a:pt x="0" y="3244342"/>
                    <a:pt x="0" y="3048000"/>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17" id="17"/>
          <p:cNvSpPr txBox="true"/>
          <p:nvPr/>
        </p:nvSpPr>
        <p:spPr>
          <a:xfrm rot="0">
            <a:off x="1287399" y="2424589"/>
            <a:ext cx="4676775" cy="600075"/>
          </a:xfrm>
          <a:prstGeom prst="rect">
            <a:avLst/>
          </a:prstGeom>
        </p:spPr>
        <p:txBody>
          <a:bodyPr anchor="t" rtlCol="false" tIns="0" lIns="0" bIns="0" rIns="0">
            <a:spAutoFit/>
          </a:bodyPr>
          <a:lstStyle/>
          <a:p>
            <a:pPr algn="l">
              <a:lnSpc>
                <a:spcPts val="3952"/>
              </a:lnSpc>
            </a:pPr>
            <a:r>
              <a:rPr lang="en-US" b="true" sz="2550" spc="-51">
                <a:solidFill>
                  <a:srgbClr val="3D472B"/>
                </a:solidFill>
                <a:latin typeface="Arimo Bold"/>
                <a:ea typeface="Arimo Bold"/>
                <a:cs typeface="Arimo Bold"/>
                <a:sym typeface="Arimo Bold"/>
              </a:rPr>
              <a:t>Q11 [3]</a:t>
            </a:r>
          </a:p>
        </p:txBody>
      </p:sp>
      <p:sp>
        <p:nvSpPr>
          <p:cNvPr name="TextBox 18" id="18"/>
          <p:cNvSpPr txBox="true"/>
          <p:nvPr/>
        </p:nvSpPr>
        <p:spPr>
          <a:xfrm rot="0">
            <a:off x="1287399" y="3041714"/>
            <a:ext cx="4676775" cy="504825"/>
          </a:xfrm>
          <a:prstGeom prst="rect">
            <a:avLst/>
          </a:prstGeom>
        </p:spPr>
        <p:txBody>
          <a:bodyPr anchor="t" rtlCol="false" tIns="0" lIns="0" bIns="0" rIns="0">
            <a:spAutoFit/>
          </a:bodyPr>
          <a:lstStyle/>
          <a:p>
            <a:pPr algn="l">
              <a:lnSpc>
                <a:spcPts val="3519"/>
              </a:lnSpc>
            </a:pPr>
            <a:r>
              <a:rPr lang="en-US" b="true" sz="2550">
                <a:solidFill>
                  <a:srgbClr val="201E1D"/>
                </a:solidFill>
                <a:latin typeface="Arimo Bold"/>
                <a:ea typeface="Arimo Bold"/>
                <a:cs typeface="Arimo Bold"/>
                <a:sym typeface="Arimo Bold"/>
              </a:rPr>
              <a:t>Rearrange a +</a:t>
            </a:r>
          </a:p>
        </p:txBody>
      </p:sp>
      <p:sp>
        <p:nvSpPr>
          <p:cNvPr name="AutoShape 19" id="19"/>
          <p:cNvSpPr/>
          <p:nvPr/>
        </p:nvSpPr>
        <p:spPr>
          <a:xfrm rot="0">
            <a:off x="1407128" y="3832288"/>
            <a:ext cx="209550" cy="28575"/>
          </a:xfrm>
          <a:prstGeom prst="rect">
            <a:avLst/>
          </a:prstGeom>
          <a:solidFill>
            <a:srgbClr val="201E1D"/>
          </a:solidFill>
        </p:spPr>
      </p:sp>
      <p:sp>
        <p:nvSpPr>
          <p:cNvPr name="TextBox 20" id="20"/>
          <p:cNvSpPr txBox="true"/>
          <p:nvPr/>
        </p:nvSpPr>
        <p:spPr>
          <a:xfrm rot="0">
            <a:off x="1407128" y="3556063"/>
            <a:ext cx="209550" cy="304800"/>
          </a:xfrm>
          <a:prstGeom prst="rect">
            <a:avLst/>
          </a:prstGeom>
        </p:spPr>
        <p:txBody>
          <a:bodyPr anchor="t" rtlCol="false" tIns="0" lIns="0" bIns="0" rIns="0">
            <a:spAutoFit/>
          </a:bodyPr>
          <a:lstStyle/>
          <a:p>
            <a:pPr algn="l">
              <a:lnSpc>
                <a:spcPts val="2258"/>
              </a:lnSpc>
            </a:pPr>
            <a:r>
              <a:rPr lang="en-US" b="true" sz="2091">
                <a:solidFill>
                  <a:srgbClr val="201E1D"/>
                </a:solidFill>
                <a:latin typeface="Arimo Bold"/>
                <a:ea typeface="Arimo Bold"/>
                <a:cs typeface="Arimo Bold"/>
                <a:sym typeface="Arimo Bold"/>
              </a:rPr>
              <a:t>1</a:t>
            </a:r>
          </a:p>
        </p:txBody>
      </p:sp>
      <p:sp>
        <p:nvSpPr>
          <p:cNvPr name="TextBox 21" id="21"/>
          <p:cNvSpPr txBox="true"/>
          <p:nvPr/>
        </p:nvSpPr>
        <p:spPr>
          <a:xfrm rot="0">
            <a:off x="1316736" y="3871341"/>
            <a:ext cx="390525" cy="276225"/>
          </a:xfrm>
          <a:prstGeom prst="rect">
            <a:avLst/>
          </a:prstGeom>
        </p:spPr>
        <p:txBody>
          <a:bodyPr anchor="t" rtlCol="false" tIns="0" lIns="0" bIns="0" rIns="0">
            <a:spAutoFit/>
          </a:bodyPr>
          <a:lstStyle/>
          <a:p>
            <a:pPr algn="l">
              <a:lnSpc>
                <a:spcPts val="2258"/>
              </a:lnSpc>
            </a:pPr>
            <a:r>
              <a:rPr lang="en-US" b="true" sz="2091">
                <a:solidFill>
                  <a:srgbClr val="201E1D"/>
                </a:solidFill>
                <a:latin typeface="Arimo Bold"/>
                <a:ea typeface="Arimo Bold"/>
                <a:cs typeface="Arimo Bold"/>
                <a:sym typeface="Arimo Bold"/>
              </a:rPr>
              <a:t>√b</a:t>
            </a:r>
          </a:p>
        </p:txBody>
      </p:sp>
      <p:sp>
        <p:nvSpPr>
          <p:cNvPr name="TextBox 22" id="22"/>
          <p:cNvSpPr txBox="true"/>
          <p:nvPr/>
        </p:nvSpPr>
        <p:spPr>
          <a:xfrm rot="0">
            <a:off x="1287399" y="4090416"/>
            <a:ext cx="4676775" cy="504825"/>
          </a:xfrm>
          <a:prstGeom prst="rect">
            <a:avLst/>
          </a:prstGeom>
        </p:spPr>
        <p:txBody>
          <a:bodyPr anchor="t" rtlCol="false" tIns="0" lIns="0" bIns="0" rIns="0">
            <a:spAutoFit/>
          </a:bodyPr>
          <a:lstStyle/>
          <a:p>
            <a:pPr algn="l">
              <a:lnSpc>
                <a:spcPts val="3519"/>
              </a:lnSpc>
            </a:pPr>
            <a:r>
              <a:rPr lang="en-US" b="true" sz="2550">
                <a:solidFill>
                  <a:srgbClr val="201E1D"/>
                </a:solidFill>
                <a:latin typeface="Arimo Bold"/>
                <a:ea typeface="Arimo Bold"/>
                <a:cs typeface="Arimo Bold"/>
                <a:sym typeface="Arimo Bold"/>
              </a:rPr>
              <a:t>= c to make b the subject.</a:t>
            </a:r>
          </a:p>
        </p:txBody>
      </p:sp>
      <p:grpSp>
        <p:nvGrpSpPr>
          <p:cNvPr name="Group 23" id="23"/>
          <p:cNvGrpSpPr/>
          <p:nvPr/>
        </p:nvGrpSpPr>
        <p:grpSpPr>
          <a:xfrm rot="0">
            <a:off x="6510242" y="2281714"/>
            <a:ext cx="5267325" cy="2552700"/>
            <a:chOff x="0" y="0"/>
            <a:chExt cx="7023100" cy="3403600"/>
          </a:xfrm>
        </p:grpSpPr>
        <p:sp>
          <p:nvSpPr>
            <p:cNvPr name="Freeform 24" id="24"/>
            <p:cNvSpPr/>
            <p:nvPr/>
          </p:nvSpPr>
          <p:spPr>
            <a:xfrm flipH="false" flipV="false" rot="0">
              <a:off x="0" y="0"/>
              <a:ext cx="7023100" cy="3403600"/>
            </a:xfrm>
            <a:custGeom>
              <a:avLst/>
              <a:gdLst/>
              <a:ahLst/>
              <a:cxnLst/>
              <a:rect r="r" b="b" t="t" l="l"/>
              <a:pathLst>
                <a:path h="3403600" w="7023100">
                  <a:moveTo>
                    <a:pt x="355600" y="0"/>
                  </a:moveTo>
                  <a:lnTo>
                    <a:pt x="6667500" y="0"/>
                  </a:lnTo>
                  <a:cubicBezTo>
                    <a:pt x="6863842" y="0"/>
                    <a:pt x="7023100" y="159258"/>
                    <a:pt x="7023100" y="355600"/>
                  </a:cubicBezTo>
                  <a:lnTo>
                    <a:pt x="7023100" y="3048000"/>
                  </a:lnTo>
                  <a:cubicBezTo>
                    <a:pt x="7023100" y="3244342"/>
                    <a:pt x="6863842" y="3403600"/>
                    <a:pt x="6667500" y="3403600"/>
                  </a:cubicBezTo>
                  <a:lnTo>
                    <a:pt x="355600" y="3403600"/>
                  </a:lnTo>
                  <a:cubicBezTo>
                    <a:pt x="159258" y="3403600"/>
                    <a:pt x="0" y="3244342"/>
                    <a:pt x="0" y="3048000"/>
                  </a:cubicBezTo>
                  <a:lnTo>
                    <a:pt x="0" y="355600"/>
                  </a:lnTo>
                  <a:cubicBezTo>
                    <a:pt x="0" y="159258"/>
                    <a:pt x="159258" y="0"/>
                    <a:pt x="355600" y="0"/>
                  </a:cubicBezTo>
                  <a:close/>
                </a:path>
              </a:pathLst>
            </a:custGeom>
            <a:solidFill>
              <a:srgbClr val="FFF2EB"/>
            </a:solidFill>
          </p:spPr>
        </p:sp>
        <p:sp>
          <p:nvSpPr>
            <p:cNvPr name="Freeform 25" id="25"/>
            <p:cNvSpPr/>
            <p:nvPr/>
          </p:nvSpPr>
          <p:spPr>
            <a:xfrm flipH="false" flipV="false" rot="0">
              <a:off x="0" y="0"/>
              <a:ext cx="7023100" cy="3403600"/>
            </a:xfrm>
            <a:custGeom>
              <a:avLst/>
              <a:gdLst/>
              <a:ahLst/>
              <a:cxnLst/>
              <a:rect r="r" b="b" t="t" l="l"/>
              <a:pathLst>
                <a:path h="3403600" w="7023100">
                  <a:moveTo>
                    <a:pt x="355600" y="0"/>
                  </a:moveTo>
                  <a:lnTo>
                    <a:pt x="6667500" y="0"/>
                  </a:lnTo>
                  <a:cubicBezTo>
                    <a:pt x="6863842" y="0"/>
                    <a:pt x="7023100" y="159258"/>
                    <a:pt x="7023100" y="355600"/>
                  </a:cubicBezTo>
                  <a:lnTo>
                    <a:pt x="7023100" y="3048000"/>
                  </a:lnTo>
                  <a:cubicBezTo>
                    <a:pt x="7023100" y="3244342"/>
                    <a:pt x="6863842" y="3403600"/>
                    <a:pt x="6667500" y="3403600"/>
                  </a:cubicBezTo>
                  <a:lnTo>
                    <a:pt x="355600" y="3403600"/>
                  </a:lnTo>
                  <a:cubicBezTo>
                    <a:pt x="159258" y="3403600"/>
                    <a:pt x="0" y="3244342"/>
                    <a:pt x="0" y="3048000"/>
                  </a:cubicBezTo>
                  <a:lnTo>
                    <a:pt x="0" y="355600"/>
                  </a:lnTo>
                  <a:cubicBezTo>
                    <a:pt x="0" y="159258"/>
                    <a:pt x="159258" y="0"/>
                    <a:pt x="355600" y="0"/>
                  </a:cubicBezTo>
                  <a:close/>
                </a:path>
              </a:pathLst>
            </a:custGeom>
            <a:solidFill>
              <a:srgbClr val="000000">
                <a:alpha val="0"/>
              </a:srgbClr>
            </a:solidFill>
            <a:ln w="28575" cap="sq">
              <a:solidFill>
                <a:srgbClr val="FFC6A5"/>
              </a:solidFill>
              <a:prstDash val="solid"/>
              <a:miter/>
            </a:ln>
          </p:spPr>
        </p:sp>
      </p:grpSp>
      <p:sp>
        <p:nvSpPr>
          <p:cNvPr name="TextBox 26" id="26"/>
          <p:cNvSpPr txBox="true"/>
          <p:nvPr/>
        </p:nvSpPr>
        <p:spPr>
          <a:xfrm rot="0">
            <a:off x="6805517" y="2424589"/>
            <a:ext cx="4676775" cy="600075"/>
          </a:xfrm>
          <a:prstGeom prst="rect">
            <a:avLst/>
          </a:prstGeom>
        </p:spPr>
        <p:txBody>
          <a:bodyPr anchor="t" rtlCol="false" tIns="0" lIns="0" bIns="0" rIns="0">
            <a:spAutoFit/>
          </a:bodyPr>
          <a:lstStyle/>
          <a:p>
            <a:pPr algn="l">
              <a:lnSpc>
                <a:spcPts val="3952"/>
              </a:lnSpc>
            </a:pPr>
            <a:r>
              <a:rPr lang="en-US" b="true" sz="2550" spc="-51">
                <a:solidFill>
                  <a:srgbClr val="643312"/>
                </a:solidFill>
                <a:latin typeface="Arimo Bold"/>
                <a:ea typeface="Arimo Bold"/>
                <a:cs typeface="Arimo Bold"/>
                <a:sym typeface="Arimo Bold"/>
              </a:rPr>
              <a:t>Q12 [3]</a:t>
            </a:r>
          </a:p>
        </p:txBody>
      </p:sp>
      <p:sp>
        <p:nvSpPr>
          <p:cNvPr name="TextBox 27" id="27"/>
          <p:cNvSpPr txBox="true"/>
          <p:nvPr/>
        </p:nvSpPr>
        <p:spPr>
          <a:xfrm rot="0">
            <a:off x="6805517" y="3041333"/>
            <a:ext cx="4676775" cy="952500"/>
          </a:xfrm>
          <a:prstGeom prst="rect">
            <a:avLst/>
          </a:prstGeom>
        </p:spPr>
        <p:txBody>
          <a:bodyPr anchor="t" rtlCol="false" tIns="0" lIns="0" bIns="0" rIns="0">
            <a:spAutoFit/>
          </a:bodyPr>
          <a:lstStyle/>
          <a:p>
            <a:pPr algn="l">
              <a:lnSpc>
                <a:spcPts val="3519"/>
              </a:lnSpc>
            </a:pPr>
            <a:r>
              <a:rPr lang="en-US" b="true" sz="2550">
                <a:solidFill>
                  <a:srgbClr val="201E1D"/>
                </a:solidFill>
                <a:latin typeface="Arimo Bold"/>
                <a:ea typeface="Arimo Bold"/>
                <a:cs typeface="Arimo Bold"/>
                <a:sym typeface="Arimo Bold"/>
              </a:rPr>
              <a:t>Factorise completely 4p³q⁴ + 8p²q + 2apq³ + 4a</a:t>
            </a:r>
          </a:p>
        </p:txBody>
      </p:sp>
      <p:grpSp>
        <p:nvGrpSpPr>
          <p:cNvPr name="Group 28" id="28"/>
          <p:cNvGrpSpPr/>
          <p:nvPr/>
        </p:nvGrpSpPr>
        <p:grpSpPr>
          <a:xfrm rot="0">
            <a:off x="12028360" y="2281714"/>
            <a:ext cx="5267325" cy="2552700"/>
            <a:chOff x="0" y="0"/>
            <a:chExt cx="7023100" cy="3403600"/>
          </a:xfrm>
        </p:grpSpPr>
        <p:sp>
          <p:nvSpPr>
            <p:cNvPr name="Freeform 29" id="29"/>
            <p:cNvSpPr/>
            <p:nvPr/>
          </p:nvSpPr>
          <p:spPr>
            <a:xfrm flipH="false" flipV="false" rot="0">
              <a:off x="0" y="0"/>
              <a:ext cx="7023100" cy="3403600"/>
            </a:xfrm>
            <a:custGeom>
              <a:avLst/>
              <a:gdLst/>
              <a:ahLst/>
              <a:cxnLst/>
              <a:rect r="r" b="b" t="t" l="l"/>
              <a:pathLst>
                <a:path h="3403600" w="7023100">
                  <a:moveTo>
                    <a:pt x="355600" y="0"/>
                  </a:moveTo>
                  <a:lnTo>
                    <a:pt x="6667500" y="0"/>
                  </a:lnTo>
                  <a:cubicBezTo>
                    <a:pt x="6863842" y="0"/>
                    <a:pt x="7023100" y="159258"/>
                    <a:pt x="7023100" y="355600"/>
                  </a:cubicBezTo>
                  <a:lnTo>
                    <a:pt x="7023100" y="3048000"/>
                  </a:lnTo>
                  <a:cubicBezTo>
                    <a:pt x="7023100" y="3244342"/>
                    <a:pt x="6863842" y="3403600"/>
                    <a:pt x="6667500" y="3403600"/>
                  </a:cubicBezTo>
                  <a:lnTo>
                    <a:pt x="355600" y="3403600"/>
                  </a:lnTo>
                  <a:cubicBezTo>
                    <a:pt x="159258" y="3403600"/>
                    <a:pt x="0" y="3244342"/>
                    <a:pt x="0" y="3048000"/>
                  </a:cubicBezTo>
                  <a:lnTo>
                    <a:pt x="0" y="355600"/>
                  </a:lnTo>
                  <a:cubicBezTo>
                    <a:pt x="0" y="159258"/>
                    <a:pt x="159258" y="0"/>
                    <a:pt x="355600" y="0"/>
                  </a:cubicBezTo>
                  <a:close/>
                </a:path>
              </a:pathLst>
            </a:custGeom>
            <a:solidFill>
              <a:srgbClr val="F0FAE1"/>
            </a:solidFill>
          </p:spPr>
        </p:sp>
        <p:sp>
          <p:nvSpPr>
            <p:cNvPr name="Freeform 30" id="30"/>
            <p:cNvSpPr/>
            <p:nvPr/>
          </p:nvSpPr>
          <p:spPr>
            <a:xfrm flipH="false" flipV="false" rot="0">
              <a:off x="0" y="0"/>
              <a:ext cx="7023100" cy="3403600"/>
            </a:xfrm>
            <a:custGeom>
              <a:avLst/>
              <a:gdLst/>
              <a:ahLst/>
              <a:cxnLst/>
              <a:rect r="r" b="b" t="t" l="l"/>
              <a:pathLst>
                <a:path h="3403600" w="7023100">
                  <a:moveTo>
                    <a:pt x="355600" y="0"/>
                  </a:moveTo>
                  <a:lnTo>
                    <a:pt x="6667500" y="0"/>
                  </a:lnTo>
                  <a:cubicBezTo>
                    <a:pt x="6863842" y="0"/>
                    <a:pt x="7023100" y="159258"/>
                    <a:pt x="7023100" y="355600"/>
                  </a:cubicBezTo>
                  <a:lnTo>
                    <a:pt x="7023100" y="3048000"/>
                  </a:lnTo>
                  <a:cubicBezTo>
                    <a:pt x="7023100" y="3244342"/>
                    <a:pt x="6863842" y="3403600"/>
                    <a:pt x="6667500" y="3403600"/>
                  </a:cubicBezTo>
                  <a:lnTo>
                    <a:pt x="355600" y="3403600"/>
                  </a:lnTo>
                  <a:cubicBezTo>
                    <a:pt x="159258" y="3403600"/>
                    <a:pt x="0" y="3244342"/>
                    <a:pt x="0" y="3048000"/>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31" id="31"/>
          <p:cNvSpPr txBox="true"/>
          <p:nvPr/>
        </p:nvSpPr>
        <p:spPr>
          <a:xfrm rot="0">
            <a:off x="12323636" y="2424589"/>
            <a:ext cx="4676775" cy="600075"/>
          </a:xfrm>
          <a:prstGeom prst="rect">
            <a:avLst/>
          </a:prstGeom>
        </p:spPr>
        <p:txBody>
          <a:bodyPr anchor="t" rtlCol="false" tIns="0" lIns="0" bIns="0" rIns="0">
            <a:spAutoFit/>
          </a:bodyPr>
          <a:lstStyle/>
          <a:p>
            <a:pPr algn="l">
              <a:lnSpc>
                <a:spcPts val="3952"/>
              </a:lnSpc>
            </a:pPr>
            <a:r>
              <a:rPr lang="en-US" b="true" sz="2550" spc="-51">
                <a:solidFill>
                  <a:srgbClr val="3D472B"/>
                </a:solidFill>
                <a:latin typeface="Arimo Bold"/>
                <a:ea typeface="Arimo Bold"/>
                <a:cs typeface="Arimo Bold"/>
                <a:sym typeface="Arimo Bold"/>
              </a:rPr>
              <a:t>Q13 [4]</a:t>
            </a:r>
          </a:p>
        </p:txBody>
      </p:sp>
      <p:sp>
        <p:nvSpPr>
          <p:cNvPr name="TextBox 32" id="32"/>
          <p:cNvSpPr txBox="true"/>
          <p:nvPr/>
        </p:nvSpPr>
        <p:spPr>
          <a:xfrm rot="0">
            <a:off x="12323636" y="3043333"/>
            <a:ext cx="4676775" cy="571500"/>
          </a:xfrm>
          <a:prstGeom prst="rect">
            <a:avLst/>
          </a:prstGeom>
        </p:spPr>
        <p:txBody>
          <a:bodyPr anchor="t" rtlCol="false" tIns="0" lIns="0" bIns="0" rIns="0">
            <a:spAutoFit/>
          </a:bodyPr>
          <a:lstStyle/>
          <a:p>
            <a:pPr algn="l">
              <a:lnSpc>
                <a:spcPts val="3519"/>
              </a:lnSpc>
            </a:pPr>
            <a:r>
              <a:rPr lang="en-US" b="true" sz="2550">
                <a:solidFill>
                  <a:srgbClr val="201E1D"/>
                </a:solidFill>
                <a:latin typeface="Arimo Bold"/>
                <a:ea typeface="Arimo Bold"/>
                <a:cs typeface="Arimo Bold"/>
                <a:sym typeface="Arimo Bold"/>
              </a:rPr>
              <a:t>Solve 4</a:t>
            </a:r>
            <a:r>
              <a:rPr lang="en-US" b="true" sz="2550">
                <a:solidFill>
                  <a:srgbClr val="201E1D"/>
                </a:solidFill>
                <a:latin typeface="Arimo Bold"/>
                <a:ea typeface="Arimo Bold"/>
                <a:cs typeface="Arimo Bold"/>
                <a:sym typeface="Arimo Bold"/>
              </a:rPr>
              <a:t>2x−3</a:t>
            </a:r>
            <a:r>
              <a:rPr lang="en-US" b="true" sz="2550">
                <a:solidFill>
                  <a:srgbClr val="201E1D"/>
                </a:solidFill>
                <a:latin typeface="Arimo Bold"/>
                <a:ea typeface="Arimo Bold"/>
                <a:cs typeface="Arimo Bold"/>
                <a:sym typeface="Arimo Bold"/>
              </a:rPr>
              <a:t> = 2</a:t>
            </a:r>
            <a:r>
              <a:rPr lang="en-US" b="true" sz="2550">
                <a:solidFill>
                  <a:srgbClr val="201E1D"/>
                </a:solidFill>
                <a:latin typeface="Arimo Bold"/>
                <a:ea typeface="Arimo Bold"/>
                <a:cs typeface="Arimo Bold"/>
                <a:sym typeface="Arimo Bold"/>
              </a:rPr>
              <a:t>5+2(x−3)</a:t>
            </a:r>
          </a:p>
        </p:txBody>
      </p:sp>
      <p:grpSp>
        <p:nvGrpSpPr>
          <p:cNvPr name="Group 33" id="33"/>
          <p:cNvGrpSpPr/>
          <p:nvPr/>
        </p:nvGrpSpPr>
        <p:grpSpPr>
          <a:xfrm rot="0">
            <a:off x="1318260" y="5332476"/>
            <a:ext cx="5056632" cy="2029968"/>
            <a:chOff x="0" y="0"/>
            <a:chExt cx="6742176" cy="2706624"/>
          </a:xfrm>
        </p:grpSpPr>
        <p:sp>
          <p:nvSpPr>
            <p:cNvPr name="Freeform 34" id="34"/>
            <p:cNvSpPr/>
            <p:nvPr/>
          </p:nvSpPr>
          <p:spPr>
            <a:xfrm flipH="false" flipV="false" rot="0">
              <a:off x="0" y="0"/>
              <a:ext cx="6742176" cy="2706624"/>
            </a:xfrm>
            <a:custGeom>
              <a:avLst/>
              <a:gdLst/>
              <a:ahLst/>
              <a:cxnLst/>
              <a:rect r="r" b="b" t="t" l="l"/>
              <a:pathLst>
                <a:path h="2706624" w="6742176">
                  <a:moveTo>
                    <a:pt x="355600" y="0"/>
                  </a:moveTo>
                  <a:lnTo>
                    <a:pt x="6386576" y="0"/>
                  </a:lnTo>
                  <a:cubicBezTo>
                    <a:pt x="6582918" y="0"/>
                    <a:pt x="6742176" y="159258"/>
                    <a:pt x="6742176" y="355600"/>
                  </a:cubicBezTo>
                  <a:lnTo>
                    <a:pt x="6742176" y="2351024"/>
                  </a:lnTo>
                  <a:cubicBezTo>
                    <a:pt x="6742176" y="2547366"/>
                    <a:pt x="6582918" y="2706624"/>
                    <a:pt x="6386576" y="2706624"/>
                  </a:cubicBezTo>
                  <a:lnTo>
                    <a:pt x="355600" y="2706624"/>
                  </a:lnTo>
                  <a:cubicBezTo>
                    <a:pt x="159258" y="2706624"/>
                    <a:pt x="0" y="2547366"/>
                    <a:pt x="0" y="2351024"/>
                  </a:cubicBezTo>
                  <a:lnTo>
                    <a:pt x="0" y="355600"/>
                  </a:lnTo>
                  <a:cubicBezTo>
                    <a:pt x="0" y="159258"/>
                    <a:pt x="159258" y="0"/>
                    <a:pt x="355600" y="0"/>
                  </a:cubicBezTo>
                  <a:close/>
                </a:path>
              </a:pathLst>
            </a:custGeom>
            <a:solidFill>
              <a:srgbClr val="F0FAE1"/>
            </a:solidFill>
          </p:spPr>
        </p:sp>
        <p:sp>
          <p:nvSpPr>
            <p:cNvPr name="Freeform 35" id="35"/>
            <p:cNvSpPr/>
            <p:nvPr/>
          </p:nvSpPr>
          <p:spPr>
            <a:xfrm flipH="false" flipV="false" rot="0">
              <a:off x="0" y="0"/>
              <a:ext cx="6742176" cy="2706624"/>
            </a:xfrm>
            <a:custGeom>
              <a:avLst/>
              <a:gdLst/>
              <a:ahLst/>
              <a:cxnLst/>
              <a:rect r="r" b="b" t="t" l="l"/>
              <a:pathLst>
                <a:path h="2706624" w="6742176">
                  <a:moveTo>
                    <a:pt x="355600" y="0"/>
                  </a:moveTo>
                  <a:lnTo>
                    <a:pt x="6386576" y="0"/>
                  </a:lnTo>
                  <a:cubicBezTo>
                    <a:pt x="6582918" y="0"/>
                    <a:pt x="6742176" y="159258"/>
                    <a:pt x="6742176" y="355600"/>
                  </a:cubicBezTo>
                  <a:lnTo>
                    <a:pt x="6742176" y="2351024"/>
                  </a:lnTo>
                  <a:cubicBezTo>
                    <a:pt x="6742176" y="2547366"/>
                    <a:pt x="6582918" y="2706624"/>
                    <a:pt x="6386576" y="2706624"/>
                  </a:cubicBezTo>
                  <a:lnTo>
                    <a:pt x="355600" y="2706624"/>
                  </a:lnTo>
                  <a:cubicBezTo>
                    <a:pt x="159258" y="2706624"/>
                    <a:pt x="0" y="2547366"/>
                    <a:pt x="0" y="2351024"/>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36" id="36"/>
          <p:cNvSpPr txBox="true"/>
          <p:nvPr/>
        </p:nvSpPr>
        <p:spPr>
          <a:xfrm rot="0">
            <a:off x="1601724" y="5475065"/>
            <a:ext cx="4489704"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37" id="37"/>
          <p:cNvSpPr txBox="true"/>
          <p:nvPr/>
        </p:nvSpPr>
        <p:spPr>
          <a:xfrm rot="0">
            <a:off x="2073783" y="5829014"/>
            <a:ext cx="1444752" cy="422529"/>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1/√b = c − a</a:t>
            </a:r>
          </a:p>
        </p:txBody>
      </p:sp>
      <p:sp>
        <p:nvSpPr>
          <p:cNvPr name="TextBox 38" id="38"/>
          <p:cNvSpPr txBox="true"/>
          <p:nvPr/>
        </p:nvSpPr>
        <p:spPr>
          <a:xfrm rot="0">
            <a:off x="2073592" y="6256972"/>
            <a:ext cx="1645920" cy="422529"/>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√b = 1/(c − a)</a:t>
            </a:r>
          </a:p>
        </p:txBody>
      </p:sp>
      <p:sp>
        <p:nvSpPr>
          <p:cNvPr name="TextBox 39" id="39"/>
          <p:cNvSpPr txBox="true"/>
          <p:nvPr/>
        </p:nvSpPr>
        <p:spPr>
          <a:xfrm rot="0">
            <a:off x="2077402" y="6684835"/>
            <a:ext cx="1591056" cy="422529"/>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b = 1/(c − a)²</a:t>
            </a:r>
          </a:p>
        </p:txBody>
      </p:sp>
      <p:grpSp>
        <p:nvGrpSpPr>
          <p:cNvPr name="Group 40" id="40"/>
          <p:cNvGrpSpPr/>
          <p:nvPr/>
        </p:nvGrpSpPr>
        <p:grpSpPr>
          <a:xfrm rot="0">
            <a:off x="6615589" y="5332476"/>
            <a:ext cx="5056632" cy="2029968"/>
            <a:chOff x="0" y="0"/>
            <a:chExt cx="6742176" cy="2706624"/>
          </a:xfrm>
        </p:grpSpPr>
        <p:sp>
          <p:nvSpPr>
            <p:cNvPr name="Freeform 41" id="41"/>
            <p:cNvSpPr/>
            <p:nvPr/>
          </p:nvSpPr>
          <p:spPr>
            <a:xfrm flipH="false" flipV="false" rot="0">
              <a:off x="0" y="0"/>
              <a:ext cx="6742176" cy="2706624"/>
            </a:xfrm>
            <a:custGeom>
              <a:avLst/>
              <a:gdLst/>
              <a:ahLst/>
              <a:cxnLst/>
              <a:rect r="r" b="b" t="t" l="l"/>
              <a:pathLst>
                <a:path h="2706624" w="6742176">
                  <a:moveTo>
                    <a:pt x="355600" y="0"/>
                  </a:moveTo>
                  <a:lnTo>
                    <a:pt x="6386576" y="0"/>
                  </a:lnTo>
                  <a:cubicBezTo>
                    <a:pt x="6582918" y="0"/>
                    <a:pt x="6742176" y="159258"/>
                    <a:pt x="6742176" y="355600"/>
                  </a:cubicBezTo>
                  <a:lnTo>
                    <a:pt x="6742176" y="2351024"/>
                  </a:lnTo>
                  <a:cubicBezTo>
                    <a:pt x="6742176" y="2547366"/>
                    <a:pt x="6582918" y="2706624"/>
                    <a:pt x="6386576" y="2706624"/>
                  </a:cubicBezTo>
                  <a:lnTo>
                    <a:pt x="355600" y="2706624"/>
                  </a:lnTo>
                  <a:cubicBezTo>
                    <a:pt x="159258" y="2706624"/>
                    <a:pt x="0" y="2547366"/>
                    <a:pt x="0" y="2351024"/>
                  </a:cubicBezTo>
                  <a:lnTo>
                    <a:pt x="0" y="355600"/>
                  </a:lnTo>
                  <a:cubicBezTo>
                    <a:pt x="0" y="159258"/>
                    <a:pt x="159258" y="0"/>
                    <a:pt x="355600" y="0"/>
                  </a:cubicBezTo>
                  <a:close/>
                </a:path>
              </a:pathLst>
            </a:custGeom>
            <a:solidFill>
              <a:srgbClr val="F0FAE1"/>
            </a:solidFill>
          </p:spPr>
        </p:sp>
        <p:sp>
          <p:nvSpPr>
            <p:cNvPr name="Freeform 42" id="42"/>
            <p:cNvSpPr/>
            <p:nvPr/>
          </p:nvSpPr>
          <p:spPr>
            <a:xfrm flipH="false" flipV="false" rot="0">
              <a:off x="0" y="0"/>
              <a:ext cx="6742176" cy="2706624"/>
            </a:xfrm>
            <a:custGeom>
              <a:avLst/>
              <a:gdLst/>
              <a:ahLst/>
              <a:cxnLst/>
              <a:rect r="r" b="b" t="t" l="l"/>
              <a:pathLst>
                <a:path h="2706624" w="6742176">
                  <a:moveTo>
                    <a:pt x="355600" y="0"/>
                  </a:moveTo>
                  <a:lnTo>
                    <a:pt x="6386576" y="0"/>
                  </a:lnTo>
                  <a:cubicBezTo>
                    <a:pt x="6582918" y="0"/>
                    <a:pt x="6742176" y="159258"/>
                    <a:pt x="6742176" y="355600"/>
                  </a:cubicBezTo>
                  <a:lnTo>
                    <a:pt x="6742176" y="2351024"/>
                  </a:lnTo>
                  <a:cubicBezTo>
                    <a:pt x="6742176" y="2547366"/>
                    <a:pt x="6582918" y="2706624"/>
                    <a:pt x="6386576" y="2706624"/>
                  </a:cubicBezTo>
                  <a:lnTo>
                    <a:pt x="355600" y="2706624"/>
                  </a:lnTo>
                  <a:cubicBezTo>
                    <a:pt x="159258" y="2706624"/>
                    <a:pt x="0" y="2547366"/>
                    <a:pt x="0" y="2351024"/>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43" id="43"/>
          <p:cNvSpPr txBox="true"/>
          <p:nvPr/>
        </p:nvSpPr>
        <p:spPr>
          <a:xfrm rot="0">
            <a:off x="6899053" y="5475065"/>
            <a:ext cx="4489704"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44" id="44"/>
          <p:cNvSpPr txBox="true"/>
          <p:nvPr/>
        </p:nvSpPr>
        <p:spPr>
          <a:xfrm rot="0">
            <a:off x="7374731" y="5829014"/>
            <a:ext cx="3447288" cy="422529"/>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2(2p³q⁴ + 4p²q + apq³ + 2a)</a:t>
            </a:r>
          </a:p>
        </p:txBody>
      </p:sp>
      <p:sp>
        <p:nvSpPr>
          <p:cNvPr name="TextBox 45" id="45"/>
          <p:cNvSpPr txBox="true"/>
          <p:nvPr/>
        </p:nvSpPr>
        <p:spPr>
          <a:xfrm rot="0">
            <a:off x="7373969" y="6256972"/>
            <a:ext cx="3538728" cy="422529"/>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2[2p²q(pq³ + 2) + a(pq³ + 2)]</a:t>
            </a:r>
          </a:p>
        </p:txBody>
      </p:sp>
      <p:sp>
        <p:nvSpPr>
          <p:cNvPr name="TextBox 46" id="46"/>
          <p:cNvSpPr txBox="true"/>
          <p:nvPr/>
        </p:nvSpPr>
        <p:spPr>
          <a:xfrm rot="0">
            <a:off x="7371207" y="6684835"/>
            <a:ext cx="2478024" cy="422529"/>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2(pq³ + 2)(2p²q + a)</a:t>
            </a:r>
          </a:p>
        </p:txBody>
      </p:sp>
      <p:grpSp>
        <p:nvGrpSpPr>
          <p:cNvPr name="Group 47" id="47"/>
          <p:cNvGrpSpPr/>
          <p:nvPr/>
        </p:nvGrpSpPr>
        <p:grpSpPr>
          <a:xfrm rot="0">
            <a:off x="11913013" y="5332476"/>
            <a:ext cx="5056632" cy="2029968"/>
            <a:chOff x="0" y="0"/>
            <a:chExt cx="6742176" cy="2706624"/>
          </a:xfrm>
        </p:grpSpPr>
        <p:sp>
          <p:nvSpPr>
            <p:cNvPr name="Freeform 48" id="48"/>
            <p:cNvSpPr/>
            <p:nvPr/>
          </p:nvSpPr>
          <p:spPr>
            <a:xfrm flipH="false" flipV="false" rot="0">
              <a:off x="0" y="0"/>
              <a:ext cx="6742176" cy="2706624"/>
            </a:xfrm>
            <a:custGeom>
              <a:avLst/>
              <a:gdLst/>
              <a:ahLst/>
              <a:cxnLst/>
              <a:rect r="r" b="b" t="t" l="l"/>
              <a:pathLst>
                <a:path h="2706624" w="6742176">
                  <a:moveTo>
                    <a:pt x="355600" y="0"/>
                  </a:moveTo>
                  <a:lnTo>
                    <a:pt x="6386576" y="0"/>
                  </a:lnTo>
                  <a:cubicBezTo>
                    <a:pt x="6582918" y="0"/>
                    <a:pt x="6742176" y="159258"/>
                    <a:pt x="6742176" y="355600"/>
                  </a:cubicBezTo>
                  <a:lnTo>
                    <a:pt x="6742176" y="2351024"/>
                  </a:lnTo>
                  <a:cubicBezTo>
                    <a:pt x="6742176" y="2547366"/>
                    <a:pt x="6582918" y="2706624"/>
                    <a:pt x="6386576" y="2706624"/>
                  </a:cubicBezTo>
                  <a:lnTo>
                    <a:pt x="355600" y="2706624"/>
                  </a:lnTo>
                  <a:cubicBezTo>
                    <a:pt x="159258" y="2706624"/>
                    <a:pt x="0" y="2547366"/>
                    <a:pt x="0" y="2351024"/>
                  </a:cubicBezTo>
                  <a:lnTo>
                    <a:pt x="0" y="355600"/>
                  </a:lnTo>
                  <a:cubicBezTo>
                    <a:pt x="0" y="159258"/>
                    <a:pt x="159258" y="0"/>
                    <a:pt x="355600" y="0"/>
                  </a:cubicBezTo>
                  <a:close/>
                </a:path>
              </a:pathLst>
            </a:custGeom>
            <a:solidFill>
              <a:srgbClr val="F0FAE1"/>
            </a:solidFill>
          </p:spPr>
        </p:sp>
        <p:sp>
          <p:nvSpPr>
            <p:cNvPr name="Freeform 49" id="49"/>
            <p:cNvSpPr/>
            <p:nvPr/>
          </p:nvSpPr>
          <p:spPr>
            <a:xfrm flipH="false" flipV="false" rot="0">
              <a:off x="0" y="0"/>
              <a:ext cx="6742176" cy="2706624"/>
            </a:xfrm>
            <a:custGeom>
              <a:avLst/>
              <a:gdLst/>
              <a:ahLst/>
              <a:cxnLst/>
              <a:rect r="r" b="b" t="t" l="l"/>
              <a:pathLst>
                <a:path h="2706624" w="6742176">
                  <a:moveTo>
                    <a:pt x="355600" y="0"/>
                  </a:moveTo>
                  <a:lnTo>
                    <a:pt x="6386576" y="0"/>
                  </a:lnTo>
                  <a:cubicBezTo>
                    <a:pt x="6582918" y="0"/>
                    <a:pt x="6742176" y="159258"/>
                    <a:pt x="6742176" y="355600"/>
                  </a:cubicBezTo>
                  <a:lnTo>
                    <a:pt x="6742176" y="2351024"/>
                  </a:lnTo>
                  <a:cubicBezTo>
                    <a:pt x="6742176" y="2547366"/>
                    <a:pt x="6582918" y="2706624"/>
                    <a:pt x="6386576" y="2706624"/>
                  </a:cubicBezTo>
                  <a:lnTo>
                    <a:pt x="355600" y="2706624"/>
                  </a:lnTo>
                  <a:cubicBezTo>
                    <a:pt x="159258" y="2706624"/>
                    <a:pt x="0" y="2547366"/>
                    <a:pt x="0" y="2351024"/>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sp>
        <p:nvSpPr>
          <p:cNvPr name="TextBox 50" id="50"/>
          <p:cNvSpPr txBox="true"/>
          <p:nvPr/>
        </p:nvSpPr>
        <p:spPr>
          <a:xfrm rot="0">
            <a:off x="12196477" y="5475065"/>
            <a:ext cx="4489704" cy="349377"/>
          </a:xfrm>
          <a:prstGeom prst="rect">
            <a:avLst/>
          </a:prstGeom>
        </p:spPr>
        <p:txBody>
          <a:bodyPr anchor="t" rtlCol="false" tIns="0" lIns="0" bIns="0" rIns="0">
            <a:spAutoFit/>
          </a:bodyPr>
          <a:lstStyle/>
          <a:p>
            <a:pPr algn="l">
              <a:lnSpc>
                <a:spcPts val="2350"/>
              </a:lnSpc>
            </a:pPr>
            <a:r>
              <a:rPr lang="en-US" b="true" sz="1728" spc="138">
                <a:solidFill>
                  <a:srgbClr val="3D472B"/>
                </a:solidFill>
                <a:latin typeface="Arimo Bold"/>
                <a:ea typeface="Arimo Bold"/>
                <a:cs typeface="Arimo Bold"/>
                <a:sym typeface="Arimo Bold"/>
              </a:rPr>
              <a:t>ANSWERS</a:t>
            </a:r>
          </a:p>
        </p:txBody>
      </p:sp>
      <p:sp>
        <p:nvSpPr>
          <p:cNvPr name="TextBox 51" id="51"/>
          <p:cNvSpPr txBox="true"/>
          <p:nvPr/>
        </p:nvSpPr>
        <p:spPr>
          <a:xfrm rot="0">
            <a:off x="12672632" y="5829014"/>
            <a:ext cx="1636776" cy="486537"/>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2</a:t>
            </a:r>
            <a:r>
              <a:rPr lang="en-US" b="true" sz="2160">
                <a:solidFill>
                  <a:srgbClr val="201E1D"/>
                </a:solidFill>
                <a:latin typeface="Arimo Bold"/>
                <a:ea typeface="Arimo Bold"/>
                <a:cs typeface="Arimo Bold"/>
                <a:sym typeface="Arimo Bold"/>
              </a:rPr>
              <a:t>4x−6</a:t>
            </a:r>
            <a:r>
              <a:rPr lang="en-US" b="true" sz="2160">
                <a:solidFill>
                  <a:srgbClr val="201E1D"/>
                </a:solidFill>
                <a:latin typeface="Arimo Bold"/>
                <a:ea typeface="Arimo Bold"/>
                <a:cs typeface="Arimo Bold"/>
                <a:sym typeface="Arimo Bold"/>
              </a:rPr>
              <a:t> = 2</a:t>
            </a:r>
            <a:r>
              <a:rPr lang="en-US" b="true" sz="2160">
                <a:solidFill>
                  <a:srgbClr val="201E1D"/>
                </a:solidFill>
                <a:latin typeface="Arimo Bold"/>
                <a:ea typeface="Arimo Bold"/>
                <a:cs typeface="Arimo Bold"/>
                <a:sym typeface="Arimo Bold"/>
              </a:rPr>
              <a:t>2x−1</a:t>
            </a:r>
          </a:p>
        </p:txBody>
      </p:sp>
      <p:sp>
        <p:nvSpPr>
          <p:cNvPr name="TextBox 52" id="52"/>
          <p:cNvSpPr txBox="true"/>
          <p:nvPr/>
        </p:nvSpPr>
        <p:spPr>
          <a:xfrm rot="0">
            <a:off x="12672632" y="6320981"/>
            <a:ext cx="1792224" cy="422529"/>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4x − 6 = 2x − 1</a:t>
            </a:r>
          </a:p>
        </p:txBody>
      </p:sp>
      <p:sp>
        <p:nvSpPr>
          <p:cNvPr name="TextBox 53" id="53"/>
          <p:cNvSpPr txBox="true"/>
          <p:nvPr/>
        </p:nvSpPr>
        <p:spPr>
          <a:xfrm rot="0">
            <a:off x="12668726" y="6748843"/>
            <a:ext cx="877824" cy="422529"/>
          </a:xfrm>
          <a:prstGeom prst="rect">
            <a:avLst/>
          </a:prstGeom>
        </p:spPr>
        <p:txBody>
          <a:bodyPr anchor="t" rtlCol="false" tIns="0" lIns="0" bIns="0" rIns="0">
            <a:spAutoFit/>
          </a:bodyPr>
          <a:lstStyle/>
          <a:p>
            <a:pPr algn="l">
              <a:lnSpc>
                <a:spcPts val="2937"/>
              </a:lnSpc>
            </a:pPr>
            <a:r>
              <a:rPr lang="en-US" b="true" sz="2160">
                <a:solidFill>
                  <a:srgbClr val="201E1D"/>
                </a:solidFill>
                <a:latin typeface="Arimo Bold"/>
                <a:ea typeface="Arimo Bold"/>
                <a:cs typeface="Arimo Bold"/>
                <a:sym typeface="Arimo Bold"/>
              </a:rPr>
              <a:t>x = 5/2</a:t>
            </a:r>
          </a:p>
        </p:txBody>
      </p:sp>
      <p:grpSp>
        <p:nvGrpSpPr>
          <p:cNvPr name="Group 54" id="54"/>
          <p:cNvGrpSpPr/>
          <p:nvPr/>
        </p:nvGrpSpPr>
        <p:grpSpPr>
          <a:xfrm rot="0">
            <a:off x="989838" y="9010650"/>
            <a:ext cx="3209925" cy="666750"/>
            <a:chOff x="0" y="0"/>
            <a:chExt cx="4279900" cy="889000"/>
          </a:xfrm>
        </p:grpSpPr>
        <p:sp>
          <p:nvSpPr>
            <p:cNvPr name="Freeform 55" id="55"/>
            <p:cNvSpPr/>
            <p:nvPr/>
          </p:nvSpPr>
          <p:spPr>
            <a:xfrm flipH="false" flipV="false" rot="0">
              <a:off x="0" y="0"/>
              <a:ext cx="4279900" cy="889000"/>
            </a:xfrm>
            <a:custGeom>
              <a:avLst/>
              <a:gdLst/>
              <a:ahLst/>
              <a:cxnLst/>
              <a:rect r="r" b="b" t="t" l="l"/>
              <a:pathLst>
                <a:path h="889000" w="4279900">
                  <a:moveTo>
                    <a:pt x="444500" y="0"/>
                  </a:moveTo>
                  <a:lnTo>
                    <a:pt x="3835400" y="0"/>
                  </a:lnTo>
                  <a:cubicBezTo>
                    <a:pt x="4080891" y="0"/>
                    <a:pt x="4279900" y="199009"/>
                    <a:pt x="4279900" y="444500"/>
                  </a:cubicBezTo>
                  <a:cubicBezTo>
                    <a:pt x="4279900" y="689991"/>
                    <a:pt x="4080891" y="889000"/>
                    <a:pt x="3835400" y="889000"/>
                  </a:cubicBezTo>
                  <a:lnTo>
                    <a:pt x="444500" y="889000"/>
                  </a:lnTo>
                  <a:cubicBezTo>
                    <a:pt x="199009" y="889000"/>
                    <a:pt x="0" y="689991"/>
                    <a:pt x="0" y="444500"/>
                  </a:cubicBezTo>
                  <a:cubicBezTo>
                    <a:pt x="0" y="199009"/>
                    <a:pt x="199009" y="0"/>
                    <a:pt x="444500" y="0"/>
                  </a:cubicBezTo>
                  <a:close/>
                </a:path>
              </a:pathLst>
            </a:custGeom>
            <a:solidFill>
              <a:srgbClr val="C67139"/>
            </a:solidFill>
          </p:spPr>
        </p:sp>
      </p:grpSp>
      <p:sp>
        <p:nvSpPr>
          <p:cNvPr name="TextBox 56" id="56"/>
          <p:cNvSpPr txBox="true"/>
          <p:nvPr/>
        </p:nvSpPr>
        <p:spPr>
          <a:xfrm rot="0">
            <a:off x="1361313" y="9153525"/>
            <a:ext cx="2466975" cy="361950"/>
          </a:xfrm>
          <a:prstGeom prst="rect">
            <a:avLst/>
          </a:prstGeom>
        </p:spPr>
        <p:txBody>
          <a:bodyPr anchor="t" rtlCol="false" tIns="0" lIns="0" bIns="0" rIns="0">
            <a:spAutoFit/>
          </a:bodyPr>
          <a:lstStyle/>
          <a:p>
            <a:pPr algn="ctr">
              <a:lnSpc>
                <a:spcPts val="2700"/>
              </a:lnSpc>
            </a:pPr>
            <a:r>
              <a:rPr lang="en-US" b="true" sz="2250" spc="-44">
                <a:solidFill>
                  <a:srgbClr val="F5EAD8"/>
                </a:solidFill>
                <a:latin typeface="Arimo Bold"/>
                <a:ea typeface="Arimo Bold"/>
                <a:cs typeface="Arimo Bold"/>
                <a:sym typeface="Arimo Bold"/>
              </a:rPr>
              <a:t>Reveal the answers</a:t>
            </a:r>
          </a:p>
        </p:txBody>
      </p:sp>
    </p:spTree>
  </p:cSld>
  <p:clrMapOvr>
    <a:masterClrMapping/>
  </p:clrMapOvr>
</p:sld>
</file>

<file path=ppt/slides/slide4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5EAD8"/>
          </a:solidFill>
        </p:spPr>
      </p:sp>
      <p:grpSp>
        <p:nvGrpSpPr>
          <p:cNvPr name="Group 3" id="3"/>
          <p:cNvGrpSpPr/>
          <p:nvPr/>
        </p:nvGrpSpPr>
        <p:grpSpPr>
          <a:xfrm rot="0">
            <a:off x="-1143000" y="8763000"/>
            <a:ext cx="2667000" cy="2667000"/>
            <a:chOff x="0" y="0"/>
            <a:chExt cx="3556000" cy="3556000"/>
          </a:xfrm>
        </p:grpSpPr>
        <p:sp>
          <p:nvSpPr>
            <p:cNvPr name="Freeform 4" id="4"/>
            <p:cNvSpPr/>
            <p:nvPr/>
          </p:nvSpPr>
          <p:spPr>
            <a:xfrm flipH="false" flipV="false" rot="0">
              <a:off x="0" y="0"/>
              <a:ext cx="3556000" cy="3556000"/>
            </a:xfrm>
            <a:custGeom>
              <a:avLst/>
              <a:gdLst/>
              <a:ahLst/>
              <a:cxnLst/>
              <a:rect r="r" b="b" t="t" l="l"/>
              <a:pathLst>
                <a:path h="3556000" w="3556000">
                  <a:moveTo>
                    <a:pt x="1778000" y="0"/>
                  </a:moveTo>
                  <a:cubicBezTo>
                    <a:pt x="2759964" y="0"/>
                    <a:pt x="3556000" y="796036"/>
                    <a:pt x="3556000" y="1778000"/>
                  </a:cubicBezTo>
                  <a:cubicBezTo>
                    <a:pt x="3556000" y="2759964"/>
                    <a:pt x="2759964" y="3556000"/>
                    <a:pt x="1778000" y="3556000"/>
                  </a:cubicBezTo>
                  <a:cubicBezTo>
                    <a:pt x="796036" y="3556000"/>
                    <a:pt x="0" y="2759964"/>
                    <a:pt x="0" y="1778000"/>
                  </a:cubicBezTo>
                  <a:cubicBezTo>
                    <a:pt x="0" y="796036"/>
                    <a:pt x="796036" y="0"/>
                    <a:pt x="1778000" y="0"/>
                  </a:cubicBezTo>
                  <a:close/>
                </a:path>
              </a:pathLst>
            </a:custGeom>
            <a:solidFill>
              <a:srgbClr val="E1EECC"/>
            </a:solidFill>
          </p:spPr>
        </p:sp>
      </p:grpSp>
      <p:grpSp>
        <p:nvGrpSpPr>
          <p:cNvPr name="Group 5" id="5"/>
          <p:cNvGrpSpPr/>
          <p:nvPr/>
        </p:nvGrpSpPr>
        <p:grpSpPr>
          <a:xfrm rot="0">
            <a:off x="17430750" y="9505950"/>
            <a:ext cx="438150" cy="438150"/>
            <a:chOff x="0" y="0"/>
            <a:chExt cx="584200" cy="584200"/>
          </a:xfrm>
        </p:grpSpPr>
        <p:sp>
          <p:nvSpPr>
            <p:cNvPr name="Freeform 6" id="6"/>
            <p:cNvSpPr/>
            <p:nvPr/>
          </p:nvSpPr>
          <p:spPr>
            <a:xfrm flipH="false" flipV="false" rot="0">
              <a:off x="0" y="0"/>
              <a:ext cx="584200" cy="584200"/>
            </a:xfrm>
            <a:custGeom>
              <a:avLst/>
              <a:gdLst/>
              <a:ahLst/>
              <a:cxnLst/>
              <a:rect r="r" b="b" t="t" l="l"/>
              <a:pathLst>
                <a:path h="584200" w="584200">
                  <a:moveTo>
                    <a:pt x="292100" y="0"/>
                  </a:moveTo>
                  <a:cubicBezTo>
                    <a:pt x="453390" y="0"/>
                    <a:pt x="584200" y="130810"/>
                    <a:pt x="584200" y="292100"/>
                  </a:cubicBezTo>
                  <a:cubicBezTo>
                    <a:pt x="584200" y="453390"/>
                    <a:pt x="453390" y="584200"/>
                    <a:pt x="292100" y="584200"/>
                  </a:cubicBezTo>
                  <a:cubicBezTo>
                    <a:pt x="130810" y="584200"/>
                    <a:pt x="0" y="453390"/>
                    <a:pt x="0" y="292100"/>
                  </a:cubicBezTo>
                  <a:cubicBezTo>
                    <a:pt x="0" y="130810"/>
                    <a:pt x="130810" y="0"/>
                    <a:pt x="292100" y="0"/>
                  </a:cubicBezTo>
                  <a:close/>
                </a:path>
              </a:pathLst>
            </a:custGeom>
            <a:solidFill>
              <a:srgbClr val="FFC6A5"/>
            </a:solidFill>
          </p:spPr>
        </p:sp>
      </p:grpSp>
      <p:grpSp>
        <p:nvGrpSpPr>
          <p:cNvPr name="Group 7" id="7"/>
          <p:cNvGrpSpPr/>
          <p:nvPr/>
        </p:nvGrpSpPr>
        <p:grpSpPr>
          <a:xfrm rot="0">
            <a:off x="17087850" y="9582150"/>
            <a:ext cx="209550" cy="209550"/>
            <a:chOff x="0" y="0"/>
            <a:chExt cx="279400" cy="279400"/>
          </a:xfrm>
        </p:grpSpPr>
        <p:sp>
          <p:nvSpPr>
            <p:cNvPr name="Freeform 8" id="8"/>
            <p:cNvSpPr/>
            <p:nvPr/>
          </p:nvSpPr>
          <p:spPr>
            <a:xfrm flipH="false" flipV="false" rot="0">
              <a:off x="0" y="0"/>
              <a:ext cx="279400" cy="279400"/>
            </a:xfrm>
            <a:custGeom>
              <a:avLst/>
              <a:gdLst/>
              <a:ahLst/>
              <a:cxnLst/>
              <a:rect r="r" b="b" t="t" l="l"/>
              <a:pathLst>
                <a:path h="279400" w="279400">
                  <a:moveTo>
                    <a:pt x="139700" y="0"/>
                  </a:moveTo>
                  <a:cubicBezTo>
                    <a:pt x="216916" y="0"/>
                    <a:pt x="279400" y="62484"/>
                    <a:pt x="279400" y="139700"/>
                  </a:cubicBezTo>
                  <a:cubicBezTo>
                    <a:pt x="279400" y="216916"/>
                    <a:pt x="216916" y="279400"/>
                    <a:pt x="139700" y="279400"/>
                  </a:cubicBezTo>
                  <a:cubicBezTo>
                    <a:pt x="62484" y="279400"/>
                    <a:pt x="0" y="216916"/>
                    <a:pt x="0" y="139700"/>
                  </a:cubicBezTo>
                  <a:cubicBezTo>
                    <a:pt x="0" y="62484"/>
                    <a:pt x="62484" y="0"/>
                    <a:pt x="139700" y="0"/>
                  </a:cubicBezTo>
                  <a:close/>
                </a:path>
              </a:pathLst>
            </a:custGeom>
            <a:solidFill>
              <a:srgbClr val="CCDBB2"/>
            </a:solidFill>
          </p:spPr>
        </p:sp>
      </p:grpSp>
      <p:grpSp>
        <p:nvGrpSpPr>
          <p:cNvPr name="Group 9" id="9"/>
          <p:cNvGrpSpPr/>
          <p:nvPr/>
        </p:nvGrpSpPr>
        <p:grpSpPr>
          <a:xfrm rot="0">
            <a:off x="991076" y="611505"/>
            <a:ext cx="1962150" cy="600075"/>
            <a:chOff x="0" y="0"/>
            <a:chExt cx="2616200" cy="800100"/>
          </a:xfrm>
        </p:grpSpPr>
        <p:sp>
          <p:nvSpPr>
            <p:cNvPr name="Freeform 10" id="10"/>
            <p:cNvSpPr/>
            <p:nvPr/>
          </p:nvSpPr>
          <p:spPr>
            <a:xfrm flipH="false" flipV="false" rot="0">
              <a:off x="0" y="0"/>
              <a:ext cx="2616200" cy="800100"/>
            </a:xfrm>
            <a:custGeom>
              <a:avLst/>
              <a:gdLst/>
              <a:ahLst/>
              <a:cxnLst/>
              <a:rect r="r" b="b" t="t" l="l"/>
              <a:pathLst>
                <a:path h="800100" w="2616200">
                  <a:moveTo>
                    <a:pt x="400050" y="0"/>
                  </a:moveTo>
                  <a:lnTo>
                    <a:pt x="2216150" y="0"/>
                  </a:lnTo>
                  <a:cubicBezTo>
                    <a:pt x="2437130" y="0"/>
                    <a:pt x="2616200" y="179070"/>
                    <a:pt x="2616200" y="400050"/>
                  </a:cubicBezTo>
                  <a:cubicBezTo>
                    <a:pt x="2616200" y="621030"/>
                    <a:pt x="2437130" y="800100"/>
                    <a:pt x="2216150" y="800100"/>
                  </a:cubicBezTo>
                  <a:lnTo>
                    <a:pt x="400050" y="800100"/>
                  </a:lnTo>
                  <a:cubicBezTo>
                    <a:pt x="179070" y="800100"/>
                    <a:pt x="0" y="621030"/>
                    <a:pt x="0" y="400050"/>
                  </a:cubicBezTo>
                  <a:cubicBezTo>
                    <a:pt x="0" y="179070"/>
                    <a:pt x="179070" y="0"/>
                    <a:pt x="400050" y="0"/>
                  </a:cubicBezTo>
                  <a:close/>
                </a:path>
              </a:pathLst>
            </a:custGeom>
            <a:solidFill>
              <a:srgbClr val="56633F"/>
            </a:solidFill>
          </p:spPr>
        </p:sp>
        <p:sp>
          <p:nvSpPr>
            <p:cNvPr name="TextBox 11" id="11"/>
            <p:cNvSpPr txBox="true"/>
            <p:nvPr/>
          </p:nvSpPr>
          <p:spPr>
            <a:xfrm>
              <a:off x="0" y="-76200"/>
              <a:ext cx="2616200" cy="876300"/>
            </a:xfrm>
            <a:prstGeom prst="rect">
              <a:avLst/>
            </a:prstGeom>
          </p:spPr>
          <p:txBody>
            <a:bodyPr anchor="t" rtlCol="false" tIns="175260" lIns="175260" bIns="175260" rIns="175260"/>
            <a:lstStyle/>
            <a:p>
              <a:pPr algn="l">
                <a:lnSpc>
                  <a:spcPts val="3255"/>
                </a:lnSpc>
              </a:pPr>
              <a:r>
                <a:rPr lang="en-US" b="true" sz="2100" spc="126">
                  <a:solidFill>
                    <a:srgbClr val="F5EAD8"/>
                  </a:solidFill>
                  <a:latin typeface="Arimo Bold"/>
                  <a:ea typeface="Arimo Bold"/>
                  <a:cs typeface="Arimo Bold"/>
                  <a:sym typeface="Arimo Bold"/>
                </a:rPr>
                <a:t>SUMMARY</a:t>
              </a:r>
            </a:p>
          </p:txBody>
        </p:sp>
      </p:grpSp>
      <p:sp>
        <p:nvSpPr>
          <p:cNvPr name="TextBox 12" id="12"/>
          <p:cNvSpPr txBox="true"/>
          <p:nvPr/>
        </p:nvSpPr>
        <p:spPr>
          <a:xfrm rot="0">
            <a:off x="3142298" y="630555"/>
            <a:ext cx="4029075" cy="485775"/>
          </a:xfrm>
          <a:prstGeom prst="rect">
            <a:avLst/>
          </a:prstGeom>
        </p:spPr>
        <p:txBody>
          <a:bodyPr anchor="t" rtlCol="false" tIns="0" lIns="0" bIns="0" rIns="0">
            <a:spAutoFit/>
          </a:bodyPr>
          <a:lstStyle/>
          <a:p>
            <a:pPr algn="l">
              <a:lnSpc>
                <a:spcPts val="3255"/>
              </a:lnSpc>
            </a:pPr>
            <a:r>
              <a:rPr lang="en-US" b="true" sz="2100">
                <a:solidFill>
                  <a:srgbClr val="643312"/>
                </a:solidFill>
                <a:latin typeface="Arimo Bold"/>
                <a:ea typeface="Arimo Bold"/>
                <a:cs typeface="Arimo Bold"/>
                <a:sym typeface="Arimo Bold"/>
              </a:rPr>
              <a:t>Do you know… · Are you able to…</a:t>
            </a:r>
          </a:p>
        </p:txBody>
      </p:sp>
      <p:sp>
        <p:nvSpPr>
          <p:cNvPr name="TextBox 13" id="13"/>
          <p:cNvSpPr txBox="true"/>
          <p:nvPr/>
        </p:nvSpPr>
        <p:spPr>
          <a:xfrm rot="0">
            <a:off x="990600" y="1510570"/>
            <a:ext cx="16306800" cy="542925"/>
          </a:xfrm>
          <a:prstGeom prst="rect">
            <a:avLst/>
          </a:prstGeom>
        </p:spPr>
        <p:txBody>
          <a:bodyPr anchor="t" rtlCol="false" tIns="0" lIns="0" bIns="0" rIns="0">
            <a:spAutoFit/>
          </a:bodyPr>
          <a:lstStyle/>
          <a:p>
            <a:pPr algn="l">
              <a:lnSpc>
                <a:spcPts val="4680"/>
              </a:lnSpc>
            </a:pPr>
            <a:r>
              <a:rPr lang="en-US" b="true" sz="4500" spc="-89">
                <a:solidFill>
                  <a:srgbClr val="201E1D"/>
                </a:solidFill>
                <a:latin typeface="Arimo Bold"/>
                <a:ea typeface="Arimo Bold"/>
                <a:cs typeface="Arimo Bold"/>
                <a:sym typeface="Arimo Bold"/>
              </a:rPr>
              <a:t>Chapter 6 checklist</a:t>
            </a:r>
          </a:p>
        </p:txBody>
      </p:sp>
      <p:grpSp>
        <p:nvGrpSpPr>
          <p:cNvPr name="Group 14" id="14"/>
          <p:cNvGrpSpPr/>
          <p:nvPr/>
        </p:nvGrpSpPr>
        <p:grpSpPr>
          <a:xfrm rot="0">
            <a:off x="990600" y="2531554"/>
            <a:ext cx="285750" cy="285750"/>
            <a:chOff x="0" y="0"/>
            <a:chExt cx="381000" cy="381000"/>
          </a:xfrm>
        </p:grpSpPr>
        <p:sp>
          <p:nvSpPr>
            <p:cNvPr name="Freeform 15" id="15"/>
            <p:cNvSpPr/>
            <p:nvPr/>
          </p:nvSpPr>
          <p:spPr>
            <a:xfrm flipH="false" flipV="false" rot="0">
              <a:off x="0" y="0"/>
              <a:ext cx="381000" cy="381000"/>
            </a:xfrm>
            <a:custGeom>
              <a:avLst/>
              <a:gdLst/>
              <a:ahLst/>
              <a:cxnLst/>
              <a:rect r="r" b="b" t="t" l="l"/>
              <a:pathLst>
                <a:path h="381000" w="381000">
                  <a:moveTo>
                    <a:pt x="190500" y="0"/>
                  </a:moveTo>
                  <a:cubicBezTo>
                    <a:pt x="295656" y="0"/>
                    <a:pt x="381000" y="85344"/>
                    <a:pt x="381000" y="190500"/>
                  </a:cubicBezTo>
                  <a:cubicBezTo>
                    <a:pt x="381000" y="295656"/>
                    <a:pt x="295656" y="381000"/>
                    <a:pt x="190500" y="381000"/>
                  </a:cubicBezTo>
                  <a:cubicBezTo>
                    <a:pt x="85344" y="381000"/>
                    <a:pt x="0" y="295656"/>
                    <a:pt x="0" y="190500"/>
                  </a:cubicBezTo>
                  <a:cubicBezTo>
                    <a:pt x="0" y="85344"/>
                    <a:pt x="85344" y="0"/>
                    <a:pt x="190500" y="0"/>
                  </a:cubicBezTo>
                  <a:close/>
                </a:path>
              </a:pathLst>
            </a:custGeom>
            <a:solidFill>
              <a:srgbClr val="7A8A5E"/>
            </a:solidFill>
          </p:spPr>
        </p:sp>
      </p:grpSp>
      <p:sp>
        <p:nvSpPr>
          <p:cNvPr name="TextBox 16" id="16"/>
          <p:cNvSpPr txBox="true"/>
          <p:nvPr/>
        </p:nvSpPr>
        <p:spPr>
          <a:xfrm rot="0">
            <a:off x="1428750" y="2264854"/>
            <a:ext cx="7486650" cy="781050"/>
          </a:xfrm>
          <a:prstGeom prst="rect">
            <a:avLst/>
          </a:prstGeom>
        </p:spPr>
        <p:txBody>
          <a:bodyPr anchor="t" rtlCol="false" tIns="0" lIns="0" bIns="0" rIns="0">
            <a:spAutoFit/>
          </a:bodyPr>
          <a:lstStyle/>
          <a:p>
            <a:pPr algn="l">
              <a:lnSpc>
                <a:spcPts val="2925"/>
              </a:lnSpc>
            </a:pPr>
            <a:r>
              <a:rPr lang="en-US" b="true" sz="2250">
                <a:solidFill>
                  <a:srgbClr val="201E1D"/>
                </a:solidFill>
                <a:latin typeface="Arimo Bold"/>
                <a:ea typeface="Arimo Bold"/>
                <a:cs typeface="Arimo Bold"/>
                <a:sym typeface="Arimo Bold"/>
              </a:rPr>
              <a:t>A variable is a letter or symbol that can represent many values.</a:t>
            </a:r>
          </a:p>
        </p:txBody>
      </p:sp>
      <p:grpSp>
        <p:nvGrpSpPr>
          <p:cNvPr name="Group 17" id="17"/>
          <p:cNvGrpSpPr/>
          <p:nvPr/>
        </p:nvGrpSpPr>
        <p:grpSpPr>
          <a:xfrm rot="0">
            <a:off x="990600" y="3407854"/>
            <a:ext cx="285750" cy="285750"/>
            <a:chOff x="0" y="0"/>
            <a:chExt cx="381000" cy="381000"/>
          </a:xfrm>
        </p:grpSpPr>
        <p:sp>
          <p:nvSpPr>
            <p:cNvPr name="Freeform 18" id="18"/>
            <p:cNvSpPr/>
            <p:nvPr/>
          </p:nvSpPr>
          <p:spPr>
            <a:xfrm flipH="false" flipV="false" rot="0">
              <a:off x="0" y="0"/>
              <a:ext cx="381000" cy="381000"/>
            </a:xfrm>
            <a:custGeom>
              <a:avLst/>
              <a:gdLst/>
              <a:ahLst/>
              <a:cxnLst/>
              <a:rect r="r" b="b" t="t" l="l"/>
              <a:pathLst>
                <a:path h="381000" w="381000">
                  <a:moveTo>
                    <a:pt x="190500" y="0"/>
                  </a:moveTo>
                  <a:cubicBezTo>
                    <a:pt x="295656" y="0"/>
                    <a:pt x="381000" y="85344"/>
                    <a:pt x="381000" y="190500"/>
                  </a:cubicBezTo>
                  <a:cubicBezTo>
                    <a:pt x="381000" y="295656"/>
                    <a:pt x="295656" y="381000"/>
                    <a:pt x="190500" y="381000"/>
                  </a:cubicBezTo>
                  <a:cubicBezTo>
                    <a:pt x="85344" y="381000"/>
                    <a:pt x="0" y="295656"/>
                    <a:pt x="0" y="190500"/>
                  </a:cubicBezTo>
                  <a:cubicBezTo>
                    <a:pt x="0" y="85344"/>
                    <a:pt x="85344" y="0"/>
                    <a:pt x="190500" y="0"/>
                  </a:cubicBezTo>
                  <a:close/>
                </a:path>
              </a:pathLst>
            </a:custGeom>
            <a:solidFill>
              <a:srgbClr val="C67139"/>
            </a:solidFill>
          </p:spPr>
        </p:sp>
      </p:grpSp>
      <p:sp>
        <p:nvSpPr>
          <p:cNvPr name="TextBox 19" id="19"/>
          <p:cNvSpPr txBox="true"/>
          <p:nvPr/>
        </p:nvSpPr>
        <p:spPr>
          <a:xfrm rot="0">
            <a:off x="1428750" y="3141154"/>
            <a:ext cx="7486650" cy="781050"/>
          </a:xfrm>
          <a:prstGeom prst="rect">
            <a:avLst/>
          </a:prstGeom>
        </p:spPr>
        <p:txBody>
          <a:bodyPr anchor="t" rtlCol="false" tIns="0" lIns="0" bIns="0" rIns="0">
            <a:spAutoFit/>
          </a:bodyPr>
          <a:lstStyle/>
          <a:p>
            <a:pPr algn="l">
              <a:lnSpc>
                <a:spcPts val="2925"/>
              </a:lnSpc>
            </a:pPr>
            <a:r>
              <a:rPr lang="en-US" b="true" sz="2250">
                <a:solidFill>
                  <a:srgbClr val="201E1D"/>
                </a:solidFill>
                <a:latin typeface="Arimo Bold"/>
                <a:ea typeface="Arimo Bold"/>
                <a:cs typeface="Arimo Bold"/>
                <a:sym typeface="Arimo Bold"/>
              </a:rPr>
              <a:t>A linear equation has no variable with a power greater than one.</a:t>
            </a:r>
          </a:p>
        </p:txBody>
      </p:sp>
      <p:grpSp>
        <p:nvGrpSpPr>
          <p:cNvPr name="Group 20" id="20"/>
          <p:cNvGrpSpPr/>
          <p:nvPr/>
        </p:nvGrpSpPr>
        <p:grpSpPr>
          <a:xfrm rot="0">
            <a:off x="990600" y="4284154"/>
            <a:ext cx="285750" cy="285750"/>
            <a:chOff x="0" y="0"/>
            <a:chExt cx="381000" cy="381000"/>
          </a:xfrm>
        </p:grpSpPr>
        <p:sp>
          <p:nvSpPr>
            <p:cNvPr name="Freeform 21" id="21"/>
            <p:cNvSpPr/>
            <p:nvPr/>
          </p:nvSpPr>
          <p:spPr>
            <a:xfrm flipH="false" flipV="false" rot="0">
              <a:off x="0" y="0"/>
              <a:ext cx="381000" cy="381000"/>
            </a:xfrm>
            <a:custGeom>
              <a:avLst/>
              <a:gdLst/>
              <a:ahLst/>
              <a:cxnLst/>
              <a:rect r="r" b="b" t="t" l="l"/>
              <a:pathLst>
                <a:path h="381000" w="381000">
                  <a:moveTo>
                    <a:pt x="190500" y="0"/>
                  </a:moveTo>
                  <a:cubicBezTo>
                    <a:pt x="295656" y="0"/>
                    <a:pt x="381000" y="85344"/>
                    <a:pt x="381000" y="190500"/>
                  </a:cubicBezTo>
                  <a:cubicBezTo>
                    <a:pt x="381000" y="295656"/>
                    <a:pt x="295656" y="381000"/>
                    <a:pt x="190500" y="381000"/>
                  </a:cubicBezTo>
                  <a:cubicBezTo>
                    <a:pt x="85344" y="381000"/>
                    <a:pt x="0" y="295656"/>
                    <a:pt x="0" y="190500"/>
                  </a:cubicBezTo>
                  <a:cubicBezTo>
                    <a:pt x="0" y="85344"/>
                    <a:pt x="85344" y="0"/>
                    <a:pt x="190500" y="0"/>
                  </a:cubicBezTo>
                  <a:close/>
                </a:path>
              </a:pathLst>
            </a:custGeom>
            <a:solidFill>
              <a:srgbClr val="7A8A5E"/>
            </a:solidFill>
          </p:spPr>
        </p:sp>
      </p:grpSp>
      <p:sp>
        <p:nvSpPr>
          <p:cNvPr name="TextBox 22" id="22"/>
          <p:cNvSpPr txBox="true"/>
          <p:nvPr/>
        </p:nvSpPr>
        <p:spPr>
          <a:xfrm rot="0">
            <a:off x="1428750" y="4017454"/>
            <a:ext cx="7486650" cy="781050"/>
          </a:xfrm>
          <a:prstGeom prst="rect">
            <a:avLst/>
          </a:prstGeom>
        </p:spPr>
        <p:txBody>
          <a:bodyPr anchor="t" rtlCol="false" tIns="0" lIns="0" bIns="0" rIns="0">
            <a:spAutoFit/>
          </a:bodyPr>
          <a:lstStyle/>
          <a:p>
            <a:pPr algn="l">
              <a:lnSpc>
                <a:spcPts val="2925"/>
              </a:lnSpc>
            </a:pPr>
            <a:r>
              <a:rPr lang="en-US" b="true" sz="2250">
                <a:solidFill>
                  <a:srgbClr val="201E1D"/>
                </a:solidFill>
                <a:latin typeface="Arimo Bold"/>
                <a:ea typeface="Arimo Bold"/>
                <a:cs typeface="Arimo Bold"/>
                <a:sym typeface="Arimo Bold"/>
              </a:rPr>
              <a:t>Solving an equation means finding the value of the variable.</a:t>
            </a:r>
          </a:p>
        </p:txBody>
      </p:sp>
      <p:grpSp>
        <p:nvGrpSpPr>
          <p:cNvPr name="Group 23" id="23"/>
          <p:cNvGrpSpPr/>
          <p:nvPr/>
        </p:nvGrpSpPr>
        <p:grpSpPr>
          <a:xfrm rot="0">
            <a:off x="990600" y="4974717"/>
            <a:ext cx="285750" cy="285750"/>
            <a:chOff x="0" y="0"/>
            <a:chExt cx="381000" cy="381000"/>
          </a:xfrm>
        </p:grpSpPr>
        <p:sp>
          <p:nvSpPr>
            <p:cNvPr name="Freeform 24" id="24"/>
            <p:cNvSpPr/>
            <p:nvPr/>
          </p:nvSpPr>
          <p:spPr>
            <a:xfrm flipH="false" flipV="false" rot="0">
              <a:off x="0" y="0"/>
              <a:ext cx="381000" cy="381000"/>
            </a:xfrm>
            <a:custGeom>
              <a:avLst/>
              <a:gdLst/>
              <a:ahLst/>
              <a:cxnLst/>
              <a:rect r="r" b="b" t="t" l="l"/>
              <a:pathLst>
                <a:path h="381000" w="381000">
                  <a:moveTo>
                    <a:pt x="190500" y="0"/>
                  </a:moveTo>
                  <a:cubicBezTo>
                    <a:pt x="295656" y="0"/>
                    <a:pt x="381000" y="85344"/>
                    <a:pt x="381000" y="190500"/>
                  </a:cubicBezTo>
                  <a:cubicBezTo>
                    <a:pt x="381000" y="295656"/>
                    <a:pt x="295656" y="381000"/>
                    <a:pt x="190500" y="381000"/>
                  </a:cubicBezTo>
                  <a:cubicBezTo>
                    <a:pt x="85344" y="381000"/>
                    <a:pt x="0" y="295656"/>
                    <a:pt x="0" y="190500"/>
                  </a:cubicBezTo>
                  <a:cubicBezTo>
                    <a:pt x="0" y="85344"/>
                    <a:pt x="85344" y="0"/>
                    <a:pt x="190500" y="0"/>
                  </a:cubicBezTo>
                  <a:close/>
                </a:path>
              </a:pathLst>
            </a:custGeom>
            <a:solidFill>
              <a:srgbClr val="C67139"/>
            </a:solidFill>
          </p:spPr>
        </p:sp>
      </p:grpSp>
      <p:sp>
        <p:nvSpPr>
          <p:cNvPr name="TextBox 25" id="25"/>
          <p:cNvSpPr txBox="true"/>
          <p:nvPr/>
        </p:nvSpPr>
        <p:spPr>
          <a:xfrm rot="0">
            <a:off x="1427131" y="4893754"/>
            <a:ext cx="7105650" cy="409575"/>
          </a:xfrm>
          <a:prstGeom prst="rect">
            <a:avLst/>
          </a:prstGeom>
        </p:spPr>
        <p:txBody>
          <a:bodyPr anchor="t" rtlCol="false" tIns="0" lIns="0" bIns="0" rIns="0">
            <a:spAutoFit/>
          </a:bodyPr>
          <a:lstStyle/>
          <a:p>
            <a:pPr algn="l">
              <a:lnSpc>
                <a:spcPts val="2925"/>
              </a:lnSpc>
            </a:pPr>
            <a:r>
              <a:rPr lang="en-US" b="true" sz="2250">
                <a:solidFill>
                  <a:srgbClr val="201E1D"/>
                </a:solidFill>
                <a:latin typeface="Arimo Bold"/>
                <a:ea typeface="Arimo Bold"/>
                <a:cs typeface="Arimo Bold"/>
                <a:sym typeface="Arimo Bold"/>
              </a:rPr>
              <a:t>Always do the same thing to both sides of an equation.</a:t>
            </a:r>
          </a:p>
        </p:txBody>
      </p:sp>
      <p:grpSp>
        <p:nvGrpSpPr>
          <p:cNvPr name="Group 26" id="26"/>
          <p:cNvGrpSpPr/>
          <p:nvPr/>
        </p:nvGrpSpPr>
        <p:grpSpPr>
          <a:xfrm rot="0">
            <a:off x="990600" y="5479542"/>
            <a:ext cx="285750" cy="285750"/>
            <a:chOff x="0" y="0"/>
            <a:chExt cx="381000" cy="381000"/>
          </a:xfrm>
        </p:grpSpPr>
        <p:sp>
          <p:nvSpPr>
            <p:cNvPr name="Freeform 27" id="27"/>
            <p:cNvSpPr/>
            <p:nvPr/>
          </p:nvSpPr>
          <p:spPr>
            <a:xfrm flipH="false" flipV="false" rot="0">
              <a:off x="0" y="0"/>
              <a:ext cx="381000" cy="381000"/>
            </a:xfrm>
            <a:custGeom>
              <a:avLst/>
              <a:gdLst/>
              <a:ahLst/>
              <a:cxnLst/>
              <a:rect r="r" b="b" t="t" l="l"/>
              <a:pathLst>
                <a:path h="381000" w="381000">
                  <a:moveTo>
                    <a:pt x="190500" y="0"/>
                  </a:moveTo>
                  <a:cubicBezTo>
                    <a:pt x="295656" y="0"/>
                    <a:pt x="381000" y="85344"/>
                    <a:pt x="381000" y="190500"/>
                  </a:cubicBezTo>
                  <a:cubicBezTo>
                    <a:pt x="381000" y="295656"/>
                    <a:pt x="295656" y="381000"/>
                    <a:pt x="190500" y="381000"/>
                  </a:cubicBezTo>
                  <a:cubicBezTo>
                    <a:pt x="85344" y="381000"/>
                    <a:pt x="0" y="295656"/>
                    <a:pt x="0" y="190500"/>
                  </a:cubicBezTo>
                  <a:cubicBezTo>
                    <a:pt x="0" y="85344"/>
                    <a:pt x="85344" y="0"/>
                    <a:pt x="190500" y="0"/>
                  </a:cubicBezTo>
                  <a:close/>
                </a:path>
              </a:pathLst>
            </a:custGeom>
            <a:solidFill>
              <a:srgbClr val="7A8A5E"/>
            </a:solidFill>
          </p:spPr>
        </p:sp>
      </p:grpSp>
      <p:sp>
        <p:nvSpPr>
          <p:cNvPr name="TextBox 28" id="28"/>
          <p:cNvSpPr txBox="true"/>
          <p:nvPr/>
        </p:nvSpPr>
        <p:spPr>
          <a:xfrm rot="0">
            <a:off x="1427226" y="5398580"/>
            <a:ext cx="6276975" cy="409575"/>
          </a:xfrm>
          <a:prstGeom prst="rect">
            <a:avLst/>
          </a:prstGeom>
        </p:spPr>
        <p:txBody>
          <a:bodyPr anchor="t" rtlCol="false" tIns="0" lIns="0" bIns="0" rIns="0">
            <a:spAutoFit/>
          </a:bodyPr>
          <a:lstStyle/>
          <a:p>
            <a:pPr algn="l">
              <a:lnSpc>
                <a:spcPts val="2925"/>
              </a:lnSpc>
            </a:pPr>
            <a:r>
              <a:rPr lang="en-US" b="true" sz="2250">
                <a:solidFill>
                  <a:srgbClr val="201E1D"/>
                </a:solidFill>
                <a:latin typeface="Arimo Bold"/>
                <a:ea typeface="Arimo Bold"/>
                <a:cs typeface="Arimo Bold"/>
                <a:sym typeface="Arimo Bold"/>
              </a:rPr>
              <a:t>Factorising is the reverse of expanding brackets.</a:t>
            </a:r>
          </a:p>
        </p:txBody>
      </p:sp>
      <p:grpSp>
        <p:nvGrpSpPr>
          <p:cNvPr name="Group 29" id="29"/>
          <p:cNvGrpSpPr/>
          <p:nvPr/>
        </p:nvGrpSpPr>
        <p:grpSpPr>
          <a:xfrm rot="0">
            <a:off x="990600" y="6170104"/>
            <a:ext cx="285750" cy="285750"/>
            <a:chOff x="0" y="0"/>
            <a:chExt cx="381000" cy="381000"/>
          </a:xfrm>
        </p:grpSpPr>
        <p:sp>
          <p:nvSpPr>
            <p:cNvPr name="Freeform 30" id="30"/>
            <p:cNvSpPr/>
            <p:nvPr/>
          </p:nvSpPr>
          <p:spPr>
            <a:xfrm flipH="false" flipV="false" rot="0">
              <a:off x="0" y="0"/>
              <a:ext cx="381000" cy="381000"/>
            </a:xfrm>
            <a:custGeom>
              <a:avLst/>
              <a:gdLst/>
              <a:ahLst/>
              <a:cxnLst/>
              <a:rect r="r" b="b" t="t" l="l"/>
              <a:pathLst>
                <a:path h="381000" w="381000">
                  <a:moveTo>
                    <a:pt x="190500" y="0"/>
                  </a:moveTo>
                  <a:cubicBezTo>
                    <a:pt x="295656" y="0"/>
                    <a:pt x="381000" y="85344"/>
                    <a:pt x="381000" y="190500"/>
                  </a:cubicBezTo>
                  <a:cubicBezTo>
                    <a:pt x="381000" y="295656"/>
                    <a:pt x="295656" y="381000"/>
                    <a:pt x="190500" y="381000"/>
                  </a:cubicBezTo>
                  <a:cubicBezTo>
                    <a:pt x="85344" y="381000"/>
                    <a:pt x="0" y="295656"/>
                    <a:pt x="0" y="190500"/>
                  </a:cubicBezTo>
                  <a:cubicBezTo>
                    <a:pt x="0" y="85344"/>
                    <a:pt x="85344" y="0"/>
                    <a:pt x="190500" y="0"/>
                  </a:cubicBezTo>
                  <a:close/>
                </a:path>
              </a:pathLst>
            </a:custGeom>
            <a:solidFill>
              <a:srgbClr val="C67139"/>
            </a:solidFill>
          </p:spPr>
        </p:sp>
      </p:grpSp>
      <p:sp>
        <p:nvSpPr>
          <p:cNvPr name="TextBox 31" id="31"/>
          <p:cNvSpPr txBox="true"/>
          <p:nvPr/>
        </p:nvSpPr>
        <p:spPr>
          <a:xfrm rot="0">
            <a:off x="1428750" y="5903404"/>
            <a:ext cx="7486650" cy="781050"/>
          </a:xfrm>
          <a:prstGeom prst="rect">
            <a:avLst/>
          </a:prstGeom>
        </p:spPr>
        <p:txBody>
          <a:bodyPr anchor="t" rtlCol="false" tIns="0" lIns="0" bIns="0" rIns="0">
            <a:spAutoFit/>
          </a:bodyPr>
          <a:lstStyle/>
          <a:p>
            <a:pPr algn="l">
              <a:lnSpc>
                <a:spcPts val="2925"/>
              </a:lnSpc>
            </a:pPr>
            <a:r>
              <a:rPr lang="en-US" b="true" sz="2250">
                <a:solidFill>
                  <a:srgbClr val="201E1D"/>
                </a:solidFill>
                <a:latin typeface="Arimo Bold"/>
                <a:ea typeface="Arimo Bold"/>
                <a:cs typeface="Arimo Bold"/>
                <a:sym typeface="Arimo Bold"/>
              </a:rPr>
              <a:t>A formula can be rearranged to make a different variable the subject.</a:t>
            </a:r>
          </a:p>
        </p:txBody>
      </p:sp>
      <p:grpSp>
        <p:nvGrpSpPr>
          <p:cNvPr name="Group 32" id="32"/>
          <p:cNvGrpSpPr/>
          <p:nvPr/>
        </p:nvGrpSpPr>
        <p:grpSpPr>
          <a:xfrm rot="0">
            <a:off x="9372600" y="2303907"/>
            <a:ext cx="7924800" cy="819150"/>
            <a:chOff x="0" y="0"/>
            <a:chExt cx="10566400" cy="1092200"/>
          </a:xfrm>
        </p:grpSpPr>
        <p:sp>
          <p:nvSpPr>
            <p:cNvPr name="Freeform 33" id="33"/>
            <p:cNvSpPr/>
            <p:nvPr/>
          </p:nvSpPr>
          <p:spPr>
            <a:xfrm flipH="false" flipV="false" rot="0">
              <a:off x="0" y="0"/>
              <a:ext cx="10566400" cy="1092200"/>
            </a:xfrm>
            <a:custGeom>
              <a:avLst/>
              <a:gdLst/>
              <a:ahLst/>
              <a:cxnLst/>
              <a:rect r="r" b="b" t="t" l="l"/>
              <a:pathLst>
                <a:path h="1092200" w="10566400">
                  <a:moveTo>
                    <a:pt x="355600" y="0"/>
                  </a:moveTo>
                  <a:lnTo>
                    <a:pt x="10210800" y="0"/>
                  </a:lnTo>
                  <a:cubicBezTo>
                    <a:pt x="10407142" y="0"/>
                    <a:pt x="10566400" y="159258"/>
                    <a:pt x="10566400" y="355600"/>
                  </a:cubicBezTo>
                  <a:lnTo>
                    <a:pt x="10566400" y="736600"/>
                  </a:lnTo>
                  <a:cubicBezTo>
                    <a:pt x="10566400" y="932942"/>
                    <a:pt x="10407142" y="1092200"/>
                    <a:pt x="10210800" y="1092200"/>
                  </a:cubicBezTo>
                  <a:lnTo>
                    <a:pt x="355600" y="1092200"/>
                  </a:lnTo>
                  <a:cubicBezTo>
                    <a:pt x="159258" y="1092200"/>
                    <a:pt x="0" y="932942"/>
                    <a:pt x="0" y="736600"/>
                  </a:cubicBezTo>
                  <a:lnTo>
                    <a:pt x="0" y="355600"/>
                  </a:lnTo>
                  <a:cubicBezTo>
                    <a:pt x="0" y="159258"/>
                    <a:pt x="159258" y="0"/>
                    <a:pt x="355600" y="0"/>
                  </a:cubicBezTo>
                  <a:close/>
                </a:path>
              </a:pathLst>
            </a:custGeom>
            <a:solidFill>
              <a:srgbClr val="F0FAE1"/>
            </a:solidFill>
          </p:spPr>
        </p:sp>
        <p:sp>
          <p:nvSpPr>
            <p:cNvPr name="Freeform 34" id="34"/>
            <p:cNvSpPr/>
            <p:nvPr/>
          </p:nvSpPr>
          <p:spPr>
            <a:xfrm flipH="false" flipV="false" rot="0">
              <a:off x="0" y="0"/>
              <a:ext cx="10566400" cy="1092200"/>
            </a:xfrm>
            <a:custGeom>
              <a:avLst/>
              <a:gdLst/>
              <a:ahLst/>
              <a:cxnLst/>
              <a:rect r="r" b="b" t="t" l="l"/>
              <a:pathLst>
                <a:path h="1092200" w="10566400">
                  <a:moveTo>
                    <a:pt x="355600" y="0"/>
                  </a:moveTo>
                  <a:lnTo>
                    <a:pt x="10210800" y="0"/>
                  </a:lnTo>
                  <a:cubicBezTo>
                    <a:pt x="10407142" y="0"/>
                    <a:pt x="10566400" y="159258"/>
                    <a:pt x="10566400" y="355600"/>
                  </a:cubicBezTo>
                  <a:lnTo>
                    <a:pt x="10566400" y="736600"/>
                  </a:lnTo>
                  <a:cubicBezTo>
                    <a:pt x="10566400" y="932942"/>
                    <a:pt x="10407142" y="1092200"/>
                    <a:pt x="10210800" y="1092200"/>
                  </a:cubicBezTo>
                  <a:lnTo>
                    <a:pt x="355600" y="1092200"/>
                  </a:lnTo>
                  <a:cubicBezTo>
                    <a:pt x="159258" y="1092200"/>
                    <a:pt x="0" y="932942"/>
                    <a:pt x="0" y="736600"/>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grpSp>
        <p:nvGrpSpPr>
          <p:cNvPr name="Group 35" id="35"/>
          <p:cNvGrpSpPr/>
          <p:nvPr/>
        </p:nvGrpSpPr>
        <p:grpSpPr>
          <a:xfrm rot="0">
            <a:off x="9629775" y="2542032"/>
            <a:ext cx="342900" cy="342900"/>
            <a:chOff x="0" y="0"/>
            <a:chExt cx="457200" cy="457200"/>
          </a:xfrm>
        </p:grpSpPr>
        <p:sp>
          <p:nvSpPr>
            <p:cNvPr name="Freeform 36" id="36"/>
            <p:cNvSpPr/>
            <p:nvPr/>
          </p:nvSpPr>
          <p:spPr>
            <a:xfrm flipH="false" flipV="false" rot="0">
              <a:off x="0" y="0"/>
              <a:ext cx="457200" cy="457200"/>
            </a:xfrm>
            <a:custGeom>
              <a:avLst/>
              <a:gdLst/>
              <a:ahLst/>
              <a:cxnLst/>
              <a:rect r="r" b="b" t="t" l="l"/>
              <a:pathLst>
                <a:path h="457200" w="457200">
                  <a:moveTo>
                    <a:pt x="228600" y="0"/>
                  </a:moveTo>
                  <a:cubicBezTo>
                    <a:pt x="354838" y="0"/>
                    <a:pt x="457200" y="102362"/>
                    <a:pt x="457200" y="228600"/>
                  </a:cubicBezTo>
                  <a:cubicBezTo>
                    <a:pt x="457200" y="354838"/>
                    <a:pt x="354838" y="457200"/>
                    <a:pt x="228600" y="457200"/>
                  </a:cubicBezTo>
                  <a:cubicBezTo>
                    <a:pt x="102362" y="457200"/>
                    <a:pt x="0" y="354838"/>
                    <a:pt x="0" y="228600"/>
                  </a:cubicBezTo>
                  <a:cubicBezTo>
                    <a:pt x="0" y="102362"/>
                    <a:pt x="102362" y="0"/>
                    <a:pt x="228600" y="0"/>
                  </a:cubicBezTo>
                  <a:close/>
                </a:path>
              </a:pathLst>
            </a:custGeom>
            <a:solidFill>
              <a:srgbClr val="000000">
                <a:alpha val="0"/>
              </a:srgbClr>
            </a:solidFill>
            <a:ln w="38100" cap="sq">
              <a:solidFill>
                <a:srgbClr val="56633F"/>
              </a:solidFill>
              <a:prstDash val="solid"/>
              <a:miter/>
            </a:ln>
          </p:spPr>
        </p:sp>
      </p:grpSp>
      <p:sp>
        <p:nvSpPr>
          <p:cNvPr name="TextBox 37" id="37"/>
          <p:cNvSpPr txBox="true"/>
          <p:nvPr/>
        </p:nvSpPr>
        <p:spPr>
          <a:xfrm rot="0">
            <a:off x="10144316" y="2465832"/>
            <a:ext cx="3314700" cy="457200"/>
          </a:xfrm>
          <a:prstGeom prst="rect">
            <a:avLst/>
          </a:prstGeom>
        </p:spPr>
        <p:txBody>
          <a:bodyPr anchor="t" rtlCol="false" tIns="0" lIns="0" bIns="0" rIns="0">
            <a:spAutoFit/>
          </a:bodyPr>
          <a:lstStyle/>
          <a:p>
            <a:pPr algn="l">
              <a:lnSpc>
                <a:spcPts val="3315"/>
              </a:lnSpc>
            </a:pPr>
            <a:r>
              <a:rPr lang="en-US" b="true" sz="2550">
                <a:solidFill>
                  <a:srgbClr val="201E1D"/>
                </a:solidFill>
                <a:latin typeface="Arimo Bold"/>
                <a:ea typeface="Arimo Bold"/>
                <a:cs typeface="Arimo Bold"/>
                <a:sym typeface="Arimo Bold"/>
              </a:rPr>
              <a:t>solve a linear equation</a:t>
            </a:r>
          </a:p>
        </p:txBody>
      </p:sp>
      <p:grpSp>
        <p:nvGrpSpPr>
          <p:cNvPr name="Group 38" id="38"/>
          <p:cNvGrpSpPr/>
          <p:nvPr/>
        </p:nvGrpSpPr>
        <p:grpSpPr>
          <a:xfrm rot="0">
            <a:off x="9372600" y="3278124"/>
            <a:ext cx="7924800" cy="1238250"/>
            <a:chOff x="0" y="0"/>
            <a:chExt cx="10566400" cy="1651000"/>
          </a:xfrm>
        </p:grpSpPr>
        <p:sp>
          <p:nvSpPr>
            <p:cNvPr name="Freeform 39" id="39"/>
            <p:cNvSpPr/>
            <p:nvPr/>
          </p:nvSpPr>
          <p:spPr>
            <a:xfrm flipH="false" flipV="false" rot="0">
              <a:off x="0" y="0"/>
              <a:ext cx="10566400" cy="1651000"/>
            </a:xfrm>
            <a:custGeom>
              <a:avLst/>
              <a:gdLst/>
              <a:ahLst/>
              <a:cxnLst/>
              <a:rect r="r" b="b" t="t" l="l"/>
              <a:pathLst>
                <a:path h="1651000" w="10566400">
                  <a:moveTo>
                    <a:pt x="355600" y="0"/>
                  </a:moveTo>
                  <a:lnTo>
                    <a:pt x="10210800" y="0"/>
                  </a:lnTo>
                  <a:cubicBezTo>
                    <a:pt x="10407142" y="0"/>
                    <a:pt x="10566400" y="159258"/>
                    <a:pt x="10566400" y="355600"/>
                  </a:cubicBezTo>
                  <a:lnTo>
                    <a:pt x="10566400" y="1295400"/>
                  </a:lnTo>
                  <a:cubicBezTo>
                    <a:pt x="10566400" y="1491742"/>
                    <a:pt x="10407142" y="1651000"/>
                    <a:pt x="10210800" y="1651000"/>
                  </a:cubicBezTo>
                  <a:lnTo>
                    <a:pt x="355600" y="1651000"/>
                  </a:lnTo>
                  <a:cubicBezTo>
                    <a:pt x="159258" y="1651000"/>
                    <a:pt x="0" y="1491742"/>
                    <a:pt x="0" y="1295400"/>
                  </a:cubicBezTo>
                  <a:lnTo>
                    <a:pt x="0" y="355600"/>
                  </a:lnTo>
                  <a:cubicBezTo>
                    <a:pt x="0" y="159258"/>
                    <a:pt x="159258" y="0"/>
                    <a:pt x="355600" y="0"/>
                  </a:cubicBezTo>
                  <a:close/>
                </a:path>
              </a:pathLst>
            </a:custGeom>
            <a:solidFill>
              <a:srgbClr val="F0FAE1"/>
            </a:solidFill>
          </p:spPr>
        </p:sp>
        <p:sp>
          <p:nvSpPr>
            <p:cNvPr name="Freeform 40" id="40"/>
            <p:cNvSpPr/>
            <p:nvPr/>
          </p:nvSpPr>
          <p:spPr>
            <a:xfrm flipH="false" flipV="false" rot="0">
              <a:off x="0" y="0"/>
              <a:ext cx="10566400" cy="1651000"/>
            </a:xfrm>
            <a:custGeom>
              <a:avLst/>
              <a:gdLst/>
              <a:ahLst/>
              <a:cxnLst/>
              <a:rect r="r" b="b" t="t" l="l"/>
              <a:pathLst>
                <a:path h="1651000" w="10566400">
                  <a:moveTo>
                    <a:pt x="355600" y="0"/>
                  </a:moveTo>
                  <a:lnTo>
                    <a:pt x="10210800" y="0"/>
                  </a:lnTo>
                  <a:cubicBezTo>
                    <a:pt x="10407142" y="0"/>
                    <a:pt x="10566400" y="159258"/>
                    <a:pt x="10566400" y="355600"/>
                  </a:cubicBezTo>
                  <a:lnTo>
                    <a:pt x="10566400" y="1295400"/>
                  </a:lnTo>
                  <a:cubicBezTo>
                    <a:pt x="10566400" y="1491742"/>
                    <a:pt x="10407142" y="1651000"/>
                    <a:pt x="10210800" y="1651000"/>
                  </a:cubicBezTo>
                  <a:lnTo>
                    <a:pt x="355600" y="1651000"/>
                  </a:lnTo>
                  <a:cubicBezTo>
                    <a:pt x="159258" y="1651000"/>
                    <a:pt x="0" y="1491742"/>
                    <a:pt x="0" y="1295400"/>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grpSp>
        <p:nvGrpSpPr>
          <p:cNvPr name="Group 41" id="41"/>
          <p:cNvGrpSpPr/>
          <p:nvPr/>
        </p:nvGrpSpPr>
        <p:grpSpPr>
          <a:xfrm rot="0">
            <a:off x="9629775" y="3725799"/>
            <a:ext cx="342900" cy="342900"/>
            <a:chOff x="0" y="0"/>
            <a:chExt cx="457200" cy="457200"/>
          </a:xfrm>
        </p:grpSpPr>
        <p:sp>
          <p:nvSpPr>
            <p:cNvPr name="Freeform 42" id="42"/>
            <p:cNvSpPr/>
            <p:nvPr/>
          </p:nvSpPr>
          <p:spPr>
            <a:xfrm flipH="false" flipV="false" rot="0">
              <a:off x="0" y="0"/>
              <a:ext cx="457200" cy="457200"/>
            </a:xfrm>
            <a:custGeom>
              <a:avLst/>
              <a:gdLst/>
              <a:ahLst/>
              <a:cxnLst/>
              <a:rect r="r" b="b" t="t" l="l"/>
              <a:pathLst>
                <a:path h="457200" w="457200">
                  <a:moveTo>
                    <a:pt x="228600" y="0"/>
                  </a:moveTo>
                  <a:cubicBezTo>
                    <a:pt x="354838" y="0"/>
                    <a:pt x="457200" y="102362"/>
                    <a:pt x="457200" y="228600"/>
                  </a:cubicBezTo>
                  <a:cubicBezTo>
                    <a:pt x="457200" y="354838"/>
                    <a:pt x="354838" y="457200"/>
                    <a:pt x="228600" y="457200"/>
                  </a:cubicBezTo>
                  <a:cubicBezTo>
                    <a:pt x="102362" y="457200"/>
                    <a:pt x="0" y="354838"/>
                    <a:pt x="0" y="228600"/>
                  </a:cubicBezTo>
                  <a:cubicBezTo>
                    <a:pt x="0" y="102362"/>
                    <a:pt x="102362" y="0"/>
                    <a:pt x="228600" y="0"/>
                  </a:cubicBezTo>
                  <a:close/>
                </a:path>
              </a:pathLst>
            </a:custGeom>
            <a:solidFill>
              <a:srgbClr val="000000">
                <a:alpha val="0"/>
              </a:srgbClr>
            </a:solidFill>
            <a:ln w="38100" cap="sq">
              <a:solidFill>
                <a:srgbClr val="56633F"/>
              </a:solidFill>
              <a:prstDash val="solid"/>
              <a:miter/>
            </a:ln>
          </p:spPr>
        </p:sp>
      </p:grpSp>
      <p:sp>
        <p:nvSpPr>
          <p:cNvPr name="TextBox 43" id="43"/>
          <p:cNvSpPr txBox="true"/>
          <p:nvPr/>
        </p:nvSpPr>
        <p:spPr>
          <a:xfrm rot="0">
            <a:off x="10144125" y="3440049"/>
            <a:ext cx="6896100" cy="876300"/>
          </a:xfrm>
          <a:prstGeom prst="rect">
            <a:avLst/>
          </a:prstGeom>
        </p:spPr>
        <p:txBody>
          <a:bodyPr anchor="t" rtlCol="false" tIns="0" lIns="0" bIns="0" rIns="0">
            <a:spAutoFit/>
          </a:bodyPr>
          <a:lstStyle/>
          <a:p>
            <a:pPr algn="l">
              <a:lnSpc>
                <a:spcPts val="3315"/>
              </a:lnSpc>
            </a:pPr>
            <a:r>
              <a:rPr lang="en-US" b="true" sz="2550">
                <a:solidFill>
                  <a:srgbClr val="201E1D"/>
                </a:solidFill>
                <a:latin typeface="Arimo Bold"/>
                <a:ea typeface="Arimo Bold"/>
                <a:cs typeface="Arimo Bold"/>
                <a:sym typeface="Arimo Bold"/>
              </a:rPr>
              <a:t>factorise an algebraic expression by taking out any common factors</a:t>
            </a:r>
          </a:p>
        </p:txBody>
      </p:sp>
      <p:grpSp>
        <p:nvGrpSpPr>
          <p:cNvPr name="Group 44" id="44"/>
          <p:cNvGrpSpPr/>
          <p:nvPr/>
        </p:nvGrpSpPr>
        <p:grpSpPr>
          <a:xfrm rot="0">
            <a:off x="9372600" y="4671441"/>
            <a:ext cx="7924800" cy="819150"/>
            <a:chOff x="0" y="0"/>
            <a:chExt cx="10566400" cy="1092200"/>
          </a:xfrm>
        </p:grpSpPr>
        <p:sp>
          <p:nvSpPr>
            <p:cNvPr name="Freeform 45" id="45"/>
            <p:cNvSpPr/>
            <p:nvPr/>
          </p:nvSpPr>
          <p:spPr>
            <a:xfrm flipH="false" flipV="false" rot="0">
              <a:off x="0" y="0"/>
              <a:ext cx="10566400" cy="1092200"/>
            </a:xfrm>
            <a:custGeom>
              <a:avLst/>
              <a:gdLst/>
              <a:ahLst/>
              <a:cxnLst/>
              <a:rect r="r" b="b" t="t" l="l"/>
              <a:pathLst>
                <a:path h="1092200" w="10566400">
                  <a:moveTo>
                    <a:pt x="355600" y="0"/>
                  </a:moveTo>
                  <a:lnTo>
                    <a:pt x="10210800" y="0"/>
                  </a:lnTo>
                  <a:cubicBezTo>
                    <a:pt x="10407142" y="0"/>
                    <a:pt x="10566400" y="159258"/>
                    <a:pt x="10566400" y="355600"/>
                  </a:cubicBezTo>
                  <a:lnTo>
                    <a:pt x="10566400" y="736600"/>
                  </a:lnTo>
                  <a:cubicBezTo>
                    <a:pt x="10566400" y="932942"/>
                    <a:pt x="10407142" y="1092200"/>
                    <a:pt x="10210800" y="1092200"/>
                  </a:cubicBezTo>
                  <a:lnTo>
                    <a:pt x="355600" y="1092200"/>
                  </a:lnTo>
                  <a:cubicBezTo>
                    <a:pt x="159258" y="1092200"/>
                    <a:pt x="0" y="932942"/>
                    <a:pt x="0" y="736600"/>
                  </a:cubicBezTo>
                  <a:lnTo>
                    <a:pt x="0" y="355600"/>
                  </a:lnTo>
                  <a:cubicBezTo>
                    <a:pt x="0" y="159258"/>
                    <a:pt x="159258" y="0"/>
                    <a:pt x="355600" y="0"/>
                  </a:cubicBezTo>
                  <a:close/>
                </a:path>
              </a:pathLst>
            </a:custGeom>
            <a:solidFill>
              <a:srgbClr val="F0FAE1"/>
            </a:solidFill>
          </p:spPr>
        </p:sp>
        <p:sp>
          <p:nvSpPr>
            <p:cNvPr name="Freeform 46" id="46"/>
            <p:cNvSpPr/>
            <p:nvPr/>
          </p:nvSpPr>
          <p:spPr>
            <a:xfrm flipH="false" flipV="false" rot="0">
              <a:off x="0" y="0"/>
              <a:ext cx="10566400" cy="1092200"/>
            </a:xfrm>
            <a:custGeom>
              <a:avLst/>
              <a:gdLst/>
              <a:ahLst/>
              <a:cxnLst/>
              <a:rect r="r" b="b" t="t" l="l"/>
              <a:pathLst>
                <a:path h="1092200" w="10566400">
                  <a:moveTo>
                    <a:pt x="355600" y="0"/>
                  </a:moveTo>
                  <a:lnTo>
                    <a:pt x="10210800" y="0"/>
                  </a:lnTo>
                  <a:cubicBezTo>
                    <a:pt x="10407142" y="0"/>
                    <a:pt x="10566400" y="159258"/>
                    <a:pt x="10566400" y="355600"/>
                  </a:cubicBezTo>
                  <a:lnTo>
                    <a:pt x="10566400" y="736600"/>
                  </a:lnTo>
                  <a:cubicBezTo>
                    <a:pt x="10566400" y="932942"/>
                    <a:pt x="10407142" y="1092200"/>
                    <a:pt x="10210800" y="1092200"/>
                  </a:cubicBezTo>
                  <a:lnTo>
                    <a:pt x="355600" y="1092200"/>
                  </a:lnTo>
                  <a:cubicBezTo>
                    <a:pt x="159258" y="1092200"/>
                    <a:pt x="0" y="932942"/>
                    <a:pt x="0" y="736600"/>
                  </a:cubicBezTo>
                  <a:lnTo>
                    <a:pt x="0" y="355600"/>
                  </a:lnTo>
                  <a:cubicBezTo>
                    <a:pt x="0" y="159258"/>
                    <a:pt x="159258" y="0"/>
                    <a:pt x="355600" y="0"/>
                  </a:cubicBezTo>
                  <a:close/>
                </a:path>
              </a:pathLst>
            </a:custGeom>
            <a:solidFill>
              <a:srgbClr val="000000">
                <a:alpha val="0"/>
              </a:srgbClr>
            </a:solidFill>
            <a:ln w="28575" cap="sq">
              <a:solidFill>
                <a:srgbClr val="CCDBB2"/>
              </a:solidFill>
              <a:prstDash val="solid"/>
              <a:miter/>
            </a:ln>
          </p:spPr>
        </p:sp>
      </p:grpSp>
      <p:grpSp>
        <p:nvGrpSpPr>
          <p:cNvPr name="Group 47" id="47"/>
          <p:cNvGrpSpPr/>
          <p:nvPr/>
        </p:nvGrpSpPr>
        <p:grpSpPr>
          <a:xfrm rot="0">
            <a:off x="9629775" y="4909566"/>
            <a:ext cx="342900" cy="342900"/>
            <a:chOff x="0" y="0"/>
            <a:chExt cx="457200" cy="457200"/>
          </a:xfrm>
        </p:grpSpPr>
        <p:sp>
          <p:nvSpPr>
            <p:cNvPr name="Freeform 48" id="48"/>
            <p:cNvSpPr/>
            <p:nvPr/>
          </p:nvSpPr>
          <p:spPr>
            <a:xfrm flipH="false" flipV="false" rot="0">
              <a:off x="0" y="0"/>
              <a:ext cx="457200" cy="457200"/>
            </a:xfrm>
            <a:custGeom>
              <a:avLst/>
              <a:gdLst/>
              <a:ahLst/>
              <a:cxnLst/>
              <a:rect r="r" b="b" t="t" l="l"/>
              <a:pathLst>
                <a:path h="457200" w="457200">
                  <a:moveTo>
                    <a:pt x="228600" y="0"/>
                  </a:moveTo>
                  <a:cubicBezTo>
                    <a:pt x="354838" y="0"/>
                    <a:pt x="457200" y="102362"/>
                    <a:pt x="457200" y="228600"/>
                  </a:cubicBezTo>
                  <a:cubicBezTo>
                    <a:pt x="457200" y="354838"/>
                    <a:pt x="354838" y="457200"/>
                    <a:pt x="228600" y="457200"/>
                  </a:cubicBezTo>
                  <a:cubicBezTo>
                    <a:pt x="102362" y="457200"/>
                    <a:pt x="0" y="354838"/>
                    <a:pt x="0" y="228600"/>
                  </a:cubicBezTo>
                  <a:cubicBezTo>
                    <a:pt x="0" y="102362"/>
                    <a:pt x="102362" y="0"/>
                    <a:pt x="228600" y="0"/>
                  </a:cubicBezTo>
                  <a:close/>
                </a:path>
              </a:pathLst>
            </a:custGeom>
            <a:solidFill>
              <a:srgbClr val="000000">
                <a:alpha val="0"/>
              </a:srgbClr>
            </a:solidFill>
            <a:ln w="38100" cap="sq">
              <a:solidFill>
                <a:srgbClr val="56633F"/>
              </a:solidFill>
              <a:prstDash val="solid"/>
              <a:miter/>
            </a:ln>
          </p:spPr>
        </p:sp>
      </p:grpSp>
      <p:sp>
        <p:nvSpPr>
          <p:cNvPr name="TextBox 49" id="49"/>
          <p:cNvSpPr txBox="true"/>
          <p:nvPr/>
        </p:nvSpPr>
        <p:spPr>
          <a:xfrm rot="0">
            <a:off x="10144411" y="4833366"/>
            <a:ext cx="6248400" cy="457200"/>
          </a:xfrm>
          <a:prstGeom prst="rect">
            <a:avLst/>
          </a:prstGeom>
        </p:spPr>
        <p:txBody>
          <a:bodyPr anchor="t" rtlCol="false" tIns="0" lIns="0" bIns="0" rIns="0">
            <a:spAutoFit/>
          </a:bodyPr>
          <a:lstStyle/>
          <a:p>
            <a:pPr algn="l">
              <a:lnSpc>
                <a:spcPts val="3315"/>
              </a:lnSpc>
            </a:pPr>
            <a:r>
              <a:rPr lang="en-US" b="true" sz="2550">
                <a:solidFill>
                  <a:srgbClr val="201E1D"/>
                </a:solidFill>
                <a:latin typeface="Arimo Bold"/>
                <a:ea typeface="Arimo Bold"/>
                <a:cs typeface="Arimo Bold"/>
                <a:sym typeface="Arimo Bold"/>
              </a:rPr>
              <a:t>rearrange a formula to change the subject</a:t>
            </a:r>
          </a:p>
        </p:txBody>
      </p:sp>
      <p:sp>
        <p:nvSpPr>
          <p:cNvPr name="TextBox 50" id="50"/>
          <p:cNvSpPr txBox="true"/>
          <p:nvPr/>
        </p:nvSpPr>
        <p:spPr>
          <a:xfrm rot="0">
            <a:off x="9372600" y="5587651"/>
            <a:ext cx="7924800" cy="828675"/>
          </a:xfrm>
          <a:prstGeom prst="rect">
            <a:avLst/>
          </a:prstGeom>
        </p:spPr>
        <p:txBody>
          <a:bodyPr anchor="t" rtlCol="false" tIns="0" lIns="0" bIns="0" rIns="0">
            <a:spAutoFit/>
          </a:bodyPr>
          <a:lstStyle/>
          <a:p>
            <a:pPr algn="l">
              <a:lnSpc>
                <a:spcPts val="3045"/>
              </a:lnSpc>
            </a:pPr>
            <a:r>
              <a:rPr lang="en-US" b="true" sz="2175">
                <a:solidFill>
                  <a:srgbClr val="474238"/>
                </a:solidFill>
                <a:latin typeface="Arimo Bold"/>
                <a:ea typeface="Arimo Bold"/>
                <a:cs typeface="Arimo Bold"/>
                <a:sym typeface="Arimo Bold"/>
              </a:rPr>
              <a:t>Self assessment: list three things you did well. What could you improve? Which earlier skills did you use?</a:t>
            </a:r>
          </a:p>
        </p:txBody>
      </p:sp>
    </p:spTree>
  </p:cSld>
  <p:clrMapOvr>
    <a:masterClrMapping/>
  </p:clrMapOvr>
</p:sld>
</file>

<file path=ppt/slides/slide4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C67139"/>
          </a:solidFill>
        </p:spPr>
      </p:sp>
      <p:grpSp>
        <p:nvGrpSpPr>
          <p:cNvPr name="Group 3" id="3"/>
          <p:cNvGrpSpPr/>
          <p:nvPr/>
        </p:nvGrpSpPr>
        <p:grpSpPr>
          <a:xfrm rot="0">
            <a:off x="11239500" y="-1905000"/>
            <a:ext cx="8572500" cy="8572500"/>
            <a:chOff x="0" y="0"/>
            <a:chExt cx="11430000" cy="11430000"/>
          </a:xfrm>
        </p:grpSpPr>
        <p:sp>
          <p:nvSpPr>
            <p:cNvPr name="Freeform 4" id="4"/>
            <p:cNvSpPr/>
            <p:nvPr/>
          </p:nvSpPr>
          <p:spPr>
            <a:xfrm flipH="false" flipV="false" rot="0">
              <a:off x="0" y="0"/>
              <a:ext cx="11430000" cy="11430000"/>
            </a:xfrm>
            <a:custGeom>
              <a:avLst/>
              <a:gdLst/>
              <a:ahLst/>
              <a:cxnLst/>
              <a:rect r="r" b="b" t="t" l="l"/>
              <a:pathLst>
                <a:path h="11430000" w="11430000">
                  <a:moveTo>
                    <a:pt x="5715000" y="0"/>
                  </a:moveTo>
                  <a:cubicBezTo>
                    <a:pt x="8871331" y="0"/>
                    <a:pt x="11430000" y="2558669"/>
                    <a:pt x="11430000" y="5715000"/>
                  </a:cubicBezTo>
                  <a:cubicBezTo>
                    <a:pt x="11430000" y="8871331"/>
                    <a:pt x="8871331" y="11430000"/>
                    <a:pt x="5715000" y="11430000"/>
                  </a:cubicBezTo>
                  <a:cubicBezTo>
                    <a:pt x="2558669" y="11430000"/>
                    <a:pt x="0" y="8871331"/>
                    <a:pt x="0" y="5715000"/>
                  </a:cubicBezTo>
                  <a:cubicBezTo>
                    <a:pt x="0" y="2558669"/>
                    <a:pt x="2558669" y="0"/>
                    <a:pt x="5715000" y="0"/>
                  </a:cubicBezTo>
                  <a:close/>
                </a:path>
              </a:pathLst>
            </a:custGeom>
            <a:solidFill>
              <a:srgbClr val="F6A06B"/>
            </a:solidFill>
          </p:spPr>
        </p:sp>
      </p:grpSp>
      <p:grpSp>
        <p:nvGrpSpPr>
          <p:cNvPr name="Group 5" id="5"/>
          <p:cNvGrpSpPr/>
          <p:nvPr/>
        </p:nvGrpSpPr>
        <p:grpSpPr>
          <a:xfrm rot="0">
            <a:off x="9715500" y="7239000"/>
            <a:ext cx="5524500" cy="5524500"/>
            <a:chOff x="0" y="0"/>
            <a:chExt cx="7366000" cy="7366000"/>
          </a:xfrm>
        </p:grpSpPr>
        <p:sp>
          <p:nvSpPr>
            <p:cNvPr name="Freeform 6" id="6"/>
            <p:cNvSpPr/>
            <p:nvPr/>
          </p:nvSpPr>
          <p:spPr>
            <a:xfrm flipH="false" flipV="false" rot="0">
              <a:off x="0" y="0"/>
              <a:ext cx="7366000" cy="7366000"/>
            </a:xfrm>
            <a:custGeom>
              <a:avLst/>
              <a:gdLst/>
              <a:ahLst/>
              <a:cxnLst/>
              <a:rect r="r" b="b" t="t" l="l"/>
              <a:pathLst>
                <a:path h="7366000" w="7366000">
                  <a:moveTo>
                    <a:pt x="3683000" y="0"/>
                  </a:moveTo>
                  <a:cubicBezTo>
                    <a:pt x="5717032" y="0"/>
                    <a:pt x="7366000" y="1648968"/>
                    <a:pt x="7366000" y="3683000"/>
                  </a:cubicBezTo>
                  <a:cubicBezTo>
                    <a:pt x="7366000" y="5717032"/>
                    <a:pt x="5717032" y="7366000"/>
                    <a:pt x="3683000" y="7366000"/>
                  </a:cubicBezTo>
                  <a:cubicBezTo>
                    <a:pt x="1648968" y="7366000"/>
                    <a:pt x="0" y="5717032"/>
                    <a:pt x="0" y="3683000"/>
                  </a:cubicBezTo>
                  <a:cubicBezTo>
                    <a:pt x="0" y="1648968"/>
                    <a:pt x="1648968" y="0"/>
                    <a:pt x="3683000" y="0"/>
                  </a:cubicBezTo>
                  <a:close/>
                </a:path>
              </a:pathLst>
            </a:custGeom>
            <a:solidFill>
              <a:srgbClr val="AEBF92"/>
            </a:solidFill>
          </p:spPr>
        </p:sp>
      </p:grpSp>
      <p:grpSp>
        <p:nvGrpSpPr>
          <p:cNvPr name="Group 7" id="7"/>
          <p:cNvGrpSpPr/>
          <p:nvPr/>
        </p:nvGrpSpPr>
        <p:grpSpPr>
          <a:xfrm rot="0">
            <a:off x="15240000" y="7048500"/>
            <a:ext cx="1714500" cy="1714500"/>
            <a:chOff x="0" y="0"/>
            <a:chExt cx="2286000" cy="2286000"/>
          </a:xfrm>
        </p:grpSpPr>
        <p:sp>
          <p:nvSpPr>
            <p:cNvPr name="Freeform 8" id="8"/>
            <p:cNvSpPr/>
            <p:nvPr/>
          </p:nvSpPr>
          <p:spPr>
            <a:xfrm flipH="false" flipV="false" rot="0">
              <a:off x="0" y="0"/>
              <a:ext cx="2286000" cy="2286000"/>
            </a:xfrm>
            <a:custGeom>
              <a:avLst/>
              <a:gdLst/>
              <a:ahLst/>
              <a:cxnLst/>
              <a:rect r="r" b="b" t="t" l="l"/>
              <a:pathLst>
                <a:path h="2286000" w="2286000">
                  <a:moveTo>
                    <a:pt x="1143000" y="0"/>
                  </a:moveTo>
                  <a:cubicBezTo>
                    <a:pt x="1774317" y="0"/>
                    <a:pt x="2286000" y="511683"/>
                    <a:pt x="2286000" y="1143000"/>
                  </a:cubicBezTo>
                  <a:cubicBezTo>
                    <a:pt x="2286000" y="1774317"/>
                    <a:pt x="1774317" y="2286000"/>
                    <a:pt x="1143000" y="2286000"/>
                  </a:cubicBezTo>
                  <a:cubicBezTo>
                    <a:pt x="511683" y="2286000"/>
                    <a:pt x="0" y="1774317"/>
                    <a:pt x="0" y="1143000"/>
                  </a:cubicBezTo>
                  <a:cubicBezTo>
                    <a:pt x="0" y="511683"/>
                    <a:pt x="511683" y="0"/>
                    <a:pt x="1143000" y="0"/>
                  </a:cubicBezTo>
                  <a:close/>
                </a:path>
              </a:pathLst>
            </a:custGeom>
            <a:solidFill>
              <a:srgbClr val="8C491A"/>
            </a:solidFill>
          </p:spPr>
        </p:sp>
      </p:grpSp>
      <p:sp>
        <p:nvSpPr>
          <p:cNvPr name="TextBox 9" id="9"/>
          <p:cNvSpPr txBox="true"/>
          <p:nvPr/>
        </p:nvSpPr>
        <p:spPr>
          <a:xfrm rot="0">
            <a:off x="1143000" y="855345"/>
            <a:ext cx="16002000" cy="571500"/>
          </a:xfrm>
          <a:prstGeom prst="rect">
            <a:avLst/>
          </a:prstGeom>
        </p:spPr>
        <p:txBody>
          <a:bodyPr anchor="t" rtlCol="false" tIns="0" lIns="0" bIns="0" rIns="0">
            <a:spAutoFit/>
          </a:bodyPr>
          <a:lstStyle/>
          <a:p>
            <a:pPr algn="l">
              <a:lnSpc>
                <a:spcPts val="3720"/>
              </a:lnSpc>
            </a:pPr>
            <a:r>
              <a:rPr lang="en-US" b="true" sz="2400" spc="240">
                <a:solidFill>
                  <a:srgbClr val="201E1D"/>
                </a:solidFill>
                <a:latin typeface="Arimo Bold"/>
                <a:ea typeface="Arimo Bold"/>
                <a:cs typeface="Arimo Bold"/>
                <a:sym typeface="Arimo Bold"/>
              </a:rPr>
              <a:t>CHAPTER 6 COMPLETE</a:t>
            </a:r>
          </a:p>
        </p:txBody>
      </p:sp>
      <p:sp>
        <p:nvSpPr>
          <p:cNvPr name="TextBox 10" id="10"/>
          <p:cNvSpPr txBox="true"/>
          <p:nvPr/>
        </p:nvSpPr>
        <p:spPr>
          <a:xfrm rot="0">
            <a:off x="1143000" y="3896201"/>
            <a:ext cx="10953750" cy="1390650"/>
          </a:xfrm>
          <a:prstGeom prst="rect">
            <a:avLst/>
          </a:prstGeom>
        </p:spPr>
        <p:txBody>
          <a:bodyPr anchor="t" rtlCol="false" tIns="0" lIns="0" bIns="0" rIns="0">
            <a:spAutoFit/>
          </a:bodyPr>
          <a:lstStyle/>
          <a:p>
            <a:pPr algn="l">
              <a:lnSpc>
                <a:spcPts val="12240"/>
              </a:lnSpc>
            </a:pPr>
            <a:r>
              <a:rPr lang="en-US" b="true" sz="12000" spc="-240">
                <a:solidFill>
                  <a:srgbClr val="201E1D"/>
                </a:solidFill>
                <a:latin typeface="Arimo Bold"/>
                <a:ea typeface="Arimo Bold"/>
                <a:cs typeface="Arimo Bold"/>
                <a:sym typeface="Arimo Bold"/>
              </a:rPr>
              <a:t>Well done!</a:t>
            </a:r>
          </a:p>
        </p:txBody>
      </p:sp>
      <p:sp>
        <p:nvSpPr>
          <p:cNvPr name="TextBox 11" id="11"/>
          <p:cNvSpPr txBox="true"/>
          <p:nvPr/>
        </p:nvSpPr>
        <p:spPr>
          <a:xfrm rot="0">
            <a:off x="1143000" y="5440108"/>
            <a:ext cx="10953750" cy="1143000"/>
          </a:xfrm>
          <a:prstGeom prst="rect">
            <a:avLst/>
          </a:prstGeom>
        </p:spPr>
        <p:txBody>
          <a:bodyPr anchor="t" rtlCol="false" tIns="0" lIns="0" bIns="0" rIns="0">
            <a:spAutoFit/>
          </a:bodyPr>
          <a:lstStyle/>
          <a:p>
            <a:pPr algn="l">
              <a:lnSpc>
                <a:spcPts val="4200"/>
              </a:lnSpc>
            </a:pPr>
            <a:r>
              <a:rPr lang="en-US" b="true" sz="3000">
                <a:solidFill>
                  <a:srgbClr val="201E1D"/>
                </a:solidFill>
                <a:latin typeface="Arimo Bold"/>
                <a:ea typeface="Arimo Bold"/>
                <a:cs typeface="Arimo Bold"/>
                <a:sym typeface="Arimo Bold"/>
              </a:rPr>
              <a:t>You can now solve linear and exponential equations, factorise expressions and change the subject of a formula.</a:t>
            </a:r>
          </a:p>
        </p:txBody>
      </p:sp>
      <p:sp>
        <p:nvSpPr>
          <p:cNvPr name="TextBox 12" id="12"/>
          <p:cNvSpPr txBox="true"/>
          <p:nvPr/>
        </p:nvSpPr>
        <p:spPr>
          <a:xfrm rot="0">
            <a:off x="1143000" y="8803481"/>
            <a:ext cx="16002000" cy="533400"/>
          </a:xfrm>
          <a:prstGeom prst="rect">
            <a:avLst/>
          </a:prstGeom>
        </p:spPr>
        <p:txBody>
          <a:bodyPr anchor="t" rtlCol="false" tIns="0" lIns="0" bIns="0" rIns="0">
            <a:spAutoFit/>
          </a:bodyPr>
          <a:lstStyle/>
          <a:p>
            <a:pPr algn="l">
              <a:lnSpc>
                <a:spcPts val="3487"/>
              </a:lnSpc>
            </a:pPr>
            <a:r>
              <a:rPr lang="en-US" b="true" sz="2250">
                <a:solidFill>
                  <a:srgbClr val="201E1D"/>
                </a:solidFill>
                <a:latin typeface="Arimo Bold"/>
                <a:ea typeface="Arimo Bold"/>
                <a:cs typeface="Arimo Bold"/>
                <a:sym typeface="Arimo Bold"/>
              </a:rPr>
              <a:t>Cambridge IGCSE™ Mathematics 0580 · Chapter 6 · Equations, factors &amp; formulae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DAHXloidSOM</dc:identifier>
  <dcterms:modified xsi:type="dcterms:W3CDTF">2011-08-01T06:04:30Z</dcterms:modified>
  <cp:revision>1</cp:revision>
  <dc:title>chapter6.html</dc:title>
</cp:coreProperties>
</file>